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true" autoCompressPictures="0" embedTrueTypeFonts="true">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Lst>
  <p:notesMasterIdLst>
    <p:notesMasterId r:id="rId48"/>
  </p:notesMasterIdLst>
  <p:sldSz cx="12191695" cy="6858000"/>
  <p:notesSz cx="6858000" cy="12191695"/>
  <p:embeddedFontLst>
    <p:embeddedFont>
      <p:font typeface="Overpass Light"/>
      <p:regular r:id="rId201314"/>
    </p:embeddedFont>
    <p:embeddedFont>
      <p:font typeface="Overpass"/>
      <p:regular r:id="rId201315"/>
    </p:embeddedFont>
    <p:embeddedFont>
      <p:font typeface="Overpass Bold"/>
      <p:regular r:id="rId201316"/>
    </p:embeddedFont>
    <p:embeddedFont>
      <p:font typeface="Syne"/>
      <p:regular r:id="rId201317"/>
    </p:embeddedFont>
    <p:embeddedFont>
      <p:font typeface="Syne Bold"/>
      <p:regular r:id="rId201318"/>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notesMaster" Target="notesMasters/notesMaster1.xml"/><Relationship Id="rId49" Type="http://schemas.openxmlformats.org/officeDocument/2006/relationships/presProps" Target="presProps.xml"/><Relationship Id="rId50" Type="http://schemas.openxmlformats.org/officeDocument/2006/relationships/viewProps" Target="viewProps.xml"/><Relationship Id="rId51" Type="http://schemas.openxmlformats.org/officeDocument/2006/relationships/theme" Target="theme/theme1.xml"/><Relationship Id="rId52" Type="http://schemas.openxmlformats.org/officeDocument/2006/relationships/tableStyles" Target="tableStyles.xml"/><Relationship Id="rId201314" Target="fonts/201314.fntdata" Type="http://schemas.openxmlformats.org/officeDocument/2006/relationships/font"/><Relationship Id="rId201315" Target="fonts/201315.fntdata" Type="http://schemas.openxmlformats.org/officeDocument/2006/relationships/font"/><Relationship Id="rId201316" Target="fonts/201316.fntdata" Type="http://schemas.openxmlformats.org/officeDocument/2006/relationships/font"/><Relationship Id="rId201317" Target="fonts/201317.fntdata" Type="http://schemas.openxmlformats.org/officeDocument/2006/relationships/font"/><Relationship Id="rId201318" Target="fonts/201318.fntdata" Type="http://schemas.openxmlformats.org/officeDocument/2006/relationships/font"/></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svg"/><Relationship Id="rId3" Type="http://schemas.openxmlformats.org/officeDocument/2006/relationships/image" Target="../media/image-4-1.png"/><Relationship Id="rId4" Type="http://schemas.openxmlformats.org/officeDocument/2006/relationships/image" Target="../media/image-4-2.svg"/><Relationship Id="rId5" Type="http://schemas.openxmlformats.org/officeDocument/2006/relationships/image" Target="../media/image-4-5.png"/><Relationship Id="rId6" Type="http://schemas.openxmlformats.org/officeDocument/2006/relationships/image" Target="../media/image-4-6.svg"/><Relationship Id="rId7" Type="http://schemas.openxmlformats.org/officeDocument/2006/relationships/image" Target="../media/image-4-7.png"/><Relationship Id="rId8" Type="http://schemas.openxmlformats.org/officeDocument/2006/relationships/slideLayout" Target="../slideLayouts/slideLayout1.xml"/><Relationship Id="rId9"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svg"/><Relationship Id="rId3" Type="http://schemas.openxmlformats.org/officeDocument/2006/relationships/image" Target="../media/image-6-1.png"/><Relationship Id="rId4" Type="http://schemas.openxmlformats.org/officeDocument/2006/relationships/image" Target="../media/image-6-2.svg"/><Relationship Id="rId5" Type="http://schemas.openxmlformats.org/officeDocument/2006/relationships/image" Target="../media/image-6-1.png"/><Relationship Id="rId6" Type="http://schemas.openxmlformats.org/officeDocument/2006/relationships/image" Target="../media/image-6-2.svg"/><Relationship Id="rId7" Type="http://schemas.openxmlformats.org/officeDocument/2006/relationships/image" Target="../media/image-6-7.png"/><Relationship Id="rId8" Type="http://schemas.openxmlformats.org/officeDocument/2006/relationships/image" Target="../media/image-6-8.svg"/><Relationship Id="rId9" Type="http://schemas.openxmlformats.org/officeDocument/2006/relationships/image" Target="../media/image-6-7.png"/><Relationship Id="rId10" Type="http://schemas.openxmlformats.org/officeDocument/2006/relationships/image" Target="../media/image-6-8.svg"/><Relationship Id="rId11" Type="http://schemas.openxmlformats.org/officeDocument/2006/relationships/slideLayout" Target="../slideLayouts/slideLayout1.xml"/><Relationship Id="rId1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svg"/><Relationship Id="rId3" Type="http://schemas.openxmlformats.org/officeDocument/2006/relationships/image" Target="../media/image-8-1.png"/><Relationship Id="rId4" Type="http://schemas.openxmlformats.org/officeDocument/2006/relationships/image" Target="../media/image-8-2.svg"/><Relationship Id="rId5" Type="http://schemas.openxmlformats.org/officeDocument/2006/relationships/image" Target="../media/image-8-1.png"/><Relationship Id="rId6" Type="http://schemas.openxmlformats.org/officeDocument/2006/relationships/image" Target="../media/image-8-2.svg"/><Relationship Id="rId7" Type="http://schemas.openxmlformats.org/officeDocument/2006/relationships/image" Target="../media/image-8-1.png"/><Relationship Id="rId8" Type="http://schemas.openxmlformats.org/officeDocument/2006/relationships/image" Target="../media/image-8-2.svg"/><Relationship Id="rId9" Type="http://schemas.openxmlformats.org/officeDocument/2006/relationships/image" Target="../media/image-8-1.png"/><Relationship Id="rId10" Type="http://schemas.openxmlformats.org/officeDocument/2006/relationships/image" Target="../media/image-8-2.svg"/><Relationship Id="rId11" Type="http://schemas.openxmlformats.org/officeDocument/2006/relationships/slideLayout" Target="../slideLayouts/slideLayout1.xml"/><Relationship Id="rId1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eg"/><Relationship Id="rId2" Type="http://schemas.openxmlformats.org/officeDocument/2006/relationships/image" Target="../media/image-9-2.png"/><Relationship Id="rId3" Type="http://schemas.openxmlformats.org/officeDocument/2006/relationships/image" Target="../media/image-9-3.svg"/><Relationship Id="rId4" Type="http://schemas.openxmlformats.org/officeDocument/2006/relationships/image" Target="../media/image-9-2.png"/><Relationship Id="rId5" Type="http://schemas.openxmlformats.org/officeDocument/2006/relationships/image" Target="../media/image-9-3.svg"/><Relationship Id="rId6" Type="http://schemas.openxmlformats.org/officeDocument/2006/relationships/image" Target="../media/image-9-6.png"/><Relationship Id="rId7" Type="http://schemas.openxmlformats.org/officeDocument/2006/relationships/image" Target="../media/image-9-7.svg"/><Relationship Id="rId8" Type="http://schemas.openxmlformats.org/officeDocument/2006/relationships/image" Target="../media/image-9-8.png"/><Relationship Id="rId9" Type="http://schemas.openxmlformats.org/officeDocument/2006/relationships/slideLayout" Target="../slideLayouts/slideLayout1.xml"/><Relationship Id="rId10"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svg"/><Relationship Id="rId3" Type="http://schemas.openxmlformats.org/officeDocument/2006/relationships/image" Target="../media/image-10-3.png"/><Relationship Id="rId4" Type="http://schemas.openxmlformats.org/officeDocument/2006/relationships/image" Target="../media/image-10-4.svg"/><Relationship Id="rId5" Type="http://schemas.openxmlformats.org/officeDocument/2006/relationships/image" Target="../media/image-10-1.png"/><Relationship Id="rId6" Type="http://schemas.openxmlformats.org/officeDocument/2006/relationships/image" Target="../media/image-10-2.svg"/><Relationship Id="rId7" Type="http://schemas.openxmlformats.org/officeDocument/2006/relationships/slideLayout" Target="../slideLayouts/slideLayout1.xml"/><Relationship Id="rId8"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svg"/><Relationship Id="rId3" Type="http://schemas.openxmlformats.org/officeDocument/2006/relationships/image" Target="../media/image-11-1.png"/><Relationship Id="rId4" Type="http://schemas.openxmlformats.org/officeDocument/2006/relationships/image" Target="../media/image-11-2.svg"/><Relationship Id="rId5" Type="http://schemas.openxmlformats.org/officeDocument/2006/relationships/image" Target="../media/image-11-5.png"/><Relationship Id="rId6" Type="http://schemas.openxmlformats.org/officeDocument/2006/relationships/image" Target="../media/image-11-6.svg"/><Relationship Id="rId7" Type="http://schemas.openxmlformats.org/officeDocument/2006/relationships/image" Target="../media/image-11-5.png"/><Relationship Id="rId8" Type="http://schemas.openxmlformats.org/officeDocument/2006/relationships/image" Target="../media/image-11-6.svg"/><Relationship Id="rId9" Type="http://schemas.openxmlformats.org/officeDocument/2006/relationships/image" Target="../media/image-11-9.png"/><Relationship Id="rId10" Type="http://schemas.openxmlformats.org/officeDocument/2006/relationships/slideLayout" Target="../slideLayouts/slideLayout1.xml"/><Relationship Id="rId11"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svg"/><Relationship Id="rId3" Type="http://schemas.openxmlformats.org/officeDocument/2006/relationships/image" Target="../media/image-12-1.png"/><Relationship Id="rId4" Type="http://schemas.openxmlformats.org/officeDocument/2006/relationships/image" Target="../media/image-12-2.svg"/><Relationship Id="rId5" Type="http://schemas.openxmlformats.org/officeDocument/2006/relationships/slideLayout" Target="../slideLayouts/slideLayout1.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9-2.png"/><Relationship Id="rId2" Type="http://schemas.openxmlformats.org/officeDocument/2006/relationships/image" Target="../media/image-9-3.svg"/><Relationship Id="rId3" Type="http://schemas.openxmlformats.org/officeDocument/2006/relationships/image" Target="../media/image-9-2.png"/><Relationship Id="rId4" Type="http://schemas.openxmlformats.org/officeDocument/2006/relationships/image" Target="../media/image-9-3.svg"/><Relationship Id="rId5" Type="http://schemas.openxmlformats.org/officeDocument/2006/relationships/image" Target="../media/image-13-5.png"/><Relationship Id="rId6" Type="http://schemas.openxmlformats.org/officeDocument/2006/relationships/image" Target="../media/image-13-6.svg"/><Relationship Id="rId7" Type="http://schemas.openxmlformats.org/officeDocument/2006/relationships/image" Target="../media/image-13-5.png"/><Relationship Id="rId8" Type="http://schemas.openxmlformats.org/officeDocument/2006/relationships/image" Target="../media/image-13-6.svg"/><Relationship Id="rId9" Type="http://schemas.openxmlformats.org/officeDocument/2006/relationships/image" Target="../media/image-9-8.png"/><Relationship Id="rId10" Type="http://schemas.openxmlformats.org/officeDocument/2006/relationships/image" Target="../media/image-13-10.jpeg"/><Relationship Id="rId11" Type="http://schemas.openxmlformats.org/officeDocument/2006/relationships/slideLayout" Target="../slideLayouts/slideLayout1.xml"/><Relationship Id="rId1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svg"/><Relationship Id="rId3" Type="http://schemas.openxmlformats.org/officeDocument/2006/relationships/image" Target="../media/image-10-3.png"/><Relationship Id="rId4" Type="http://schemas.openxmlformats.org/officeDocument/2006/relationships/image" Target="../media/image-10-4.svg"/><Relationship Id="rId5" Type="http://schemas.openxmlformats.org/officeDocument/2006/relationships/image" Target="../media/image-10-1.png"/><Relationship Id="rId6" Type="http://schemas.openxmlformats.org/officeDocument/2006/relationships/image" Target="../media/image-10-2.svg"/><Relationship Id="rId7" Type="http://schemas.openxmlformats.org/officeDocument/2006/relationships/slideLayout" Target="../slideLayouts/slideLayout1.xml"/><Relationship Id="rId8"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svg"/><Relationship Id="rId3" Type="http://schemas.openxmlformats.org/officeDocument/2006/relationships/image" Target="../media/image-15-1.png"/><Relationship Id="rId4" Type="http://schemas.openxmlformats.org/officeDocument/2006/relationships/image" Target="../media/image-15-2.svg"/><Relationship Id="rId5" Type="http://schemas.openxmlformats.org/officeDocument/2006/relationships/image" Target="../media/image-15-5.png"/><Relationship Id="rId6" Type="http://schemas.openxmlformats.org/officeDocument/2006/relationships/image" Target="../media/image-15-6.svg"/><Relationship Id="rId7" Type="http://schemas.openxmlformats.org/officeDocument/2006/relationships/image" Target="../media/image-15-5.png"/><Relationship Id="rId8" Type="http://schemas.openxmlformats.org/officeDocument/2006/relationships/image" Target="../media/image-15-6.svg"/><Relationship Id="rId9" Type="http://schemas.openxmlformats.org/officeDocument/2006/relationships/image" Target="../media/image-15-9.png"/><Relationship Id="rId10" Type="http://schemas.openxmlformats.org/officeDocument/2006/relationships/slideLayout" Target="../slideLayouts/slideLayout1.xml"/><Relationship Id="rId11"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svg"/><Relationship Id="rId3" Type="http://schemas.openxmlformats.org/officeDocument/2006/relationships/image" Target="../media/image-16-1.png"/><Relationship Id="rId4" Type="http://schemas.openxmlformats.org/officeDocument/2006/relationships/image" Target="../media/image-16-2.svg"/><Relationship Id="rId5" Type="http://schemas.openxmlformats.org/officeDocument/2006/relationships/slideLayout" Target="../slideLayouts/slideLayout1.xml"/><Relationship Id="rId6"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jpeg"/><Relationship Id="rId2" Type="http://schemas.openxmlformats.org/officeDocument/2006/relationships/image" Target="../media/image-9-2.png"/><Relationship Id="rId3" Type="http://schemas.openxmlformats.org/officeDocument/2006/relationships/image" Target="../media/image-9-3.svg"/><Relationship Id="rId4" Type="http://schemas.openxmlformats.org/officeDocument/2006/relationships/image" Target="../media/image-9-2.png"/><Relationship Id="rId5" Type="http://schemas.openxmlformats.org/officeDocument/2006/relationships/image" Target="../media/image-9-3.svg"/><Relationship Id="rId6" Type="http://schemas.openxmlformats.org/officeDocument/2006/relationships/image" Target="../media/image-13-5.png"/><Relationship Id="rId7" Type="http://schemas.openxmlformats.org/officeDocument/2006/relationships/image" Target="../media/image-13-6.svg"/><Relationship Id="rId8" Type="http://schemas.openxmlformats.org/officeDocument/2006/relationships/image" Target="../media/image-13-5.png"/><Relationship Id="rId9" Type="http://schemas.openxmlformats.org/officeDocument/2006/relationships/image" Target="../media/image-13-6.svg"/><Relationship Id="rId10" Type="http://schemas.openxmlformats.org/officeDocument/2006/relationships/image" Target="../media/image-9-8.png"/><Relationship Id="rId11" Type="http://schemas.openxmlformats.org/officeDocument/2006/relationships/slideLayout" Target="../slideLayouts/slideLayout1.xml"/><Relationship Id="rId1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svg"/><Relationship Id="rId3" Type="http://schemas.openxmlformats.org/officeDocument/2006/relationships/image" Target="../media/image-18-1.png"/><Relationship Id="rId4" Type="http://schemas.openxmlformats.org/officeDocument/2006/relationships/image" Target="../media/image-18-2.svg"/><Relationship Id="rId5" Type="http://schemas.openxmlformats.org/officeDocument/2006/relationships/image" Target="../media/image-18-1.png"/><Relationship Id="rId6" Type="http://schemas.openxmlformats.org/officeDocument/2006/relationships/image" Target="../media/image-18-2.svg"/><Relationship Id="rId7" Type="http://schemas.openxmlformats.org/officeDocument/2006/relationships/slideLayout" Target="../slideLayouts/slideLayout1.xml"/><Relationship Id="rId8"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svg"/><Relationship Id="rId3" Type="http://schemas.openxmlformats.org/officeDocument/2006/relationships/image" Target="../media/image-15-1.png"/><Relationship Id="rId4" Type="http://schemas.openxmlformats.org/officeDocument/2006/relationships/image" Target="../media/image-15-2.svg"/><Relationship Id="rId5" Type="http://schemas.openxmlformats.org/officeDocument/2006/relationships/image" Target="../media/image-15-5.png"/><Relationship Id="rId6" Type="http://schemas.openxmlformats.org/officeDocument/2006/relationships/image" Target="../media/image-15-6.svg"/><Relationship Id="rId7" Type="http://schemas.openxmlformats.org/officeDocument/2006/relationships/image" Target="../media/image-15-5.png"/><Relationship Id="rId8" Type="http://schemas.openxmlformats.org/officeDocument/2006/relationships/image" Target="../media/image-15-6.svg"/><Relationship Id="rId9" Type="http://schemas.openxmlformats.org/officeDocument/2006/relationships/image" Target="../media/image-19-9.png"/><Relationship Id="rId10" Type="http://schemas.openxmlformats.org/officeDocument/2006/relationships/slideLayout" Target="../slideLayouts/slideLayout1.xml"/><Relationship Id="rId11"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svg"/><Relationship Id="rId3" Type="http://schemas.openxmlformats.org/officeDocument/2006/relationships/image" Target="../media/image-10-3.png"/><Relationship Id="rId4" Type="http://schemas.openxmlformats.org/officeDocument/2006/relationships/image" Target="../media/image-10-4.svg"/><Relationship Id="rId5" Type="http://schemas.openxmlformats.org/officeDocument/2006/relationships/image" Target="../media/image-10-1.png"/><Relationship Id="rId6" Type="http://schemas.openxmlformats.org/officeDocument/2006/relationships/image" Target="../media/image-10-2.svg"/><Relationship Id="rId7" Type="http://schemas.openxmlformats.org/officeDocument/2006/relationships/slideLayout" Target="../slideLayouts/slideLayout1.xml"/><Relationship Id="rId8"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svg"/><Relationship Id="rId3" Type="http://schemas.openxmlformats.org/officeDocument/2006/relationships/image" Target="../media/image-21-1.png"/><Relationship Id="rId4" Type="http://schemas.openxmlformats.org/officeDocument/2006/relationships/image" Target="../media/image-21-2.svg"/><Relationship Id="rId5" Type="http://schemas.openxmlformats.org/officeDocument/2006/relationships/image" Target="../media/image-21-1.png"/><Relationship Id="rId6" Type="http://schemas.openxmlformats.org/officeDocument/2006/relationships/image" Target="../media/image-21-2.svg"/><Relationship Id="rId7" Type="http://schemas.openxmlformats.org/officeDocument/2006/relationships/image" Target="../media/image-21-1.png"/><Relationship Id="rId8" Type="http://schemas.openxmlformats.org/officeDocument/2006/relationships/image" Target="../media/image-21-2.svg"/><Relationship Id="rId9" Type="http://schemas.openxmlformats.org/officeDocument/2006/relationships/image" Target="../media/image-21-9.png"/><Relationship Id="rId10" Type="http://schemas.openxmlformats.org/officeDocument/2006/relationships/image" Target="../media/image-21-10.svg"/><Relationship Id="rId11" Type="http://schemas.openxmlformats.org/officeDocument/2006/relationships/image" Target="../media/image-21-11.jpeg"/><Relationship Id="rId12" Type="http://schemas.openxmlformats.org/officeDocument/2006/relationships/image" Target="../media/image-21-12.png"/><Relationship Id="rId13" Type="http://schemas.openxmlformats.org/officeDocument/2006/relationships/slideLayout" Target="../slideLayouts/slideLayout1.xml"/><Relationship Id="rId1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svg"/><Relationship Id="rId3" Type="http://schemas.openxmlformats.org/officeDocument/2006/relationships/image" Target="../media/image-22-1.png"/><Relationship Id="rId4" Type="http://schemas.openxmlformats.org/officeDocument/2006/relationships/image" Target="../media/image-22-2.svg"/><Relationship Id="rId5" Type="http://schemas.openxmlformats.org/officeDocument/2006/relationships/image" Target="../media/image-22-5.png"/><Relationship Id="rId6" Type="http://schemas.openxmlformats.org/officeDocument/2006/relationships/image" Target="../media/image-22-6.svg"/><Relationship Id="rId7" Type="http://schemas.openxmlformats.org/officeDocument/2006/relationships/image" Target="../media/image-22-5.png"/><Relationship Id="rId8" Type="http://schemas.openxmlformats.org/officeDocument/2006/relationships/image" Target="../media/image-22-6.svg"/><Relationship Id="rId9" Type="http://schemas.openxmlformats.org/officeDocument/2006/relationships/slideLayout" Target="../slideLayouts/slideLayout1.xml"/><Relationship Id="rId10"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svg"/><Relationship Id="rId3" Type="http://schemas.openxmlformats.org/officeDocument/2006/relationships/image" Target="../media/image-23-1.png"/><Relationship Id="rId4" Type="http://schemas.openxmlformats.org/officeDocument/2006/relationships/image" Target="../media/image-23-2.svg"/><Relationship Id="rId5" Type="http://schemas.openxmlformats.org/officeDocument/2006/relationships/image" Target="../media/image-23-5.png"/><Relationship Id="rId6" Type="http://schemas.openxmlformats.org/officeDocument/2006/relationships/image" Target="../media/image-23-6.svg"/><Relationship Id="rId7" Type="http://schemas.openxmlformats.org/officeDocument/2006/relationships/image" Target="../media/image-23-5.png"/><Relationship Id="rId8" Type="http://schemas.openxmlformats.org/officeDocument/2006/relationships/image" Target="../media/image-23-6.svg"/><Relationship Id="rId9" Type="http://schemas.openxmlformats.org/officeDocument/2006/relationships/image" Target="../media/image-4-7.png"/><Relationship Id="rId10" Type="http://schemas.openxmlformats.org/officeDocument/2006/relationships/slideLayout" Target="../slideLayouts/slideLayout1.xml"/><Relationship Id="rId11"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svg"/><Relationship Id="rId3" Type="http://schemas.openxmlformats.org/officeDocument/2006/relationships/image" Target="../media/image-24-1.png"/><Relationship Id="rId4" Type="http://schemas.openxmlformats.org/officeDocument/2006/relationships/image" Target="../media/image-24-2.svg"/><Relationship Id="rId5" Type="http://schemas.openxmlformats.org/officeDocument/2006/relationships/image" Target="../media/image-24-1.png"/><Relationship Id="rId6" Type="http://schemas.openxmlformats.org/officeDocument/2006/relationships/image" Target="../media/image-24-2.svg"/><Relationship Id="rId7" Type="http://schemas.openxmlformats.org/officeDocument/2006/relationships/image" Target="../media/image-24-1.png"/><Relationship Id="rId8" Type="http://schemas.openxmlformats.org/officeDocument/2006/relationships/image" Target="../media/image-24-2.svg"/><Relationship Id="rId9" Type="http://schemas.openxmlformats.org/officeDocument/2006/relationships/slideLayout" Target="../slideLayouts/slideLayout1.xml"/><Relationship Id="rId10"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eg"/><Relationship Id="rId2" Type="http://schemas.openxmlformats.org/officeDocument/2006/relationships/image" Target="../media/image-25-2.png"/><Relationship Id="rId3" Type="http://schemas.openxmlformats.org/officeDocument/2006/relationships/image" Target="../media/image-25-3.svg"/><Relationship Id="rId4" Type="http://schemas.openxmlformats.org/officeDocument/2006/relationships/image" Target="../media/image-25-2.png"/><Relationship Id="rId5" Type="http://schemas.openxmlformats.org/officeDocument/2006/relationships/image" Target="../media/image-25-3.svg"/><Relationship Id="rId6" Type="http://schemas.openxmlformats.org/officeDocument/2006/relationships/image" Target="../media/image-25-6.png"/><Relationship Id="rId7" Type="http://schemas.openxmlformats.org/officeDocument/2006/relationships/image" Target="../media/image-25-7.svg"/><Relationship Id="rId8" Type="http://schemas.openxmlformats.org/officeDocument/2006/relationships/image" Target="../media/image-9-8.png"/><Relationship Id="rId9" Type="http://schemas.openxmlformats.org/officeDocument/2006/relationships/slideLayout" Target="../slideLayouts/slideLayout1.xml"/><Relationship Id="rId10"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svg"/><Relationship Id="rId3" Type="http://schemas.openxmlformats.org/officeDocument/2006/relationships/image" Target="../media/image-26-1.png"/><Relationship Id="rId4" Type="http://schemas.openxmlformats.org/officeDocument/2006/relationships/image" Target="../media/image-26-2.svg"/><Relationship Id="rId5" Type="http://schemas.openxmlformats.org/officeDocument/2006/relationships/slideLayout" Target="../slideLayouts/slideLayout1.xml"/><Relationship Id="rId6"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svg"/><Relationship Id="rId3" Type="http://schemas.openxmlformats.org/officeDocument/2006/relationships/image" Target="../media/image-27-1.png"/><Relationship Id="rId4" Type="http://schemas.openxmlformats.org/officeDocument/2006/relationships/image" Target="../media/image-27-2.svg"/><Relationship Id="rId5" Type="http://schemas.openxmlformats.org/officeDocument/2006/relationships/image" Target="../media/image-27-5.png"/><Relationship Id="rId6" Type="http://schemas.openxmlformats.org/officeDocument/2006/relationships/image" Target="../media/image-27-6.svg"/><Relationship Id="rId7" Type="http://schemas.openxmlformats.org/officeDocument/2006/relationships/image" Target="../media/image-5-1.png"/><Relationship Id="rId8" Type="http://schemas.openxmlformats.org/officeDocument/2006/relationships/slideLayout" Target="../slideLayouts/slideLayout1.xml"/><Relationship Id="rId9"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svg"/><Relationship Id="rId3" Type="http://schemas.openxmlformats.org/officeDocument/2006/relationships/image" Target="../media/image-18-1.png"/><Relationship Id="rId4" Type="http://schemas.openxmlformats.org/officeDocument/2006/relationships/image" Target="../media/image-18-2.svg"/><Relationship Id="rId5" Type="http://schemas.openxmlformats.org/officeDocument/2006/relationships/image" Target="../media/image-18-1.png"/><Relationship Id="rId6" Type="http://schemas.openxmlformats.org/officeDocument/2006/relationships/image" Target="../media/image-18-2.svg"/><Relationship Id="rId7" Type="http://schemas.openxmlformats.org/officeDocument/2006/relationships/slideLayout" Target="../slideLayouts/slideLayout1.xml"/><Relationship Id="rId8"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jpeg"/><Relationship Id="rId2" Type="http://schemas.openxmlformats.org/officeDocument/2006/relationships/image" Target="../media/image-13-5.png"/><Relationship Id="rId3" Type="http://schemas.openxmlformats.org/officeDocument/2006/relationships/image" Target="../media/image-13-6.svg"/><Relationship Id="rId4" Type="http://schemas.openxmlformats.org/officeDocument/2006/relationships/image" Target="../media/image-13-5.png"/><Relationship Id="rId5" Type="http://schemas.openxmlformats.org/officeDocument/2006/relationships/image" Target="../media/image-13-6.svg"/><Relationship Id="rId6" Type="http://schemas.openxmlformats.org/officeDocument/2006/relationships/image" Target="../media/image-25-6.png"/><Relationship Id="rId7" Type="http://schemas.openxmlformats.org/officeDocument/2006/relationships/image" Target="../media/image-25-7.svg"/><Relationship Id="rId8" Type="http://schemas.openxmlformats.org/officeDocument/2006/relationships/image" Target="../media/image-9-8.png"/><Relationship Id="rId9" Type="http://schemas.openxmlformats.org/officeDocument/2006/relationships/slideLayout" Target="../slideLayouts/slideLayout1.xml"/><Relationship Id="rId10"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2.svg"/><Relationship Id="rId3" Type="http://schemas.openxmlformats.org/officeDocument/2006/relationships/image" Target="../media/image-30-1.png"/><Relationship Id="rId4" Type="http://schemas.openxmlformats.org/officeDocument/2006/relationships/image" Target="../media/image-30-2.svg"/><Relationship Id="rId5" Type="http://schemas.openxmlformats.org/officeDocument/2006/relationships/image" Target="../media/image-30-1.png"/><Relationship Id="rId6" Type="http://schemas.openxmlformats.org/officeDocument/2006/relationships/image" Target="../media/image-30-2.svg"/><Relationship Id="rId7" Type="http://schemas.openxmlformats.org/officeDocument/2006/relationships/slideLayout" Target="../slideLayouts/slideLayout1.xml"/><Relationship Id="rId8"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image" Target="../media/image-31-2.svg"/><Relationship Id="rId3" Type="http://schemas.openxmlformats.org/officeDocument/2006/relationships/image" Target="../media/image-31-1.png"/><Relationship Id="rId4" Type="http://schemas.openxmlformats.org/officeDocument/2006/relationships/image" Target="../media/image-31-2.svg"/><Relationship Id="rId5" Type="http://schemas.openxmlformats.org/officeDocument/2006/relationships/image" Target="../media/image-31-5.png"/><Relationship Id="rId6" Type="http://schemas.openxmlformats.org/officeDocument/2006/relationships/image" Target="../media/image-31-6.svg"/><Relationship Id="rId7" Type="http://schemas.openxmlformats.org/officeDocument/2006/relationships/image" Target="../media/image-31-7.png"/><Relationship Id="rId8" Type="http://schemas.openxmlformats.org/officeDocument/2006/relationships/slideLayout" Target="../slideLayouts/slideLayout1.xml"/><Relationship Id="rId9"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9-2.png"/><Relationship Id="rId2" Type="http://schemas.openxmlformats.org/officeDocument/2006/relationships/image" Target="../media/image-9-3.svg"/><Relationship Id="rId3" Type="http://schemas.openxmlformats.org/officeDocument/2006/relationships/image" Target="../media/image-9-2.png"/><Relationship Id="rId4" Type="http://schemas.openxmlformats.org/officeDocument/2006/relationships/image" Target="../media/image-9-3.svg"/><Relationship Id="rId5" Type="http://schemas.openxmlformats.org/officeDocument/2006/relationships/image" Target="../media/image-25-6.png"/><Relationship Id="rId6" Type="http://schemas.openxmlformats.org/officeDocument/2006/relationships/image" Target="../media/image-25-7.svg"/><Relationship Id="rId7" Type="http://schemas.openxmlformats.org/officeDocument/2006/relationships/image" Target="../media/image-9-8.png"/><Relationship Id="rId8" Type="http://schemas.openxmlformats.org/officeDocument/2006/relationships/image" Target="../media/image-33-8.jpeg"/><Relationship Id="rId9" Type="http://schemas.openxmlformats.org/officeDocument/2006/relationships/slideLayout" Target="../slideLayouts/slideLayout1.xml"/><Relationship Id="rId10"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image" Target="../media/image-34-2.svg"/><Relationship Id="rId3" Type="http://schemas.openxmlformats.org/officeDocument/2006/relationships/image" Target="../media/image-34-1.png"/><Relationship Id="rId4" Type="http://schemas.openxmlformats.org/officeDocument/2006/relationships/image" Target="../media/image-34-2.svg"/><Relationship Id="rId5" Type="http://schemas.openxmlformats.org/officeDocument/2006/relationships/slideLayout" Target="../slideLayouts/slideLayout1.xml"/><Relationship Id="rId6"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image" Target="../media/image-35-2.svg"/><Relationship Id="rId3" Type="http://schemas.openxmlformats.org/officeDocument/2006/relationships/image" Target="../media/image-35-1.png"/><Relationship Id="rId4" Type="http://schemas.openxmlformats.org/officeDocument/2006/relationships/image" Target="../media/image-35-2.svg"/><Relationship Id="rId5" Type="http://schemas.openxmlformats.org/officeDocument/2006/relationships/image" Target="../media/image-35-5.png"/><Relationship Id="rId6" Type="http://schemas.openxmlformats.org/officeDocument/2006/relationships/image" Target="../media/image-35-6.svg"/><Relationship Id="rId7" Type="http://schemas.openxmlformats.org/officeDocument/2006/relationships/image" Target="../media/image-35-5.png"/><Relationship Id="rId8" Type="http://schemas.openxmlformats.org/officeDocument/2006/relationships/image" Target="../media/image-35-6.svg"/><Relationship Id="rId9" Type="http://schemas.openxmlformats.org/officeDocument/2006/relationships/image" Target="../media/image-35-9.png"/><Relationship Id="rId10" Type="http://schemas.openxmlformats.org/officeDocument/2006/relationships/slideLayout" Target="../slideLayouts/slideLayout1.xml"/><Relationship Id="rId11"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image" Target="../media/image-36-2.svg"/><Relationship Id="rId3" Type="http://schemas.openxmlformats.org/officeDocument/2006/relationships/image" Target="../media/image-36-1.png"/><Relationship Id="rId4" Type="http://schemas.openxmlformats.org/officeDocument/2006/relationships/image" Target="../media/image-36-2.svg"/><Relationship Id="rId5" Type="http://schemas.openxmlformats.org/officeDocument/2006/relationships/image" Target="../media/image-36-1.png"/><Relationship Id="rId6" Type="http://schemas.openxmlformats.org/officeDocument/2006/relationships/image" Target="../media/image-36-2.svg"/><Relationship Id="rId7" Type="http://schemas.openxmlformats.org/officeDocument/2006/relationships/slideLayout" Target="../slideLayouts/slideLayout1.xml"/><Relationship Id="rId8"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jpeg"/><Relationship Id="rId2" Type="http://schemas.openxmlformats.org/officeDocument/2006/relationships/image" Target="../media/image-13-5.png"/><Relationship Id="rId3" Type="http://schemas.openxmlformats.org/officeDocument/2006/relationships/image" Target="../media/image-13-6.svg"/><Relationship Id="rId4" Type="http://schemas.openxmlformats.org/officeDocument/2006/relationships/image" Target="../media/image-13-5.png"/><Relationship Id="rId5" Type="http://schemas.openxmlformats.org/officeDocument/2006/relationships/image" Target="../media/image-13-6.svg"/><Relationship Id="rId6" Type="http://schemas.openxmlformats.org/officeDocument/2006/relationships/image" Target="../media/image-25-6.png"/><Relationship Id="rId7" Type="http://schemas.openxmlformats.org/officeDocument/2006/relationships/image" Target="../media/image-25-7.svg"/><Relationship Id="rId8" Type="http://schemas.openxmlformats.org/officeDocument/2006/relationships/image" Target="../media/image-9-8.png"/><Relationship Id="rId9" Type="http://schemas.openxmlformats.org/officeDocument/2006/relationships/slideLayout" Target="../slideLayouts/slideLayout1.xml"/><Relationship Id="rId10"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svg"/><Relationship Id="rId3" Type="http://schemas.openxmlformats.org/officeDocument/2006/relationships/image" Target="../media/image-24-1.png"/><Relationship Id="rId4" Type="http://schemas.openxmlformats.org/officeDocument/2006/relationships/image" Target="../media/image-24-2.svg"/><Relationship Id="rId5" Type="http://schemas.openxmlformats.org/officeDocument/2006/relationships/slideLayout" Target="../slideLayouts/slideLayout1.xml"/><Relationship Id="rId6"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image" Target="../media/image-39-2.svg"/><Relationship Id="rId3" Type="http://schemas.openxmlformats.org/officeDocument/2006/relationships/image" Target="../media/image-39-1.png"/><Relationship Id="rId4" Type="http://schemas.openxmlformats.org/officeDocument/2006/relationships/image" Target="../media/image-39-2.svg"/><Relationship Id="rId5" Type="http://schemas.openxmlformats.org/officeDocument/2006/relationships/image" Target="../media/image-39-5.png"/><Relationship Id="rId6" Type="http://schemas.openxmlformats.org/officeDocument/2006/relationships/image" Target="../media/image-39-6.svg"/><Relationship Id="rId7" Type="http://schemas.openxmlformats.org/officeDocument/2006/relationships/image" Target="../media/image-39-5.png"/><Relationship Id="rId8" Type="http://schemas.openxmlformats.org/officeDocument/2006/relationships/image" Target="../media/image-39-6.svg"/><Relationship Id="rId9" Type="http://schemas.openxmlformats.org/officeDocument/2006/relationships/image" Target="../media/image-39-9.png"/><Relationship Id="rId10" Type="http://schemas.openxmlformats.org/officeDocument/2006/relationships/slideLayout" Target="../slideLayouts/slideLayout1.xml"/><Relationship Id="rId11"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2.svg"/><Relationship Id="rId3" Type="http://schemas.openxmlformats.org/officeDocument/2006/relationships/image" Target="../media/image-30-1.png"/><Relationship Id="rId4" Type="http://schemas.openxmlformats.org/officeDocument/2006/relationships/image" Target="../media/image-30-2.svg"/><Relationship Id="rId5" Type="http://schemas.openxmlformats.org/officeDocument/2006/relationships/image" Target="../media/image-30-1.png"/><Relationship Id="rId6" Type="http://schemas.openxmlformats.org/officeDocument/2006/relationships/image" Target="../media/image-30-2.svg"/><Relationship Id="rId7" Type="http://schemas.openxmlformats.org/officeDocument/2006/relationships/slideLayout" Target="../slideLayouts/slideLayout1.xml"/><Relationship Id="rId8"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1.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39-9.png"/><Relationship Id="rId2" Type="http://schemas.openxmlformats.org/officeDocument/2006/relationships/slideLayout" Target="../slideLayouts/slideLayout1.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image" Target="../media/image-44-2.svg"/><Relationship Id="rId3" Type="http://schemas.openxmlformats.org/officeDocument/2006/relationships/image" Target="../media/image-44-1.png"/><Relationship Id="rId4" Type="http://schemas.openxmlformats.org/officeDocument/2006/relationships/image" Target="../media/image-44-2.svg"/><Relationship Id="rId5" Type="http://schemas.openxmlformats.org/officeDocument/2006/relationships/image" Target="../media/image-44-1.png"/><Relationship Id="rId6" Type="http://schemas.openxmlformats.org/officeDocument/2006/relationships/image" Target="../media/image-44-2.svg"/><Relationship Id="rId7" Type="http://schemas.openxmlformats.org/officeDocument/2006/relationships/image" Target="../media/image-44-1.png"/><Relationship Id="rId8" Type="http://schemas.openxmlformats.org/officeDocument/2006/relationships/image" Target="../media/image-44-2.svg"/><Relationship Id="rId9" Type="http://schemas.openxmlformats.org/officeDocument/2006/relationships/image" Target="../media/image-44-1.png"/><Relationship Id="rId10" Type="http://schemas.openxmlformats.org/officeDocument/2006/relationships/image" Target="../media/image-44-2.svg"/><Relationship Id="rId11" Type="http://schemas.openxmlformats.org/officeDocument/2006/relationships/image" Target="../media/image-44-1.png"/><Relationship Id="rId12" Type="http://schemas.openxmlformats.org/officeDocument/2006/relationships/image" Target="../media/image-44-2.svg"/><Relationship Id="rId13" Type="http://schemas.openxmlformats.org/officeDocument/2006/relationships/slideLayout" Target="../slideLayouts/slideLayout1.xml"/><Relationship Id="rId14"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1.xml"/><Relationship Id="rId3" Type="http://schemas.openxmlformats.org/officeDocument/2006/relationships/notesSlide" Target="../notesSlides/notesSlide4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DE6"/>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4571886" cy="6858000"/>
          </a:xfrm>
          <a:prstGeom prst="rect">
            <a:avLst/>
          </a:prstGeom>
        </p:spPr>
      </p:pic>
      <p:sp>
        <p:nvSpPr>
          <p:cNvPr id="3" name="Text 0"/>
          <p:cNvSpPr/>
          <p:nvPr/>
        </p:nvSpPr>
        <p:spPr>
          <a:xfrm>
            <a:off x="5233360" y="2308986"/>
            <a:ext cx="6296860" cy="1033463"/>
          </a:xfrm>
          <a:prstGeom prst="rect">
            <a:avLst/>
          </a:prstGeom>
          <a:noFill/>
          <a:ln/>
        </p:spPr>
        <p:txBody>
          <a:bodyPr wrap="square" lIns="0" tIns="0" rIns="0" bIns="0" rtlCol="0" anchor="t">
            <a:normAutofit/>
          </a:bodyPr>
          <a:lstStyle/>
          <a:p>
            <a:pPr algn="l" indent="0" marL="0">
              <a:lnSpc>
                <a:spcPct val="104000"/>
              </a:lnSpc>
              <a:buNone/>
            </a:pPr>
            <a:r>
              <a:rPr lang="en-US" sz="3250" b="1" dirty="0">
                <a:solidFill>
                  <a:srgbClr val="233939"/>
                </a:solidFill>
                <a:latin typeface="Syne Bold" pitchFamily="34" charset="0"/>
                <a:ea typeface="Syne Bold" pitchFamily="34" charset="-122"/>
                <a:cs typeface="Syne Bold" pitchFamily="34" charset="-120"/>
              </a:rPr>
              <a:t>Which Machine Learning Algorithm Should I Use?</a:t>
            </a:r>
            <a:endParaRPr lang="en-US" sz="3250" dirty="0"/>
          </a:p>
        </p:txBody>
      </p:sp>
      <p:sp>
        <p:nvSpPr>
          <p:cNvPr id="4" name="Text 1"/>
          <p:cNvSpPr/>
          <p:nvPr/>
        </p:nvSpPr>
        <p:spPr>
          <a:xfrm>
            <a:off x="5233360" y="3586361"/>
            <a:ext cx="6296860" cy="529233"/>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3B4E4E"/>
                </a:solidFill>
                <a:latin typeface="Overpass Light" pitchFamily="34" charset="0"/>
                <a:ea typeface="Overpass Light" pitchFamily="34" charset="-122"/>
                <a:cs typeface="Overpass Light" pitchFamily="34" charset="-120"/>
              </a:rPr>
              <a:t>A business-case guide for beginners — from business problem → to the right algorithm → to the result you can expect.</a:t>
            </a:r>
            <a:endParaRPr lang="en-US" sz="1300" dirty="0"/>
          </a:p>
        </p:txBody>
      </p:sp>
      <p:sp>
        <p:nvSpPr>
          <p:cNvPr id="5" name="Shape 2"/>
          <p:cNvSpPr/>
          <p:nvPr/>
        </p:nvSpPr>
        <p:spPr>
          <a:xfrm>
            <a:off x="5233360" y="4301629"/>
            <a:ext cx="1461952" cy="251420"/>
          </a:xfrm>
          <a:prstGeom prst="roundRect">
            <a:avLst>
              <a:gd name="adj" fmla="val 22103"/>
            </a:avLst>
          </a:prstGeom>
          <a:solidFill>
            <a:srgbClr val="DDEEE6"/>
          </a:solidFill>
          <a:ln/>
        </p:spPr>
      </p:sp>
      <p:sp>
        <p:nvSpPr>
          <p:cNvPr id="6" name="Text 3"/>
          <p:cNvSpPr/>
          <p:nvPr/>
        </p:nvSpPr>
        <p:spPr>
          <a:xfrm>
            <a:off x="5332577" y="4351238"/>
            <a:ext cx="1873104" cy="152202"/>
          </a:xfrm>
          <a:prstGeom prst="rect">
            <a:avLst/>
          </a:prstGeom>
          <a:noFill/>
          <a:ln/>
        </p:spPr>
        <p:txBody>
          <a:bodyPr wrap="none" lIns="0" tIns="0" rIns="0" bIns="0" rtlCol="0" anchor="t"/>
          <a:lstStyle/>
          <a:p>
            <a:pPr algn="l" indent="0" marL="0">
              <a:lnSpc>
                <a:spcPct val="96000"/>
              </a:lnSpc>
              <a:buNone/>
            </a:pPr>
            <a:r>
              <a:rPr lang="en-US" sz="1000" dirty="0">
                <a:solidFill>
                  <a:srgbClr val="3B4E4E"/>
                </a:solidFill>
                <a:latin typeface="Overpass Light" pitchFamily="34" charset="0"/>
                <a:ea typeface="Overpass Light" pitchFamily="34" charset="-122"/>
                <a:cs typeface="Overpass Light" pitchFamily="34" charset="-120"/>
              </a:rPr>
              <a:t>BEGINNER FRIENDLY</a:t>
            </a:r>
            <a:endParaRPr lang="en-US" sz="1000" dirty="0"/>
          </a:p>
        </p:txBody>
      </p:sp>
      <p:sp>
        <p:nvSpPr>
          <p:cNvPr id="7" name="Shape 4"/>
          <p:cNvSpPr/>
          <p:nvPr/>
        </p:nvSpPr>
        <p:spPr>
          <a:xfrm>
            <a:off x="6777959" y="4301629"/>
            <a:ext cx="1548171" cy="251420"/>
          </a:xfrm>
          <a:prstGeom prst="roundRect">
            <a:avLst>
              <a:gd name="adj" fmla="val 22103"/>
            </a:avLst>
          </a:prstGeom>
          <a:noFill/>
          <a:ln w="6350">
            <a:solidFill>
              <a:srgbClr val="224435"/>
            </a:solidFill>
            <a:prstDash val="solid"/>
          </a:ln>
        </p:spPr>
      </p:sp>
      <p:sp>
        <p:nvSpPr>
          <p:cNvPr id="8" name="Text 5"/>
          <p:cNvSpPr/>
          <p:nvPr/>
        </p:nvSpPr>
        <p:spPr>
          <a:xfrm>
            <a:off x="6877176" y="4351238"/>
            <a:ext cx="1959323" cy="152202"/>
          </a:xfrm>
          <a:prstGeom prst="rect">
            <a:avLst/>
          </a:prstGeom>
          <a:noFill/>
          <a:ln/>
        </p:spPr>
        <p:txBody>
          <a:bodyPr wrap="none" lIns="0" tIns="0" rIns="0" bIns="0" rtlCol="0" anchor="t"/>
          <a:lstStyle/>
          <a:p>
            <a:pPr algn="l" indent="0" marL="0">
              <a:lnSpc>
                <a:spcPct val="96000"/>
              </a:lnSpc>
              <a:buNone/>
            </a:pPr>
            <a:r>
              <a:rPr lang="en-US" sz="1000" dirty="0">
                <a:solidFill>
                  <a:srgbClr val="224435"/>
                </a:solidFill>
                <a:latin typeface="Overpass Light" pitchFamily="34" charset="0"/>
                <a:ea typeface="Overpass Light" pitchFamily="34" charset="-122"/>
                <a:cs typeface="Overpass Light" pitchFamily="34" charset="-120"/>
              </a:rPr>
              <a:t>PRACTICAL &amp; APPLIED</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E6"/>
        </a:solidFill>
      </p:bgPr>
    </p:bg>
    <p:spTree>
      <p:nvGrpSpPr>
        <p:cNvPr id="1" name=""/>
        <p:cNvGrpSpPr/>
        <p:nvPr/>
      </p:nvGrpSpPr>
      <p:grpSpPr>
        <a:xfrm>
          <a:off x="0" y="0"/>
          <a:ext cx="0" cy="0"/>
          <a:chOff x="0" y="0"/>
          <a:chExt cx="0" cy="0"/>
        </a:xfrm>
      </p:grpSpPr>
      <p:sp>
        <p:nvSpPr>
          <p:cNvPr id="2" name="Text 0"/>
          <p:cNvSpPr/>
          <p:nvPr/>
        </p:nvSpPr>
        <p:spPr>
          <a:xfrm>
            <a:off x="661475" y="512735"/>
            <a:ext cx="10868745" cy="492621"/>
          </a:xfrm>
          <a:prstGeom prst="rect">
            <a:avLst/>
          </a:prstGeom>
          <a:noFill/>
          <a:ln/>
        </p:spPr>
        <p:txBody>
          <a:bodyPr wrap="none" lIns="0" tIns="0" rIns="0" bIns="0" rtlCol="0" anchor="t"/>
          <a:lstStyle/>
          <a:p>
            <a:pPr algn="l" indent="0" marL="0">
              <a:lnSpc>
                <a:spcPct val="104000"/>
              </a:lnSpc>
              <a:buNone/>
            </a:pPr>
            <a:r>
              <a:rPr lang="en-US" sz="3100" b="1" dirty="0">
                <a:solidFill>
                  <a:srgbClr val="233939"/>
                </a:solidFill>
                <a:latin typeface="Syne Bold" pitchFamily="34" charset="0"/>
                <a:ea typeface="Syne Bold" pitchFamily="34" charset="-122"/>
                <a:cs typeface="Syne Bold" pitchFamily="34" charset="-120"/>
              </a:rPr>
              <a:t>What You Will Be Able to Do After This Session</a:t>
            </a:r>
            <a:endParaRPr lang="en-US" sz="3100" dirty="0"/>
          </a:p>
        </p:txBody>
      </p:sp>
      <p:sp>
        <p:nvSpPr>
          <p:cNvPr id="3" name="Text 1"/>
          <p:cNvSpPr/>
          <p:nvPr/>
        </p:nvSpPr>
        <p:spPr>
          <a:xfrm>
            <a:off x="661475" y="1301948"/>
            <a:ext cx="10868745" cy="492522"/>
          </a:xfrm>
          <a:prstGeom prst="rect">
            <a:avLst/>
          </a:prstGeom>
          <a:noFill/>
          <a:ln/>
        </p:spPr>
        <p:txBody>
          <a:bodyPr wrap="square" lIns="0" tIns="0" rIns="0" bIns="0" rtlCol="0" anchor="t">
            <a:normAutofit/>
          </a:bodyPr>
          <a:lstStyle/>
          <a:p>
            <a:pPr algn="l" indent="0" marL="0">
              <a:lnSpc>
                <a:spcPct val="130000"/>
              </a:lnSpc>
              <a:buNone/>
            </a:pPr>
            <a:r>
              <a:rPr lang="en-US" sz="1200" dirty="0">
                <a:solidFill>
                  <a:srgbClr val="3B4E4E"/>
                </a:solidFill>
                <a:latin typeface="Overpass Light" pitchFamily="34" charset="0"/>
                <a:ea typeface="Overpass Light" pitchFamily="34" charset="-122"/>
                <a:cs typeface="Overpass Light" pitchFamily="34" charset="-120"/>
              </a:rPr>
              <a:t>By the end of this session, you will have a practical, working toolkit for approaching real-world machine learning problems with confidence. These are skills you can immediately apply on the job or in your own projects.</a:t>
            </a:r>
            <a:endParaRPr lang="en-US" sz="1200" dirty="0"/>
          </a:p>
        </p:txBody>
      </p:sp>
      <p:sp>
        <p:nvSpPr>
          <p:cNvPr id="4" name="Shape 2"/>
          <p:cNvSpPr/>
          <p:nvPr/>
        </p:nvSpPr>
        <p:spPr>
          <a:xfrm>
            <a:off x="661475" y="1963440"/>
            <a:ext cx="354599" cy="354608"/>
          </a:xfrm>
          <a:prstGeom prst="roundRect">
            <a:avLst>
              <a:gd name="adj" fmla="val 18671"/>
            </a:avLst>
          </a:prstGeom>
          <a:solidFill>
            <a:srgbClr val="DDEEE6"/>
          </a:solidFill>
          <a:ln w="6350">
            <a:solidFill>
              <a:srgbClr val="C3D4CC"/>
            </a:solidFill>
            <a:prstDash val="solid"/>
          </a:ln>
        </p:spPr>
      </p:sp>
      <p:sp>
        <p:nvSpPr>
          <p:cNvPr id="5" name="Text 3"/>
          <p:cNvSpPr/>
          <p:nvPr/>
        </p:nvSpPr>
        <p:spPr>
          <a:xfrm>
            <a:off x="720558" y="1992957"/>
            <a:ext cx="236432" cy="295573"/>
          </a:xfrm>
          <a:prstGeom prst="rect">
            <a:avLst/>
          </a:prstGeom>
          <a:noFill/>
          <a:ln/>
        </p:spPr>
        <p:txBody>
          <a:bodyPr wrap="none" lIns="0" tIns="0" rIns="0" bIns="0" rtlCol="0" anchor="ctr"/>
          <a:lstStyle/>
          <a:p>
            <a:pPr algn="ctr" indent="0" marL="0">
              <a:lnSpc>
                <a:spcPct val="100000"/>
              </a:lnSpc>
              <a:buNone/>
            </a:pPr>
            <a:r>
              <a:rPr lang="en-US" sz="1850" b="1" dirty="0">
                <a:solidFill>
                  <a:srgbClr val="3B4E4E"/>
                </a:solidFill>
                <a:latin typeface="Syne Bold" pitchFamily="34" charset="0"/>
                <a:ea typeface="Syne Bold" pitchFamily="34" charset="-122"/>
                <a:cs typeface="Syne Bold" pitchFamily="34" charset="-120"/>
              </a:rPr>
              <a:t>1</a:t>
            </a:r>
            <a:endParaRPr lang="en-US" sz="1850" dirty="0"/>
          </a:p>
        </p:txBody>
      </p:sp>
      <p:sp>
        <p:nvSpPr>
          <p:cNvPr id="6" name="Text 4"/>
          <p:cNvSpPr/>
          <p:nvPr/>
        </p:nvSpPr>
        <p:spPr>
          <a:xfrm>
            <a:off x="1166287" y="2017613"/>
            <a:ext cx="10363933" cy="246261"/>
          </a:xfrm>
          <a:prstGeom prst="rect">
            <a:avLst/>
          </a:prstGeom>
          <a:noFill/>
          <a:ln/>
        </p:spPr>
        <p:txBody>
          <a:bodyPr wrap="none" lIns="0" tIns="0" rIns="0" bIns="0" rtlCol="0" anchor="t"/>
          <a:lstStyle/>
          <a:p>
            <a:pPr algn="l" indent="0" marL="0">
              <a:lnSpc>
                <a:spcPct val="104000"/>
              </a:lnSpc>
              <a:buNone/>
            </a:pPr>
            <a:r>
              <a:rPr lang="en-US" sz="1550" b="1" dirty="0">
                <a:solidFill>
                  <a:srgbClr val="3B4E4E"/>
                </a:solidFill>
                <a:latin typeface="Syne Bold" pitchFamily="34" charset="0"/>
                <a:ea typeface="Syne Bold" pitchFamily="34" charset="-122"/>
                <a:cs typeface="Syne Bold" pitchFamily="34" charset="-120"/>
              </a:rPr>
              <a:t>Identify the Problem Type</a:t>
            </a:r>
            <a:endParaRPr lang="en-US" sz="1550" dirty="0"/>
          </a:p>
        </p:txBody>
      </p:sp>
      <p:sp>
        <p:nvSpPr>
          <p:cNvPr id="7" name="Text 5"/>
          <p:cNvSpPr/>
          <p:nvPr/>
        </p:nvSpPr>
        <p:spPr>
          <a:xfrm>
            <a:off x="1166287" y="2353965"/>
            <a:ext cx="10363933" cy="246261"/>
          </a:xfrm>
          <a:prstGeom prst="rect">
            <a:avLst/>
          </a:prstGeom>
          <a:noFill/>
          <a:ln/>
        </p:spPr>
        <p:txBody>
          <a:bodyPr wrap="none" lIns="0" tIns="0" rIns="0" bIns="0" rtlCol="0" anchor="t"/>
          <a:lstStyle/>
          <a:p>
            <a:pPr algn="l" indent="0" marL="0">
              <a:lnSpc>
                <a:spcPct val="130000"/>
              </a:lnSpc>
              <a:buNone/>
            </a:pPr>
            <a:r>
              <a:rPr lang="en-US" sz="1200" dirty="0">
                <a:solidFill>
                  <a:srgbClr val="3B4E4E"/>
                </a:solidFill>
                <a:latin typeface="Overpass Light" pitchFamily="34" charset="0"/>
                <a:ea typeface="Overpass Light" pitchFamily="34" charset="-122"/>
                <a:cs typeface="Overpass Light" pitchFamily="34" charset="-120"/>
              </a:rPr>
              <a:t>Read any business problem and recognise what type of ML challenge it represents — regression, classification, clustering, and more.</a:t>
            </a:r>
            <a:endParaRPr lang="en-US" sz="1200" dirty="0"/>
          </a:p>
        </p:txBody>
      </p:sp>
      <p:sp>
        <p:nvSpPr>
          <p:cNvPr id="8" name="Shape 6"/>
          <p:cNvSpPr/>
          <p:nvPr/>
        </p:nvSpPr>
        <p:spPr>
          <a:xfrm>
            <a:off x="661475" y="2900660"/>
            <a:ext cx="354599" cy="354608"/>
          </a:xfrm>
          <a:prstGeom prst="roundRect">
            <a:avLst>
              <a:gd name="adj" fmla="val 18671"/>
            </a:avLst>
          </a:prstGeom>
          <a:solidFill>
            <a:srgbClr val="DDEEE6"/>
          </a:solidFill>
          <a:ln w="6350">
            <a:solidFill>
              <a:srgbClr val="C3D4CC"/>
            </a:solidFill>
            <a:prstDash val="solid"/>
          </a:ln>
        </p:spPr>
      </p:sp>
      <p:sp>
        <p:nvSpPr>
          <p:cNvPr id="9" name="Text 7"/>
          <p:cNvSpPr/>
          <p:nvPr/>
        </p:nvSpPr>
        <p:spPr>
          <a:xfrm>
            <a:off x="720558" y="2930178"/>
            <a:ext cx="236432" cy="295573"/>
          </a:xfrm>
          <a:prstGeom prst="rect">
            <a:avLst/>
          </a:prstGeom>
          <a:noFill/>
          <a:ln/>
        </p:spPr>
        <p:txBody>
          <a:bodyPr wrap="none" lIns="0" tIns="0" rIns="0" bIns="0" rtlCol="0" anchor="ctr"/>
          <a:lstStyle/>
          <a:p>
            <a:pPr algn="ctr" indent="0" marL="0">
              <a:lnSpc>
                <a:spcPct val="100000"/>
              </a:lnSpc>
              <a:buNone/>
            </a:pPr>
            <a:r>
              <a:rPr lang="en-US" sz="1850" b="1" dirty="0">
                <a:solidFill>
                  <a:srgbClr val="3B4E4E"/>
                </a:solidFill>
                <a:latin typeface="Syne Bold" pitchFamily="34" charset="0"/>
                <a:ea typeface="Syne Bold" pitchFamily="34" charset="-122"/>
                <a:cs typeface="Syne Bold" pitchFamily="34" charset="-120"/>
              </a:rPr>
              <a:t>2</a:t>
            </a:r>
            <a:endParaRPr lang="en-US" sz="1850" dirty="0"/>
          </a:p>
        </p:txBody>
      </p:sp>
      <p:sp>
        <p:nvSpPr>
          <p:cNvPr id="10" name="Text 8"/>
          <p:cNvSpPr/>
          <p:nvPr/>
        </p:nvSpPr>
        <p:spPr>
          <a:xfrm>
            <a:off x="1166287" y="2954834"/>
            <a:ext cx="10363933" cy="246261"/>
          </a:xfrm>
          <a:prstGeom prst="rect">
            <a:avLst/>
          </a:prstGeom>
          <a:noFill/>
          <a:ln/>
        </p:spPr>
        <p:txBody>
          <a:bodyPr wrap="none" lIns="0" tIns="0" rIns="0" bIns="0" rtlCol="0" anchor="t"/>
          <a:lstStyle/>
          <a:p>
            <a:pPr algn="l" indent="0" marL="0">
              <a:lnSpc>
                <a:spcPct val="104000"/>
              </a:lnSpc>
              <a:buNone/>
            </a:pPr>
            <a:r>
              <a:rPr lang="en-US" sz="1550" b="1" dirty="0">
                <a:solidFill>
                  <a:srgbClr val="3B4E4E"/>
                </a:solidFill>
                <a:latin typeface="Syne Bold" pitchFamily="34" charset="0"/>
                <a:ea typeface="Syne Bold" pitchFamily="34" charset="-122"/>
                <a:cs typeface="Syne Bold" pitchFamily="34" charset="-120"/>
              </a:rPr>
              <a:t>Pick and Justify an Algorithm</a:t>
            </a:r>
            <a:endParaRPr lang="en-US" sz="1550" dirty="0"/>
          </a:p>
        </p:txBody>
      </p:sp>
      <p:sp>
        <p:nvSpPr>
          <p:cNvPr id="11" name="Text 9"/>
          <p:cNvSpPr/>
          <p:nvPr/>
        </p:nvSpPr>
        <p:spPr>
          <a:xfrm>
            <a:off x="1166287" y="3291185"/>
            <a:ext cx="10363933" cy="246261"/>
          </a:xfrm>
          <a:prstGeom prst="rect">
            <a:avLst/>
          </a:prstGeom>
          <a:noFill/>
          <a:ln/>
        </p:spPr>
        <p:txBody>
          <a:bodyPr wrap="none" lIns="0" tIns="0" rIns="0" bIns="0" rtlCol="0" anchor="t"/>
          <a:lstStyle/>
          <a:p>
            <a:pPr algn="l" indent="0" marL="0">
              <a:lnSpc>
                <a:spcPct val="130000"/>
              </a:lnSpc>
              <a:buNone/>
            </a:pPr>
            <a:r>
              <a:rPr lang="en-US" sz="1200" dirty="0">
                <a:solidFill>
                  <a:srgbClr val="3B4E4E"/>
                </a:solidFill>
                <a:latin typeface="Overpass Light" pitchFamily="34" charset="0"/>
                <a:ea typeface="Overpass Light" pitchFamily="34" charset="-122"/>
                <a:cs typeface="Overpass Light" pitchFamily="34" charset="-120"/>
              </a:rPr>
              <a:t>Select a suitable algorithm and explain clearly why it fits the problem, drawing on data availability, output type, and interpretability needs.</a:t>
            </a:r>
            <a:endParaRPr lang="en-US" sz="1200" dirty="0"/>
          </a:p>
        </p:txBody>
      </p:sp>
      <p:sp>
        <p:nvSpPr>
          <p:cNvPr id="12" name="Shape 10"/>
          <p:cNvSpPr/>
          <p:nvPr/>
        </p:nvSpPr>
        <p:spPr>
          <a:xfrm>
            <a:off x="661475" y="3837880"/>
            <a:ext cx="354599" cy="354608"/>
          </a:xfrm>
          <a:prstGeom prst="roundRect">
            <a:avLst>
              <a:gd name="adj" fmla="val 18671"/>
            </a:avLst>
          </a:prstGeom>
          <a:solidFill>
            <a:srgbClr val="DDEEE6"/>
          </a:solidFill>
          <a:ln w="6350">
            <a:solidFill>
              <a:srgbClr val="C3D4CC"/>
            </a:solidFill>
            <a:prstDash val="solid"/>
          </a:ln>
        </p:spPr>
      </p:sp>
      <p:sp>
        <p:nvSpPr>
          <p:cNvPr id="13" name="Text 11"/>
          <p:cNvSpPr/>
          <p:nvPr/>
        </p:nvSpPr>
        <p:spPr>
          <a:xfrm>
            <a:off x="720558" y="3867398"/>
            <a:ext cx="236432" cy="295573"/>
          </a:xfrm>
          <a:prstGeom prst="rect">
            <a:avLst/>
          </a:prstGeom>
          <a:noFill/>
          <a:ln/>
        </p:spPr>
        <p:txBody>
          <a:bodyPr wrap="none" lIns="0" tIns="0" rIns="0" bIns="0" rtlCol="0" anchor="ctr"/>
          <a:lstStyle/>
          <a:p>
            <a:pPr algn="ctr" indent="0" marL="0">
              <a:lnSpc>
                <a:spcPct val="100000"/>
              </a:lnSpc>
              <a:buNone/>
            </a:pPr>
            <a:r>
              <a:rPr lang="en-US" sz="1850" b="1" dirty="0">
                <a:solidFill>
                  <a:srgbClr val="3B4E4E"/>
                </a:solidFill>
                <a:latin typeface="Syne Bold" pitchFamily="34" charset="0"/>
                <a:ea typeface="Syne Bold" pitchFamily="34" charset="-122"/>
                <a:cs typeface="Syne Bold" pitchFamily="34" charset="-120"/>
              </a:rPr>
              <a:t>3</a:t>
            </a:r>
            <a:endParaRPr lang="en-US" sz="1850" dirty="0"/>
          </a:p>
        </p:txBody>
      </p:sp>
      <p:sp>
        <p:nvSpPr>
          <p:cNvPr id="14" name="Text 12"/>
          <p:cNvSpPr/>
          <p:nvPr/>
        </p:nvSpPr>
        <p:spPr>
          <a:xfrm>
            <a:off x="1166287" y="3892054"/>
            <a:ext cx="10363933" cy="246261"/>
          </a:xfrm>
          <a:prstGeom prst="rect">
            <a:avLst/>
          </a:prstGeom>
          <a:noFill/>
          <a:ln/>
        </p:spPr>
        <p:txBody>
          <a:bodyPr wrap="none" lIns="0" tIns="0" rIns="0" bIns="0" rtlCol="0" anchor="t"/>
          <a:lstStyle/>
          <a:p>
            <a:pPr algn="l" indent="0" marL="0">
              <a:lnSpc>
                <a:spcPct val="104000"/>
              </a:lnSpc>
              <a:buNone/>
            </a:pPr>
            <a:r>
              <a:rPr lang="en-US" sz="1550" b="1" dirty="0">
                <a:solidFill>
                  <a:srgbClr val="3B4E4E"/>
                </a:solidFill>
                <a:latin typeface="Syne Bold" pitchFamily="34" charset="0"/>
                <a:ea typeface="Syne Bold" pitchFamily="34" charset="-122"/>
                <a:cs typeface="Syne Bold" pitchFamily="34" charset="-120"/>
              </a:rPr>
              <a:t>Understand the Mechanics</a:t>
            </a:r>
            <a:endParaRPr lang="en-US" sz="1550" dirty="0"/>
          </a:p>
        </p:txBody>
      </p:sp>
      <p:sp>
        <p:nvSpPr>
          <p:cNvPr id="15" name="Text 13"/>
          <p:cNvSpPr/>
          <p:nvPr/>
        </p:nvSpPr>
        <p:spPr>
          <a:xfrm>
            <a:off x="1166287" y="4228405"/>
            <a:ext cx="10363933" cy="246261"/>
          </a:xfrm>
          <a:prstGeom prst="rect">
            <a:avLst/>
          </a:prstGeom>
          <a:noFill/>
          <a:ln/>
        </p:spPr>
        <p:txBody>
          <a:bodyPr wrap="none" lIns="0" tIns="0" rIns="0" bIns="0" rtlCol="0" anchor="t"/>
          <a:lstStyle/>
          <a:p>
            <a:pPr algn="l" indent="0" marL="0">
              <a:lnSpc>
                <a:spcPct val="130000"/>
              </a:lnSpc>
              <a:buNone/>
            </a:pPr>
            <a:r>
              <a:rPr lang="en-US" sz="1200" dirty="0">
                <a:solidFill>
                  <a:srgbClr val="3B4E4E"/>
                </a:solidFill>
                <a:latin typeface="Overpass Light" pitchFamily="34" charset="0"/>
                <a:ea typeface="Overpass Light" pitchFamily="34" charset="-122"/>
                <a:cs typeface="Overpass Light" pitchFamily="34" charset="-120"/>
              </a:rPr>
              <a:t>Describe what your chosen algorithm does, step by step, in plain language — no jargon required.</a:t>
            </a:r>
            <a:endParaRPr lang="en-US" sz="1200" dirty="0"/>
          </a:p>
        </p:txBody>
      </p:sp>
      <p:sp>
        <p:nvSpPr>
          <p:cNvPr id="16" name="Shape 14"/>
          <p:cNvSpPr/>
          <p:nvPr/>
        </p:nvSpPr>
        <p:spPr>
          <a:xfrm>
            <a:off x="661475" y="4775101"/>
            <a:ext cx="354599" cy="354608"/>
          </a:xfrm>
          <a:prstGeom prst="roundRect">
            <a:avLst>
              <a:gd name="adj" fmla="val 18671"/>
            </a:avLst>
          </a:prstGeom>
          <a:solidFill>
            <a:srgbClr val="DDEEE6"/>
          </a:solidFill>
          <a:ln w="6350">
            <a:solidFill>
              <a:srgbClr val="C3D4CC"/>
            </a:solidFill>
            <a:prstDash val="solid"/>
          </a:ln>
        </p:spPr>
      </p:sp>
      <p:sp>
        <p:nvSpPr>
          <p:cNvPr id="17" name="Text 15"/>
          <p:cNvSpPr/>
          <p:nvPr/>
        </p:nvSpPr>
        <p:spPr>
          <a:xfrm>
            <a:off x="720558" y="4804618"/>
            <a:ext cx="236432" cy="295573"/>
          </a:xfrm>
          <a:prstGeom prst="rect">
            <a:avLst/>
          </a:prstGeom>
          <a:noFill/>
          <a:ln/>
        </p:spPr>
        <p:txBody>
          <a:bodyPr wrap="none" lIns="0" tIns="0" rIns="0" bIns="0" rtlCol="0" anchor="ctr"/>
          <a:lstStyle/>
          <a:p>
            <a:pPr algn="ctr" indent="0" marL="0">
              <a:lnSpc>
                <a:spcPct val="100000"/>
              </a:lnSpc>
              <a:buNone/>
            </a:pPr>
            <a:r>
              <a:rPr lang="en-US" sz="1850" b="1" dirty="0">
                <a:solidFill>
                  <a:srgbClr val="3B4E4E"/>
                </a:solidFill>
                <a:latin typeface="Syne Bold" pitchFamily="34" charset="0"/>
                <a:ea typeface="Syne Bold" pitchFamily="34" charset="-122"/>
                <a:cs typeface="Syne Bold" pitchFamily="34" charset="-120"/>
              </a:rPr>
              <a:t>4</a:t>
            </a:r>
            <a:endParaRPr lang="en-US" sz="1850" dirty="0"/>
          </a:p>
        </p:txBody>
      </p:sp>
      <p:sp>
        <p:nvSpPr>
          <p:cNvPr id="18" name="Text 16"/>
          <p:cNvSpPr/>
          <p:nvPr/>
        </p:nvSpPr>
        <p:spPr>
          <a:xfrm>
            <a:off x="1166287" y="4829274"/>
            <a:ext cx="10363933" cy="246261"/>
          </a:xfrm>
          <a:prstGeom prst="rect">
            <a:avLst/>
          </a:prstGeom>
          <a:noFill/>
          <a:ln/>
        </p:spPr>
        <p:txBody>
          <a:bodyPr wrap="none" lIns="0" tIns="0" rIns="0" bIns="0" rtlCol="0" anchor="t"/>
          <a:lstStyle/>
          <a:p>
            <a:pPr algn="l" indent="0" marL="0">
              <a:lnSpc>
                <a:spcPct val="104000"/>
              </a:lnSpc>
              <a:buNone/>
            </a:pPr>
            <a:r>
              <a:rPr lang="en-US" sz="1550" b="1" dirty="0">
                <a:solidFill>
                  <a:srgbClr val="3B4E4E"/>
                </a:solidFill>
                <a:latin typeface="Syne Bold" pitchFamily="34" charset="0"/>
                <a:ea typeface="Syne Bold" pitchFamily="34" charset="-122"/>
                <a:cs typeface="Syne Bold" pitchFamily="34" charset="-120"/>
              </a:rPr>
              <a:t>Interpret Outputs and Evaluate Quality</a:t>
            </a:r>
            <a:endParaRPr lang="en-US" sz="1550" dirty="0"/>
          </a:p>
        </p:txBody>
      </p:sp>
      <p:sp>
        <p:nvSpPr>
          <p:cNvPr id="19" name="Text 17"/>
          <p:cNvSpPr/>
          <p:nvPr/>
        </p:nvSpPr>
        <p:spPr>
          <a:xfrm>
            <a:off x="1166287" y="5165626"/>
            <a:ext cx="10363933" cy="246261"/>
          </a:xfrm>
          <a:prstGeom prst="rect">
            <a:avLst/>
          </a:prstGeom>
          <a:noFill/>
          <a:ln/>
        </p:spPr>
        <p:txBody>
          <a:bodyPr wrap="none" lIns="0" tIns="0" rIns="0" bIns="0" rtlCol="0" anchor="t"/>
          <a:lstStyle/>
          <a:p>
            <a:pPr algn="l" indent="0" marL="0">
              <a:lnSpc>
                <a:spcPct val="130000"/>
              </a:lnSpc>
              <a:buNone/>
            </a:pPr>
            <a:r>
              <a:rPr lang="en-US" sz="1200" dirty="0">
                <a:solidFill>
                  <a:srgbClr val="3B4E4E"/>
                </a:solidFill>
                <a:latin typeface="Overpass Light" pitchFamily="34" charset="0"/>
                <a:ea typeface="Overpass Light" pitchFamily="34" charset="-122"/>
                <a:cs typeface="Overpass Light" pitchFamily="34" charset="-120"/>
              </a:rPr>
              <a:t>Know what output to expect from each algorithm and which metrics to use to judge whether the model is performing well.</a:t>
            </a:r>
            <a:endParaRPr lang="en-US" sz="1200" dirty="0"/>
          </a:p>
        </p:txBody>
      </p:sp>
      <p:sp>
        <p:nvSpPr>
          <p:cNvPr id="20" name="Shape 18"/>
          <p:cNvSpPr/>
          <p:nvPr/>
        </p:nvSpPr>
        <p:spPr>
          <a:xfrm>
            <a:off x="661475" y="5712321"/>
            <a:ext cx="354599" cy="354608"/>
          </a:xfrm>
          <a:prstGeom prst="roundRect">
            <a:avLst>
              <a:gd name="adj" fmla="val 18671"/>
            </a:avLst>
          </a:prstGeom>
          <a:solidFill>
            <a:srgbClr val="DDEEE6"/>
          </a:solidFill>
          <a:ln w="6350">
            <a:solidFill>
              <a:srgbClr val="C3D4CC"/>
            </a:solidFill>
            <a:prstDash val="solid"/>
          </a:ln>
        </p:spPr>
      </p:sp>
      <p:sp>
        <p:nvSpPr>
          <p:cNvPr id="21" name="Text 19"/>
          <p:cNvSpPr/>
          <p:nvPr/>
        </p:nvSpPr>
        <p:spPr>
          <a:xfrm>
            <a:off x="720558" y="5741839"/>
            <a:ext cx="236432" cy="295573"/>
          </a:xfrm>
          <a:prstGeom prst="rect">
            <a:avLst/>
          </a:prstGeom>
          <a:noFill/>
          <a:ln/>
        </p:spPr>
        <p:txBody>
          <a:bodyPr wrap="none" lIns="0" tIns="0" rIns="0" bIns="0" rtlCol="0" anchor="ctr"/>
          <a:lstStyle/>
          <a:p>
            <a:pPr algn="ctr" indent="0" marL="0">
              <a:lnSpc>
                <a:spcPct val="100000"/>
              </a:lnSpc>
              <a:buNone/>
            </a:pPr>
            <a:r>
              <a:rPr lang="en-US" sz="1850" b="1" dirty="0">
                <a:solidFill>
                  <a:srgbClr val="3B4E4E"/>
                </a:solidFill>
                <a:latin typeface="Syne Bold" pitchFamily="34" charset="0"/>
                <a:ea typeface="Syne Bold" pitchFamily="34" charset="-122"/>
                <a:cs typeface="Syne Bold" pitchFamily="34" charset="-120"/>
              </a:rPr>
              <a:t>5</a:t>
            </a:r>
            <a:endParaRPr lang="en-US" sz="1850" dirty="0"/>
          </a:p>
        </p:txBody>
      </p:sp>
      <p:sp>
        <p:nvSpPr>
          <p:cNvPr id="22" name="Text 20"/>
          <p:cNvSpPr/>
          <p:nvPr/>
        </p:nvSpPr>
        <p:spPr>
          <a:xfrm>
            <a:off x="1166287" y="5766495"/>
            <a:ext cx="10363933" cy="246261"/>
          </a:xfrm>
          <a:prstGeom prst="rect">
            <a:avLst/>
          </a:prstGeom>
          <a:noFill/>
          <a:ln/>
        </p:spPr>
        <p:txBody>
          <a:bodyPr wrap="none" lIns="0" tIns="0" rIns="0" bIns="0" rtlCol="0" anchor="t"/>
          <a:lstStyle/>
          <a:p>
            <a:pPr algn="l" indent="0" marL="0">
              <a:lnSpc>
                <a:spcPct val="104000"/>
              </a:lnSpc>
              <a:buNone/>
            </a:pPr>
            <a:r>
              <a:rPr lang="en-US" sz="1550" b="1" dirty="0">
                <a:solidFill>
                  <a:srgbClr val="3B4E4E"/>
                </a:solidFill>
                <a:latin typeface="Syne Bold" pitchFamily="34" charset="0"/>
                <a:ea typeface="Syne Bold" pitchFamily="34" charset="-122"/>
                <a:cs typeface="Syne Bold" pitchFamily="34" charset="-120"/>
              </a:rPr>
              <a:t>Connect to the Real World</a:t>
            </a:r>
            <a:endParaRPr lang="en-US" sz="1550" dirty="0"/>
          </a:p>
        </p:txBody>
      </p:sp>
      <p:sp>
        <p:nvSpPr>
          <p:cNvPr id="23" name="Text 21"/>
          <p:cNvSpPr/>
          <p:nvPr/>
        </p:nvSpPr>
        <p:spPr>
          <a:xfrm>
            <a:off x="1166287" y="6102846"/>
            <a:ext cx="10363933" cy="246261"/>
          </a:xfrm>
          <a:prstGeom prst="rect">
            <a:avLst/>
          </a:prstGeom>
          <a:noFill/>
          <a:ln/>
        </p:spPr>
        <p:txBody>
          <a:bodyPr wrap="none" lIns="0" tIns="0" rIns="0" bIns="0" rtlCol="0" anchor="t"/>
          <a:lstStyle/>
          <a:p>
            <a:pPr algn="l" indent="0" marL="0">
              <a:lnSpc>
                <a:spcPct val="130000"/>
              </a:lnSpc>
              <a:buNone/>
            </a:pPr>
            <a:r>
              <a:rPr lang="en-US" sz="1200" dirty="0">
                <a:solidFill>
                  <a:srgbClr val="3B4E4E"/>
                </a:solidFill>
                <a:latin typeface="Overpass Light" pitchFamily="34" charset="0"/>
                <a:ea typeface="Overpass Light" pitchFamily="34" charset="-122"/>
                <a:cs typeface="Overpass Light" pitchFamily="34" charset="-120"/>
              </a:rPr>
              <a:t>Name real companies and industries that use each algorithm today — grounding every concept in practical, commercial context.</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E6"/>
        </a:solidFill>
      </p:bgPr>
    </p:bg>
    <p:spTree>
      <p:nvGrpSpPr>
        <p:cNvPr id="1" name=""/>
        <p:cNvGrpSpPr/>
        <p:nvPr/>
      </p:nvGrpSpPr>
      <p:grpSpPr>
        <a:xfrm>
          <a:off x="0" y="0"/>
          <a:ext cx="0" cy="0"/>
          <a:chOff x="0" y="0"/>
          <a:chExt cx="0" cy="0"/>
        </a:xfrm>
      </p:grpSpPr>
      <p:sp>
        <p:nvSpPr>
          <p:cNvPr id="2" name="Text 0"/>
          <p:cNvSpPr/>
          <p:nvPr/>
        </p:nvSpPr>
        <p:spPr>
          <a:xfrm>
            <a:off x="661475" y="628320"/>
            <a:ext cx="10868745" cy="516731"/>
          </a:xfrm>
          <a:prstGeom prst="rect">
            <a:avLst/>
          </a:prstGeom>
          <a:noFill/>
          <a:ln/>
        </p:spPr>
        <p:txBody>
          <a:bodyPr wrap="none" lIns="0" tIns="0" rIns="0" bIns="0" rtlCol="0" anchor="t"/>
          <a:lstStyle/>
          <a:p>
            <a:pPr algn="l" indent="0" marL="0">
              <a:lnSpc>
                <a:spcPct val="104000"/>
              </a:lnSpc>
              <a:buNone/>
            </a:pPr>
            <a:r>
              <a:rPr lang="en-US" sz="3250" b="1" dirty="0">
                <a:solidFill>
                  <a:srgbClr val="233939"/>
                </a:solidFill>
                <a:latin typeface="Syne Bold" pitchFamily="34" charset="0"/>
                <a:ea typeface="Syne Bold" pitchFamily="34" charset="-122"/>
                <a:cs typeface="Syne Bold" pitchFamily="34" charset="-120"/>
              </a:rPr>
              <a:t>Warm-Up Poll</a:t>
            </a:r>
            <a:endParaRPr lang="en-US" sz="3250" dirty="0"/>
          </a:p>
        </p:txBody>
      </p:sp>
      <p:sp>
        <p:nvSpPr>
          <p:cNvPr id="3" name="Text 1"/>
          <p:cNvSpPr/>
          <p:nvPr/>
        </p:nvSpPr>
        <p:spPr>
          <a:xfrm>
            <a:off x="661475" y="1471613"/>
            <a:ext cx="11478330" cy="264616"/>
          </a:xfrm>
          <a:prstGeom prst="rect">
            <a:avLst/>
          </a:prstGeom>
          <a:noFill/>
          <a:ln/>
        </p:spPr>
        <p:txBody>
          <a:bodyPr wrap="none" lIns="0" tIns="0" rIns="0" bIns="0" rtlCol="0" anchor="t"/>
          <a:lstStyle/>
          <a:p>
            <a:pPr algn="l" indent="0" marL="0">
              <a:lnSpc>
                <a:spcPct val="133000"/>
              </a:lnSpc>
              <a:buNone/>
            </a:pPr>
            <a:r>
              <a:rPr lang="en-US" sz="1300" b="1" dirty="0">
                <a:solidFill>
                  <a:srgbClr val="3B4E4E"/>
                </a:solidFill>
                <a:latin typeface="Overpass Bold" pitchFamily="34" charset="0"/>
                <a:ea typeface="Overpass Bold" pitchFamily="34" charset="-122"/>
                <a:cs typeface="Overpass Bold" pitchFamily="34" charset="-120"/>
              </a:rPr>
              <a:t>Which of these do you think use machine learning? Raise your hand for each.</a:t>
            </a:r>
            <a:endParaRPr lang="en-US" sz="1300" dirty="0"/>
          </a:p>
        </p:txBody>
      </p:sp>
      <p:sp>
        <p:nvSpPr>
          <p:cNvPr id="4" name="Shape 2"/>
          <p:cNvSpPr/>
          <p:nvPr/>
        </p:nvSpPr>
        <p:spPr>
          <a:xfrm>
            <a:off x="661475" y="1922264"/>
            <a:ext cx="3512653" cy="1778695"/>
          </a:xfrm>
          <a:prstGeom prst="roundRect">
            <a:avLst>
              <a:gd name="adj" fmla="val 3905"/>
            </a:avLst>
          </a:prstGeom>
          <a:solidFill>
            <a:srgbClr val="FFFDE6"/>
          </a:solidFill>
          <a:ln w="19050">
            <a:solidFill>
              <a:srgbClr val="C3D4CC"/>
            </a:solidFill>
            <a:prstDash val="solid"/>
          </a:ln>
        </p:spPr>
      </p:sp>
      <p:sp>
        <p:nvSpPr>
          <p:cNvPr id="5" name="Text 3"/>
          <p:cNvSpPr/>
          <p:nvPr/>
        </p:nvSpPr>
        <p:spPr>
          <a:xfrm>
            <a:off x="845819" y="2106613"/>
            <a:ext cx="3143965" cy="258465"/>
          </a:xfrm>
          <a:prstGeom prst="rect">
            <a:avLst/>
          </a:prstGeom>
          <a:noFill/>
          <a:ln/>
        </p:spPr>
        <p:txBody>
          <a:bodyPr wrap="none" lIns="0" tIns="0" rIns="0" bIns="0" rtlCol="0" anchor="t"/>
          <a:lstStyle/>
          <a:p>
            <a:pPr algn="l" indent="0" marL="0">
              <a:lnSpc>
                <a:spcPct val="104000"/>
              </a:lnSpc>
              <a:buNone/>
            </a:pPr>
            <a:r>
              <a:rPr lang="en-US" sz="1600" b="1" dirty="0">
                <a:solidFill>
                  <a:srgbClr val="3B4E4E"/>
                </a:solidFill>
                <a:latin typeface="Syne Bold" pitchFamily="34" charset="0"/>
                <a:ea typeface="Syne Bold" pitchFamily="34" charset="-122"/>
                <a:cs typeface="Syne Bold" pitchFamily="34" charset="-120"/>
              </a:rPr>
              <a:t>1. Gmail → Spam Folder</a:t>
            </a:r>
            <a:endParaRPr lang="en-US" sz="1600" dirty="0"/>
          </a:p>
        </p:txBody>
      </p:sp>
      <p:sp>
        <p:nvSpPr>
          <p:cNvPr id="6" name="Text 4"/>
          <p:cNvSpPr/>
          <p:nvPr/>
        </p:nvSpPr>
        <p:spPr>
          <a:xfrm>
            <a:off x="845819" y="2464296"/>
            <a:ext cx="3143965" cy="793849"/>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3B4E4E"/>
                </a:solidFill>
                <a:latin typeface="Overpass Light" pitchFamily="34" charset="0"/>
                <a:ea typeface="Overpass Light" pitchFamily="34" charset="-122"/>
                <a:cs typeface="Overpass Light" pitchFamily="34" charset="-120"/>
              </a:rPr>
              <a:t>An email is silently moved out of your inbox because the system judged it unwanted.</a:t>
            </a:r>
            <a:endParaRPr lang="en-US" sz="1300" dirty="0"/>
          </a:p>
        </p:txBody>
      </p:sp>
      <p:sp>
        <p:nvSpPr>
          <p:cNvPr id="7" name="Shape 5"/>
          <p:cNvSpPr/>
          <p:nvPr/>
        </p:nvSpPr>
        <p:spPr>
          <a:xfrm>
            <a:off x="4339422" y="1922264"/>
            <a:ext cx="3512752" cy="1778695"/>
          </a:xfrm>
          <a:prstGeom prst="roundRect">
            <a:avLst>
              <a:gd name="adj" fmla="val 3905"/>
            </a:avLst>
          </a:prstGeom>
          <a:solidFill>
            <a:srgbClr val="FFFDE6"/>
          </a:solidFill>
          <a:ln w="19050">
            <a:solidFill>
              <a:srgbClr val="C3D4CC"/>
            </a:solidFill>
            <a:prstDash val="solid"/>
          </a:ln>
        </p:spPr>
      </p:sp>
      <p:sp>
        <p:nvSpPr>
          <p:cNvPr id="8" name="Text 6"/>
          <p:cNvSpPr/>
          <p:nvPr/>
        </p:nvSpPr>
        <p:spPr>
          <a:xfrm>
            <a:off x="4523766" y="2106613"/>
            <a:ext cx="3144064" cy="516930"/>
          </a:xfrm>
          <a:prstGeom prst="rect">
            <a:avLst/>
          </a:prstGeom>
          <a:noFill/>
          <a:ln/>
        </p:spPr>
        <p:txBody>
          <a:bodyPr wrap="square" lIns="0" tIns="0" rIns="0" bIns="0" rtlCol="0" anchor="t">
            <a:normAutofit/>
          </a:bodyPr>
          <a:lstStyle/>
          <a:p>
            <a:pPr algn="l" indent="0" marL="0">
              <a:lnSpc>
                <a:spcPct val="104000"/>
              </a:lnSpc>
              <a:buNone/>
            </a:pPr>
            <a:r>
              <a:rPr lang="en-US" sz="1600" b="1" dirty="0">
                <a:solidFill>
                  <a:srgbClr val="3B4E4E"/>
                </a:solidFill>
                <a:latin typeface="Syne Bold" pitchFamily="34" charset="0"/>
                <a:ea typeface="Syne Bold" pitchFamily="34" charset="-122"/>
                <a:cs typeface="Syne Bold" pitchFamily="34" charset="-120"/>
              </a:rPr>
              <a:t>2. Netflix Recommendations</a:t>
            </a:r>
            <a:endParaRPr lang="en-US" sz="1600" dirty="0"/>
          </a:p>
        </p:txBody>
      </p:sp>
      <p:sp>
        <p:nvSpPr>
          <p:cNvPr id="9" name="Text 7"/>
          <p:cNvSpPr/>
          <p:nvPr/>
        </p:nvSpPr>
        <p:spPr>
          <a:xfrm>
            <a:off x="4523766" y="2722761"/>
            <a:ext cx="3144064" cy="793849"/>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3B4E4E"/>
                </a:solidFill>
                <a:latin typeface="Overpass Light" pitchFamily="34" charset="0"/>
                <a:ea typeface="Overpass Light" pitchFamily="34" charset="-122"/>
                <a:cs typeface="Overpass Light" pitchFamily="34" charset="-120"/>
              </a:rPr>
              <a:t>The platform suggests a show you have never searched for, based on what you have watched.</a:t>
            </a:r>
            <a:endParaRPr lang="en-US" sz="1300" dirty="0"/>
          </a:p>
        </p:txBody>
      </p:sp>
      <p:sp>
        <p:nvSpPr>
          <p:cNvPr id="10" name="Shape 8"/>
          <p:cNvSpPr/>
          <p:nvPr/>
        </p:nvSpPr>
        <p:spPr>
          <a:xfrm>
            <a:off x="8017468" y="1922264"/>
            <a:ext cx="3512653" cy="1778695"/>
          </a:xfrm>
          <a:prstGeom prst="roundRect">
            <a:avLst>
              <a:gd name="adj" fmla="val 3905"/>
            </a:avLst>
          </a:prstGeom>
          <a:solidFill>
            <a:srgbClr val="FFFDE6"/>
          </a:solidFill>
          <a:ln w="19050">
            <a:solidFill>
              <a:srgbClr val="C3D4CC"/>
            </a:solidFill>
            <a:prstDash val="solid"/>
          </a:ln>
        </p:spPr>
      </p:sp>
      <p:sp>
        <p:nvSpPr>
          <p:cNvPr id="11" name="Text 9"/>
          <p:cNvSpPr/>
          <p:nvPr/>
        </p:nvSpPr>
        <p:spPr>
          <a:xfrm>
            <a:off x="8201812" y="2106613"/>
            <a:ext cx="3143965" cy="258465"/>
          </a:xfrm>
          <a:prstGeom prst="rect">
            <a:avLst/>
          </a:prstGeom>
          <a:noFill/>
          <a:ln/>
        </p:spPr>
        <p:txBody>
          <a:bodyPr wrap="none" lIns="0" tIns="0" rIns="0" bIns="0" rtlCol="0" anchor="t"/>
          <a:lstStyle/>
          <a:p>
            <a:pPr algn="l" indent="0" marL="0">
              <a:lnSpc>
                <a:spcPct val="104000"/>
              </a:lnSpc>
              <a:buNone/>
            </a:pPr>
            <a:r>
              <a:rPr lang="en-US" sz="1600" b="1" dirty="0">
                <a:solidFill>
                  <a:srgbClr val="3B4E4E"/>
                </a:solidFill>
                <a:latin typeface="Syne Bold" pitchFamily="34" charset="0"/>
                <a:ea typeface="Syne Bold" pitchFamily="34" charset="-122"/>
                <a:cs typeface="Syne Bold" pitchFamily="34" charset="-120"/>
              </a:rPr>
              <a:t>3. Bank Loan in Minutes</a:t>
            </a:r>
            <a:endParaRPr lang="en-US" sz="1600" dirty="0"/>
          </a:p>
        </p:txBody>
      </p:sp>
      <p:sp>
        <p:nvSpPr>
          <p:cNvPr id="12" name="Text 10"/>
          <p:cNvSpPr/>
          <p:nvPr/>
        </p:nvSpPr>
        <p:spPr>
          <a:xfrm>
            <a:off x="8201812" y="2464296"/>
            <a:ext cx="3143965" cy="529233"/>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3B4E4E"/>
                </a:solidFill>
                <a:latin typeface="Overpass Light" pitchFamily="34" charset="0"/>
                <a:ea typeface="Overpass Light" pitchFamily="34" charset="-122"/>
                <a:cs typeface="Overpass Light" pitchFamily="34" charset="-120"/>
              </a:rPr>
              <a:t>A personal loan application is approved or rejected automatically, almost instantly.</a:t>
            </a:r>
            <a:endParaRPr lang="en-US" sz="1300" dirty="0"/>
          </a:p>
        </p:txBody>
      </p:sp>
      <p:sp>
        <p:nvSpPr>
          <p:cNvPr id="13" name="Shape 11"/>
          <p:cNvSpPr/>
          <p:nvPr/>
        </p:nvSpPr>
        <p:spPr>
          <a:xfrm>
            <a:off x="661475" y="3866257"/>
            <a:ext cx="5351626" cy="1255613"/>
          </a:xfrm>
          <a:prstGeom prst="roundRect">
            <a:avLst>
              <a:gd name="adj" fmla="val 5532"/>
            </a:avLst>
          </a:prstGeom>
          <a:solidFill>
            <a:srgbClr val="FFFDE6"/>
          </a:solidFill>
          <a:ln w="19050">
            <a:solidFill>
              <a:srgbClr val="C3D4CC"/>
            </a:solidFill>
            <a:prstDash val="solid"/>
          </a:ln>
        </p:spPr>
      </p:sp>
      <p:sp>
        <p:nvSpPr>
          <p:cNvPr id="14" name="Text 12"/>
          <p:cNvSpPr/>
          <p:nvPr/>
        </p:nvSpPr>
        <p:spPr>
          <a:xfrm>
            <a:off x="845819" y="4050605"/>
            <a:ext cx="4982939" cy="258465"/>
          </a:xfrm>
          <a:prstGeom prst="rect">
            <a:avLst/>
          </a:prstGeom>
          <a:noFill/>
          <a:ln/>
        </p:spPr>
        <p:txBody>
          <a:bodyPr wrap="none" lIns="0" tIns="0" rIns="0" bIns="0" rtlCol="0" anchor="t"/>
          <a:lstStyle/>
          <a:p>
            <a:pPr algn="l" indent="0" marL="0">
              <a:lnSpc>
                <a:spcPct val="104000"/>
              </a:lnSpc>
              <a:buNone/>
            </a:pPr>
            <a:r>
              <a:rPr lang="en-US" sz="1600" b="1" dirty="0">
                <a:solidFill>
                  <a:srgbClr val="3B4E4E"/>
                </a:solidFill>
                <a:latin typeface="Syne Bold" pitchFamily="34" charset="0"/>
                <a:ea typeface="Syne Bold" pitchFamily="34" charset="-122"/>
                <a:cs typeface="Syne Bold" pitchFamily="34" charset="-120"/>
              </a:rPr>
              <a:t>4. Google Maps ETA</a:t>
            </a:r>
            <a:endParaRPr lang="en-US" sz="1600" dirty="0"/>
          </a:p>
        </p:txBody>
      </p:sp>
      <p:sp>
        <p:nvSpPr>
          <p:cNvPr id="15" name="Text 13"/>
          <p:cNvSpPr/>
          <p:nvPr/>
        </p:nvSpPr>
        <p:spPr>
          <a:xfrm>
            <a:off x="845819" y="4408289"/>
            <a:ext cx="4982939" cy="529233"/>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3B4E4E"/>
                </a:solidFill>
                <a:latin typeface="Overpass Light" pitchFamily="34" charset="0"/>
                <a:ea typeface="Overpass Light" pitchFamily="34" charset="-122"/>
                <a:cs typeface="Overpass Light" pitchFamily="34" charset="-120"/>
              </a:rPr>
              <a:t>The app estimates your arrival time based on live traffic, history, and route data.</a:t>
            </a:r>
            <a:endParaRPr lang="en-US" sz="1300" dirty="0"/>
          </a:p>
        </p:txBody>
      </p:sp>
      <p:sp>
        <p:nvSpPr>
          <p:cNvPr id="16" name="Shape 14"/>
          <p:cNvSpPr/>
          <p:nvPr/>
        </p:nvSpPr>
        <p:spPr>
          <a:xfrm>
            <a:off x="6178395" y="3866257"/>
            <a:ext cx="5351725" cy="1255613"/>
          </a:xfrm>
          <a:prstGeom prst="roundRect">
            <a:avLst>
              <a:gd name="adj" fmla="val 5532"/>
            </a:avLst>
          </a:prstGeom>
          <a:solidFill>
            <a:srgbClr val="FFFDE6"/>
          </a:solidFill>
          <a:ln w="19050">
            <a:solidFill>
              <a:srgbClr val="C3D4CC"/>
            </a:solidFill>
            <a:prstDash val="solid"/>
          </a:ln>
        </p:spPr>
      </p:sp>
      <p:sp>
        <p:nvSpPr>
          <p:cNvPr id="17" name="Text 15"/>
          <p:cNvSpPr/>
          <p:nvPr/>
        </p:nvSpPr>
        <p:spPr>
          <a:xfrm>
            <a:off x="6362739" y="4050605"/>
            <a:ext cx="4983038" cy="258465"/>
          </a:xfrm>
          <a:prstGeom prst="rect">
            <a:avLst/>
          </a:prstGeom>
          <a:noFill/>
          <a:ln/>
        </p:spPr>
        <p:txBody>
          <a:bodyPr wrap="none" lIns="0" tIns="0" rIns="0" bIns="0" rtlCol="0" anchor="t"/>
          <a:lstStyle/>
          <a:p>
            <a:pPr algn="l" indent="0" marL="0">
              <a:lnSpc>
                <a:spcPct val="104000"/>
              </a:lnSpc>
              <a:buNone/>
            </a:pPr>
            <a:r>
              <a:rPr lang="en-US" sz="1600" b="1" dirty="0">
                <a:solidFill>
                  <a:srgbClr val="3B4E4E"/>
                </a:solidFill>
                <a:latin typeface="Syne Bold" pitchFamily="34" charset="0"/>
                <a:ea typeface="Syne Bold" pitchFamily="34" charset="-122"/>
                <a:cs typeface="Syne Bold" pitchFamily="34" charset="-120"/>
              </a:rPr>
              <a:t>5. A Calculator</a:t>
            </a:r>
            <a:endParaRPr lang="en-US" sz="1600" dirty="0"/>
          </a:p>
        </p:txBody>
      </p:sp>
      <p:sp>
        <p:nvSpPr>
          <p:cNvPr id="18" name="Text 16"/>
          <p:cNvSpPr/>
          <p:nvPr/>
        </p:nvSpPr>
        <p:spPr>
          <a:xfrm>
            <a:off x="6362739" y="4408289"/>
            <a:ext cx="4983038" cy="529233"/>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3B4E4E"/>
                </a:solidFill>
                <a:latin typeface="Overpass Light" pitchFamily="34" charset="0"/>
                <a:ea typeface="Overpass Light" pitchFamily="34" charset="-122"/>
                <a:cs typeface="Overpass Light" pitchFamily="34" charset="-120"/>
              </a:rPr>
              <a:t>You type 4 + 7 and it shows 11. No data, no learning, no model — just fixed rules.</a:t>
            </a:r>
            <a:endParaRPr lang="en-US" sz="1300" dirty="0"/>
          </a:p>
        </p:txBody>
      </p:sp>
      <p:sp>
        <p:nvSpPr>
          <p:cNvPr id="19" name="Shape 17"/>
          <p:cNvSpPr/>
          <p:nvPr/>
        </p:nvSpPr>
        <p:spPr>
          <a:xfrm>
            <a:off x="661475" y="5307905"/>
            <a:ext cx="10868745" cy="925909"/>
          </a:xfrm>
          <a:prstGeom prst="roundRect">
            <a:avLst>
              <a:gd name="adj" fmla="val 7502"/>
            </a:avLst>
          </a:prstGeom>
          <a:solidFill>
            <a:srgbClr val="B6FCB8"/>
          </a:solidFill>
          <a:ln/>
        </p:spPr>
      </p:sp>
      <p:pic>
        <p:nvPicPr>
          <p:cNvPr id="20" name="Image 0" descr="preencoded.png">    </p:cNvPr>
          <p:cNvPicPr>
            <a:picLocks noChangeAspect="1"/>
          </p:cNvPicPr>
          <p:nvPr/>
        </p:nvPicPr>
        <p:blipFill>
          <a:blip r:embed="rId1"/>
          <a:stretch>
            <a:fillRect/>
          </a:stretch>
        </p:blipFill>
        <p:spPr>
          <a:xfrm>
            <a:off x="826769" y="5547618"/>
            <a:ext cx="206667" cy="165298"/>
          </a:xfrm>
          <a:prstGeom prst="rect">
            <a:avLst/>
          </a:prstGeom>
        </p:spPr>
      </p:pic>
      <p:sp>
        <p:nvSpPr>
          <p:cNvPr id="21" name="Text 18"/>
          <p:cNvSpPr/>
          <p:nvPr/>
        </p:nvSpPr>
        <p:spPr>
          <a:xfrm>
            <a:off x="1198731" y="5514479"/>
            <a:ext cx="10166195" cy="529233"/>
          </a:xfrm>
          <a:prstGeom prst="rect">
            <a:avLst/>
          </a:prstGeom>
          <a:noFill/>
          <a:ln/>
        </p:spPr>
        <p:txBody>
          <a:bodyPr wrap="square" lIns="0" tIns="0" rIns="0" bIns="0" rtlCol="0" anchor="t">
            <a:normAutofit/>
          </a:bodyPr>
          <a:lstStyle/>
          <a:p>
            <a:pPr algn="l" indent="0" marL="0">
              <a:lnSpc>
                <a:spcPct val="133000"/>
              </a:lnSpc>
              <a:buNone/>
            </a:pPr>
            <a:r>
              <a:rPr lang="en-US" sz="1300" b="1" dirty="0">
                <a:solidFill>
                  <a:srgbClr val="000000"/>
                </a:solidFill>
                <a:latin typeface="Overpass Bold" pitchFamily="34" charset="0"/>
                <a:ea typeface="Overpass Bold" pitchFamily="34" charset="-122"/>
                <a:cs typeface="Overpass Bold" pitchFamily="34" charset="-120"/>
              </a:rPr>
              <a:t>Answer:</a:t>
            </a:r>
            <a:pPr algn="l" indent="0" marL="0">
              <a:lnSpc>
                <a:spcPct val="133000"/>
              </a:lnSpc>
              <a:buNone/>
            </a:pPr>
            <a:r>
              <a:rPr lang="en-US" sz="1300" dirty="0">
                <a:solidFill>
                  <a:srgbClr val="000000"/>
                </a:solidFill>
                <a:latin typeface="Overpass Light" pitchFamily="34" charset="0"/>
                <a:ea typeface="Overpass Light" pitchFamily="34" charset="-122"/>
                <a:cs typeface="Overpass Light" pitchFamily="34" charset="-120"/>
              </a:rPr>
              <a:t> Items 1 to 4 all use ML. The calculator follows fixed rules written by a programmer — it does not learn from data and cannot improve with experience. This distinction is the heart of what makes ML different.</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E6"/>
        </a:solidFill>
      </p:bgPr>
    </p:bg>
    <p:spTree>
      <p:nvGrpSpPr>
        <p:cNvPr id="1" name=""/>
        <p:cNvGrpSpPr/>
        <p:nvPr/>
      </p:nvGrpSpPr>
      <p:grpSpPr>
        <a:xfrm>
          <a:off x="0" y="0"/>
          <a:ext cx="0" cy="0"/>
          <a:chOff x="0" y="0"/>
          <a:chExt cx="0" cy="0"/>
        </a:xfrm>
      </p:grpSpPr>
      <p:sp>
        <p:nvSpPr>
          <p:cNvPr id="2" name="Text 0"/>
          <p:cNvSpPr/>
          <p:nvPr/>
        </p:nvSpPr>
        <p:spPr>
          <a:xfrm>
            <a:off x="661475" y="511182"/>
            <a:ext cx="10868745" cy="484485"/>
          </a:xfrm>
          <a:prstGeom prst="rect">
            <a:avLst/>
          </a:prstGeom>
          <a:noFill/>
          <a:ln/>
        </p:spPr>
        <p:txBody>
          <a:bodyPr wrap="none" lIns="0" tIns="0" rIns="0" bIns="0" rtlCol="0" anchor="t"/>
          <a:lstStyle/>
          <a:p>
            <a:pPr algn="l" indent="0" marL="0">
              <a:lnSpc>
                <a:spcPct val="104000"/>
              </a:lnSpc>
              <a:buNone/>
            </a:pPr>
            <a:r>
              <a:rPr lang="en-US" sz="3050" b="1" dirty="0">
                <a:solidFill>
                  <a:srgbClr val="233939"/>
                </a:solidFill>
                <a:latin typeface="Syne Bold" pitchFamily="34" charset="0"/>
                <a:ea typeface="Syne Bold" pitchFamily="34" charset="-122"/>
                <a:cs typeface="Syne Bold" pitchFamily="34" charset="-120"/>
              </a:rPr>
              <a:t>What Is Machine Learning?</a:t>
            </a:r>
            <a:endParaRPr lang="en-US" sz="3050" dirty="0"/>
          </a:p>
        </p:txBody>
      </p:sp>
      <p:sp>
        <p:nvSpPr>
          <p:cNvPr id="3" name="Shape 1"/>
          <p:cNvSpPr/>
          <p:nvPr/>
        </p:nvSpPr>
        <p:spPr>
          <a:xfrm>
            <a:off x="549857" y="1210965"/>
            <a:ext cx="5468503" cy="4140795"/>
          </a:xfrm>
          <a:prstGeom prst="roundRect">
            <a:avLst>
              <a:gd name="adj" fmla="val 2696"/>
            </a:avLst>
          </a:prstGeom>
          <a:solidFill>
            <a:srgbClr val="224435"/>
          </a:solidFill>
          <a:ln/>
        </p:spPr>
      </p:sp>
      <p:sp>
        <p:nvSpPr>
          <p:cNvPr id="4" name="Text 2"/>
          <p:cNvSpPr/>
          <p:nvPr/>
        </p:nvSpPr>
        <p:spPr>
          <a:xfrm>
            <a:off x="704832" y="1359251"/>
            <a:ext cx="5158551" cy="242193"/>
          </a:xfrm>
          <a:prstGeom prst="rect">
            <a:avLst/>
          </a:prstGeom>
          <a:noFill/>
          <a:ln/>
        </p:spPr>
        <p:txBody>
          <a:bodyPr wrap="none" lIns="0" tIns="0" rIns="0" bIns="0" rtlCol="0" anchor="t"/>
          <a:lstStyle/>
          <a:p>
            <a:pPr algn="l" indent="0" marL="0">
              <a:lnSpc>
                <a:spcPct val="104000"/>
              </a:lnSpc>
              <a:buNone/>
            </a:pPr>
            <a:r>
              <a:rPr lang="en-US" sz="1500" b="1" dirty="0">
                <a:solidFill>
                  <a:srgbClr val="FFFFFF"/>
                </a:solidFill>
                <a:latin typeface="Syne Bold" pitchFamily="34" charset="0"/>
                <a:ea typeface="Syne Bold" pitchFamily="34" charset="-122"/>
                <a:cs typeface="Syne Bold" pitchFamily="34" charset="-120"/>
              </a:rPr>
              <a:t>The Core Idea</a:t>
            </a:r>
            <a:endParaRPr lang="en-US" sz="1500" dirty="0"/>
          </a:p>
        </p:txBody>
      </p:sp>
      <p:sp>
        <p:nvSpPr>
          <p:cNvPr id="5" name="Text 3"/>
          <p:cNvSpPr/>
          <p:nvPr/>
        </p:nvSpPr>
        <p:spPr>
          <a:xfrm>
            <a:off x="704832" y="1743869"/>
            <a:ext cx="5158551" cy="1332309"/>
          </a:xfrm>
          <a:prstGeom prst="rect">
            <a:avLst/>
          </a:prstGeom>
          <a:noFill/>
          <a:ln/>
        </p:spPr>
        <p:txBody>
          <a:bodyPr wrap="square" lIns="0" tIns="0" rIns="0" bIns="0" rtlCol="0" anchor="t">
            <a:normAutofit/>
          </a:bodyPr>
          <a:lstStyle/>
          <a:p>
            <a:pPr algn="l" indent="0" marL="0">
              <a:lnSpc>
                <a:spcPct val="129000"/>
              </a:lnSpc>
              <a:spcAft>
                <a:spcPts val="1000"/>
              </a:spcAft>
              <a:buNone/>
            </a:pPr>
            <a:r>
              <a:rPr lang="en-US" sz="1200" dirty="0">
                <a:solidFill>
                  <a:srgbClr val="FFFFFF"/>
                </a:solidFill>
                <a:latin typeface="Overpass Light" pitchFamily="34" charset="0"/>
                <a:ea typeface="Overpass Light" pitchFamily="34" charset="-122"/>
                <a:cs typeface="Overpass Light" pitchFamily="34" charset="-120"/>
              </a:rPr>
              <a:t>A conventional program follows rules a programmer writes by hand. A machine learning program learns the rules itself by studying past examples.</a:t>
            </a:r>
            <a:endParaRPr lang="en-US" sz="1200" dirty="0"/>
          </a:p>
          <a:p>
            <a:pPr algn="l" indent="0" marL="0">
              <a:lnSpc>
                <a:spcPct val="129000"/>
              </a:lnSpc>
              <a:buNone/>
            </a:pPr>
            <a:r>
              <a:rPr lang="en-US" sz="1200" dirty="0">
                <a:solidFill>
                  <a:srgbClr val="FFFFFF"/>
                </a:solidFill>
                <a:latin typeface="Overpass Light" pitchFamily="34" charset="0"/>
                <a:ea typeface="Overpass Light" pitchFamily="34" charset="-122"/>
                <a:cs typeface="Overpass Light" pitchFamily="34" charset="-120"/>
              </a:rPr>
              <a:t>You give it data. It finds the patterns. It uses those patterns to make predictions on data it has never seen before.</a:t>
            </a:r>
            <a:endParaRPr lang="en-US" sz="1200" dirty="0"/>
          </a:p>
        </p:txBody>
      </p:sp>
      <p:sp>
        <p:nvSpPr>
          <p:cNvPr id="6" name="Text 4"/>
          <p:cNvSpPr/>
          <p:nvPr/>
        </p:nvSpPr>
        <p:spPr>
          <a:xfrm>
            <a:off x="6291304" y="1359251"/>
            <a:ext cx="5245266" cy="242193"/>
          </a:xfrm>
          <a:prstGeom prst="rect">
            <a:avLst/>
          </a:prstGeom>
          <a:noFill/>
          <a:ln/>
        </p:spPr>
        <p:txBody>
          <a:bodyPr wrap="none" lIns="0" tIns="0" rIns="0" bIns="0" rtlCol="0" anchor="t"/>
          <a:lstStyle/>
          <a:p>
            <a:pPr algn="l" indent="0" marL="0">
              <a:lnSpc>
                <a:spcPct val="104000"/>
              </a:lnSpc>
              <a:buNone/>
            </a:pPr>
            <a:r>
              <a:rPr lang="en-US" sz="1500" b="1" dirty="0">
                <a:solidFill>
                  <a:srgbClr val="233939"/>
                </a:solidFill>
                <a:latin typeface="Syne Bold" pitchFamily="34" charset="0"/>
                <a:ea typeface="Syne Bold" pitchFamily="34" charset="-122"/>
                <a:cs typeface="Syne Bold" pitchFamily="34" charset="-120"/>
              </a:rPr>
              <a:t>Key Vocabulary</a:t>
            </a:r>
            <a:endParaRPr lang="en-US" sz="1500" dirty="0"/>
          </a:p>
        </p:txBody>
      </p:sp>
      <p:pic>
        <p:nvPicPr>
          <p:cNvPr id="7"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272254" y="1742976"/>
            <a:ext cx="5264316" cy="906264"/>
          </a:xfrm>
          <a:prstGeom prst="rect">
            <a:avLst/>
          </a:prstGeom>
        </p:spPr>
      </p:pic>
      <p:sp>
        <p:nvSpPr>
          <p:cNvPr id="8" name="Text 5"/>
          <p:cNvSpPr/>
          <p:nvPr/>
        </p:nvSpPr>
        <p:spPr>
          <a:xfrm>
            <a:off x="6484378" y="1762026"/>
            <a:ext cx="5052192" cy="242193"/>
          </a:xfrm>
          <a:prstGeom prst="rect">
            <a:avLst/>
          </a:prstGeom>
          <a:noFill/>
          <a:ln/>
        </p:spPr>
        <p:txBody>
          <a:bodyPr wrap="none" lIns="0" tIns="0" rIns="0" bIns="0" rtlCol="0" anchor="t"/>
          <a:lstStyle/>
          <a:p>
            <a:pPr algn="l" indent="0" marL="0">
              <a:lnSpc>
                <a:spcPct val="104000"/>
              </a:lnSpc>
              <a:buNone/>
            </a:pPr>
            <a:r>
              <a:rPr lang="en-US" sz="1500" b="1" dirty="0">
                <a:solidFill>
                  <a:srgbClr val="3B4E4E"/>
                </a:solidFill>
                <a:latin typeface="Syne Bold" pitchFamily="34" charset="0"/>
                <a:ea typeface="Syne Bold" pitchFamily="34" charset="-122"/>
                <a:cs typeface="Syne Bold" pitchFamily="34" charset="-120"/>
              </a:rPr>
              <a:t>Features</a:t>
            </a:r>
            <a:endParaRPr lang="en-US" sz="1500" dirty="0"/>
          </a:p>
        </p:txBody>
      </p:sp>
      <p:sp>
        <p:nvSpPr>
          <p:cNvPr id="9" name="Text 6"/>
          <p:cNvSpPr/>
          <p:nvPr/>
        </p:nvSpPr>
        <p:spPr>
          <a:xfrm>
            <a:off x="6484378" y="2149574"/>
            <a:ext cx="5052192" cy="480616"/>
          </a:xfrm>
          <a:prstGeom prst="rect">
            <a:avLst/>
          </a:prstGeom>
          <a:noFill/>
          <a:ln/>
        </p:spPr>
        <p:txBody>
          <a:bodyPr wrap="square" lIns="0" tIns="0" rIns="0" bIns="0" rtlCol="0" anchor="t">
            <a:normAutofit/>
          </a:bodyPr>
          <a:lstStyle/>
          <a:p>
            <a:pPr algn="l" indent="0" marL="0">
              <a:lnSpc>
                <a:spcPct val="129000"/>
              </a:lnSpc>
              <a:buNone/>
            </a:pPr>
            <a:r>
              <a:rPr lang="en-US" sz="1200" dirty="0">
                <a:solidFill>
                  <a:srgbClr val="3B4E4E"/>
                </a:solidFill>
                <a:latin typeface="Overpass Light" pitchFamily="34" charset="0"/>
                <a:ea typeface="Overpass Light" pitchFamily="34" charset="-122"/>
                <a:cs typeface="Overpass Light" pitchFamily="34" charset="-120"/>
              </a:rPr>
              <a:t>The input columns — the information available about each record. In a house price model: area, number of bedrooms, location, building age.</a:t>
            </a:r>
            <a:endParaRPr lang="en-US" sz="1200" dirty="0"/>
          </a:p>
        </p:txBody>
      </p:sp>
      <p:pic>
        <p:nvPicPr>
          <p:cNvPr id="10"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272254" y="2901851"/>
            <a:ext cx="5264316" cy="906264"/>
          </a:xfrm>
          <a:prstGeom prst="rect">
            <a:avLst/>
          </a:prstGeom>
        </p:spPr>
      </p:pic>
      <p:sp>
        <p:nvSpPr>
          <p:cNvPr id="11" name="Text 7"/>
          <p:cNvSpPr/>
          <p:nvPr/>
        </p:nvSpPr>
        <p:spPr>
          <a:xfrm>
            <a:off x="6484378" y="2920901"/>
            <a:ext cx="5052192" cy="242193"/>
          </a:xfrm>
          <a:prstGeom prst="rect">
            <a:avLst/>
          </a:prstGeom>
          <a:noFill/>
          <a:ln/>
        </p:spPr>
        <p:txBody>
          <a:bodyPr wrap="none" lIns="0" tIns="0" rIns="0" bIns="0" rtlCol="0" anchor="t"/>
          <a:lstStyle/>
          <a:p>
            <a:pPr algn="l" indent="0" marL="0">
              <a:lnSpc>
                <a:spcPct val="104000"/>
              </a:lnSpc>
              <a:buNone/>
            </a:pPr>
            <a:r>
              <a:rPr lang="en-US" sz="1500" b="1" dirty="0">
                <a:solidFill>
                  <a:srgbClr val="3B4E4E"/>
                </a:solidFill>
                <a:latin typeface="Syne Bold" pitchFamily="34" charset="0"/>
                <a:ea typeface="Syne Bold" pitchFamily="34" charset="-122"/>
                <a:cs typeface="Syne Bold" pitchFamily="34" charset="-120"/>
              </a:rPr>
              <a:t>Target</a:t>
            </a:r>
            <a:endParaRPr lang="en-US" sz="1500" dirty="0"/>
          </a:p>
        </p:txBody>
      </p:sp>
      <p:sp>
        <p:nvSpPr>
          <p:cNvPr id="12" name="Text 8"/>
          <p:cNvSpPr/>
          <p:nvPr/>
        </p:nvSpPr>
        <p:spPr>
          <a:xfrm>
            <a:off x="6484378" y="3308449"/>
            <a:ext cx="5052192" cy="480616"/>
          </a:xfrm>
          <a:prstGeom prst="rect">
            <a:avLst/>
          </a:prstGeom>
          <a:noFill/>
          <a:ln/>
        </p:spPr>
        <p:txBody>
          <a:bodyPr wrap="square" lIns="0" tIns="0" rIns="0" bIns="0" rtlCol="0" anchor="t">
            <a:normAutofit/>
          </a:bodyPr>
          <a:lstStyle/>
          <a:p>
            <a:pPr algn="l" indent="0" marL="0">
              <a:lnSpc>
                <a:spcPct val="129000"/>
              </a:lnSpc>
              <a:buNone/>
            </a:pPr>
            <a:r>
              <a:rPr lang="en-US" sz="1200" dirty="0">
                <a:solidFill>
                  <a:srgbClr val="3B4E4E"/>
                </a:solidFill>
                <a:latin typeface="Overpass Light" pitchFamily="34" charset="0"/>
                <a:ea typeface="Overpass Light" pitchFamily="34" charset="-122"/>
                <a:cs typeface="Overpass Light" pitchFamily="34" charset="-120"/>
              </a:rPr>
              <a:t>The correct answer the model is trying to predict. In a house price model: the actual sale price. In a loan model: repaid or defaulted.</a:t>
            </a:r>
            <a:endParaRPr lang="en-US" sz="1200" dirty="0"/>
          </a:p>
        </p:txBody>
      </p:sp>
      <p:pic>
        <p:nvPicPr>
          <p:cNvPr id="13"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272254" y="4060726"/>
            <a:ext cx="5264316" cy="1146572"/>
          </a:xfrm>
          <a:prstGeom prst="rect">
            <a:avLst/>
          </a:prstGeom>
        </p:spPr>
      </p:pic>
      <p:sp>
        <p:nvSpPr>
          <p:cNvPr id="14" name="Text 9"/>
          <p:cNvSpPr/>
          <p:nvPr/>
        </p:nvSpPr>
        <p:spPr>
          <a:xfrm>
            <a:off x="6484378" y="4079776"/>
            <a:ext cx="5052192" cy="242193"/>
          </a:xfrm>
          <a:prstGeom prst="rect">
            <a:avLst/>
          </a:prstGeom>
          <a:noFill/>
          <a:ln/>
        </p:spPr>
        <p:txBody>
          <a:bodyPr wrap="none" lIns="0" tIns="0" rIns="0" bIns="0" rtlCol="0" anchor="t"/>
          <a:lstStyle/>
          <a:p>
            <a:pPr algn="l" indent="0" marL="0">
              <a:lnSpc>
                <a:spcPct val="104000"/>
              </a:lnSpc>
              <a:buNone/>
            </a:pPr>
            <a:r>
              <a:rPr lang="en-US" sz="1500" b="1" dirty="0">
                <a:solidFill>
                  <a:srgbClr val="3B4E4E"/>
                </a:solidFill>
                <a:latin typeface="Syne Bold" pitchFamily="34" charset="0"/>
                <a:ea typeface="Syne Bold" pitchFamily="34" charset="-122"/>
                <a:cs typeface="Syne Bold" pitchFamily="34" charset="-120"/>
              </a:rPr>
              <a:t>Model</a:t>
            </a:r>
            <a:endParaRPr lang="en-US" sz="1500" dirty="0"/>
          </a:p>
        </p:txBody>
      </p:sp>
      <p:sp>
        <p:nvSpPr>
          <p:cNvPr id="15" name="Text 10"/>
          <p:cNvSpPr/>
          <p:nvPr/>
        </p:nvSpPr>
        <p:spPr>
          <a:xfrm>
            <a:off x="6484378" y="4467324"/>
            <a:ext cx="5052192" cy="720923"/>
          </a:xfrm>
          <a:prstGeom prst="rect">
            <a:avLst/>
          </a:prstGeom>
          <a:noFill/>
          <a:ln/>
        </p:spPr>
        <p:txBody>
          <a:bodyPr wrap="square" lIns="0" tIns="0" rIns="0" bIns="0" rtlCol="0" anchor="t">
            <a:normAutofit/>
          </a:bodyPr>
          <a:lstStyle/>
          <a:p>
            <a:pPr algn="l" indent="0" marL="0">
              <a:lnSpc>
                <a:spcPct val="129000"/>
              </a:lnSpc>
              <a:buNone/>
            </a:pPr>
            <a:r>
              <a:rPr lang="en-US" sz="1200" dirty="0">
                <a:solidFill>
                  <a:srgbClr val="3B4E4E"/>
                </a:solidFill>
                <a:latin typeface="Overpass Light" pitchFamily="34" charset="0"/>
                <a:ea typeface="Overpass Light" pitchFamily="34" charset="-122"/>
                <a:cs typeface="Overpass Light" pitchFamily="34" charset="-120"/>
              </a:rPr>
              <a:t>The mathematical relationship the algorithm works out between the features and the target. Once trained, it can predict the target for new records.</a:t>
            </a:r>
            <a:endParaRPr lang="en-US" sz="1200" dirty="0"/>
          </a:p>
        </p:txBody>
      </p:sp>
      <p:sp>
        <p:nvSpPr>
          <p:cNvPr id="16" name="Shape 11"/>
          <p:cNvSpPr/>
          <p:nvPr/>
        </p:nvSpPr>
        <p:spPr>
          <a:xfrm>
            <a:off x="661475" y="5515273"/>
            <a:ext cx="10868745" cy="834132"/>
          </a:xfrm>
          <a:prstGeom prst="roundRect">
            <a:avLst>
              <a:gd name="adj" fmla="val 7807"/>
            </a:avLst>
          </a:prstGeom>
          <a:solidFill>
            <a:srgbClr val="DDEEE6"/>
          </a:solidFill>
          <a:ln/>
        </p:spPr>
      </p:sp>
      <p:pic>
        <p:nvPicPr>
          <p:cNvPr id="17" name="Image 3" descr="preencoded.png">    </p:cNvPr>
          <p:cNvPicPr>
            <a:picLocks noChangeAspect="1"/>
          </p:cNvPicPr>
          <p:nvPr/>
        </p:nvPicPr>
        <p:blipFill>
          <a:blip r:embed="rId7"/>
          <a:stretch>
            <a:fillRect/>
          </a:stretch>
        </p:blipFill>
        <p:spPr>
          <a:xfrm>
            <a:off x="816451" y="5722441"/>
            <a:ext cx="193769" cy="154980"/>
          </a:xfrm>
          <a:prstGeom prst="rect">
            <a:avLst/>
          </a:prstGeom>
        </p:spPr>
      </p:pic>
      <p:sp>
        <p:nvSpPr>
          <p:cNvPr id="18" name="Text 12"/>
          <p:cNvSpPr/>
          <p:nvPr/>
        </p:nvSpPr>
        <p:spPr>
          <a:xfrm>
            <a:off x="1165196" y="5699323"/>
            <a:ext cx="10210048" cy="480616"/>
          </a:xfrm>
          <a:prstGeom prst="rect">
            <a:avLst/>
          </a:prstGeom>
          <a:noFill/>
          <a:ln/>
        </p:spPr>
        <p:txBody>
          <a:bodyPr wrap="square" lIns="0" tIns="0" rIns="0" bIns="0" rtlCol="0" anchor="t">
            <a:normAutofit/>
          </a:bodyPr>
          <a:lstStyle/>
          <a:p>
            <a:pPr algn="l" indent="0" marL="0">
              <a:lnSpc>
                <a:spcPct val="129000"/>
              </a:lnSpc>
              <a:buNone/>
            </a:pPr>
            <a:r>
              <a:rPr lang="en-US" sz="1200" b="1" dirty="0">
                <a:solidFill>
                  <a:srgbClr val="000000"/>
                </a:solidFill>
                <a:latin typeface="Overpass Bold" pitchFamily="34" charset="0"/>
                <a:ea typeface="Overpass Bold" pitchFamily="34" charset="-122"/>
                <a:cs typeface="Overpass Bold" pitchFamily="34" charset="-120"/>
              </a:rPr>
              <a:t>Class discussion:</a:t>
            </a:r>
            <a:pPr algn="l" indent="0" marL="0">
              <a:lnSpc>
                <a:spcPct val="129000"/>
              </a:lnSpc>
              <a:buNone/>
            </a:pPr>
            <a:r>
              <a:rPr lang="en-US" sz="1200" dirty="0">
                <a:solidFill>
                  <a:srgbClr val="000000"/>
                </a:solidFill>
                <a:latin typeface="Overpass Light" pitchFamily="34" charset="0"/>
                <a:ea typeface="Overpass Light" pitchFamily="34" charset="-122"/>
                <a:cs typeface="Overpass Light" pitchFamily="34" charset="-120"/>
              </a:rPr>
              <a:t> In a loan application, what would the features be? What would the target be? Think about what information a bank already holds about an applicant.</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E6"/>
        </a:solidFill>
      </p:bgPr>
    </p:bg>
    <p:spTree>
      <p:nvGrpSpPr>
        <p:cNvPr id="1" name=""/>
        <p:cNvGrpSpPr/>
        <p:nvPr/>
      </p:nvGrpSpPr>
      <p:grpSpPr>
        <a:xfrm>
          <a:off x="0" y="0"/>
          <a:ext cx="0" cy="0"/>
          <a:chOff x="0" y="0"/>
          <a:chExt cx="0" cy="0"/>
        </a:xfrm>
      </p:grpSpPr>
      <p:sp>
        <p:nvSpPr>
          <p:cNvPr id="2" name="Text 0"/>
          <p:cNvSpPr/>
          <p:nvPr/>
        </p:nvSpPr>
        <p:spPr>
          <a:xfrm>
            <a:off x="661475" y="719899"/>
            <a:ext cx="10868745" cy="516731"/>
          </a:xfrm>
          <a:prstGeom prst="rect">
            <a:avLst/>
          </a:prstGeom>
          <a:noFill/>
          <a:ln/>
        </p:spPr>
        <p:txBody>
          <a:bodyPr wrap="none" lIns="0" tIns="0" rIns="0" bIns="0" rtlCol="0" anchor="t"/>
          <a:lstStyle/>
          <a:p>
            <a:pPr algn="l" indent="0" marL="0">
              <a:lnSpc>
                <a:spcPct val="104000"/>
              </a:lnSpc>
              <a:buNone/>
            </a:pPr>
            <a:r>
              <a:rPr lang="en-US" sz="3250" b="1" dirty="0">
                <a:solidFill>
                  <a:srgbClr val="233939"/>
                </a:solidFill>
                <a:latin typeface="Syne Bold" pitchFamily="34" charset="0"/>
                <a:ea typeface="Syne Bold" pitchFamily="34" charset="-122"/>
                <a:cs typeface="Syne Bold" pitchFamily="34" charset="-120"/>
              </a:rPr>
              <a:t>The Three Types of Machine Learning</a:t>
            </a:r>
            <a:endParaRPr lang="en-US" sz="3250" dirty="0"/>
          </a:p>
        </p:txBody>
      </p:sp>
      <p:sp>
        <p:nvSpPr>
          <p:cNvPr id="3" name="Text 1"/>
          <p:cNvSpPr/>
          <p:nvPr/>
        </p:nvSpPr>
        <p:spPr>
          <a:xfrm>
            <a:off x="661475" y="1563191"/>
            <a:ext cx="10868745" cy="529233"/>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3B4E4E"/>
                </a:solidFill>
                <a:latin typeface="Overpass Light" pitchFamily="34" charset="0"/>
                <a:ea typeface="Overpass Light" pitchFamily="34" charset="-122"/>
                <a:cs typeface="Overpass Light" pitchFamily="34" charset="-120"/>
              </a:rPr>
              <a:t>Almost every ML problem falls into one of three broad families. Understanding which family your problem belongs to is the first step to choosing the right algorithm.</a:t>
            </a:r>
            <a:endParaRPr lang="en-US" sz="1300" dirty="0"/>
          </a:p>
        </p:txBody>
      </p:sp>
      <p:sp>
        <p:nvSpPr>
          <p:cNvPr id="4" name="Shape 2"/>
          <p:cNvSpPr/>
          <p:nvPr/>
        </p:nvSpPr>
        <p:spPr>
          <a:xfrm>
            <a:off x="661475" y="2278459"/>
            <a:ext cx="3512653" cy="3016349"/>
          </a:xfrm>
          <a:prstGeom prst="roundRect">
            <a:avLst>
              <a:gd name="adj" fmla="val 2303"/>
            </a:avLst>
          </a:prstGeom>
          <a:solidFill>
            <a:srgbClr val="DDEEE6"/>
          </a:solidFill>
          <a:ln w="6350">
            <a:solidFill>
              <a:srgbClr val="C3D4CC"/>
            </a:solidFill>
            <a:prstDash val="solid"/>
          </a:ln>
        </p:spPr>
      </p:sp>
      <p:sp>
        <p:nvSpPr>
          <p:cNvPr id="5" name="Text 3"/>
          <p:cNvSpPr/>
          <p:nvPr/>
        </p:nvSpPr>
        <p:spPr>
          <a:xfrm>
            <a:off x="833119" y="2450108"/>
            <a:ext cx="3169364" cy="258465"/>
          </a:xfrm>
          <a:prstGeom prst="rect">
            <a:avLst/>
          </a:prstGeom>
          <a:noFill/>
          <a:ln/>
        </p:spPr>
        <p:txBody>
          <a:bodyPr wrap="none" lIns="0" tIns="0" rIns="0" bIns="0" rtlCol="0" anchor="t"/>
          <a:lstStyle/>
          <a:p>
            <a:pPr algn="l" indent="0" marL="0">
              <a:lnSpc>
                <a:spcPct val="104000"/>
              </a:lnSpc>
              <a:buNone/>
            </a:pPr>
            <a:r>
              <a:rPr lang="en-US" sz="1600" b="1" dirty="0">
                <a:solidFill>
                  <a:srgbClr val="3B4E4E"/>
                </a:solidFill>
                <a:latin typeface="Syne Bold" pitchFamily="34" charset="0"/>
                <a:ea typeface="Syne Bold" pitchFamily="34" charset="-122"/>
                <a:cs typeface="Syne Bold" pitchFamily="34" charset="-120"/>
              </a:rPr>
              <a:t>Supervised Learning</a:t>
            </a:r>
            <a:endParaRPr lang="en-US" sz="1600" dirty="0"/>
          </a:p>
        </p:txBody>
      </p:sp>
      <p:sp>
        <p:nvSpPr>
          <p:cNvPr id="6" name="Text 4"/>
          <p:cNvSpPr/>
          <p:nvPr/>
        </p:nvSpPr>
        <p:spPr>
          <a:xfrm>
            <a:off x="833119" y="2807791"/>
            <a:ext cx="3169364" cy="2315369"/>
          </a:xfrm>
          <a:prstGeom prst="rect">
            <a:avLst/>
          </a:prstGeom>
          <a:noFill/>
          <a:ln/>
        </p:spPr>
        <p:txBody>
          <a:bodyPr wrap="square" lIns="0" tIns="0" rIns="0" bIns="0" rtlCol="0" anchor="t">
            <a:normAutofit/>
          </a:bodyPr>
          <a:lstStyle/>
          <a:p>
            <a:pPr algn="l" indent="0" marL="0">
              <a:lnSpc>
                <a:spcPct val="133000"/>
              </a:lnSpc>
              <a:spcAft>
                <a:spcPts val="750"/>
              </a:spcAft>
              <a:buNone/>
            </a:pPr>
            <a:r>
              <a:rPr lang="en-US" sz="1300" b="1" dirty="0">
                <a:solidFill>
                  <a:srgbClr val="3B4E4E"/>
                </a:solidFill>
                <a:latin typeface="Overpass Bold" pitchFamily="34" charset="0"/>
                <a:ea typeface="Overpass Bold" pitchFamily="34" charset="-122"/>
                <a:cs typeface="Overpass Bold" pitchFamily="34" charset="-120"/>
              </a:rPr>
              <a:t>Data:</a:t>
            </a:r>
            <a:pPr algn="l" indent="0" marL="0">
              <a:lnSpc>
                <a:spcPct val="133000"/>
              </a:lnSpc>
              <a:spcAft>
                <a:spcPts val="750"/>
              </a:spcAft>
              <a:buNone/>
            </a:pPr>
            <a:r>
              <a:rPr lang="en-US" sz="1300" dirty="0">
                <a:solidFill>
                  <a:srgbClr val="3B4E4E"/>
                </a:solidFill>
                <a:latin typeface="Overpass Light" pitchFamily="34" charset="0"/>
                <a:ea typeface="Overpass Light" pitchFamily="34" charset="-122"/>
                <a:cs typeface="Overpass Light" pitchFamily="34" charset="-120"/>
              </a:rPr>
              <a:t> Every row has a correct answer (a label).</a:t>
            </a:r>
            <a:endParaRPr lang="en-US" sz="1300" dirty="0"/>
          </a:p>
          <a:p>
            <a:pPr algn="l" indent="0" marL="0">
              <a:lnSpc>
                <a:spcPct val="133000"/>
              </a:lnSpc>
              <a:spcAft>
                <a:spcPts val="750"/>
              </a:spcAft>
              <a:buNone/>
            </a:pPr>
            <a:r>
              <a:rPr lang="en-US" sz="1300" b="1" dirty="0">
                <a:solidFill>
                  <a:srgbClr val="3B4E4E"/>
                </a:solidFill>
                <a:latin typeface="Overpass Bold" pitchFamily="34" charset="0"/>
                <a:ea typeface="Overpass Bold" pitchFamily="34" charset="-122"/>
                <a:cs typeface="Overpass Bold" pitchFamily="34" charset="-120"/>
              </a:rPr>
              <a:t>Goal:</a:t>
            </a:r>
            <a:pPr algn="l" indent="0" marL="0">
              <a:lnSpc>
                <a:spcPct val="133000"/>
              </a:lnSpc>
              <a:spcAft>
                <a:spcPts val="750"/>
              </a:spcAft>
              <a:buNone/>
            </a:pPr>
            <a:r>
              <a:rPr lang="en-US" sz="1300" dirty="0">
                <a:solidFill>
                  <a:srgbClr val="3B4E4E"/>
                </a:solidFill>
                <a:latin typeface="Overpass Light" pitchFamily="34" charset="0"/>
                <a:ea typeface="Overpass Light" pitchFamily="34" charset="-122"/>
                <a:cs typeface="Overpass Light" pitchFamily="34" charset="-120"/>
              </a:rPr>
              <a:t> Learn the relationship between features and the label, then predict the label for new rows.</a:t>
            </a:r>
            <a:endParaRPr lang="en-US" sz="1300" dirty="0"/>
          </a:p>
          <a:p>
            <a:pPr algn="l" indent="0" marL="0">
              <a:lnSpc>
                <a:spcPct val="133000"/>
              </a:lnSpc>
              <a:buNone/>
            </a:pPr>
            <a:r>
              <a:rPr lang="en-US" sz="1300" b="1" dirty="0">
                <a:solidFill>
                  <a:srgbClr val="3B4E4E"/>
                </a:solidFill>
                <a:latin typeface="Overpass Bold" pitchFamily="34" charset="0"/>
                <a:ea typeface="Overpass Bold" pitchFamily="34" charset="-122"/>
                <a:cs typeface="Overpass Bold" pitchFamily="34" charset="-120"/>
              </a:rPr>
              <a:t>Examples:</a:t>
            </a:r>
            <a:pPr algn="l" indent="0" marL="0">
              <a:lnSpc>
                <a:spcPct val="133000"/>
              </a:lnSpc>
              <a:buNone/>
            </a:pPr>
            <a:r>
              <a:rPr lang="en-US" sz="1300" dirty="0">
                <a:solidFill>
                  <a:srgbClr val="3B4E4E"/>
                </a:solidFill>
                <a:latin typeface="Overpass Light" pitchFamily="34" charset="0"/>
                <a:ea typeface="Overpass Light" pitchFamily="34" charset="-122"/>
                <a:cs typeface="Overpass Light" pitchFamily="34" charset="-120"/>
              </a:rPr>
              <a:t> Predicting house prices, approving loans, detecting fraud, classifying spam.</a:t>
            </a:r>
            <a:endParaRPr lang="en-US" sz="1300" dirty="0"/>
          </a:p>
        </p:txBody>
      </p:sp>
      <p:sp>
        <p:nvSpPr>
          <p:cNvPr id="7" name="Shape 5"/>
          <p:cNvSpPr/>
          <p:nvPr/>
        </p:nvSpPr>
        <p:spPr>
          <a:xfrm>
            <a:off x="4339422" y="2278459"/>
            <a:ext cx="3512752" cy="3016349"/>
          </a:xfrm>
          <a:prstGeom prst="roundRect">
            <a:avLst>
              <a:gd name="adj" fmla="val 2303"/>
            </a:avLst>
          </a:prstGeom>
          <a:solidFill>
            <a:srgbClr val="DDEEE6"/>
          </a:solidFill>
          <a:ln w="6350">
            <a:solidFill>
              <a:srgbClr val="C3D4CC"/>
            </a:solidFill>
            <a:prstDash val="solid"/>
          </a:ln>
        </p:spPr>
      </p:sp>
      <p:sp>
        <p:nvSpPr>
          <p:cNvPr id="8" name="Text 6"/>
          <p:cNvSpPr/>
          <p:nvPr/>
        </p:nvSpPr>
        <p:spPr>
          <a:xfrm>
            <a:off x="4511066" y="2450108"/>
            <a:ext cx="3169464" cy="258465"/>
          </a:xfrm>
          <a:prstGeom prst="rect">
            <a:avLst/>
          </a:prstGeom>
          <a:noFill/>
          <a:ln/>
        </p:spPr>
        <p:txBody>
          <a:bodyPr wrap="none" lIns="0" tIns="0" rIns="0" bIns="0" rtlCol="0" anchor="t"/>
          <a:lstStyle/>
          <a:p>
            <a:pPr algn="l" indent="0" marL="0">
              <a:lnSpc>
                <a:spcPct val="104000"/>
              </a:lnSpc>
              <a:buNone/>
            </a:pPr>
            <a:r>
              <a:rPr lang="en-US" sz="1600" b="1" dirty="0">
                <a:solidFill>
                  <a:srgbClr val="3B4E4E"/>
                </a:solidFill>
                <a:latin typeface="Syne Bold" pitchFamily="34" charset="0"/>
                <a:ea typeface="Syne Bold" pitchFamily="34" charset="-122"/>
                <a:cs typeface="Syne Bold" pitchFamily="34" charset="-120"/>
              </a:rPr>
              <a:t>Unsupervised Learning</a:t>
            </a:r>
            <a:endParaRPr lang="en-US" sz="1600" dirty="0"/>
          </a:p>
        </p:txBody>
      </p:sp>
      <p:sp>
        <p:nvSpPr>
          <p:cNvPr id="9" name="Text 7"/>
          <p:cNvSpPr/>
          <p:nvPr/>
        </p:nvSpPr>
        <p:spPr>
          <a:xfrm>
            <a:off x="4511066" y="2807791"/>
            <a:ext cx="3169464" cy="2050752"/>
          </a:xfrm>
          <a:prstGeom prst="rect">
            <a:avLst/>
          </a:prstGeom>
          <a:noFill/>
          <a:ln/>
        </p:spPr>
        <p:txBody>
          <a:bodyPr wrap="square" lIns="0" tIns="0" rIns="0" bIns="0" rtlCol="0" anchor="t">
            <a:normAutofit/>
          </a:bodyPr>
          <a:lstStyle/>
          <a:p>
            <a:pPr algn="l" indent="0" marL="0">
              <a:lnSpc>
                <a:spcPct val="133000"/>
              </a:lnSpc>
              <a:spcAft>
                <a:spcPts val="750"/>
              </a:spcAft>
              <a:buNone/>
            </a:pPr>
            <a:r>
              <a:rPr lang="en-US" sz="1300" b="1" dirty="0">
                <a:solidFill>
                  <a:srgbClr val="3B4E4E"/>
                </a:solidFill>
                <a:latin typeface="Overpass Bold" pitchFamily="34" charset="0"/>
                <a:ea typeface="Overpass Bold" pitchFamily="34" charset="-122"/>
                <a:cs typeface="Overpass Bold" pitchFamily="34" charset="-120"/>
              </a:rPr>
              <a:t>Data:</a:t>
            </a:r>
            <a:pPr algn="l" indent="0" marL="0">
              <a:lnSpc>
                <a:spcPct val="133000"/>
              </a:lnSpc>
              <a:spcAft>
                <a:spcPts val="750"/>
              </a:spcAft>
              <a:buNone/>
            </a:pPr>
            <a:r>
              <a:rPr lang="en-US" sz="1300" dirty="0">
                <a:solidFill>
                  <a:srgbClr val="3B4E4E"/>
                </a:solidFill>
                <a:latin typeface="Overpass Light" pitchFamily="34" charset="0"/>
                <a:ea typeface="Overpass Light" pitchFamily="34" charset="-122"/>
                <a:cs typeface="Overpass Light" pitchFamily="34" charset="-120"/>
              </a:rPr>
              <a:t> No correct answer is given — rows are unlabelled.</a:t>
            </a:r>
            <a:endParaRPr lang="en-US" sz="1300" dirty="0"/>
          </a:p>
          <a:p>
            <a:pPr algn="l" indent="0" marL="0">
              <a:lnSpc>
                <a:spcPct val="133000"/>
              </a:lnSpc>
              <a:spcAft>
                <a:spcPts val="750"/>
              </a:spcAft>
              <a:buNone/>
            </a:pPr>
            <a:r>
              <a:rPr lang="en-US" sz="1300" b="1" dirty="0">
                <a:solidFill>
                  <a:srgbClr val="3B4E4E"/>
                </a:solidFill>
                <a:latin typeface="Overpass Bold" pitchFamily="34" charset="0"/>
                <a:ea typeface="Overpass Bold" pitchFamily="34" charset="-122"/>
                <a:cs typeface="Overpass Bold" pitchFamily="34" charset="-120"/>
              </a:rPr>
              <a:t>Goal:</a:t>
            </a:r>
            <a:pPr algn="l" indent="0" marL="0">
              <a:lnSpc>
                <a:spcPct val="133000"/>
              </a:lnSpc>
              <a:spcAft>
                <a:spcPts val="750"/>
              </a:spcAft>
              <a:buNone/>
            </a:pPr>
            <a:r>
              <a:rPr lang="en-US" sz="1300" dirty="0">
                <a:solidFill>
                  <a:srgbClr val="3B4E4E"/>
                </a:solidFill>
                <a:latin typeface="Overpass Light" pitchFamily="34" charset="0"/>
                <a:ea typeface="Overpass Light" pitchFamily="34" charset="-122"/>
                <a:cs typeface="Overpass Light" pitchFamily="34" charset="-120"/>
              </a:rPr>
              <a:t> Find hidden structure, groups, or patterns in the data on its own.</a:t>
            </a:r>
            <a:endParaRPr lang="en-US" sz="1300" dirty="0"/>
          </a:p>
          <a:p>
            <a:pPr algn="l" indent="0" marL="0">
              <a:lnSpc>
                <a:spcPct val="133000"/>
              </a:lnSpc>
              <a:buNone/>
            </a:pPr>
            <a:r>
              <a:rPr lang="en-US" sz="1300" b="1" dirty="0">
                <a:solidFill>
                  <a:srgbClr val="3B4E4E"/>
                </a:solidFill>
                <a:latin typeface="Overpass Bold" pitchFamily="34" charset="0"/>
                <a:ea typeface="Overpass Bold" pitchFamily="34" charset="-122"/>
                <a:cs typeface="Overpass Bold" pitchFamily="34" charset="-120"/>
              </a:rPr>
              <a:t>Examples:</a:t>
            </a:r>
            <a:pPr algn="l" indent="0" marL="0">
              <a:lnSpc>
                <a:spcPct val="133000"/>
              </a:lnSpc>
              <a:buNone/>
            </a:pPr>
            <a:r>
              <a:rPr lang="en-US" sz="1300" dirty="0">
                <a:solidFill>
                  <a:srgbClr val="3B4E4E"/>
                </a:solidFill>
                <a:latin typeface="Overpass Light" pitchFamily="34" charset="0"/>
                <a:ea typeface="Overpass Light" pitchFamily="34" charset="-122"/>
                <a:cs typeface="Overpass Light" pitchFamily="34" charset="-120"/>
              </a:rPr>
              <a:t> Customer segmentation, grouping stores, finding products bought together, reducing survey dimensions.</a:t>
            </a:r>
            <a:endParaRPr lang="en-US" sz="1300" dirty="0"/>
          </a:p>
        </p:txBody>
      </p:sp>
      <p:sp>
        <p:nvSpPr>
          <p:cNvPr id="10" name="Shape 8"/>
          <p:cNvSpPr/>
          <p:nvPr/>
        </p:nvSpPr>
        <p:spPr>
          <a:xfrm>
            <a:off x="8017468" y="2278459"/>
            <a:ext cx="3512653" cy="3016349"/>
          </a:xfrm>
          <a:prstGeom prst="roundRect">
            <a:avLst>
              <a:gd name="adj" fmla="val 2303"/>
            </a:avLst>
          </a:prstGeom>
          <a:solidFill>
            <a:srgbClr val="DDEEE6"/>
          </a:solidFill>
          <a:ln w="6350">
            <a:solidFill>
              <a:srgbClr val="C3D4CC"/>
            </a:solidFill>
            <a:prstDash val="solid"/>
          </a:ln>
        </p:spPr>
      </p:sp>
      <p:sp>
        <p:nvSpPr>
          <p:cNvPr id="11" name="Text 9"/>
          <p:cNvSpPr/>
          <p:nvPr/>
        </p:nvSpPr>
        <p:spPr>
          <a:xfrm>
            <a:off x="8189112" y="2450108"/>
            <a:ext cx="3169364" cy="258465"/>
          </a:xfrm>
          <a:prstGeom prst="rect">
            <a:avLst/>
          </a:prstGeom>
          <a:noFill/>
          <a:ln/>
        </p:spPr>
        <p:txBody>
          <a:bodyPr wrap="none" lIns="0" tIns="0" rIns="0" bIns="0" rtlCol="0" anchor="t"/>
          <a:lstStyle/>
          <a:p>
            <a:pPr algn="l" indent="0" marL="0">
              <a:lnSpc>
                <a:spcPct val="104000"/>
              </a:lnSpc>
              <a:buNone/>
            </a:pPr>
            <a:r>
              <a:rPr lang="en-US" sz="1600" b="1" dirty="0">
                <a:solidFill>
                  <a:srgbClr val="3B4E4E"/>
                </a:solidFill>
                <a:latin typeface="Syne Bold" pitchFamily="34" charset="0"/>
                <a:ea typeface="Syne Bold" pitchFamily="34" charset="-122"/>
                <a:cs typeface="Syne Bold" pitchFamily="34" charset="-120"/>
              </a:rPr>
              <a:t>Reinforcement Learning</a:t>
            </a:r>
            <a:endParaRPr lang="en-US" sz="1600" dirty="0"/>
          </a:p>
        </p:txBody>
      </p:sp>
      <p:sp>
        <p:nvSpPr>
          <p:cNvPr id="12" name="Text 10"/>
          <p:cNvSpPr/>
          <p:nvPr/>
        </p:nvSpPr>
        <p:spPr>
          <a:xfrm>
            <a:off x="8189112" y="2807791"/>
            <a:ext cx="3169364" cy="2050752"/>
          </a:xfrm>
          <a:prstGeom prst="rect">
            <a:avLst/>
          </a:prstGeom>
          <a:noFill/>
          <a:ln/>
        </p:spPr>
        <p:txBody>
          <a:bodyPr wrap="square" lIns="0" tIns="0" rIns="0" bIns="0" rtlCol="0" anchor="t">
            <a:normAutofit/>
          </a:bodyPr>
          <a:lstStyle/>
          <a:p>
            <a:pPr algn="l" indent="0" marL="0">
              <a:lnSpc>
                <a:spcPct val="133000"/>
              </a:lnSpc>
              <a:spcAft>
                <a:spcPts val="750"/>
              </a:spcAft>
              <a:buNone/>
            </a:pPr>
            <a:r>
              <a:rPr lang="en-US" sz="1300" b="1" dirty="0">
                <a:solidFill>
                  <a:srgbClr val="3B4E4E"/>
                </a:solidFill>
                <a:latin typeface="Overpass Bold" pitchFamily="34" charset="0"/>
                <a:ea typeface="Overpass Bold" pitchFamily="34" charset="-122"/>
                <a:cs typeface="Overpass Bold" pitchFamily="34" charset="-120"/>
              </a:rPr>
              <a:t>Data:</a:t>
            </a:r>
            <a:pPr algn="l" indent="0" marL="0">
              <a:lnSpc>
                <a:spcPct val="133000"/>
              </a:lnSpc>
              <a:spcAft>
                <a:spcPts val="750"/>
              </a:spcAft>
              <a:buNone/>
            </a:pPr>
            <a:r>
              <a:rPr lang="en-US" sz="1300" dirty="0">
                <a:solidFill>
                  <a:srgbClr val="3B4E4E"/>
                </a:solidFill>
                <a:latin typeface="Overpass Light" pitchFamily="34" charset="0"/>
                <a:ea typeface="Overpass Light" pitchFamily="34" charset="-122"/>
                <a:cs typeface="Overpass Light" pitchFamily="34" charset="-120"/>
              </a:rPr>
              <a:t> No fixed dataset; the model tries actions and receives rewards or penalties.</a:t>
            </a:r>
            <a:endParaRPr lang="en-US" sz="1300" dirty="0"/>
          </a:p>
          <a:p>
            <a:pPr algn="l" indent="0" marL="0">
              <a:lnSpc>
                <a:spcPct val="133000"/>
              </a:lnSpc>
              <a:spcAft>
                <a:spcPts val="750"/>
              </a:spcAft>
              <a:buNone/>
            </a:pPr>
            <a:r>
              <a:rPr lang="en-US" sz="1300" b="1" dirty="0">
                <a:solidFill>
                  <a:srgbClr val="3B4E4E"/>
                </a:solidFill>
                <a:latin typeface="Overpass Bold" pitchFamily="34" charset="0"/>
                <a:ea typeface="Overpass Bold" pitchFamily="34" charset="-122"/>
                <a:cs typeface="Overpass Bold" pitchFamily="34" charset="-120"/>
              </a:rPr>
              <a:t>Goal:</a:t>
            </a:r>
            <a:pPr algn="l" indent="0" marL="0">
              <a:lnSpc>
                <a:spcPct val="133000"/>
              </a:lnSpc>
              <a:spcAft>
                <a:spcPts val="750"/>
              </a:spcAft>
              <a:buNone/>
            </a:pPr>
            <a:r>
              <a:rPr lang="en-US" sz="1300" dirty="0">
                <a:solidFill>
                  <a:srgbClr val="3B4E4E"/>
                </a:solidFill>
                <a:latin typeface="Overpass Light" pitchFamily="34" charset="0"/>
                <a:ea typeface="Overpass Light" pitchFamily="34" charset="-122"/>
                <a:cs typeface="Overpass Light" pitchFamily="34" charset="-120"/>
              </a:rPr>
              <a:t> Learn which sequence of actions produces the best long-term result.</a:t>
            </a:r>
            <a:endParaRPr lang="en-US" sz="1300" dirty="0"/>
          </a:p>
          <a:p>
            <a:pPr algn="l" indent="0" marL="0">
              <a:lnSpc>
                <a:spcPct val="133000"/>
              </a:lnSpc>
              <a:buNone/>
            </a:pPr>
            <a:r>
              <a:rPr lang="en-US" sz="1300" b="1" dirty="0">
                <a:solidFill>
                  <a:srgbClr val="3B4E4E"/>
                </a:solidFill>
                <a:latin typeface="Overpass Bold" pitchFamily="34" charset="0"/>
                <a:ea typeface="Overpass Bold" pitchFamily="34" charset="-122"/>
                <a:cs typeface="Overpass Bold" pitchFamily="34" charset="-120"/>
              </a:rPr>
              <a:t>Examples:</a:t>
            </a:r>
            <a:pPr algn="l" indent="0" marL="0">
              <a:lnSpc>
                <a:spcPct val="133000"/>
              </a:lnSpc>
              <a:buNone/>
            </a:pPr>
            <a:r>
              <a:rPr lang="en-US" sz="1300" dirty="0">
                <a:solidFill>
                  <a:srgbClr val="3B4E4E"/>
                </a:solidFill>
                <a:latin typeface="Overpass Light" pitchFamily="34" charset="0"/>
                <a:ea typeface="Overpass Light" pitchFamily="34" charset="-122"/>
                <a:cs typeface="Overpass Light" pitchFamily="34" charset="-120"/>
              </a:rPr>
              <a:t> Game-playing AI (AlphaGo), robotics, self-driving car steering, ad bidding systems.</a:t>
            </a:r>
            <a:endParaRPr lang="en-US" sz="1300" dirty="0"/>
          </a:p>
        </p:txBody>
      </p:sp>
      <p:sp>
        <p:nvSpPr>
          <p:cNvPr id="13" name="Shape 11"/>
          <p:cNvSpPr/>
          <p:nvPr/>
        </p:nvSpPr>
        <p:spPr>
          <a:xfrm>
            <a:off x="661475" y="5480844"/>
            <a:ext cx="10868745" cy="661293"/>
          </a:xfrm>
          <a:prstGeom prst="roundRect">
            <a:avLst>
              <a:gd name="adj" fmla="val 10504"/>
            </a:avLst>
          </a:prstGeom>
          <a:solidFill>
            <a:srgbClr val="DDEEE6"/>
          </a:solidFill>
          <a:ln/>
        </p:spPr>
      </p:sp>
      <p:pic>
        <p:nvPicPr>
          <p:cNvPr id="14" name="Image 0" descr="preencoded.png">    </p:cNvPr>
          <p:cNvPicPr>
            <a:picLocks noChangeAspect="1"/>
          </p:cNvPicPr>
          <p:nvPr/>
        </p:nvPicPr>
        <p:blipFill>
          <a:blip r:embed="rId1"/>
          <a:stretch>
            <a:fillRect/>
          </a:stretch>
        </p:blipFill>
        <p:spPr>
          <a:xfrm>
            <a:off x="826769" y="5720556"/>
            <a:ext cx="206667" cy="165298"/>
          </a:xfrm>
          <a:prstGeom prst="rect">
            <a:avLst/>
          </a:prstGeom>
        </p:spPr>
      </p:pic>
      <p:sp>
        <p:nvSpPr>
          <p:cNvPr id="15" name="Text 12"/>
          <p:cNvSpPr/>
          <p:nvPr/>
        </p:nvSpPr>
        <p:spPr>
          <a:xfrm>
            <a:off x="1198731" y="5687417"/>
            <a:ext cx="10775780" cy="264616"/>
          </a:xfrm>
          <a:prstGeom prst="rect">
            <a:avLst/>
          </a:prstGeom>
          <a:noFill/>
          <a:ln/>
        </p:spPr>
        <p:txBody>
          <a:bodyPr wrap="none" lIns="0" tIns="0" rIns="0" bIns="0" rtlCol="0" anchor="t"/>
          <a:lstStyle/>
          <a:p>
            <a:pPr algn="l" indent="0" marL="0">
              <a:lnSpc>
                <a:spcPct val="133000"/>
              </a:lnSpc>
              <a:buNone/>
            </a:pPr>
            <a:r>
              <a:rPr lang="en-US" sz="1300" dirty="0">
                <a:solidFill>
                  <a:srgbClr val="000000"/>
                </a:solidFill>
                <a:latin typeface="Overpass Light" pitchFamily="34" charset="0"/>
                <a:ea typeface="Overpass Light" pitchFamily="34" charset="-122"/>
                <a:cs typeface="Overpass Light" pitchFamily="34" charset="-120"/>
              </a:rPr>
              <a:t>This session focuses on </a:t>
            </a:r>
            <a:pPr algn="l" indent="0" marL="0">
              <a:lnSpc>
                <a:spcPct val="133000"/>
              </a:lnSpc>
              <a:buNone/>
            </a:pPr>
            <a:r>
              <a:rPr lang="en-US" sz="1300" b="1" dirty="0">
                <a:solidFill>
                  <a:srgbClr val="000000"/>
                </a:solidFill>
                <a:latin typeface="Overpass Bold" pitchFamily="34" charset="0"/>
                <a:ea typeface="Overpass Bold" pitchFamily="34" charset="-122"/>
                <a:cs typeface="Overpass Bold" pitchFamily="34" charset="-120"/>
              </a:rPr>
              <a:t>supervised</a:t>
            </a:r>
            <a:pPr algn="l" indent="0" marL="0">
              <a:lnSpc>
                <a:spcPct val="133000"/>
              </a:lnSpc>
              <a:buNone/>
            </a:pPr>
            <a:r>
              <a:rPr lang="en-US" sz="1300" dirty="0">
                <a:solidFill>
                  <a:srgbClr val="000000"/>
                </a:solidFill>
                <a:latin typeface="Overpass Light" pitchFamily="34" charset="0"/>
                <a:ea typeface="Overpass Light" pitchFamily="34" charset="-122"/>
                <a:cs typeface="Overpass Light" pitchFamily="34" charset="-120"/>
              </a:rPr>
              <a:t> and </a:t>
            </a:r>
            <a:pPr algn="l" indent="0" marL="0">
              <a:lnSpc>
                <a:spcPct val="133000"/>
              </a:lnSpc>
              <a:buNone/>
            </a:pPr>
            <a:r>
              <a:rPr lang="en-US" sz="1300" b="1" dirty="0">
                <a:solidFill>
                  <a:srgbClr val="000000"/>
                </a:solidFill>
                <a:latin typeface="Overpass Bold" pitchFamily="34" charset="0"/>
                <a:ea typeface="Overpass Bold" pitchFamily="34" charset="-122"/>
                <a:cs typeface="Overpass Bold" pitchFamily="34" charset="-120"/>
              </a:rPr>
              <a:t>unsupervised</a:t>
            </a:r>
            <a:pPr algn="l" indent="0" marL="0">
              <a:lnSpc>
                <a:spcPct val="133000"/>
              </a:lnSpc>
              <a:buNone/>
            </a:pPr>
            <a:r>
              <a:rPr lang="en-US" sz="1300" dirty="0">
                <a:solidFill>
                  <a:srgbClr val="000000"/>
                </a:solidFill>
                <a:latin typeface="Overpass Light" pitchFamily="34" charset="0"/>
                <a:ea typeface="Overpass Light" pitchFamily="34" charset="-122"/>
                <a:cs typeface="Overpass Light" pitchFamily="34" charset="-120"/>
              </a:rPr>
              <a:t> learning — the two families you will encounter most often in business settings.</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E6"/>
        </a:solidFill>
      </p:bgPr>
    </p:bg>
    <p:spTree>
      <p:nvGrpSpPr>
        <p:cNvPr id="1" name=""/>
        <p:cNvGrpSpPr/>
        <p:nvPr/>
      </p:nvGrpSpPr>
      <p:grpSpPr>
        <a:xfrm>
          <a:off x="0" y="0"/>
          <a:ext cx="0" cy="0"/>
          <a:chOff x="0" y="0"/>
          <a:chExt cx="0" cy="0"/>
        </a:xfrm>
      </p:grpSpPr>
      <p:sp>
        <p:nvSpPr>
          <p:cNvPr id="2" name="Text 0"/>
          <p:cNvSpPr/>
          <p:nvPr/>
        </p:nvSpPr>
        <p:spPr>
          <a:xfrm>
            <a:off x="661475" y="508538"/>
            <a:ext cx="10868745" cy="476448"/>
          </a:xfrm>
          <a:prstGeom prst="rect">
            <a:avLst/>
          </a:prstGeom>
          <a:noFill/>
          <a:ln/>
        </p:spPr>
        <p:txBody>
          <a:bodyPr wrap="none" lIns="0" tIns="0" rIns="0" bIns="0" rtlCol="0" anchor="t"/>
          <a:lstStyle/>
          <a:p>
            <a:pPr algn="l" indent="0" marL="0">
              <a:lnSpc>
                <a:spcPct val="104000"/>
              </a:lnSpc>
              <a:buNone/>
            </a:pPr>
            <a:r>
              <a:rPr lang="en-US" sz="3000" b="1" dirty="0">
                <a:solidFill>
                  <a:srgbClr val="233939"/>
                </a:solidFill>
                <a:latin typeface="Syne Bold" pitchFamily="34" charset="0"/>
                <a:ea typeface="Syne Bold" pitchFamily="34" charset="-122"/>
                <a:cs typeface="Syne Bold" pitchFamily="34" charset="-120"/>
              </a:rPr>
              <a:t>Five Questions to Ask for Any Business Case</a:t>
            </a:r>
            <a:endParaRPr lang="en-US" sz="3000" dirty="0"/>
          </a:p>
        </p:txBody>
      </p:sp>
      <p:sp>
        <p:nvSpPr>
          <p:cNvPr id="3" name="Text 1"/>
          <p:cNvSpPr/>
          <p:nvPr/>
        </p:nvSpPr>
        <p:spPr>
          <a:xfrm>
            <a:off x="661475" y="1261368"/>
            <a:ext cx="10868745" cy="468908"/>
          </a:xfrm>
          <a:prstGeom prst="rect">
            <a:avLst/>
          </a:prstGeom>
          <a:noFill/>
          <a:ln/>
        </p:spPr>
        <p:txBody>
          <a:bodyPr wrap="square" lIns="0" tIns="0" rIns="0" bIns="0" rtlCol="0" anchor="t">
            <a:normAutofit/>
          </a:bodyPr>
          <a:lstStyle/>
          <a:p>
            <a:pPr algn="l" indent="0" marL="0">
              <a:lnSpc>
                <a:spcPct val="128000"/>
              </a:lnSpc>
              <a:buNone/>
            </a:pPr>
            <a:r>
              <a:rPr lang="en-US" sz="1200" dirty="0">
                <a:solidFill>
                  <a:srgbClr val="3B4E4E"/>
                </a:solidFill>
                <a:latin typeface="Overpass Light" pitchFamily="34" charset="0"/>
                <a:ea typeface="Overpass Light" pitchFamily="34" charset="-122"/>
                <a:cs typeface="Overpass Light" pitchFamily="34" charset="-120"/>
              </a:rPr>
              <a:t>Before reaching for an algorithm, ask these five diagnostic questions. They will guide you to the right problem type every time — and save you from building the wrong model entirely.</a:t>
            </a:r>
            <a:endParaRPr lang="en-US" sz="1200" dirty="0"/>
          </a:p>
        </p:txBody>
      </p:sp>
      <p:pic>
        <p:nvPicPr>
          <p:cNvPr id="4"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61475" y="1888331"/>
            <a:ext cx="3529222" cy="2279848"/>
          </a:xfrm>
          <a:prstGeom prst="rect">
            <a:avLst/>
          </a:prstGeom>
        </p:spPr>
      </p:pic>
      <p:sp>
        <p:nvSpPr>
          <p:cNvPr id="5" name="Text 2"/>
          <p:cNvSpPr/>
          <p:nvPr/>
        </p:nvSpPr>
        <p:spPr>
          <a:xfrm>
            <a:off x="2334559" y="2002631"/>
            <a:ext cx="182955" cy="228699"/>
          </a:xfrm>
          <a:prstGeom prst="rect">
            <a:avLst/>
          </a:prstGeom>
          <a:noFill/>
          <a:ln/>
        </p:spPr>
        <p:txBody>
          <a:bodyPr wrap="none" lIns="0" tIns="0" rIns="0" bIns="0" rtlCol="0" anchor="ctr"/>
          <a:lstStyle/>
          <a:p>
            <a:pPr algn="ctr" indent="0" marL="0">
              <a:lnSpc>
                <a:spcPct val="100000"/>
              </a:lnSpc>
              <a:buNone/>
            </a:pPr>
            <a:r>
              <a:rPr lang="en-US" sz="1400" b="1" dirty="0">
                <a:solidFill>
                  <a:srgbClr val="FFFFFF"/>
                </a:solidFill>
                <a:latin typeface="Syne Bold" pitchFamily="34" charset="0"/>
                <a:ea typeface="Syne Bold" pitchFamily="34" charset="-122"/>
                <a:cs typeface="Syne Bold" pitchFamily="34" charset="-120"/>
              </a:rPr>
              <a:t>1</a:t>
            </a:r>
            <a:endParaRPr lang="en-US" sz="1400" dirty="0"/>
          </a:p>
        </p:txBody>
      </p:sp>
      <p:sp>
        <p:nvSpPr>
          <p:cNvPr id="6" name="Text 3"/>
          <p:cNvSpPr/>
          <p:nvPr/>
        </p:nvSpPr>
        <p:spPr>
          <a:xfrm>
            <a:off x="832921" y="2498130"/>
            <a:ext cx="3186330" cy="476448"/>
          </a:xfrm>
          <a:prstGeom prst="rect">
            <a:avLst/>
          </a:prstGeom>
          <a:noFill/>
          <a:ln/>
        </p:spPr>
        <p:txBody>
          <a:bodyPr wrap="square" lIns="0" tIns="0" rIns="0" bIns="0" rtlCol="0" anchor="t">
            <a:normAutofit/>
          </a:bodyPr>
          <a:lstStyle/>
          <a:p>
            <a:pPr algn="l" indent="0" marL="0">
              <a:lnSpc>
                <a:spcPct val="104000"/>
              </a:lnSpc>
              <a:buNone/>
            </a:pPr>
            <a:r>
              <a:rPr lang="en-US" sz="1500" b="1" dirty="0">
                <a:solidFill>
                  <a:srgbClr val="3B4E4E"/>
                </a:solidFill>
                <a:latin typeface="Syne Bold" pitchFamily="34" charset="0"/>
                <a:ea typeface="Syne Bold" pitchFamily="34" charset="-122"/>
                <a:cs typeface="Syne Bold" pitchFamily="34" charset="-120"/>
              </a:rPr>
              <a:t>What does the business want to know or decide?</a:t>
            </a:r>
            <a:endParaRPr lang="en-US" sz="1500" dirty="0"/>
          </a:p>
        </p:txBody>
      </p:sp>
      <p:sp>
        <p:nvSpPr>
          <p:cNvPr id="7" name="Text 4"/>
          <p:cNvSpPr/>
          <p:nvPr/>
        </p:nvSpPr>
        <p:spPr>
          <a:xfrm>
            <a:off x="832921" y="3058914"/>
            <a:ext cx="3186330" cy="937816"/>
          </a:xfrm>
          <a:prstGeom prst="rect">
            <a:avLst/>
          </a:prstGeom>
          <a:noFill/>
          <a:ln/>
        </p:spPr>
        <p:txBody>
          <a:bodyPr wrap="square" lIns="0" tIns="0" rIns="0" bIns="0" rtlCol="0" anchor="t">
            <a:normAutofit/>
          </a:bodyPr>
          <a:lstStyle/>
          <a:p>
            <a:pPr algn="l" indent="0" marL="0">
              <a:lnSpc>
                <a:spcPct val="128000"/>
              </a:lnSpc>
              <a:buNone/>
            </a:pPr>
            <a:r>
              <a:rPr lang="en-US" sz="1200" dirty="0">
                <a:solidFill>
                  <a:srgbClr val="3B4E4E"/>
                </a:solidFill>
                <a:latin typeface="Overpass Light" pitchFamily="34" charset="0"/>
                <a:ea typeface="Overpass Light" pitchFamily="34" charset="-122"/>
                <a:cs typeface="Overpass Light" pitchFamily="34" charset="-120"/>
              </a:rPr>
              <a:t>Define the outcome clearly. "Improve customer satisfaction" is not specific enough. "Predict which customers will cancel in the next 30 days" is.</a:t>
            </a:r>
            <a:endParaRPr lang="en-US" sz="1200" dirty="0"/>
          </a:p>
        </p:txBody>
      </p:sp>
      <p:pic>
        <p:nvPicPr>
          <p:cNvPr id="8"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331187" y="1888331"/>
            <a:ext cx="3529222" cy="2279848"/>
          </a:xfrm>
          <a:prstGeom prst="rect">
            <a:avLst/>
          </a:prstGeom>
        </p:spPr>
      </p:pic>
      <p:sp>
        <p:nvSpPr>
          <p:cNvPr id="9" name="Text 5"/>
          <p:cNvSpPr/>
          <p:nvPr/>
        </p:nvSpPr>
        <p:spPr>
          <a:xfrm>
            <a:off x="6004271" y="2002631"/>
            <a:ext cx="182955" cy="228699"/>
          </a:xfrm>
          <a:prstGeom prst="rect">
            <a:avLst/>
          </a:prstGeom>
          <a:noFill/>
          <a:ln/>
        </p:spPr>
        <p:txBody>
          <a:bodyPr wrap="none" lIns="0" tIns="0" rIns="0" bIns="0" rtlCol="0" anchor="ctr"/>
          <a:lstStyle/>
          <a:p>
            <a:pPr algn="ctr" indent="0" marL="0">
              <a:lnSpc>
                <a:spcPct val="100000"/>
              </a:lnSpc>
              <a:buNone/>
            </a:pPr>
            <a:r>
              <a:rPr lang="en-US" sz="1400" b="1" dirty="0">
                <a:solidFill>
                  <a:srgbClr val="FFFFFF"/>
                </a:solidFill>
                <a:latin typeface="Syne Bold" pitchFamily="34" charset="0"/>
                <a:ea typeface="Syne Bold" pitchFamily="34" charset="-122"/>
                <a:cs typeface="Syne Bold" pitchFamily="34" charset="-120"/>
              </a:rPr>
              <a:t>2</a:t>
            </a:r>
            <a:endParaRPr lang="en-US" sz="1400" dirty="0"/>
          </a:p>
        </p:txBody>
      </p:sp>
      <p:sp>
        <p:nvSpPr>
          <p:cNvPr id="10" name="Text 6"/>
          <p:cNvSpPr/>
          <p:nvPr/>
        </p:nvSpPr>
        <p:spPr>
          <a:xfrm>
            <a:off x="4502633" y="2498130"/>
            <a:ext cx="3186330" cy="476448"/>
          </a:xfrm>
          <a:prstGeom prst="rect">
            <a:avLst/>
          </a:prstGeom>
          <a:noFill/>
          <a:ln/>
        </p:spPr>
        <p:txBody>
          <a:bodyPr wrap="square" lIns="0" tIns="0" rIns="0" bIns="0" rtlCol="0" anchor="t">
            <a:normAutofit/>
          </a:bodyPr>
          <a:lstStyle/>
          <a:p>
            <a:pPr algn="l" indent="0" marL="0">
              <a:lnSpc>
                <a:spcPct val="104000"/>
              </a:lnSpc>
              <a:buNone/>
            </a:pPr>
            <a:r>
              <a:rPr lang="en-US" sz="1500" b="1" dirty="0">
                <a:solidFill>
                  <a:srgbClr val="3B4E4E"/>
                </a:solidFill>
                <a:latin typeface="Syne Bold" pitchFamily="34" charset="0"/>
                <a:ea typeface="Syne Bold" pitchFamily="34" charset="-122"/>
                <a:cs typeface="Syne Bold" pitchFamily="34" charset="-120"/>
              </a:rPr>
              <a:t>Do we have past data with the correct answer?</a:t>
            </a:r>
            <a:endParaRPr lang="en-US" sz="1500" dirty="0"/>
          </a:p>
        </p:txBody>
      </p:sp>
      <p:sp>
        <p:nvSpPr>
          <p:cNvPr id="11" name="Text 7"/>
          <p:cNvSpPr/>
          <p:nvPr/>
        </p:nvSpPr>
        <p:spPr>
          <a:xfrm>
            <a:off x="4502633" y="3058914"/>
            <a:ext cx="3186330" cy="703362"/>
          </a:xfrm>
          <a:prstGeom prst="rect">
            <a:avLst/>
          </a:prstGeom>
          <a:noFill/>
          <a:ln/>
        </p:spPr>
        <p:txBody>
          <a:bodyPr wrap="square" lIns="0" tIns="0" rIns="0" bIns="0" rtlCol="0" anchor="t">
            <a:normAutofit/>
          </a:bodyPr>
          <a:lstStyle/>
          <a:p>
            <a:pPr algn="l" indent="0" marL="0">
              <a:lnSpc>
                <a:spcPct val="128000"/>
              </a:lnSpc>
              <a:buNone/>
            </a:pPr>
            <a:r>
              <a:rPr lang="en-US" sz="1200" dirty="0">
                <a:solidFill>
                  <a:srgbClr val="3B4E4E"/>
                </a:solidFill>
                <a:latin typeface="Overpass Light" pitchFamily="34" charset="0"/>
                <a:ea typeface="Overpass Light" pitchFamily="34" charset="-122"/>
                <a:cs typeface="Overpass Light" pitchFamily="34" charset="-120"/>
              </a:rPr>
              <a:t>Yes → supervised learning. No correct labels exist → unsupervised learning. This is your first and most important fork in the road.</a:t>
            </a:r>
            <a:endParaRPr lang="en-US" sz="1200" dirty="0"/>
          </a:p>
        </p:txBody>
      </p:sp>
      <p:pic>
        <p:nvPicPr>
          <p:cNvPr id="12"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000899" y="1888331"/>
            <a:ext cx="3529321" cy="2279848"/>
          </a:xfrm>
          <a:prstGeom prst="rect">
            <a:avLst/>
          </a:prstGeom>
        </p:spPr>
      </p:pic>
      <p:sp>
        <p:nvSpPr>
          <p:cNvPr id="13" name="Text 8"/>
          <p:cNvSpPr/>
          <p:nvPr/>
        </p:nvSpPr>
        <p:spPr>
          <a:xfrm>
            <a:off x="9674082" y="2002631"/>
            <a:ext cx="182955" cy="228699"/>
          </a:xfrm>
          <a:prstGeom prst="rect">
            <a:avLst/>
          </a:prstGeom>
          <a:noFill/>
          <a:ln/>
        </p:spPr>
        <p:txBody>
          <a:bodyPr wrap="none" lIns="0" tIns="0" rIns="0" bIns="0" rtlCol="0" anchor="ctr"/>
          <a:lstStyle/>
          <a:p>
            <a:pPr algn="ctr" indent="0" marL="0">
              <a:lnSpc>
                <a:spcPct val="100000"/>
              </a:lnSpc>
              <a:buNone/>
            </a:pPr>
            <a:r>
              <a:rPr lang="en-US" sz="1400" b="1" dirty="0">
                <a:solidFill>
                  <a:srgbClr val="FFFFFF"/>
                </a:solidFill>
                <a:latin typeface="Syne Bold" pitchFamily="34" charset="0"/>
                <a:ea typeface="Syne Bold" pitchFamily="34" charset="-122"/>
                <a:cs typeface="Syne Bold" pitchFamily="34" charset="-120"/>
              </a:rPr>
              <a:t>3</a:t>
            </a:r>
            <a:endParaRPr lang="en-US" sz="1400" dirty="0"/>
          </a:p>
        </p:txBody>
      </p:sp>
      <p:sp>
        <p:nvSpPr>
          <p:cNvPr id="14" name="Text 9"/>
          <p:cNvSpPr/>
          <p:nvPr/>
        </p:nvSpPr>
        <p:spPr>
          <a:xfrm>
            <a:off x="8172345" y="2498130"/>
            <a:ext cx="3186430" cy="476448"/>
          </a:xfrm>
          <a:prstGeom prst="rect">
            <a:avLst/>
          </a:prstGeom>
          <a:noFill/>
          <a:ln/>
        </p:spPr>
        <p:txBody>
          <a:bodyPr wrap="square" lIns="0" tIns="0" rIns="0" bIns="0" rtlCol="0" anchor="t">
            <a:normAutofit/>
          </a:bodyPr>
          <a:lstStyle/>
          <a:p>
            <a:pPr algn="l" indent="0" marL="0">
              <a:lnSpc>
                <a:spcPct val="104000"/>
              </a:lnSpc>
              <a:buNone/>
            </a:pPr>
            <a:r>
              <a:rPr lang="en-US" sz="1500" b="1" dirty="0">
                <a:solidFill>
                  <a:srgbClr val="3B4E4E"/>
                </a:solidFill>
                <a:latin typeface="Syne Bold" pitchFamily="34" charset="0"/>
                <a:ea typeface="Syne Bold" pitchFamily="34" charset="-122"/>
                <a:cs typeface="Syne Bold" pitchFamily="34" charset="-120"/>
              </a:rPr>
              <a:t>Is the answer a number or a category?</a:t>
            </a:r>
            <a:endParaRPr lang="en-US" sz="1500" dirty="0"/>
          </a:p>
        </p:txBody>
      </p:sp>
      <p:sp>
        <p:nvSpPr>
          <p:cNvPr id="15" name="Text 10"/>
          <p:cNvSpPr/>
          <p:nvPr/>
        </p:nvSpPr>
        <p:spPr>
          <a:xfrm>
            <a:off x="8172345" y="3058914"/>
            <a:ext cx="3186430" cy="703362"/>
          </a:xfrm>
          <a:prstGeom prst="rect">
            <a:avLst/>
          </a:prstGeom>
          <a:noFill/>
          <a:ln/>
        </p:spPr>
        <p:txBody>
          <a:bodyPr wrap="square" lIns="0" tIns="0" rIns="0" bIns="0" rtlCol="0" anchor="t">
            <a:normAutofit/>
          </a:bodyPr>
          <a:lstStyle/>
          <a:p>
            <a:pPr algn="l" indent="0" marL="0">
              <a:lnSpc>
                <a:spcPct val="128000"/>
              </a:lnSpc>
              <a:buNone/>
            </a:pPr>
            <a:r>
              <a:rPr lang="en-US" sz="1200" dirty="0">
                <a:solidFill>
                  <a:srgbClr val="3B4E4E"/>
                </a:solidFill>
                <a:latin typeface="Overpass Light" pitchFamily="34" charset="0"/>
                <a:ea typeface="Overpass Light" pitchFamily="34" charset="-122"/>
                <a:cs typeface="Overpass Light" pitchFamily="34" charset="-120"/>
              </a:rPr>
              <a:t>Number (price, quantity, temperature) → regression. Category (yes/no, which group, which plan) → classification.</a:t>
            </a:r>
            <a:endParaRPr lang="en-US" sz="1200" dirty="0"/>
          </a:p>
        </p:txBody>
      </p:sp>
      <p:pic>
        <p:nvPicPr>
          <p:cNvPr id="16"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61475" y="4308673"/>
            <a:ext cx="5364128" cy="2045395"/>
          </a:xfrm>
          <a:prstGeom prst="rect">
            <a:avLst/>
          </a:prstGeom>
        </p:spPr>
      </p:pic>
      <p:sp>
        <p:nvSpPr>
          <p:cNvPr id="17" name="Text 11"/>
          <p:cNvSpPr/>
          <p:nvPr/>
        </p:nvSpPr>
        <p:spPr>
          <a:xfrm>
            <a:off x="3252012" y="4422973"/>
            <a:ext cx="182955" cy="228699"/>
          </a:xfrm>
          <a:prstGeom prst="rect">
            <a:avLst/>
          </a:prstGeom>
          <a:noFill/>
          <a:ln/>
        </p:spPr>
        <p:txBody>
          <a:bodyPr wrap="none" lIns="0" tIns="0" rIns="0" bIns="0" rtlCol="0" anchor="ctr"/>
          <a:lstStyle/>
          <a:p>
            <a:pPr algn="ctr" indent="0" marL="0">
              <a:lnSpc>
                <a:spcPct val="100000"/>
              </a:lnSpc>
              <a:buNone/>
            </a:pPr>
            <a:r>
              <a:rPr lang="en-US" sz="1400" b="1" dirty="0">
                <a:solidFill>
                  <a:srgbClr val="FFFFFF"/>
                </a:solidFill>
                <a:latin typeface="Syne Bold" pitchFamily="34" charset="0"/>
                <a:ea typeface="Syne Bold" pitchFamily="34" charset="-122"/>
                <a:cs typeface="Syne Bold" pitchFamily="34" charset="-120"/>
              </a:rPr>
              <a:t>4</a:t>
            </a:r>
            <a:endParaRPr lang="en-US" sz="1400" dirty="0"/>
          </a:p>
        </p:txBody>
      </p:sp>
      <p:sp>
        <p:nvSpPr>
          <p:cNvPr id="18" name="Text 12"/>
          <p:cNvSpPr/>
          <p:nvPr/>
        </p:nvSpPr>
        <p:spPr>
          <a:xfrm>
            <a:off x="832921" y="4918472"/>
            <a:ext cx="5021236" cy="238224"/>
          </a:xfrm>
          <a:prstGeom prst="rect">
            <a:avLst/>
          </a:prstGeom>
          <a:noFill/>
          <a:ln/>
        </p:spPr>
        <p:txBody>
          <a:bodyPr wrap="none" lIns="0" tIns="0" rIns="0" bIns="0" rtlCol="0" anchor="t"/>
          <a:lstStyle/>
          <a:p>
            <a:pPr algn="l" indent="0" marL="0">
              <a:lnSpc>
                <a:spcPct val="104000"/>
              </a:lnSpc>
              <a:buNone/>
            </a:pPr>
            <a:r>
              <a:rPr lang="en-US" sz="1500" b="1" dirty="0">
                <a:solidFill>
                  <a:srgbClr val="3B4E4E"/>
                </a:solidFill>
                <a:latin typeface="Syne Bold" pitchFamily="34" charset="0"/>
                <a:ea typeface="Syne Bold" pitchFamily="34" charset="-122"/>
                <a:cs typeface="Syne Bold" pitchFamily="34" charset="-120"/>
              </a:rPr>
              <a:t>Does the business need to know why?</a:t>
            </a:r>
            <a:endParaRPr lang="en-US" sz="1500" dirty="0"/>
          </a:p>
        </p:txBody>
      </p:sp>
      <p:sp>
        <p:nvSpPr>
          <p:cNvPr id="19" name="Text 13"/>
          <p:cNvSpPr/>
          <p:nvPr/>
        </p:nvSpPr>
        <p:spPr>
          <a:xfrm>
            <a:off x="832921" y="5241032"/>
            <a:ext cx="5021236" cy="703362"/>
          </a:xfrm>
          <a:prstGeom prst="rect">
            <a:avLst/>
          </a:prstGeom>
          <a:noFill/>
          <a:ln/>
        </p:spPr>
        <p:txBody>
          <a:bodyPr wrap="square" lIns="0" tIns="0" rIns="0" bIns="0" rtlCol="0" anchor="t">
            <a:normAutofit/>
          </a:bodyPr>
          <a:lstStyle/>
          <a:p>
            <a:pPr algn="l" indent="0" marL="0">
              <a:lnSpc>
                <a:spcPct val="128000"/>
              </a:lnSpc>
              <a:buNone/>
            </a:pPr>
            <a:r>
              <a:rPr lang="en-US" sz="1200" dirty="0">
                <a:solidFill>
                  <a:srgbClr val="3B4E4E"/>
                </a:solidFill>
                <a:latin typeface="Overpass Light" pitchFamily="34" charset="0"/>
                <a:ea typeface="Overpass Light" pitchFamily="34" charset="-122"/>
                <a:cs typeface="Overpass Light" pitchFamily="34" charset="-120"/>
              </a:rPr>
              <a:t>Regulators, doctors, and customers often require an explanation. If yes, prefer simpler, interpretable models over black-box ones — even if the black box is slightly more accurate.</a:t>
            </a:r>
            <a:endParaRPr lang="en-US" sz="1200" dirty="0"/>
          </a:p>
        </p:txBody>
      </p:sp>
      <p:pic>
        <p:nvPicPr>
          <p:cNvPr id="20" name="Image 4" descr="preencoded.png">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6166093" y="4308673"/>
            <a:ext cx="5364128" cy="2045395"/>
          </a:xfrm>
          <a:prstGeom prst="rect">
            <a:avLst/>
          </a:prstGeom>
        </p:spPr>
      </p:pic>
      <p:sp>
        <p:nvSpPr>
          <p:cNvPr id="21" name="Text 14"/>
          <p:cNvSpPr/>
          <p:nvPr/>
        </p:nvSpPr>
        <p:spPr>
          <a:xfrm>
            <a:off x="8756629" y="4422973"/>
            <a:ext cx="182955" cy="228699"/>
          </a:xfrm>
          <a:prstGeom prst="rect">
            <a:avLst/>
          </a:prstGeom>
          <a:noFill/>
          <a:ln/>
        </p:spPr>
        <p:txBody>
          <a:bodyPr wrap="none" lIns="0" tIns="0" rIns="0" bIns="0" rtlCol="0" anchor="ctr"/>
          <a:lstStyle/>
          <a:p>
            <a:pPr algn="ctr" indent="0" marL="0">
              <a:lnSpc>
                <a:spcPct val="100000"/>
              </a:lnSpc>
              <a:buNone/>
            </a:pPr>
            <a:r>
              <a:rPr lang="en-US" sz="1400" b="1" dirty="0">
                <a:solidFill>
                  <a:srgbClr val="FFFFFF"/>
                </a:solidFill>
                <a:latin typeface="Syne Bold" pitchFamily="34" charset="0"/>
                <a:ea typeface="Syne Bold" pitchFamily="34" charset="-122"/>
                <a:cs typeface="Syne Bold" pitchFamily="34" charset="-120"/>
              </a:rPr>
              <a:t>5</a:t>
            </a:r>
            <a:endParaRPr lang="en-US" sz="1400" dirty="0"/>
          </a:p>
        </p:txBody>
      </p:sp>
      <p:sp>
        <p:nvSpPr>
          <p:cNvPr id="22" name="Text 15"/>
          <p:cNvSpPr/>
          <p:nvPr/>
        </p:nvSpPr>
        <p:spPr>
          <a:xfrm>
            <a:off x="6337538" y="4918472"/>
            <a:ext cx="5021236" cy="476448"/>
          </a:xfrm>
          <a:prstGeom prst="rect">
            <a:avLst/>
          </a:prstGeom>
          <a:noFill/>
          <a:ln/>
        </p:spPr>
        <p:txBody>
          <a:bodyPr wrap="square" lIns="0" tIns="0" rIns="0" bIns="0" rtlCol="0" anchor="t">
            <a:normAutofit/>
          </a:bodyPr>
          <a:lstStyle/>
          <a:p>
            <a:pPr algn="l" indent="0" marL="0">
              <a:lnSpc>
                <a:spcPct val="104000"/>
              </a:lnSpc>
              <a:buNone/>
            </a:pPr>
            <a:r>
              <a:rPr lang="en-US" sz="1500" b="1" dirty="0">
                <a:solidFill>
                  <a:srgbClr val="3B4E4E"/>
                </a:solidFill>
                <a:latin typeface="Syne Bold" pitchFamily="34" charset="0"/>
                <a:ea typeface="Syne Bold" pitchFamily="34" charset="-122"/>
                <a:cs typeface="Syne Bold" pitchFamily="34" charset="-120"/>
              </a:rPr>
              <a:t>How much data do we have, and how clean is it?</a:t>
            </a:r>
            <a:endParaRPr lang="en-US" sz="1500" dirty="0"/>
          </a:p>
        </p:txBody>
      </p:sp>
      <p:sp>
        <p:nvSpPr>
          <p:cNvPr id="23" name="Text 16"/>
          <p:cNvSpPr/>
          <p:nvPr/>
        </p:nvSpPr>
        <p:spPr>
          <a:xfrm>
            <a:off x="6337538" y="5479256"/>
            <a:ext cx="5021236" cy="703362"/>
          </a:xfrm>
          <a:prstGeom prst="rect">
            <a:avLst/>
          </a:prstGeom>
          <a:noFill/>
          <a:ln/>
        </p:spPr>
        <p:txBody>
          <a:bodyPr wrap="square" lIns="0" tIns="0" rIns="0" bIns="0" rtlCol="0" anchor="t">
            <a:normAutofit/>
          </a:bodyPr>
          <a:lstStyle/>
          <a:p>
            <a:pPr algn="l" indent="0" marL="0">
              <a:lnSpc>
                <a:spcPct val="128000"/>
              </a:lnSpc>
              <a:buNone/>
            </a:pPr>
            <a:r>
              <a:rPr lang="en-US" sz="1200" dirty="0">
                <a:solidFill>
                  <a:srgbClr val="3B4E4E"/>
                </a:solidFill>
                <a:latin typeface="Overpass Light" pitchFamily="34" charset="0"/>
                <a:ea typeface="Overpass Light" pitchFamily="34" charset="-122"/>
                <a:cs typeface="Overpass Light" pitchFamily="34" charset="-120"/>
              </a:rPr>
              <a:t>Some algorithms (neural networks) need large, clean datasets. Others (Naive Bayes, KNN) work with small data. Data quality is often the deciding factor in practice.</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E6"/>
        </a:solidFill>
      </p:bgPr>
    </p:bg>
    <p:spTree>
      <p:nvGrpSpPr>
        <p:cNvPr id="1" name=""/>
        <p:cNvGrpSpPr/>
        <p:nvPr/>
      </p:nvGrpSpPr>
      <p:grpSpPr>
        <a:xfrm>
          <a:off x="0" y="0"/>
          <a:ext cx="0" cy="0"/>
          <a:chOff x="0" y="0"/>
          <a:chExt cx="0" cy="0"/>
        </a:xfrm>
      </p:grpSpPr>
      <p:sp>
        <p:nvSpPr>
          <p:cNvPr id="2" name="Text 0"/>
          <p:cNvSpPr/>
          <p:nvPr/>
        </p:nvSpPr>
        <p:spPr>
          <a:xfrm>
            <a:off x="661475" y="500794"/>
            <a:ext cx="10868745" cy="500658"/>
          </a:xfrm>
          <a:prstGeom prst="rect">
            <a:avLst/>
          </a:prstGeom>
          <a:noFill/>
          <a:ln/>
        </p:spPr>
        <p:txBody>
          <a:bodyPr wrap="none" lIns="0" tIns="0" rIns="0" bIns="0" rtlCol="0" anchor="t"/>
          <a:lstStyle/>
          <a:p>
            <a:pPr algn="l" indent="0" marL="0">
              <a:lnSpc>
                <a:spcPct val="104000"/>
              </a:lnSpc>
              <a:buNone/>
            </a:pPr>
            <a:r>
              <a:rPr lang="en-US" sz="3150" b="1" dirty="0">
                <a:solidFill>
                  <a:srgbClr val="233939"/>
                </a:solidFill>
                <a:latin typeface="Syne Bold" pitchFamily="34" charset="0"/>
                <a:ea typeface="Syne Bold" pitchFamily="34" charset="-122"/>
                <a:cs typeface="Syne Bold" pitchFamily="34" charset="-120"/>
              </a:rPr>
              <a:t>Problem Type Map</a:t>
            </a:r>
            <a:endParaRPr lang="en-US" sz="3150" dirty="0"/>
          </a:p>
        </p:txBody>
      </p:sp>
      <p:sp>
        <p:nvSpPr>
          <p:cNvPr id="3" name="Text 1"/>
          <p:cNvSpPr/>
          <p:nvPr/>
        </p:nvSpPr>
        <p:spPr>
          <a:xfrm>
            <a:off x="661475" y="1306810"/>
            <a:ext cx="10868745" cy="504627"/>
          </a:xfrm>
          <a:prstGeom prst="rect">
            <a:avLst/>
          </a:prstGeom>
          <a:noFill/>
          <a:ln/>
        </p:spPr>
        <p:txBody>
          <a:bodyPr wrap="square" lIns="0" tIns="0" rIns="0" bIns="0" rtlCol="0" anchor="t">
            <a:normAutofit/>
          </a:bodyPr>
          <a:lstStyle/>
          <a:p>
            <a:pPr algn="l" indent="0" marL="0">
              <a:lnSpc>
                <a:spcPct val="131000"/>
              </a:lnSpc>
              <a:buNone/>
            </a:pPr>
            <a:r>
              <a:rPr lang="en-US" sz="1250" dirty="0">
                <a:solidFill>
                  <a:srgbClr val="3B4E4E"/>
                </a:solidFill>
                <a:latin typeface="Overpass Light" pitchFamily="34" charset="0"/>
                <a:ea typeface="Overpass Light" pitchFamily="34" charset="-122"/>
                <a:cs typeface="Overpass Light" pitchFamily="34" charset="-120"/>
              </a:rPr>
              <a:t>Match the business question to the right problem type, then choose an algorithm from the corresponding family. This map covers the most common scenarios you will encounter in practice.</a:t>
            </a:r>
            <a:endParaRPr lang="en-US" sz="125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661475" y="1985962"/>
          <a:ext cx="10868745" cy="914400"/>
        </p:xfrm>
        <a:graphic>
          <a:graphicData uri="http://schemas.openxmlformats.org/drawingml/2006/table">
            <a:tbl>
              <a:tblPr/>
              <a:tblGrid>
                <a:gridCol w="3804066"/>
                <a:gridCol w="2173709"/>
                <a:gridCol w="4890970"/>
              </a:tblGrid>
              <a:tr h="454311">
                <a:tc>
                  <a:txBody>
                    <a:bodyPr/>
                    <a:lstStyle/>
                    <a:p>
                      <a:pPr algn="l" indent="0" marL="0">
                        <a:buNone/>
                      </a:pPr>
                      <a:r>
                        <a:rPr lang="en-US" sz="1250" b="1" dirty="0">
                          <a:solidFill>
                            <a:srgbClr val="FFFFFF"/>
                          </a:solidFill>
                          <a:latin typeface="Overpass" pitchFamily="34" charset="0"/>
                          <a:ea typeface="Overpass" pitchFamily="34" charset="-122"/>
                          <a:cs typeface="Overpass" pitchFamily="34" charset="-120"/>
                        </a:rPr>
                        <a:t>The Business Asks…</a:t>
                      </a:r>
                      <a:endParaRPr lang="en-US" sz="1250" dirty="0">
                        <a:latin typeface="Overpass" charset="0"/>
                        <a:ea typeface="Overpass" charset="0"/>
                        <a:cs typeface="Overpass" charset="0"/>
                      </a:endParaRPr>
                    </a:p>
                  </a:txBody>
                  <a:tcPr marL="160223" marR="160223" marT="6350" marB="6350" anchor="ctr">
                    <a:lnL w="12700" cap="flat" cmpd="sng" algn="ctr">
                      <a:solidFill>
                        <a:srgbClr val="C3D4CC"/>
                      </a:solidFill>
                      <a:prstDash val="solid"/>
                      <a:round/>
                      <a:headEnd type="none" w="med" len="med"/>
                      <a:tailEnd type="none" w="med" len="med"/>
                    </a:lnL>
                    <a:lnR w="12700" cap="flat" cmpd="sng" algn="ctr">
                      <a:solidFill>
                        <a:srgbClr val="224435"/>
                      </a:solidFill>
                      <a:prstDash val="solid"/>
                      <a:round/>
                      <a:headEnd type="none" w="med" len="med"/>
                      <a:tailEnd type="none" w="med" len="med"/>
                    </a:lnR>
                    <a:lnT w="12700" cap="flat" cmpd="sng" algn="ctr">
                      <a:solidFill>
                        <a:srgbClr val="C3D4CC"/>
                      </a:solidFill>
                      <a:prstDash val="solid"/>
                      <a:round/>
                      <a:headEnd type="none" w="med" len="med"/>
                      <a:tailEnd type="none" w="med" len="med"/>
                    </a:lnT>
                    <a:lnB w="12700" cap="flat" cmpd="sng" algn="ctr">
                      <a:solidFill>
                        <a:srgbClr val="C3D4CC"/>
                      </a:solidFill>
                      <a:prstDash val="solid"/>
                      <a:round/>
                      <a:headEnd type="none" w="med" len="med"/>
                      <a:tailEnd type="none" w="med" len="med"/>
                    </a:lnB>
                    <a:solidFill>
                      <a:srgbClr val="224435"/>
                    </a:solidFill>
                  </a:tcPr>
                </a:tc>
                <a:tc>
                  <a:txBody>
                    <a:bodyPr/>
                    <a:lstStyle/>
                    <a:p>
                      <a:pPr algn="l" indent="0" marL="0">
                        <a:buNone/>
                      </a:pPr>
                      <a:r>
                        <a:rPr lang="en-US" sz="1250" b="1" dirty="0">
                          <a:solidFill>
                            <a:srgbClr val="FFFFFF"/>
                          </a:solidFill>
                          <a:latin typeface="Overpass" pitchFamily="34" charset="0"/>
                          <a:ea typeface="Overpass" pitchFamily="34" charset="-122"/>
                          <a:cs typeface="Overpass" pitchFamily="34" charset="-120"/>
                        </a:rPr>
                        <a:t>Problem Type</a:t>
                      </a:r>
                      <a:endParaRPr lang="en-US" sz="1250" dirty="0">
                        <a:latin typeface="Overpass" charset="0"/>
                        <a:ea typeface="Overpass" charset="0"/>
                        <a:cs typeface="Overpass" charset="0"/>
                      </a:endParaRPr>
                    </a:p>
                  </a:txBody>
                  <a:tcPr marL="160223" marR="160223" marT="6350" marB="6350" anchor="ctr">
                    <a:lnL w="12700" cap="flat" cmpd="sng" algn="ctr">
                      <a:solidFill>
                        <a:srgbClr val="224435"/>
                      </a:solidFill>
                      <a:prstDash val="solid"/>
                      <a:round/>
                      <a:headEnd type="none" w="med" len="med"/>
                      <a:tailEnd type="none" w="med" len="med"/>
                    </a:lnL>
                    <a:lnR w="12700" cap="flat" cmpd="sng" algn="ctr">
                      <a:solidFill>
                        <a:srgbClr val="224435"/>
                      </a:solidFill>
                      <a:prstDash val="solid"/>
                      <a:round/>
                      <a:headEnd type="none" w="med" len="med"/>
                      <a:tailEnd type="none" w="med" len="med"/>
                    </a:lnR>
                    <a:lnT w="12700" cap="flat" cmpd="sng" algn="ctr">
                      <a:solidFill>
                        <a:srgbClr val="C3D4CC"/>
                      </a:solidFill>
                      <a:prstDash val="solid"/>
                      <a:round/>
                      <a:headEnd type="none" w="med" len="med"/>
                      <a:tailEnd type="none" w="med" len="med"/>
                    </a:lnT>
                    <a:lnB w="12700" cap="flat" cmpd="sng" algn="ctr">
                      <a:solidFill>
                        <a:srgbClr val="C3D4CC"/>
                      </a:solidFill>
                      <a:prstDash val="solid"/>
                      <a:round/>
                      <a:headEnd type="none" w="med" len="med"/>
                      <a:tailEnd type="none" w="med" len="med"/>
                    </a:lnB>
                    <a:solidFill>
                      <a:srgbClr val="224435"/>
                    </a:solidFill>
                  </a:tcPr>
                </a:tc>
                <a:tc>
                  <a:txBody>
                    <a:bodyPr/>
                    <a:lstStyle/>
                    <a:p>
                      <a:pPr algn="l" indent="0" marL="0">
                        <a:buNone/>
                      </a:pPr>
                      <a:r>
                        <a:rPr lang="en-US" sz="1250" b="1" dirty="0">
                          <a:solidFill>
                            <a:srgbClr val="FFFFFF"/>
                          </a:solidFill>
                          <a:latin typeface="Overpass" pitchFamily="34" charset="0"/>
                          <a:ea typeface="Overpass" pitchFamily="34" charset="-122"/>
                          <a:cs typeface="Overpass" pitchFamily="34" charset="-120"/>
                        </a:rPr>
                        <a:t>Common Algorithms</a:t>
                      </a:r>
                      <a:endParaRPr lang="en-US" sz="1250" dirty="0">
                        <a:latin typeface="Overpass" charset="0"/>
                        <a:ea typeface="Overpass" charset="0"/>
                        <a:cs typeface="Overpass" charset="0"/>
                      </a:endParaRPr>
                    </a:p>
                  </a:txBody>
                  <a:tcPr marL="160223" marR="160223" marT="6350" marB="6350" anchor="ctr">
                    <a:lnL w="12700" cap="flat" cmpd="sng" algn="ctr">
                      <a:solidFill>
                        <a:srgbClr val="224435"/>
                      </a:solidFill>
                      <a:prstDash val="solid"/>
                      <a:round/>
                      <a:headEnd type="none" w="med" len="med"/>
                      <a:tailEnd type="none" w="med" len="med"/>
                    </a:lnL>
                    <a:lnR w="12700" cap="flat" cmpd="sng" algn="ctr">
                      <a:solidFill>
                        <a:srgbClr val="C3D4CC"/>
                      </a:solidFill>
                      <a:prstDash val="solid"/>
                      <a:round/>
                      <a:headEnd type="none" w="med" len="med"/>
                      <a:tailEnd type="none" w="med" len="med"/>
                    </a:lnR>
                    <a:lnT w="12700" cap="flat" cmpd="sng" algn="ctr">
                      <a:solidFill>
                        <a:srgbClr val="C3D4CC"/>
                      </a:solidFill>
                      <a:prstDash val="solid"/>
                      <a:round/>
                      <a:headEnd type="none" w="med" len="med"/>
                      <a:tailEnd type="none" w="med" len="med"/>
                    </a:lnT>
                    <a:lnB w="12700" cap="flat" cmpd="sng" algn="ctr">
                      <a:solidFill>
                        <a:srgbClr val="C3D4CC"/>
                      </a:solidFill>
                      <a:prstDash val="solid"/>
                      <a:round/>
                      <a:headEnd type="none" w="med" len="med"/>
                      <a:tailEnd type="none" w="med" len="med"/>
                    </a:lnB>
                    <a:solidFill>
                      <a:srgbClr val="224435"/>
                    </a:solidFill>
                  </a:tcPr>
                </a:tc>
              </a:tr>
              <a:tr h="457486">
                <a:tc>
                  <a:txBody>
                    <a:bodyPr/>
                    <a:lstStyle/>
                    <a:p>
                      <a:pPr algn="l" indent="0" marL="0">
                        <a:buNone/>
                      </a:pPr>
                      <a:r>
                        <a:rPr lang="en-US" sz="1250" dirty="0">
                          <a:solidFill>
                            <a:srgbClr val="3B4E4E"/>
                          </a:solidFill>
                          <a:latin typeface="Overpass" pitchFamily="34" charset="0"/>
                          <a:ea typeface="Overpass" pitchFamily="34" charset="-122"/>
                          <a:cs typeface="Overpass" pitchFamily="34" charset="-120"/>
                        </a:rPr>
                        <a:t>"How much?" or "How many?"</a:t>
                      </a:r>
                      <a:endParaRPr lang="en-US" sz="1250" dirty="0">
                        <a:latin typeface="Overpass" charset="0"/>
                        <a:ea typeface="Overpass" charset="0"/>
                        <a:cs typeface="Overpass" charset="0"/>
                      </a:endParaRPr>
                    </a:p>
                  </a:txBody>
                  <a:tcPr marL="160223" marR="160223" marT="6350" marB="6350" anchor="ctr">
                    <a:lnL w="12700" cap="flat" cmpd="sng" algn="ctr">
                      <a:solidFill>
                        <a:srgbClr val="C3D4CC"/>
                      </a:solidFill>
                      <a:prstDash val="solid"/>
                      <a:round/>
                      <a:headEnd type="none" w="med" len="med"/>
                      <a:tailEnd type="none" w="med" len="med"/>
                    </a:lnL>
                    <a:lnR w="12700" cap="flat" cmpd="sng" algn="ctr">
                      <a:solidFill>
                        <a:srgbClr val="FFFDE6"/>
                      </a:solidFill>
                      <a:prstDash val="solid"/>
                      <a:round/>
                      <a:headEnd type="none" w="med" len="med"/>
                      <a:tailEnd type="none" w="med" len="med"/>
                    </a:lnR>
                    <a:lnT w="12700" cap="flat" cmpd="sng" algn="ctr">
                      <a:solidFill>
                        <a:srgbClr val="C3D4CC"/>
                      </a:solidFill>
                      <a:prstDash val="solid"/>
                      <a:round/>
                      <a:headEnd type="none" w="med" len="med"/>
                      <a:tailEnd type="none" w="med" len="med"/>
                    </a:lnT>
                    <a:lnB w="12700" cap="flat" cmpd="sng" algn="ctr">
                      <a:solidFill>
                        <a:srgbClr val="C3D4CC"/>
                      </a:solidFill>
                      <a:prstDash val="solid"/>
                      <a:round/>
                      <a:headEnd type="none" w="med" len="med"/>
                      <a:tailEnd type="none" w="med" len="med"/>
                    </a:lnB>
                  </a:tcPr>
                </a:tc>
                <a:tc>
                  <a:txBody>
                    <a:bodyPr/>
                    <a:lstStyle/>
                    <a:p>
                      <a:pPr algn="l" indent="0" marL="0">
                        <a:buNone/>
                      </a:pPr>
                      <a:r>
                        <a:rPr lang="en-US" sz="1250" dirty="0">
                          <a:solidFill>
                            <a:srgbClr val="3B4E4E"/>
                          </a:solidFill>
                          <a:latin typeface="Overpass" pitchFamily="34" charset="0"/>
                          <a:ea typeface="Overpass" pitchFamily="34" charset="-122"/>
                          <a:cs typeface="Overpass" pitchFamily="34" charset="-120"/>
                        </a:rPr>
                        <a:t>Regression</a:t>
                      </a:r>
                      <a:endParaRPr lang="en-US" sz="1250" dirty="0">
                        <a:latin typeface="Overpass" charset="0"/>
                        <a:ea typeface="Overpass" charset="0"/>
                        <a:cs typeface="Overpass" charset="0"/>
                      </a:endParaRPr>
                    </a:p>
                  </a:txBody>
                  <a:tcPr marL="160223" marR="160223" marT="6350" marB="6350" anchor="ctr">
                    <a:lnL w="12700" cap="flat" cmpd="sng" algn="ctr">
                      <a:solidFill>
                        <a:srgbClr val="FFFDE6"/>
                      </a:solidFill>
                      <a:prstDash val="solid"/>
                      <a:round/>
                      <a:headEnd type="none" w="med" len="med"/>
                      <a:tailEnd type="none" w="med" len="med"/>
                    </a:lnL>
                    <a:lnR w="12700" cap="flat" cmpd="sng" algn="ctr">
                      <a:solidFill>
                        <a:srgbClr val="FFFDE6"/>
                      </a:solidFill>
                      <a:prstDash val="solid"/>
                      <a:round/>
                      <a:headEnd type="none" w="med" len="med"/>
                      <a:tailEnd type="none" w="med" len="med"/>
                    </a:lnR>
                    <a:lnT w="12700" cap="flat" cmpd="sng" algn="ctr">
                      <a:solidFill>
                        <a:srgbClr val="C3D4CC"/>
                      </a:solidFill>
                      <a:prstDash val="solid"/>
                      <a:round/>
                      <a:headEnd type="none" w="med" len="med"/>
                      <a:tailEnd type="none" w="med" len="med"/>
                    </a:lnT>
                    <a:lnB w="12700" cap="flat" cmpd="sng" algn="ctr">
                      <a:solidFill>
                        <a:srgbClr val="C3D4CC"/>
                      </a:solidFill>
                      <a:prstDash val="solid"/>
                      <a:round/>
                      <a:headEnd type="none" w="med" len="med"/>
                      <a:tailEnd type="none" w="med" len="med"/>
                    </a:lnB>
                  </a:tcPr>
                </a:tc>
                <a:tc>
                  <a:txBody>
                    <a:bodyPr/>
                    <a:lstStyle/>
                    <a:p>
                      <a:pPr algn="l" indent="0" marL="0">
                        <a:buNone/>
                      </a:pPr>
                      <a:r>
                        <a:rPr lang="en-US" sz="1250" dirty="0">
                          <a:solidFill>
                            <a:srgbClr val="3B4E4E"/>
                          </a:solidFill>
                          <a:latin typeface="Overpass" pitchFamily="34" charset="0"/>
                          <a:ea typeface="Overpass" pitchFamily="34" charset="-122"/>
                          <a:cs typeface="Overpass" pitchFamily="34" charset="-120"/>
                        </a:rPr>
                        <a:t>Linear Regression, Random Forest, Gradient Boosting</a:t>
                      </a:r>
                      <a:endParaRPr lang="en-US" sz="1250" dirty="0">
                        <a:latin typeface="Overpass" charset="0"/>
                        <a:ea typeface="Overpass" charset="0"/>
                        <a:cs typeface="Overpass" charset="0"/>
                      </a:endParaRPr>
                    </a:p>
                  </a:txBody>
                  <a:tcPr marL="160223" marR="160223" marT="6350" marB="6350" anchor="ctr">
                    <a:lnL w="12700" cap="flat" cmpd="sng" algn="ctr">
                      <a:solidFill>
                        <a:srgbClr val="FFFDE6"/>
                      </a:solidFill>
                      <a:prstDash val="solid"/>
                      <a:round/>
                      <a:headEnd type="none" w="med" len="med"/>
                      <a:tailEnd type="none" w="med" len="med"/>
                    </a:lnL>
                    <a:lnR w="12700" cap="flat" cmpd="sng" algn="ctr">
                      <a:solidFill>
                        <a:srgbClr val="C3D4CC"/>
                      </a:solidFill>
                      <a:prstDash val="solid"/>
                      <a:round/>
                      <a:headEnd type="none" w="med" len="med"/>
                      <a:tailEnd type="none" w="med" len="med"/>
                    </a:lnR>
                    <a:lnT w="12700" cap="flat" cmpd="sng" algn="ctr">
                      <a:solidFill>
                        <a:srgbClr val="C3D4CC"/>
                      </a:solidFill>
                      <a:prstDash val="solid"/>
                      <a:round/>
                      <a:headEnd type="none" w="med" len="med"/>
                      <a:tailEnd type="none" w="med" len="med"/>
                    </a:lnT>
                    <a:lnB w="12700" cap="flat" cmpd="sng" algn="ctr">
                      <a:solidFill>
                        <a:srgbClr val="C3D4CC"/>
                      </a:solidFill>
                      <a:prstDash val="solid"/>
                      <a:round/>
                      <a:headEnd type="none" w="med" len="med"/>
                      <a:tailEnd type="none" w="med" len="med"/>
                    </a:lnB>
                  </a:tcPr>
                </a:tc>
              </a:tr>
              <a:tr h="709793">
                <a:tc>
                  <a:txBody>
                    <a:bodyPr/>
                    <a:lstStyle/>
                    <a:p>
                      <a:pPr algn="l" indent="0" marL="0">
                        <a:buNone/>
                      </a:pPr>
                      <a:r>
                        <a:rPr lang="en-US" sz="1250" dirty="0">
                          <a:solidFill>
                            <a:srgbClr val="3B4E4E"/>
                          </a:solidFill>
                          <a:latin typeface="Overpass" pitchFamily="34" charset="0"/>
                          <a:ea typeface="Overpass" pitchFamily="34" charset="-122"/>
                          <a:cs typeface="Overpass" pitchFamily="34" charset="-120"/>
                        </a:rPr>
                        <a:t>"Yes or no?" or "Which category?"</a:t>
                      </a:r>
                      <a:endParaRPr lang="en-US" sz="1250" dirty="0">
                        <a:latin typeface="Overpass" charset="0"/>
                        <a:ea typeface="Overpass" charset="0"/>
                        <a:cs typeface="Overpass" charset="0"/>
                      </a:endParaRPr>
                    </a:p>
                  </a:txBody>
                  <a:tcPr marL="160223" marR="160223" marT="6350" marB="6350" anchor="ctr">
                    <a:lnL w="12700" cap="flat" cmpd="sng" algn="ctr">
                      <a:solidFill>
                        <a:srgbClr val="C3D4CC"/>
                      </a:solidFill>
                      <a:prstDash val="solid"/>
                      <a:round/>
                      <a:headEnd type="none" w="med" len="med"/>
                      <a:tailEnd type="none" w="med" len="med"/>
                    </a:lnL>
                    <a:lnR w="12700" cap="flat" cmpd="sng" algn="ctr">
                      <a:solidFill>
                        <a:srgbClr val="FFFDE6"/>
                      </a:solidFill>
                      <a:prstDash val="solid"/>
                      <a:round/>
                      <a:headEnd type="none" w="med" len="med"/>
                      <a:tailEnd type="none" w="med" len="med"/>
                    </a:lnR>
                    <a:lnT w="12700" cap="flat" cmpd="sng" algn="ctr">
                      <a:solidFill>
                        <a:srgbClr val="C3D4CC"/>
                      </a:solidFill>
                      <a:prstDash val="solid"/>
                      <a:round/>
                      <a:headEnd type="none" w="med" len="med"/>
                      <a:tailEnd type="none" w="med" len="med"/>
                    </a:lnT>
                    <a:lnB w="12700" cap="flat" cmpd="sng" algn="ctr">
                      <a:solidFill>
                        <a:srgbClr val="C3D4CC"/>
                      </a:solidFill>
                      <a:prstDash val="solid"/>
                      <a:round/>
                      <a:headEnd type="none" w="med" len="med"/>
                      <a:tailEnd type="none" w="med" len="med"/>
                    </a:lnB>
                  </a:tcPr>
                </a:tc>
                <a:tc>
                  <a:txBody>
                    <a:bodyPr/>
                    <a:lstStyle/>
                    <a:p>
                      <a:pPr algn="l" indent="0" marL="0">
                        <a:buNone/>
                      </a:pPr>
                      <a:r>
                        <a:rPr lang="en-US" sz="1250" dirty="0">
                          <a:solidFill>
                            <a:srgbClr val="3B4E4E"/>
                          </a:solidFill>
                          <a:latin typeface="Overpass" pitchFamily="34" charset="0"/>
                          <a:ea typeface="Overpass" pitchFamily="34" charset="-122"/>
                          <a:cs typeface="Overpass" pitchFamily="34" charset="-120"/>
                        </a:rPr>
                        <a:t>Classification</a:t>
                      </a:r>
                      <a:endParaRPr lang="en-US" sz="1250" dirty="0">
                        <a:latin typeface="Overpass" charset="0"/>
                        <a:ea typeface="Overpass" charset="0"/>
                        <a:cs typeface="Overpass" charset="0"/>
                      </a:endParaRPr>
                    </a:p>
                  </a:txBody>
                  <a:tcPr marL="160223" marR="160223" marT="6350" marB="6350" anchor="ctr">
                    <a:lnL w="12700" cap="flat" cmpd="sng" algn="ctr">
                      <a:solidFill>
                        <a:srgbClr val="FFFDE6"/>
                      </a:solidFill>
                      <a:prstDash val="solid"/>
                      <a:round/>
                      <a:headEnd type="none" w="med" len="med"/>
                      <a:tailEnd type="none" w="med" len="med"/>
                    </a:lnL>
                    <a:lnR w="12700" cap="flat" cmpd="sng" algn="ctr">
                      <a:solidFill>
                        <a:srgbClr val="FFFDE6"/>
                      </a:solidFill>
                      <a:prstDash val="solid"/>
                      <a:round/>
                      <a:headEnd type="none" w="med" len="med"/>
                      <a:tailEnd type="none" w="med" len="med"/>
                    </a:lnR>
                    <a:lnT w="12700" cap="flat" cmpd="sng" algn="ctr">
                      <a:solidFill>
                        <a:srgbClr val="C3D4CC"/>
                      </a:solidFill>
                      <a:prstDash val="solid"/>
                      <a:round/>
                      <a:headEnd type="none" w="med" len="med"/>
                      <a:tailEnd type="none" w="med" len="med"/>
                    </a:lnT>
                    <a:lnB w="12700" cap="flat" cmpd="sng" algn="ctr">
                      <a:solidFill>
                        <a:srgbClr val="C3D4CC"/>
                      </a:solidFill>
                      <a:prstDash val="solid"/>
                      <a:round/>
                      <a:headEnd type="none" w="med" len="med"/>
                      <a:tailEnd type="none" w="med" len="med"/>
                    </a:lnB>
                  </a:tcPr>
                </a:tc>
                <a:tc>
                  <a:txBody>
                    <a:bodyPr/>
                    <a:lstStyle/>
                    <a:p>
                      <a:pPr algn="l" indent="0" marL="0">
                        <a:buNone/>
                      </a:pPr>
                      <a:r>
                        <a:rPr lang="en-US" sz="1250" dirty="0">
                          <a:solidFill>
                            <a:srgbClr val="3B4E4E"/>
                          </a:solidFill>
                          <a:latin typeface="Overpass" pitchFamily="34" charset="0"/>
                          <a:ea typeface="Overpass" pitchFamily="34" charset="-122"/>
                          <a:cs typeface="Overpass" pitchFamily="34" charset="-120"/>
                        </a:rPr>
                        <a:t>Logistic Regression, Decision Tree, Random Forest, SVM, Naive Bayes, KNN</a:t>
                      </a:r>
                      <a:endParaRPr lang="en-US" sz="1250" dirty="0">
                        <a:latin typeface="Overpass" charset="0"/>
                        <a:ea typeface="Overpass" charset="0"/>
                        <a:cs typeface="Overpass" charset="0"/>
                      </a:endParaRPr>
                    </a:p>
                  </a:txBody>
                  <a:tcPr marL="160223" marR="160223" marT="6350" marB="6350" anchor="ctr">
                    <a:lnL w="12700" cap="flat" cmpd="sng" algn="ctr">
                      <a:solidFill>
                        <a:srgbClr val="FFFDE6"/>
                      </a:solidFill>
                      <a:prstDash val="solid"/>
                      <a:round/>
                      <a:headEnd type="none" w="med" len="med"/>
                      <a:tailEnd type="none" w="med" len="med"/>
                    </a:lnL>
                    <a:lnR w="12700" cap="flat" cmpd="sng" algn="ctr">
                      <a:solidFill>
                        <a:srgbClr val="C3D4CC"/>
                      </a:solidFill>
                      <a:prstDash val="solid"/>
                      <a:round/>
                      <a:headEnd type="none" w="med" len="med"/>
                      <a:tailEnd type="none" w="med" len="med"/>
                    </a:lnR>
                    <a:lnT w="12700" cap="flat" cmpd="sng" algn="ctr">
                      <a:solidFill>
                        <a:srgbClr val="C3D4CC"/>
                      </a:solidFill>
                      <a:prstDash val="solid"/>
                      <a:round/>
                      <a:headEnd type="none" w="med" len="med"/>
                      <a:tailEnd type="none" w="med" len="med"/>
                    </a:lnT>
                    <a:lnB w="12700" cap="flat" cmpd="sng" algn="ctr">
                      <a:solidFill>
                        <a:srgbClr val="C3D4CC"/>
                      </a:solidFill>
                      <a:prstDash val="solid"/>
                      <a:round/>
                      <a:headEnd type="none" w="med" len="med"/>
                      <a:tailEnd type="none" w="med" len="med"/>
                    </a:lnB>
                  </a:tcPr>
                </a:tc>
              </a:tr>
              <a:tr h="457486">
                <a:tc>
                  <a:txBody>
                    <a:bodyPr/>
                    <a:lstStyle/>
                    <a:p>
                      <a:pPr algn="l" indent="0" marL="0">
                        <a:buNone/>
                      </a:pPr>
                      <a:r>
                        <a:rPr lang="en-US" sz="1250" dirty="0">
                          <a:solidFill>
                            <a:srgbClr val="3B4E4E"/>
                          </a:solidFill>
                          <a:latin typeface="Overpass" pitchFamily="34" charset="0"/>
                          <a:ea typeface="Overpass" pitchFamily="34" charset="-122"/>
                          <a:cs typeface="Overpass" pitchFamily="34" charset="-120"/>
                        </a:rPr>
                        <a:t>"What natural groups exist?"</a:t>
                      </a:r>
                      <a:endParaRPr lang="en-US" sz="1250" dirty="0">
                        <a:latin typeface="Overpass" charset="0"/>
                        <a:ea typeface="Overpass" charset="0"/>
                        <a:cs typeface="Overpass" charset="0"/>
                      </a:endParaRPr>
                    </a:p>
                  </a:txBody>
                  <a:tcPr marL="160223" marR="160223" marT="6350" marB="6350" anchor="ctr">
                    <a:lnL w="12700" cap="flat" cmpd="sng" algn="ctr">
                      <a:solidFill>
                        <a:srgbClr val="C3D4CC"/>
                      </a:solidFill>
                      <a:prstDash val="solid"/>
                      <a:round/>
                      <a:headEnd type="none" w="med" len="med"/>
                      <a:tailEnd type="none" w="med" len="med"/>
                    </a:lnL>
                    <a:lnR w="12700" cap="flat" cmpd="sng" algn="ctr">
                      <a:solidFill>
                        <a:srgbClr val="FFFDE6"/>
                      </a:solidFill>
                      <a:prstDash val="solid"/>
                      <a:round/>
                      <a:headEnd type="none" w="med" len="med"/>
                      <a:tailEnd type="none" w="med" len="med"/>
                    </a:lnR>
                    <a:lnT w="12700" cap="flat" cmpd="sng" algn="ctr">
                      <a:solidFill>
                        <a:srgbClr val="C3D4CC"/>
                      </a:solidFill>
                      <a:prstDash val="solid"/>
                      <a:round/>
                      <a:headEnd type="none" w="med" len="med"/>
                      <a:tailEnd type="none" w="med" len="med"/>
                    </a:lnT>
                    <a:lnB w="12700" cap="flat" cmpd="sng" algn="ctr">
                      <a:solidFill>
                        <a:srgbClr val="C3D4CC"/>
                      </a:solidFill>
                      <a:prstDash val="solid"/>
                      <a:round/>
                      <a:headEnd type="none" w="med" len="med"/>
                      <a:tailEnd type="none" w="med" len="med"/>
                    </a:lnB>
                  </a:tcPr>
                </a:tc>
                <a:tc>
                  <a:txBody>
                    <a:bodyPr/>
                    <a:lstStyle/>
                    <a:p>
                      <a:pPr algn="l" indent="0" marL="0">
                        <a:buNone/>
                      </a:pPr>
                      <a:r>
                        <a:rPr lang="en-US" sz="1250" dirty="0">
                          <a:solidFill>
                            <a:srgbClr val="3B4E4E"/>
                          </a:solidFill>
                          <a:latin typeface="Overpass" pitchFamily="34" charset="0"/>
                          <a:ea typeface="Overpass" pitchFamily="34" charset="-122"/>
                          <a:cs typeface="Overpass" pitchFamily="34" charset="-120"/>
                        </a:rPr>
                        <a:t>Clustering</a:t>
                      </a:r>
                      <a:endParaRPr lang="en-US" sz="1250" dirty="0">
                        <a:latin typeface="Overpass" charset="0"/>
                        <a:ea typeface="Overpass" charset="0"/>
                        <a:cs typeface="Overpass" charset="0"/>
                      </a:endParaRPr>
                    </a:p>
                  </a:txBody>
                  <a:tcPr marL="160223" marR="160223" marT="6350" marB="6350" anchor="ctr">
                    <a:lnL w="12700" cap="flat" cmpd="sng" algn="ctr">
                      <a:solidFill>
                        <a:srgbClr val="FFFDE6"/>
                      </a:solidFill>
                      <a:prstDash val="solid"/>
                      <a:round/>
                      <a:headEnd type="none" w="med" len="med"/>
                      <a:tailEnd type="none" w="med" len="med"/>
                    </a:lnL>
                    <a:lnR w="12700" cap="flat" cmpd="sng" algn="ctr">
                      <a:solidFill>
                        <a:srgbClr val="FFFDE6"/>
                      </a:solidFill>
                      <a:prstDash val="solid"/>
                      <a:round/>
                      <a:headEnd type="none" w="med" len="med"/>
                      <a:tailEnd type="none" w="med" len="med"/>
                    </a:lnR>
                    <a:lnT w="12700" cap="flat" cmpd="sng" algn="ctr">
                      <a:solidFill>
                        <a:srgbClr val="C3D4CC"/>
                      </a:solidFill>
                      <a:prstDash val="solid"/>
                      <a:round/>
                      <a:headEnd type="none" w="med" len="med"/>
                      <a:tailEnd type="none" w="med" len="med"/>
                    </a:lnT>
                    <a:lnB w="12700" cap="flat" cmpd="sng" algn="ctr">
                      <a:solidFill>
                        <a:srgbClr val="C3D4CC"/>
                      </a:solidFill>
                      <a:prstDash val="solid"/>
                      <a:round/>
                      <a:headEnd type="none" w="med" len="med"/>
                      <a:tailEnd type="none" w="med" len="med"/>
                    </a:lnB>
                  </a:tcPr>
                </a:tc>
                <a:tc>
                  <a:txBody>
                    <a:bodyPr/>
                    <a:lstStyle/>
                    <a:p>
                      <a:pPr algn="l" indent="0" marL="0">
                        <a:buNone/>
                      </a:pPr>
                      <a:r>
                        <a:rPr lang="en-US" sz="1250" dirty="0">
                          <a:solidFill>
                            <a:srgbClr val="3B4E4E"/>
                          </a:solidFill>
                          <a:latin typeface="Overpass" pitchFamily="34" charset="0"/>
                          <a:ea typeface="Overpass" pitchFamily="34" charset="-122"/>
                          <a:cs typeface="Overpass" pitchFamily="34" charset="-120"/>
                        </a:rPr>
                        <a:t>K-Means, Hierarchical Clustering</a:t>
                      </a:r>
                      <a:endParaRPr lang="en-US" sz="1250" dirty="0">
                        <a:latin typeface="Overpass" charset="0"/>
                        <a:ea typeface="Overpass" charset="0"/>
                        <a:cs typeface="Overpass" charset="0"/>
                      </a:endParaRPr>
                    </a:p>
                  </a:txBody>
                  <a:tcPr marL="160223" marR="160223" marT="6350" marB="6350" anchor="ctr">
                    <a:lnL w="12700" cap="flat" cmpd="sng" algn="ctr">
                      <a:solidFill>
                        <a:srgbClr val="FFFDE6"/>
                      </a:solidFill>
                      <a:prstDash val="solid"/>
                      <a:round/>
                      <a:headEnd type="none" w="med" len="med"/>
                      <a:tailEnd type="none" w="med" len="med"/>
                    </a:lnL>
                    <a:lnR w="12700" cap="flat" cmpd="sng" algn="ctr">
                      <a:solidFill>
                        <a:srgbClr val="C3D4CC"/>
                      </a:solidFill>
                      <a:prstDash val="solid"/>
                      <a:round/>
                      <a:headEnd type="none" w="med" len="med"/>
                      <a:tailEnd type="none" w="med" len="med"/>
                    </a:lnR>
                    <a:lnT w="12700" cap="flat" cmpd="sng" algn="ctr">
                      <a:solidFill>
                        <a:srgbClr val="C3D4CC"/>
                      </a:solidFill>
                      <a:prstDash val="solid"/>
                      <a:round/>
                      <a:headEnd type="none" w="med" len="med"/>
                      <a:tailEnd type="none" w="med" len="med"/>
                    </a:lnT>
                    <a:lnB w="12700" cap="flat" cmpd="sng" algn="ctr">
                      <a:solidFill>
                        <a:srgbClr val="C3D4CC"/>
                      </a:solidFill>
                      <a:prstDash val="solid"/>
                      <a:round/>
                      <a:headEnd type="none" w="med" len="med"/>
                      <a:tailEnd type="none" w="med" len="med"/>
                    </a:lnB>
                  </a:tcPr>
                </a:tc>
              </a:tr>
              <a:tr h="457486">
                <a:tc>
                  <a:txBody>
                    <a:bodyPr/>
                    <a:lstStyle/>
                    <a:p>
                      <a:pPr algn="l" indent="0" marL="0">
                        <a:buNone/>
                      </a:pPr>
                      <a:r>
                        <a:rPr lang="en-US" sz="1250" dirty="0">
                          <a:solidFill>
                            <a:srgbClr val="3B4E4E"/>
                          </a:solidFill>
                          <a:latin typeface="Overpass" pitchFamily="34" charset="0"/>
                          <a:ea typeface="Overpass" pitchFamily="34" charset="-122"/>
                          <a:cs typeface="Overpass" pitchFamily="34" charset="-120"/>
                        </a:rPr>
                        <a:t>"Is this unusual?"</a:t>
                      </a:r>
                      <a:endParaRPr lang="en-US" sz="1250" dirty="0">
                        <a:latin typeface="Overpass" charset="0"/>
                        <a:ea typeface="Overpass" charset="0"/>
                        <a:cs typeface="Overpass" charset="0"/>
                      </a:endParaRPr>
                    </a:p>
                  </a:txBody>
                  <a:tcPr marL="160223" marR="160223" marT="6350" marB="6350" anchor="ctr">
                    <a:lnL w="12700" cap="flat" cmpd="sng" algn="ctr">
                      <a:solidFill>
                        <a:srgbClr val="C3D4CC"/>
                      </a:solidFill>
                      <a:prstDash val="solid"/>
                      <a:round/>
                      <a:headEnd type="none" w="med" len="med"/>
                      <a:tailEnd type="none" w="med" len="med"/>
                    </a:lnL>
                    <a:lnR w="12700" cap="flat" cmpd="sng" algn="ctr">
                      <a:solidFill>
                        <a:srgbClr val="FFFDE6"/>
                      </a:solidFill>
                      <a:prstDash val="solid"/>
                      <a:round/>
                      <a:headEnd type="none" w="med" len="med"/>
                      <a:tailEnd type="none" w="med" len="med"/>
                    </a:lnR>
                    <a:lnT w="12700" cap="flat" cmpd="sng" algn="ctr">
                      <a:solidFill>
                        <a:srgbClr val="C3D4CC"/>
                      </a:solidFill>
                      <a:prstDash val="solid"/>
                      <a:round/>
                      <a:headEnd type="none" w="med" len="med"/>
                      <a:tailEnd type="none" w="med" len="med"/>
                    </a:lnT>
                    <a:lnB w="12700" cap="flat" cmpd="sng" algn="ctr">
                      <a:solidFill>
                        <a:srgbClr val="C3D4CC"/>
                      </a:solidFill>
                      <a:prstDash val="solid"/>
                      <a:round/>
                      <a:headEnd type="none" w="med" len="med"/>
                      <a:tailEnd type="none" w="med" len="med"/>
                    </a:lnB>
                  </a:tcPr>
                </a:tc>
                <a:tc>
                  <a:txBody>
                    <a:bodyPr/>
                    <a:lstStyle/>
                    <a:p>
                      <a:pPr algn="l" indent="0" marL="0">
                        <a:buNone/>
                      </a:pPr>
                      <a:r>
                        <a:rPr lang="en-US" sz="1250" dirty="0">
                          <a:solidFill>
                            <a:srgbClr val="3B4E4E"/>
                          </a:solidFill>
                          <a:latin typeface="Overpass" pitchFamily="34" charset="0"/>
                          <a:ea typeface="Overpass" pitchFamily="34" charset="-122"/>
                          <a:cs typeface="Overpass" pitchFamily="34" charset="-120"/>
                        </a:rPr>
                        <a:t>Anomaly Detection</a:t>
                      </a:r>
                      <a:endParaRPr lang="en-US" sz="1250" dirty="0">
                        <a:latin typeface="Overpass" charset="0"/>
                        <a:ea typeface="Overpass" charset="0"/>
                        <a:cs typeface="Overpass" charset="0"/>
                      </a:endParaRPr>
                    </a:p>
                  </a:txBody>
                  <a:tcPr marL="160223" marR="160223" marT="6350" marB="6350" anchor="ctr">
                    <a:lnL w="12700" cap="flat" cmpd="sng" algn="ctr">
                      <a:solidFill>
                        <a:srgbClr val="FFFDE6"/>
                      </a:solidFill>
                      <a:prstDash val="solid"/>
                      <a:round/>
                      <a:headEnd type="none" w="med" len="med"/>
                      <a:tailEnd type="none" w="med" len="med"/>
                    </a:lnL>
                    <a:lnR w="12700" cap="flat" cmpd="sng" algn="ctr">
                      <a:solidFill>
                        <a:srgbClr val="FFFDE6"/>
                      </a:solidFill>
                      <a:prstDash val="solid"/>
                      <a:round/>
                      <a:headEnd type="none" w="med" len="med"/>
                      <a:tailEnd type="none" w="med" len="med"/>
                    </a:lnR>
                    <a:lnT w="12700" cap="flat" cmpd="sng" algn="ctr">
                      <a:solidFill>
                        <a:srgbClr val="C3D4CC"/>
                      </a:solidFill>
                      <a:prstDash val="solid"/>
                      <a:round/>
                      <a:headEnd type="none" w="med" len="med"/>
                      <a:tailEnd type="none" w="med" len="med"/>
                    </a:lnT>
                    <a:lnB w="12700" cap="flat" cmpd="sng" algn="ctr">
                      <a:solidFill>
                        <a:srgbClr val="C3D4CC"/>
                      </a:solidFill>
                      <a:prstDash val="solid"/>
                      <a:round/>
                      <a:headEnd type="none" w="med" len="med"/>
                      <a:tailEnd type="none" w="med" len="med"/>
                    </a:lnB>
                  </a:tcPr>
                </a:tc>
                <a:tc>
                  <a:txBody>
                    <a:bodyPr/>
                    <a:lstStyle/>
                    <a:p>
                      <a:pPr algn="l" indent="0" marL="0">
                        <a:buNone/>
                      </a:pPr>
                      <a:r>
                        <a:rPr lang="en-US" sz="1250" dirty="0">
                          <a:solidFill>
                            <a:srgbClr val="3B4E4E"/>
                          </a:solidFill>
                          <a:latin typeface="Overpass" pitchFamily="34" charset="0"/>
                          <a:ea typeface="Overpass" pitchFamily="34" charset="-122"/>
                          <a:cs typeface="Overpass" pitchFamily="34" charset="-120"/>
                        </a:rPr>
                        <a:t>Isolation Forest</a:t>
                      </a:r>
                      <a:endParaRPr lang="en-US" sz="1250" dirty="0">
                        <a:latin typeface="Overpass" charset="0"/>
                        <a:ea typeface="Overpass" charset="0"/>
                        <a:cs typeface="Overpass" charset="0"/>
                      </a:endParaRPr>
                    </a:p>
                  </a:txBody>
                  <a:tcPr marL="160223" marR="160223" marT="6350" marB="6350" anchor="ctr">
                    <a:lnL w="12700" cap="flat" cmpd="sng" algn="ctr">
                      <a:solidFill>
                        <a:srgbClr val="FFFDE6"/>
                      </a:solidFill>
                      <a:prstDash val="solid"/>
                      <a:round/>
                      <a:headEnd type="none" w="med" len="med"/>
                      <a:tailEnd type="none" w="med" len="med"/>
                    </a:lnL>
                    <a:lnR w="12700" cap="flat" cmpd="sng" algn="ctr">
                      <a:solidFill>
                        <a:srgbClr val="C3D4CC"/>
                      </a:solidFill>
                      <a:prstDash val="solid"/>
                      <a:round/>
                      <a:headEnd type="none" w="med" len="med"/>
                      <a:tailEnd type="none" w="med" len="med"/>
                    </a:lnR>
                    <a:lnT w="12700" cap="flat" cmpd="sng" algn="ctr">
                      <a:solidFill>
                        <a:srgbClr val="C3D4CC"/>
                      </a:solidFill>
                      <a:prstDash val="solid"/>
                      <a:round/>
                      <a:headEnd type="none" w="med" len="med"/>
                      <a:tailEnd type="none" w="med" len="med"/>
                    </a:lnT>
                    <a:lnB w="12700" cap="flat" cmpd="sng" algn="ctr">
                      <a:solidFill>
                        <a:srgbClr val="C3D4CC"/>
                      </a:solidFill>
                      <a:prstDash val="solid"/>
                      <a:round/>
                      <a:headEnd type="none" w="med" len="med"/>
                      <a:tailEnd type="none" w="med" len="med"/>
                    </a:lnB>
                  </a:tcPr>
                </a:tc>
              </a:tr>
              <a:tr h="457486">
                <a:tc>
                  <a:txBody>
                    <a:bodyPr/>
                    <a:lstStyle/>
                    <a:p>
                      <a:pPr algn="l" indent="0" marL="0">
                        <a:buNone/>
                      </a:pPr>
                      <a:r>
                        <a:rPr lang="en-US" sz="1250" dirty="0">
                          <a:solidFill>
                            <a:srgbClr val="3B4E4E"/>
                          </a:solidFill>
                          <a:latin typeface="Overpass" pitchFamily="34" charset="0"/>
                          <a:ea typeface="Overpass" pitchFamily="34" charset="-122"/>
                          <a:cs typeface="Overpass" pitchFamily="34" charset="-120"/>
                        </a:rPr>
                        <a:t>"What is bought together?"</a:t>
                      </a:r>
                      <a:endParaRPr lang="en-US" sz="1250" dirty="0">
                        <a:latin typeface="Overpass" charset="0"/>
                        <a:ea typeface="Overpass" charset="0"/>
                        <a:cs typeface="Overpass" charset="0"/>
                      </a:endParaRPr>
                    </a:p>
                  </a:txBody>
                  <a:tcPr marL="160223" marR="160223" marT="6350" marB="6350" anchor="ctr">
                    <a:lnL w="12700" cap="flat" cmpd="sng" algn="ctr">
                      <a:solidFill>
                        <a:srgbClr val="C3D4CC"/>
                      </a:solidFill>
                      <a:prstDash val="solid"/>
                      <a:round/>
                      <a:headEnd type="none" w="med" len="med"/>
                      <a:tailEnd type="none" w="med" len="med"/>
                    </a:lnL>
                    <a:lnR w="12700" cap="flat" cmpd="sng" algn="ctr">
                      <a:solidFill>
                        <a:srgbClr val="FFFDE6"/>
                      </a:solidFill>
                      <a:prstDash val="solid"/>
                      <a:round/>
                      <a:headEnd type="none" w="med" len="med"/>
                      <a:tailEnd type="none" w="med" len="med"/>
                    </a:lnR>
                    <a:lnT w="12700" cap="flat" cmpd="sng" algn="ctr">
                      <a:solidFill>
                        <a:srgbClr val="C3D4CC"/>
                      </a:solidFill>
                      <a:prstDash val="solid"/>
                      <a:round/>
                      <a:headEnd type="none" w="med" len="med"/>
                      <a:tailEnd type="none" w="med" len="med"/>
                    </a:lnT>
                    <a:lnB w="12700" cap="flat" cmpd="sng" algn="ctr">
                      <a:solidFill>
                        <a:srgbClr val="C3D4CC"/>
                      </a:solidFill>
                      <a:prstDash val="solid"/>
                      <a:round/>
                      <a:headEnd type="none" w="med" len="med"/>
                      <a:tailEnd type="none" w="med" len="med"/>
                    </a:lnB>
                  </a:tcPr>
                </a:tc>
                <a:tc>
                  <a:txBody>
                    <a:bodyPr/>
                    <a:lstStyle/>
                    <a:p>
                      <a:pPr algn="l" indent="0" marL="0">
                        <a:buNone/>
                      </a:pPr>
                      <a:r>
                        <a:rPr lang="en-US" sz="1250" dirty="0">
                          <a:solidFill>
                            <a:srgbClr val="3B4E4E"/>
                          </a:solidFill>
                          <a:latin typeface="Overpass" pitchFamily="34" charset="0"/>
                          <a:ea typeface="Overpass" pitchFamily="34" charset="-122"/>
                          <a:cs typeface="Overpass" pitchFamily="34" charset="-120"/>
                        </a:rPr>
                        <a:t>Association Rules</a:t>
                      </a:r>
                      <a:endParaRPr lang="en-US" sz="1250" dirty="0">
                        <a:latin typeface="Overpass" charset="0"/>
                        <a:ea typeface="Overpass" charset="0"/>
                        <a:cs typeface="Overpass" charset="0"/>
                      </a:endParaRPr>
                    </a:p>
                  </a:txBody>
                  <a:tcPr marL="160223" marR="160223" marT="6350" marB="6350" anchor="ctr">
                    <a:lnL w="12700" cap="flat" cmpd="sng" algn="ctr">
                      <a:solidFill>
                        <a:srgbClr val="FFFDE6"/>
                      </a:solidFill>
                      <a:prstDash val="solid"/>
                      <a:round/>
                      <a:headEnd type="none" w="med" len="med"/>
                      <a:tailEnd type="none" w="med" len="med"/>
                    </a:lnL>
                    <a:lnR w="12700" cap="flat" cmpd="sng" algn="ctr">
                      <a:solidFill>
                        <a:srgbClr val="FFFDE6"/>
                      </a:solidFill>
                      <a:prstDash val="solid"/>
                      <a:round/>
                      <a:headEnd type="none" w="med" len="med"/>
                      <a:tailEnd type="none" w="med" len="med"/>
                    </a:lnR>
                    <a:lnT w="12700" cap="flat" cmpd="sng" algn="ctr">
                      <a:solidFill>
                        <a:srgbClr val="C3D4CC"/>
                      </a:solidFill>
                      <a:prstDash val="solid"/>
                      <a:round/>
                      <a:headEnd type="none" w="med" len="med"/>
                      <a:tailEnd type="none" w="med" len="med"/>
                    </a:lnT>
                    <a:lnB w="12700" cap="flat" cmpd="sng" algn="ctr">
                      <a:solidFill>
                        <a:srgbClr val="C3D4CC"/>
                      </a:solidFill>
                      <a:prstDash val="solid"/>
                      <a:round/>
                      <a:headEnd type="none" w="med" len="med"/>
                      <a:tailEnd type="none" w="med" len="med"/>
                    </a:lnB>
                  </a:tcPr>
                </a:tc>
                <a:tc>
                  <a:txBody>
                    <a:bodyPr/>
                    <a:lstStyle/>
                    <a:p>
                      <a:pPr algn="l" indent="0" marL="0">
                        <a:buNone/>
                      </a:pPr>
                      <a:r>
                        <a:rPr lang="en-US" sz="1250" dirty="0">
                          <a:solidFill>
                            <a:srgbClr val="3B4E4E"/>
                          </a:solidFill>
                          <a:latin typeface="Overpass" pitchFamily="34" charset="0"/>
                          <a:ea typeface="Overpass" pitchFamily="34" charset="-122"/>
                          <a:cs typeface="Overpass" pitchFamily="34" charset="-120"/>
                        </a:rPr>
                        <a:t>Apriori</a:t>
                      </a:r>
                      <a:endParaRPr lang="en-US" sz="1250" dirty="0">
                        <a:latin typeface="Overpass" charset="0"/>
                        <a:ea typeface="Overpass" charset="0"/>
                        <a:cs typeface="Overpass" charset="0"/>
                      </a:endParaRPr>
                    </a:p>
                  </a:txBody>
                  <a:tcPr marL="160223" marR="160223" marT="6350" marB="6350" anchor="ctr">
                    <a:lnL w="12700" cap="flat" cmpd="sng" algn="ctr">
                      <a:solidFill>
                        <a:srgbClr val="FFFDE6"/>
                      </a:solidFill>
                      <a:prstDash val="solid"/>
                      <a:round/>
                      <a:headEnd type="none" w="med" len="med"/>
                      <a:tailEnd type="none" w="med" len="med"/>
                    </a:lnL>
                    <a:lnR w="12700" cap="flat" cmpd="sng" algn="ctr">
                      <a:solidFill>
                        <a:srgbClr val="C3D4CC"/>
                      </a:solidFill>
                      <a:prstDash val="solid"/>
                      <a:round/>
                      <a:headEnd type="none" w="med" len="med"/>
                      <a:tailEnd type="none" w="med" len="med"/>
                    </a:lnR>
                    <a:lnT w="12700" cap="flat" cmpd="sng" algn="ctr">
                      <a:solidFill>
                        <a:srgbClr val="C3D4CC"/>
                      </a:solidFill>
                      <a:prstDash val="solid"/>
                      <a:round/>
                      <a:headEnd type="none" w="med" len="med"/>
                      <a:tailEnd type="none" w="med" len="med"/>
                    </a:lnT>
                    <a:lnB w="12700" cap="flat" cmpd="sng" algn="ctr">
                      <a:solidFill>
                        <a:srgbClr val="C3D4CC"/>
                      </a:solidFill>
                      <a:prstDash val="solid"/>
                      <a:round/>
                      <a:headEnd type="none" w="med" len="med"/>
                      <a:tailEnd type="none" w="med" len="med"/>
                    </a:lnB>
                  </a:tcPr>
                </a:tc>
              </a:tr>
              <a:tr h="457486">
                <a:tc>
                  <a:txBody>
                    <a:bodyPr/>
                    <a:lstStyle/>
                    <a:p>
                      <a:pPr algn="l" indent="0" marL="0">
                        <a:buNone/>
                      </a:pPr>
                      <a:r>
                        <a:rPr lang="en-US" sz="1250" dirty="0">
                          <a:solidFill>
                            <a:srgbClr val="3B4E4E"/>
                          </a:solidFill>
                          <a:latin typeface="Overpass" pitchFamily="34" charset="0"/>
                          <a:ea typeface="Overpass" pitchFamily="34" charset="-122"/>
                          <a:cs typeface="Overpass" pitchFamily="34" charset="-120"/>
                        </a:rPr>
                        <a:t>"What will happen next month?"</a:t>
                      </a:r>
                      <a:endParaRPr lang="en-US" sz="1250" dirty="0">
                        <a:latin typeface="Overpass" charset="0"/>
                        <a:ea typeface="Overpass" charset="0"/>
                        <a:cs typeface="Overpass" charset="0"/>
                      </a:endParaRPr>
                    </a:p>
                  </a:txBody>
                  <a:tcPr marL="160223" marR="160223" marT="6350" marB="6350" anchor="ctr">
                    <a:lnL w="12700" cap="flat" cmpd="sng" algn="ctr">
                      <a:solidFill>
                        <a:srgbClr val="C3D4CC"/>
                      </a:solidFill>
                      <a:prstDash val="solid"/>
                      <a:round/>
                      <a:headEnd type="none" w="med" len="med"/>
                      <a:tailEnd type="none" w="med" len="med"/>
                    </a:lnL>
                    <a:lnR w="12700" cap="flat" cmpd="sng" algn="ctr">
                      <a:solidFill>
                        <a:srgbClr val="FFFDE6"/>
                      </a:solidFill>
                      <a:prstDash val="solid"/>
                      <a:round/>
                      <a:headEnd type="none" w="med" len="med"/>
                      <a:tailEnd type="none" w="med" len="med"/>
                    </a:lnR>
                    <a:lnT w="12700" cap="flat" cmpd="sng" algn="ctr">
                      <a:solidFill>
                        <a:srgbClr val="C3D4CC"/>
                      </a:solidFill>
                      <a:prstDash val="solid"/>
                      <a:round/>
                      <a:headEnd type="none" w="med" len="med"/>
                      <a:tailEnd type="none" w="med" len="med"/>
                    </a:lnT>
                    <a:lnB w="12700" cap="flat" cmpd="sng" algn="ctr">
                      <a:solidFill>
                        <a:srgbClr val="C3D4CC"/>
                      </a:solidFill>
                      <a:prstDash val="solid"/>
                      <a:round/>
                      <a:headEnd type="none" w="med" len="med"/>
                      <a:tailEnd type="none" w="med" len="med"/>
                    </a:lnB>
                  </a:tcPr>
                </a:tc>
                <a:tc>
                  <a:txBody>
                    <a:bodyPr/>
                    <a:lstStyle/>
                    <a:p>
                      <a:pPr algn="l" indent="0" marL="0">
                        <a:buNone/>
                      </a:pPr>
                      <a:r>
                        <a:rPr lang="en-US" sz="1250" dirty="0">
                          <a:solidFill>
                            <a:srgbClr val="3B4E4E"/>
                          </a:solidFill>
                          <a:latin typeface="Overpass" pitchFamily="34" charset="0"/>
                          <a:ea typeface="Overpass" pitchFamily="34" charset="-122"/>
                          <a:cs typeface="Overpass" pitchFamily="34" charset="-120"/>
                        </a:rPr>
                        <a:t>Time Series Forecasting</a:t>
                      </a:r>
                      <a:endParaRPr lang="en-US" sz="1250" dirty="0">
                        <a:latin typeface="Overpass" charset="0"/>
                        <a:ea typeface="Overpass" charset="0"/>
                        <a:cs typeface="Overpass" charset="0"/>
                      </a:endParaRPr>
                    </a:p>
                  </a:txBody>
                  <a:tcPr marL="160223" marR="160223" marT="6350" marB="6350" anchor="ctr">
                    <a:lnL w="12700" cap="flat" cmpd="sng" algn="ctr">
                      <a:solidFill>
                        <a:srgbClr val="FFFDE6"/>
                      </a:solidFill>
                      <a:prstDash val="solid"/>
                      <a:round/>
                      <a:headEnd type="none" w="med" len="med"/>
                      <a:tailEnd type="none" w="med" len="med"/>
                    </a:lnL>
                    <a:lnR w="12700" cap="flat" cmpd="sng" algn="ctr">
                      <a:solidFill>
                        <a:srgbClr val="FFFDE6"/>
                      </a:solidFill>
                      <a:prstDash val="solid"/>
                      <a:round/>
                      <a:headEnd type="none" w="med" len="med"/>
                      <a:tailEnd type="none" w="med" len="med"/>
                    </a:lnR>
                    <a:lnT w="12700" cap="flat" cmpd="sng" algn="ctr">
                      <a:solidFill>
                        <a:srgbClr val="C3D4CC"/>
                      </a:solidFill>
                      <a:prstDash val="solid"/>
                      <a:round/>
                      <a:headEnd type="none" w="med" len="med"/>
                      <a:tailEnd type="none" w="med" len="med"/>
                    </a:lnT>
                    <a:lnB w="12700" cap="flat" cmpd="sng" algn="ctr">
                      <a:solidFill>
                        <a:srgbClr val="C3D4CC"/>
                      </a:solidFill>
                      <a:prstDash val="solid"/>
                      <a:round/>
                      <a:headEnd type="none" w="med" len="med"/>
                      <a:tailEnd type="none" w="med" len="med"/>
                    </a:lnB>
                  </a:tcPr>
                </a:tc>
                <a:tc>
                  <a:txBody>
                    <a:bodyPr/>
                    <a:lstStyle/>
                    <a:p>
                      <a:pPr algn="l" indent="0" marL="0">
                        <a:buNone/>
                      </a:pPr>
                      <a:r>
                        <a:rPr lang="en-US" sz="1250" dirty="0">
                          <a:solidFill>
                            <a:srgbClr val="3B4E4E"/>
                          </a:solidFill>
                          <a:latin typeface="Overpass" pitchFamily="34" charset="0"/>
                          <a:ea typeface="Overpass" pitchFamily="34" charset="-122"/>
                          <a:cs typeface="Overpass" pitchFamily="34" charset="-120"/>
                        </a:rPr>
                        <a:t>ARIMA, Prophet</a:t>
                      </a:r>
                      <a:endParaRPr lang="en-US" sz="1250" dirty="0">
                        <a:latin typeface="Overpass" charset="0"/>
                        <a:ea typeface="Overpass" charset="0"/>
                        <a:cs typeface="Overpass" charset="0"/>
                      </a:endParaRPr>
                    </a:p>
                  </a:txBody>
                  <a:tcPr marL="160223" marR="160223" marT="6350" marB="6350" anchor="ctr">
                    <a:lnL w="12700" cap="flat" cmpd="sng" algn="ctr">
                      <a:solidFill>
                        <a:srgbClr val="FFFDE6"/>
                      </a:solidFill>
                      <a:prstDash val="solid"/>
                      <a:round/>
                      <a:headEnd type="none" w="med" len="med"/>
                      <a:tailEnd type="none" w="med" len="med"/>
                    </a:lnL>
                    <a:lnR w="12700" cap="flat" cmpd="sng" algn="ctr">
                      <a:solidFill>
                        <a:srgbClr val="C3D4CC"/>
                      </a:solidFill>
                      <a:prstDash val="solid"/>
                      <a:round/>
                      <a:headEnd type="none" w="med" len="med"/>
                      <a:tailEnd type="none" w="med" len="med"/>
                    </a:lnR>
                    <a:lnT w="12700" cap="flat" cmpd="sng" algn="ctr">
                      <a:solidFill>
                        <a:srgbClr val="C3D4CC"/>
                      </a:solidFill>
                      <a:prstDash val="solid"/>
                      <a:round/>
                      <a:headEnd type="none" w="med" len="med"/>
                      <a:tailEnd type="none" w="med" len="med"/>
                    </a:lnT>
                    <a:lnB w="12700" cap="flat" cmpd="sng" algn="ctr">
                      <a:solidFill>
                        <a:srgbClr val="C3D4CC"/>
                      </a:solidFill>
                      <a:prstDash val="solid"/>
                      <a:round/>
                      <a:headEnd type="none" w="med" len="med"/>
                      <a:tailEnd type="none" w="med" len="med"/>
                    </a:lnB>
                  </a:tcPr>
                </a:tc>
              </a:tr>
              <a:tr h="457486">
                <a:tc>
                  <a:txBody>
                    <a:bodyPr/>
                    <a:lstStyle/>
                    <a:p>
                      <a:pPr algn="l" indent="0" marL="0">
                        <a:buNone/>
                      </a:pPr>
                      <a:r>
                        <a:rPr lang="en-US" sz="1250" dirty="0">
                          <a:solidFill>
                            <a:srgbClr val="3B4E4E"/>
                          </a:solidFill>
                          <a:latin typeface="Overpass" pitchFamily="34" charset="0"/>
                          <a:ea typeface="Overpass" pitchFamily="34" charset="-122"/>
                          <a:cs typeface="Overpass" pitchFamily="34" charset="-120"/>
                        </a:rPr>
                        <a:t>"What should we suggest to this user?"</a:t>
                      </a:r>
                      <a:endParaRPr lang="en-US" sz="1250" dirty="0">
                        <a:latin typeface="Overpass" charset="0"/>
                        <a:ea typeface="Overpass" charset="0"/>
                        <a:cs typeface="Overpass" charset="0"/>
                      </a:endParaRPr>
                    </a:p>
                  </a:txBody>
                  <a:tcPr marL="160223" marR="160223" marT="6350" marB="6350" anchor="ctr">
                    <a:lnL w="12700" cap="flat" cmpd="sng" algn="ctr">
                      <a:solidFill>
                        <a:srgbClr val="C3D4CC"/>
                      </a:solidFill>
                      <a:prstDash val="solid"/>
                      <a:round/>
                      <a:headEnd type="none" w="med" len="med"/>
                      <a:tailEnd type="none" w="med" len="med"/>
                    </a:lnL>
                    <a:lnR w="12700" cap="flat" cmpd="sng" algn="ctr">
                      <a:solidFill>
                        <a:srgbClr val="FFFDE6"/>
                      </a:solidFill>
                      <a:prstDash val="solid"/>
                      <a:round/>
                      <a:headEnd type="none" w="med" len="med"/>
                      <a:tailEnd type="none" w="med" len="med"/>
                    </a:lnR>
                    <a:lnT w="12700" cap="flat" cmpd="sng" algn="ctr">
                      <a:solidFill>
                        <a:srgbClr val="C3D4CC"/>
                      </a:solidFill>
                      <a:prstDash val="solid"/>
                      <a:round/>
                      <a:headEnd type="none" w="med" len="med"/>
                      <a:tailEnd type="none" w="med" len="med"/>
                    </a:lnT>
                    <a:lnB w="12700" cap="flat" cmpd="sng" algn="ctr">
                      <a:solidFill>
                        <a:srgbClr val="C3D4CC"/>
                      </a:solidFill>
                      <a:prstDash val="solid"/>
                      <a:round/>
                      <a:headEnd type="none" w="med" len="med"/>
                      <a:tailEnd type="none" w="med" len="med"/>
                    </a:lnB>
                  </a:tcPr>
                </a:tc>
                <a:tc>
                  <a:txBody>
                    <a:bodyPr/>
                    <a:lstStyle/>
                    <a:p>
                      <a:pPr algn="l" indent="0" marL="0">
                        <a:buNone/>
                      </a:pPr>
                      <a:r>
                        <a:rPr lang="en-US" sz="1250" dirty="0">
                          <a:solidFill>
                            <a:srgbClr val="3B4E4E"/>
                          </a:solidFill>
                          <a:latin typeface="Overpass" pitchFamily="34" charset="0"/>
                          <a:ea typeface="Overpass" pitchFamily="34" charset="-122"/>
                          <a:cs typeface="Overpass" pitchFamily="34" charset="-120"/>
                        </a:rPr>
                        <a:t>Recommendation</a:t>
                      </a:r>
                      <a:endParaRPr lang="en-US" sz="1250" dirty="0">
                        <a:latin typeface="Overpass" charset="0"/>
                        <a:ea typeface="Overpass" charset="0"/>
                        <a:cs typeface="Overpass" charset="0"/>
                      </a:endParaRPr>
                    </a:p>
                  </a:txBody>
                  <a:tcPr marL="160223" marR="160223" marT="6350" marB="6350" anchor="ctr">
                    <a:lnL w="12700" cap="flat" cmpd="sng" algn="ctr">
                      <a:solidFill>
                        <a:srgbClr val="FFFDE6"/>
                      </a:solidFill>
                      <a:prstDash val="solid"/>
                      <a:round/>
                      <a:headEnd type="none" w="med" len="med"/>
                      <a:tailEnd type="none" w="med" len="med"/>
                    </a:lnL>
                    <a:lnR w="12700" cap="flat" cmpd="sng" algn="ctr">
                      <a:solidFill>
                        <a:srgbClr val="FFFDE6"/>
                      </a:solidFill>
                      <a:prstDash val="solid"/>
                      <a:round/>
                      <a:headEnd type="none" w="med" len="med"/>
                      <a:tailEnd type="none" w="med" len="med"/>
                    </a:lnR>
                    <a:lnT w="12700" cap="flat" cmpd="sng" algn="ctr">
                      <a:solidFill>
                        <a:srgbClr val="C3D4CC"/>
                      </a:solidFill>
                      <a:prstDash val="solid"/>
                      <a:round/>
                      <a:headEnd type="none" w="med" len="med"/>
                      <a:tailEnd type="none" w="med" len="med"/>
                    </a:lnT>
                    <a:lnB w="12700" cap="flat" cmpd="sng" algn="ctr">
                      <a:solidFill>
                        <a:srgbClr val="C3D4CC"/>
                      </a:solidFill>
                      <a:prstDash val="solid"/>
                      <a:round/>
                      <a:headEnd type="none" w="med" len="med"/>
                      <a:tailEnd type="none" w="med" len="med"/>
                    </a:lnB>
                  </a:tcPr>
                </a:tc>
                <a:tc>
                  <a:txBody>
                    <a:bodyPr/>
                    <a:lstStyle/>
                    <a:p>
                      <a:pPr algn="l" indent="0" marL="0">
                        <a:buNone/>
                      </a:pPr>
                      <a:r>
                        <a:rPr lang="en-US" sz="1250" dirty="0">
                          <a:solidFill>
                            <a:srgbClr val="3B4E4E"/>
                          </a:solidFill>
                          <a:latin typeface="Overpass" pitchFamily="34" charset="0"/>
                          <a:ea typeface="Overpass" pitchFamily="34" charset="-122"/>
                          <a:cs typeface="Overpass" pitchFamily="34" charset="-120"/>
                        </a:rPr>
                        <a:t>Collaborative Filtering</a:t>
                      </a:r>
                      <a:endParaRPr lang="en-US" sz="1250" dirty="0">
                        <a:latin typeface="Overpass" charset="0"/>
                        <a:ea typeface="Overpass" charset="0"/>
                        <a:cs typeface="Overpass" charset="0"/>
                      </a:endParaRPr>
                    </a:p>
                  </a:txBody>
                  <a:tcPr marL="160223" marR="160223" marT="6350" marB="6350" anchor="ctr">
                    <a:lnL w="12700" cap="flat" cmpd="sng" algn="ctr">
                      <a:solidFill>
                        <a:srgbClr val="FFFDE6"/>
                      </a:solidFill>
                      <a:prstDash val="solid"/>
                      <a:round/>
                      <a:headEnd type="none" w="med" len="med"/>
                      <a:tailEnd type="none" w="med" len="med"/>
                    </a:lnL>
                    <a:lnR w="12700" cap="flat" cmpd="sng" algn="ctr">
                      <a:solidFill>
                        <a:srgbClr val="C3D4CC"/>
                      </a:solidFill>
                      <a:prstDash val="solid"/>
                      <a:round/>
                      <a:headEnd type="none" w="med" len="med"/>
                      <a:tailEnd type="none" w="med" len="med"/>
                    </a:lnR>
                    <a:lnT w="12700" cap="flat" cmpd="sng" algn="ctr">
                      <a:solidFill>
                        <a:srgbClr val="C3D4CC"/>
                      </a:solidFill>
                      <a:prstDash val="solid"/>
                      <a:round/>
                      <a:headEnd type="none" w="med" len="med"/>
                      <a:tailEnd type="none" w="med" len="med"/>
                    </a:lnT>
                    <a:lnB w="12700" cap="flat" cmpd="sng" algn="ctr">
                      <a:solidFill>
                        <a:srgbClr val="C3D4CC"/>
                      </a:solidFill>
                      <a:prstDash val="solid"/>
                      <a:round/>
                      <a:headEnd type="none" w="med" len="med"/>
                      <a:tailEnd type="none" w="med" len="med"/>
                    </a:lnB>
                  </a:tcPr>
                </a:tc>
              </a:tr>
              <a:tr h="454311">
                <a:tc>
                  <a:txBody>
                    <a:bodyPr/>
                    <a:lstStyle/>
                    <a:p>
                      <a:pPr algn="l" indent="0" marL="0">
                        <a:buNone/>
                      </a:pPr>
                      <a:r>
                        <a:rPr lang="en-US" sz="1250" dirty="0">
                          <a:solidFill>
                            <a:srgbClr val="3B4E4E"/>
                          </a:solidFill>
                          <a:latin typeface="Overpass" pitchFamily="34" charset="0"/>
                          <a:ea typeface="Overpass" pitchFamily="34" charset="-122"/>
                          <a:cs typeface="Overpass" pitchFamily="34" charset="-120"/>
                        </a:rPr>
                        <a:t>"What is in this image?"</a:t>
                      </a:r>
                      <a:endParaRPr lang="en-US" sz="1250" dirty="0">
                        <a:latin typeface="Overpass" charset="0"/>
                        <a:ea typeface="Overpass" charset="0"/>
                        <a:cs typeface="Overpass" charset="0"/>
                      </a:endParaRPr>
                    </a:p>
                  </a:txBody>
                  <a:tcPr marL="160223" marR="160223" marT="6350" marB="6350" anchor="ctr">
                    <a:lnL w="12700" cap="flat" cmpd="sng" algn="ctr">
                      <a:solidFill>
                        <a:srgbClr val="C3D4CC"/>
                      </a:solidFill>
                      <a:prstDash val="solid"/>
                      <a:round/>
                      <a:headEnd type="none" w="med" len="med"/>
                      <a:tailEnd type="none" w="med" len="med"/>
                    </a:lnL>
                    <a:lnR w="12700" cap="flat" cmpd="sng" algn="ctr">
                      <a:solidFill>
                        <a:srgbClr val="FFFDE6"/>
                      </a:solidFill>
                      <a:prstDash val="solid"/>
                      <a:round/>
                      <a:headEnd type="none" w="med" len="med"/>
                      <a:tailEnd type="none" w="med" len="med"/>
                    </a:lnR>
                    <a:lnT w="12700" cap="flat" cmpd="sng" algn="ctr">
                      <a:solidFill>
                        <a:srgbClr val="C3D4CC"/>
                      </a:solidFill>
                      <a:prstDash val="solid"/>
                      <a:round/>
                      <a:headEnd type="none" w="med" len="med"/>
                      <a:tailEnd type="none" w="med" len="med"/>
                    </a:lnT>
                    <a:lnB w="12700" cap="flat" cmpd="sng" algn="ctr">
                      <a:solidFill>
                        <a:srgbClr val="C3D4CC"/>
                      </a:solidFill>
                      <a:prstDash val="solid"/>
                      <a:round/>
                      <a:headEnd type="none" w="med" len="med"/>
                      <a:tailEnd type="none" w="med" len="med"/>
                    </a:lnB>
                  </a:tcPr>
                </a:tc>
                <a:tc>
                  <a:txBody>
                    <a:bodyPr/>
                    <a:lstStyle/>
                    <a:p>
                      <a:pPr algn="l" indent="0" marL="0">
                        <a:buNone/>
                      </a:pPr>
                      <a:r>
                        <a:rPr lang="en-US" sz="1250" dirty="0">
                          <a:solidFill>
                            <a:srgbClr val="3B4E4E"/>
                          </a:solidFill>
                          <a:latin typeface="Overpass" pitchFamily="34" charset="0"/>
                          <a:ea typeface="Overpass" pitchFamily="34" charset="-122"/>
                          <a:cs typeface="Overpass" pitchFamily="34" charset="-120"/>
                        </a:rPr>
                        <a:t>Image Recognition</a:t>
                      </a:r>
                      <a:endParaRPr lang="en-US" sz="1250" dirty="0">
                        <a:latin typeface="Overpass" charset="0"/>
                        <a:ea typeface="Overpass" charset="0"/>
                        <a:cs typeface="Overpass" charset="0"/>
                      </a:endParaRPr>
                    </a:p>
                  </a:txBody>
                  <a:tcPr marL="160223" marR="160223" marT="6350" marB="6350" anchor="ctr">
                    <a:lnL w="12700" cap="flat" cmpd="sng" algn="ctr">
                      <a:solidFill>
                        <a:srgbClr val="FFFDE6"/>
                      </a:solidFill>
                      <a:prstDash val="solid"/>
                      <a:round/>
                      <a:headEnd type="none" w="med" len="med"/>
                      <a:tailEnd type="none" w="med" len="med"/>
                    </a:lnL>
                    <a:lnR w="12700" cap="flat" cmpd="sng" algn="ctr">
                      <a:solidFill>
                        <a:srgbClr val="FFFDE6"/>
                      </a:solidFill>
                      <a:prstDash val="solid"/>
                      <a:round/>
                      <a:headEnd type="none" w="med" len="med"/>
                      <a:tailEnd type="none" w="med" len="med"/>
                    </a:lnR>
                    <a:lnT w="12700" cap="flat" cmpd="sng" algn="ctr">
                      <a:solidFill>
                        <a:srgbClr val="C3D4CC"/>
                      </a:solidFill>
                      <a:prstDash val="solid"/>
                      <a:round/>
                      <a:headEnd type="none" w="med" len="med"/>
                      <a:tailEnd type="none" w="med" len="med"/>
                    </a:lnT>
                    <a:lnB w="12700" cap="flat" cmpd="sng" algn="ctr">
                      <a:solidFill>
                        <a:srgbClr val="C3D4CC"/>
                      </a:solidFill>
                      <a:prstDash val="solid"/>
                      <a:round/>
                      <a:headEnd type="none" w="med" len="med"/>
                      <a:tailEnd type="none" w="med" len="med"/>
                    </a:lnB>
                  </a:tcPr>
                </a:tc>
                <a:tc>
                  <a:txBody>
                    <a:bodyPr/>
                    <a:lstStyle/>
                    <a:p>
                      <a:pPr algn="l" indent="0" marL="0">
                        <a:buNone/>
                      </a:pPr>
                      <a:r>
                        <a:rPr lang="en-US" sz="1250" dirty="0">
                          <a:solidFill>
                            <a:srgbClr val="3B4E4E"/>
                          </a:solidFill>
                          <a:latin typeface="Overpass" pitchFamily="34" charset="0"/>
                          <a:ea typeface="Overpass" pitchFamily="34" charset="-122"/>
                          <a:cs typeface="Overpass" pitchFamily="34" charset="-120"/>
                        </a:rPr>
                        <a:t>Neural Networks (CNN)</a:t>
                      </a:r>
                      <a:endParaRPr lang="en-US" sz="1250" dirty="0">
                        <a:latin typeface="Overpass" charset="0"/>
                        <a:ea typeface="Overpass" charset="0"/>
                        <a:cs typeface="Overpass" charset="0"/>
                      </a:endParaRPr>
                    </a:p>
                  </a:txBody>
                  <a:tcPr marL="160223" marR="160223" marT="6350" marB="6350" anchor="ctr">
                    <a:lnL w="12700" cap="flat" cmpd="sng" algn="ctr">
                      <a:solidFill>
                        <a:srgbClr val="FFFDE6"/>
                      </a:solidFill>
                      <a:prstDash val="solid"/>
                      <a:round/>
                      <a:headEnd type="none" w="med" len="med"/>
                      <a:tailEnd type="none" w="med" len="med"/>
                    </a:lnL>
                    <a:lnR w="12700" cap="flat" cmpd="sng" algn="ctr">
                      <a:solidFill>
                        <a:srgbClr val="C3D4CC"/>
                      </a:solidFill>
                      <a:prstDash val="solid"/>
                      <a:round/>
                      <a:headEnd type="none" w="med" len="med"/>
                      <a:tailEnd type="none" w="med" len="med"/>
                    </a:lnR>
                    <a:lnT w="12700" cap="flat" cmpd="sng" algn="ctr">
                      <a:solidFill>
                        <a:srgbClr val="C3D4CC"/>
                      </a:solidFill>
                      <a:prstDash val="solid"/>
                      <a:round/>
                      <a:headEnd type="none" w="med" len="med"/>
                      <a:tailEnd type="none" w="med" len="med"/>
                    </a:lnT>
                    <a:lnB w="12700" cap="flat" cmpd="sng" algn="ctr">
                      <a:solidFill>
                        <a:srgbClr val="C3D4CC"/>
                      </a:solidFill>
                      <a:prstDash val="solid"/>
                      <a:round/>
                      <a:headEnd type="none" w="med" len="med"/>
                      <a:tailEnd type="none" w="med" len="med"/>
                    </a:lnB>
                  </a:tcPr>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E6"/>
        </a:solidFill>
      </p:bgPr>
    </p:bg>
    <p:spTree>
      <p:nvGrpSpPr>
        <p:cNvPr id="1" name=""/>
        <p:cNvGrpSpPr/>
        <p:nvPr/>
      </p:nvGrpSpPr>
      <p:grpSpPr>
        <a:xfrm>
          <a:off x="0" y="0"/>
          <a:ext cx="0" cy="0"/>
          <a:chOff x="0" y="0"/>
          <a:chExt cx="0" cy="0"/>
        </a:xfrm>
      </p:grpSpPr>
      <p:sp>
        <p:nvSpPr>
          <p:cNvPr id="2" name="Text 0"/>
          <p:cNvSpPr/>
          <p:nvPr/>
        </p:nvSpPr>
        <p:spPr>
          <a:xfrm>
            <a:off x="661475" y="486045"/>
            <a:ext cx="10868745" cy="492621"/>
          </a:xfrm>
          <a:prstGeom prst="rect">
            <a:avLst/>
          </a:prstGeom>
          <a:noFill/>
          <a:ln/>
        </p:spPr>
        <p:txBody>
          <a:bodyPr wrap="none" lIns="0" tIns="0" rIns="0" bIns="0" rtlCol="0" anchor="t"/>
          <a:lstStyle/>
          <a:p>
            <a:pPr algn="l" indent="0" marL="0">
              <a:lnSpc>
                <a:spcPct val="104000"/>
              </a:lnSpc>
              <a:buNone/>
            </a:pPr>
            <a:r>
              <a:rPr lang="en-US" sz="3100" b="1" dirty="0">
                <a:solidFill>
                  <a:srgbClr val="233939"/>
                </a:solidFill>
                <a:latin typeface="Syne Bold" pitchFamily="34" charset="0"/>
                <a:ea typeface="Syne Bold" pitchFamily="34" charset="-122"/>
                <a:cs typeface="Syne Bold" pitchFamily="34" charset="-120"/>
              </a:rPr>
              <a:t>Quick Quiz: Regression or Classification?</a:t>
            </a:r>
            <a:endParaRPr lang="en-US" sz="3100" dirty="0"/>
          </a:p>
        </p:txBody>
      </p:sp>
      <p:sp>
        <p:nvSpPr>
          <p:cNvPr id="3" name="Text 1"/>
          <p:cNvSpPr/>
          <p:nvPr/>
        </p:nvSpPr>
        <p:spPr>
          <a:xfrm>
            <a:off x="661475" y="1275259"/>
            <a:ext cx="10868745" cy="492522"/>
          </a:xfrm>
          <a:prstGeom prst="rect">
            <a:avLst/>
          </a:prstGeom>
          <a:noFill/>
          <a:ln/>
        </p:spPr>
        <p:txBody>
          <a:bodyPr wrap="square" lIns="0" tIns="0" rIns="0" bIns="0" rtlCol="0" anchor="t">
            <a:normAutofit/>
          </a:bodyPr>
          <a:lstStyle/>
          <a:p>
            <a:pPr algn="l" indent="0" marL="0">
              <a:lnSpc>
                <a:spcPct val="130000"/>
              </a:lnSpc>
              <a:buNone/>
            </a:pPr>
            <a:r>
              <a:rPr lang="en-US" sz="1200" b="1" dirty="0">
                <a:solidFill>
                  <a:srgbClr val="3B4E4E"/>
                </a:solidFill>
                <a:latin typeface="Overpass Bold" pitchFamily="34" charset="0"/>
                <a:ea typeface="Overpass Bold" pitchFamily="34" charset="-122"/>
                <a:cs typeface="Overpass Bold" pitchFamily="34" charset="-120"/>
              </a:rPr>
              <a:t>Regression</a:t>
            </a:r>
            <a:pPr algn="l" indent="0" marL="0">
              <a:lnSpc>
                <a:spcPct val="130000"/>
              </a:lnSpc>
              <a:buNone/>
            </a:pPr>
            <a:r>
              <a:rPr lang="en-US" sz="1200" dirty="0">
                <a:solidFill>
                  <a:srgbClr val="3B4E4E"/>
                </a:solidFill>
                <a:latin typeface="Overpass Light" pitchFamily="34" charset="0"/>
                <a:ea typeface="Overpass Light" pitchFamily="34" charset="-122"/>
                <a:cs typeface="Overpass Light" pitchFamily="34" charset="-120"/>
              </a:rPr>
              <a:t> — the answer is a continuous number along a scale. </a:t>
            </a:r>
            <a:pPr algn="l" indent="0" marL="0">
              <a:lnSpc>
                <a:spcPct val="130000"/>
              </a:lnSpc>
              <a:buNone/>
            </a:pPr>
            <a:r>
              <a:rPr lang="en-US" sz="1200" b="1" dirty="0">
                <a:solidFill>
                  <a:srgbClr val="3B4E4E"/>
                </a:solidFill>
                <a:latin typeface="Overpass Bold" pitchFamily="34" charset="0"/>
                <a:ea typeface="Overpass Bold" pitchFamily="34" charset="-122"/>
                <a:cs typeface="Overpass Bold" pitchFamily="34" charset="-120"/>
              </a:rPr>
              <a:t>Classification</a:t>
            </a:r>
            <a:pPr algn="l" indent="0" marL="0">
              <a:lnSpc>
                <a:spcPct val="130000"/>
              </a:lnSpc>
              <a:buNone/>
            </a:pPr>
            <a:r>
              <a:rPr lang="en-US" sz="1200" dirty="0">
                <a:solidFill>
                  <a:srgbClr val="3B4E4E"/>
                </a:solidFill>
                <a:latin typeface="Overpass Light" pitchFamily="34" charset="0"/>
                <a:ea typeface="Overpass Light" pitchFamily="34" charset="-122"/>
                <a:cs typeface="Overpass Light" pitchFamily="34" charset="-120"/>
              </a:rPr>
              <a:t> — the answer is one of a fixed set of named categories. This distinction determines which family of algorithms you will use.</a:t>
            </a:r>
            <a:endParaRPr lang="en-US" sz="1200" dirty="0"/>
          </a:p>
        </p:txBody>
      </p:sp>
      <p:sp>
        <p:nvSpPr>
          <p:cNvPr id="4" name="Text 2"/>
          <p:cNvSpPr/>
          <p:nvPr/>
        </p:nvSpPr>
        <p:spPr>
          <a:xfrm>
            <a:off x="661475" y="2088888"/>
            <a:ext cx="5242092" cy="246261"/>
          </a:xfrm>
          <a:prstGeom prst="rect">
            <a:avLst/>
          </a:prstGeom>
          <a:noFill/>
          <a:ln/>
        </p:spPr>
        <p:txBody>
          <a:bodyPr wrap="none" lIns="0" tIns="0" rIns="0" bIns="0" rtlCol="0" anchor="t"/>
          <a:lstStyle/>
          <a:p>
            <a:pPr algn="l" indent="0" marL="0">
              <a:lnSpc>
                <a:spcPct val="104000"/>
              </a:lnSpc>
              <a:buNone/>
            </a:pPr>
            <a:r>
              <a:rPr lang="en-US" sz="1550" b="1" dirty="0">
                <a:solidFill>
                  <a:srgbClr val="233939"/>
                </a:solidFill>
                <a:latin typeface="Syne Bold" pitchFamily="34" charset="0"/>
                <a:ea typeface="Syne Bold" pitchFamily="34" charset="-122"/>
                <a:cs typeface="Syne Bold" pitchFamily="34" charset="-120"/>
              </a:rPr>
              <a:t>Decide for Each Case</a:t>
            </a:r>
            <a:endParaRPr lang="en-US" sz="1550" dirty="0"/>
          </a:p>
        </p:txBody>
      </p:sp>
      <p:pic>
        <p:nvPicPr>
          <p:cNvPr id="5"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20509" y="2510036"/>
            <a:ext cx="236432" cy="236438"/>
          </a:xfrm>
          <a:prstGeom prst="rect">
            <a:avLst/>
          </a:prstGeom>
        </p:spPr>
      </p:pic>
      <p:sp>
        <p:nvSpPr>
          <p:cNvPr id="6" name="Text 3"/>
          <p:cNvSpPr/>
          <p:nvPr/>
        </p:nvSpPr>
        <p:spPr>
          <a:xfrm>
            <a:off x="1173629" y="2502198"/>
            <a:ext cx="4729937" cy="246261"/>
          </a:xfrm>
          <a:prstGeom prst="rect">
            <a:avLst/>
          </a:prstGeom>
          <a:noFill/>
          <a:ln/>
        </p:spPr>
        <p:txBody>
          <a:bodyPr wrap="none" lIns="0" tIns="0" rIns="0" bIns="0" rtlCol="0" anchor="t"/>
          <a:lstStyle/>
          <a:p>
            <a:pPr algn="l" indent="0" marL="0">
              <a:lnSpc>
                <a:spcPct val="130000"/>
              </a:lnSpc>
              <a:buNone/>
            </a:pPr>
            <a:r>
              <a:rPr lang="en-US" sz="1200" dirty="0">
                <a:solidFill>
                  <a:srgbClr val="3B4E4E"/>
                </a:solidFill>
                <a:latin typeface="Overpass Light" pitchFamily="34" charset="0"/>
                <a:ea typeface="Overpass Light" pitchFamily="34" charset="-122"/>
                <a:cs typeface="Overpass Light" pitchFamily="34" charset="-120"/>
              </a:rPr>
              <a:t>Predict tomorrow's temperature</a:t>
            </a:r>
            <a:endParaRPr lang="en-US" sz="1200" dirty="0"/>
          </a:p>
        </p:txBody>
      </p:sp>
      <p:pic>
        <p:nvPicPr>
          <p:cNvPr id="7"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20509" y="3291185"/>
            <a:ext cx="236432" cy="236438"/>
          </a:xfrm>
          <a:prstGeom prst="rect">
            <a:avLst/>
          </a:prstGeom>
        </p:spPr>
      </p:pic>
      <p:sp>
        <p:nvSpPr>
          <p:cNvPr id="8" name="Text 4"/>
          <p:cNvSpPr/>
          <p:nvPr/>
        </p:nvSpPr>
        <p:spPr>
          <a:xfrm>
            <a:off x="1173629" y="3283347"/>
            <a:ext cx="4729937" cy="246261"/>
          </a:xfrm>
          <a:prstGeom prst="rect">
            <a:avLst/>
          </a:prstGeom>
          <a:noFill/>
          <a:ln/>
        </p:spPr>
        <p:txBody>
          <a:bodyPr wrap="none" lIns="0" tIns="0" rIns="0" bIns="0" rtlCol="0" anchor="t"/>
          <a:lstStyle/>
          <a:p>
            <a:pPr algn="l" indent="0" marL="0">
              <a:lnSpc>
                <a:spcPct val="130000"/>
              </a:lnSpc>
              <a:buNone/>
            </a:pPr>
            <a:r>
              <a:rPr lang="en-US" sz="1200" dirty="0">
                <a:solidFill>
                  <a:srgbClr val="3B4E4E"/>
                </a:solidFill>
                <a:latin typeface="Overpass Light" pitchFamily="34" charset="0"/>
                <a:ea typeface="Overpass Light" pitchFamily="34" charset="-122"/>
                <a:cs typeface="Overpass Light" pitchFamily="34" charset="-120"/>
              </a:rPr>
              <a:t>Predict whether it will rain tomorrow</a:t>
            </a:r>
            <a:endParaRPr lang="en-US" sz="1200" dirty="0"/>
          </a:p>
        </p:txBody>
      </p:sp>
      <p:pic>
        <p:nvPicPr>
          <p:cNvPr id="9"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20509" y="4072334"/>
            <a:ext cx="236432" cy="236438"/>
          </a:xfrm>
          <a:prstGeom prst="rect">
            <a:avLst/>
          </a:prstGeom>
        </p:spPr>
      </p:pic>
      <p:sp>
        <p:nvSpPr>
          <p:cNvPr id="10" name="Text 5"/>
          <p:cNvSpPr/>
          <p:nvPr/>
        </p:nvSpPr>
        <p:spPr>
          <a:xfrm>
            <a:off x="1173629" y="4064496"/>
            <a:ext cx="4729937" cy="246261"/>
          </a:xfrm>
          <a:prstGeom prst="rect">
            <a:avLst/>
          </a:prstGeom>
          <a:noFill/>
          <a:ln/>
        </p:spPr>
        <p:txBody>
          <a:bodyPr wrap="none" lIns="0" tIns="0" rIns="0" bIns="0" rtlCol="0" anchor="t"/>
          <a:lstStyle/>
          <a:p>
            <a:pPr algn="l" indent="0" marL="0">
              <a:lnSpc>
                <a:spcPct val="130000"/>
              </a:lnSpc>
              <a:buNone/>
            </a:pPr>
            <a:r>
              <a:rPr lang="en-US" sz="1200" dirty="0">
                <a:solidFill>
                  <a:srgbClr val="3B4E4E"/>
                </a:solidFill>
                <a:latin typeface="Overpass Light" pitchFamily="34" charset="0"/>
                <a:ea typeface="Overpass Light" pitchFamily="34" charset="-122"/>
                <a:cs typeface="Overpass Light" pitchFamily="34" charset="-120"/>
              </a:rPr>
              <a:t>Predict a student's exam score</a:t>
            </a:r>
            <a:endParaRPr lang="en-US" sz="1200" dirty="0"/>
          </a:p>
        </p:txBody>
      </p:sp>
      <p:pic>
        <p:nvPicPr>
          <p:cNvPr id="11"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720509" y="4853484"/>
            <a:ext cx="236432" cy="236438"/>
          </a:xfrm>
          <a:prstGeom prst="rect">
            <a:avLst/>
          </a:prstGeom>
        </p:spPr>
      </p:pic>
      <p:sp>
        <p:nvSpPr>
          <p:cNvPr id="12" name="Text 6"/>
          <p:cNvSpPr/>
          <p:nvPr/>
        </p:nvSpPr>
        <p:spPr>
          <a:xfrm>
            <a:off x="1173629" y="4845645"/>
            <a:ext cx="4729937" cy="246261"/>
          </a:xfrm>
          <a:prstGeom prst="rect">
            <a:avLst/>
          </a:prstGeom>
          <a:noFill/>
          <a:ln/>
        </p:spPr>
        <p:txBody>
          <a:bodyPr wrap="none" lIns="0" tIns="0" rIns="0" bIns="0" rtlCol="0" anchor="t"/>
          <a:lstStyle/>
          <a:p>
            <a:pPr algn="l" indent="0" marL="0">
              <a:lnSpc>
                <a:spcPct val="130000"/>
              </a:lnSpc>
              <a:buNone/>
            </a:pPr>
            <a:r>
              <a:rPr lang="en-US" sz="1200" dirty="0">
                <a:solidFill>
                  <a:srgbClr val="3B4E4E"/>
                </a:solidFill>
                <a:latin typeface="Overpass Light" pitchFamily="34" charset="0"/>
                <a:ea typeface="Overpass Light" pitchFamily="34" charset="-122"/>
                <a:cs typeface="Overpass Light" pitchFamily="34" charset="-120"/>
              </a:rPr>
              <a:t>Predict whether a student will pass or fail</a:t>
            </a:r>
            <a:endParaRPr lang="en-US" sz="1200" dirty="0"/>
          </a:p>
        </p:txBody>
      </p:sp>
      <p:pic>
        <p:nvPicPr>
          <p:cNvPr id="13" name="Image 4" descr="preencoded.png">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720509" y="5634633"/>
            <a:ext cx="236432" cy="236438"/>
          </a:xfrm>
          <a:prstGeom prst="rect">
            <a:avLst/>
          </a:prstGeom>
        </p:spPr>
      </p:pic>
      <p:sp>
        <p:nvSpPr>
          <p:cNvPr id="14" name="Text 7"/>
          <p:cNvSpPr/>
          <p:nvPr/>
        </p:nvSpPr>
        <p:spPr>
          <a:xfrm>
            <a:off x="1173629" y="5626795"/>
            <a:ext cx="4729937" cy="246261"/>
          </a:xfrm>
          <a:prstGeom prst="rect">
            <a:avLst/>
          </a:prstGeom>
          <a:noFill/>
          <a:ln/>
        </p:spPr>
        <p:txBody>
          <a:bodyPr wrap="none" lIns="0" tIns="0" rIns="0" bIns="0" rtlCol="0" anchor="t"/>
          <a:lstStyle/>
          <a:p>
            <a:pPr algn="l" indent="0" marL="0">
              <a:lnSpc>
                <a:spcPct val="130000"/>
              </a:lnSpc>
              <a:buNone/>
            </a:pPr>
            <a:r>
              <a:rPr lang="en-US" sz="1200" dirty="0">
                <a:solidFill>
                  <a:srgbClr val="3B4E4E"/>
                </a:solidFill>
                <a:latin typeface="Overpass Light" pitchFamily="34" charset="0"/>
                <a:ea typeface="Overpass Light" pitchFamily="34" charset="-122"/>
                <a:cs typeface="Overpass Light" pitchFamily="34" charset="-120"/>
              </a:rPr>
              <a:t>Predict which of three plans a customer will buy</a:t>
            </a:r>
            <a:endParaRPr lang="en-US" sz="1200" dirty="0"/>
          </a:p>
        </p:txBody>
      </p:sp>
      <p:sp>
        <p:nvSpPr>
          <p:cNvPr id="15" name="Text 8"/>
          <p:cNvSpPr/>
          <p:nvPr/>
        </p:nvSpPr>
        <p:spPr>
          <a:xfrm>
            <a:off x="6294478" y="2088888"/>
            <a:ext cx="5242092" cy="246261"/>
          </a:xfrm>
          <a:prstGeom prst="rect">
            <a:avLst/>
          </a:prstGeom>
          <a:noFill/>
          <a:ln/>
        </p:spPr>
        <p:txBody>
          <a:bodyPr wrap="none" lIns="0" tIns="0" rIns="0" bIns="0" rtlCol="0" anchor="t"/>
          <a:lstStyle/>
          <a:p>
            <a:pPr algn="l" indent="0" marL="0">
              <a:lnSpc>
                <a:spcPct val="104000"/>
              </a:lnSpc>
              <a:buNone/>
            </a:pPr>
            <a:r>
              <a:rPr lang="en-US" sz="1550" b="1" dirty="0">
                <a:solidFill>
                  <a:srgbClr val="233939"/>
                </a:solidFill>
                <a:latin typeface="Syne Bold" pitchFamily="34" charset="0"/>
                <a:ea typeface="Syne Bold" pitchFamily="34" charset="-122"/>
                <a:cs typeface="Syne Bold" pitchFamily="34" charset="-120"/>
              </a:rPr>
              <a:t>Answers</a:t>
            </a:r>
            <a:endParaRPr lang="en-US" sz="1550" dirty="0"/>
          </a:p>
        </p:txBody>
      </p:sp>
      <p:sp>
        <p:nvSpPr>
          <p:cNvPr id="16" name="Shape 9"/>
          <p:cNvSpPr/>
          <p:nvPr/>
        </p:nvSpPr>
        <p:spPr>
          <a:xfrm>
            <a:off x="6294478" y="2502198"/>
            <a:ext cx="2545889" cy="1216819"/>
          </a:xfrm>
          <a:prstGeom prst="roundRect">
            <a:avLst>
              <a:gd name="adj" fmla="val 5441"/>
            </a:avLst>
          </a:prstGeom>
          <a:solidFill>
            <a:srgbClr val="DDEEE6"/>
          </a:solidFill>
          <a:ln w="6350">
            <a:solidFill>
              <a:srgbClr val="C3D4CC"/>
            </a:solidFill>
            <a:prstDash val="solid"/>
          </a:ln>
        </p:spPr>
      </p:sp>
      <p:sp>
        <p:nvSpPr>
          <p:cNvPr id="17" name="Text 10"/>
          <p:cNvSpPr/>
          <p:nvPr/>
        </p:nvSpPr>
        <p:spPr>
          <a:xfrm>
            <a:off x="6458384" y="2666107"/>
            <a:ext cx="2218079" cy="246261"/>
          </a:xfrm>
          <a:prstGeom prst="rect">
            <a:avLst/>
          </a:prstGeom>
          <a:noFill/>
          <a:ln/>
        </p:spPr>
        <p:txBody>
          <a:bodyPr wrap="none" lIns="0" tIns="0" rIns="0" bIns="0" rtlCol="0" anchor="t"/>
          <a:lstStyle/>
          <a:p>
            <a:pPr algn="l" indent="0" marL="0">
              <a:lnSpc>
                <a:spcPct val="104000"/>
              </a:lnSpc>
              <a:buNone/>
            </a:pPr>
            <a:r>
              <a:rPr lang="en-US" sz="1550" b="1" dirty="0">
                <a:solidFill>
                  <a:srgbClr val="3B4E4E"/>
                </a:solidFill>
                <a:latin typeface="Syne Bold" pitchFamily="34" charset="0"/>
                <a:ea typeface="Syne Bold" pitchFamily="34" charset="-122"/>
                <a:cs typeface="Syne Bold" pitchFamily="34" charset="-120"/>
              </a:rPr>
              <a:t>1 → Regression</a:t>
            </a:r>
            <a:endParaRPr lang="en-US" sz="1550" dirty="0"/>
          </a:p>
        </p:txBody>
      </p:sp>
      <p:sp>
        <p:nvSpPr>
          <p:cNvPr id="18" name="Text 11"/>
          <p:cNvSpPr/>
          <p:nvPr/>
        </p:nvSpPr>
        <p:spPr>
          <a:xfrm>
            <a:off x="6458384" y="3062585"/>
            <a:ext cx="2218079" cy="492522"/>
          </a:xfrm>
          <a:prstGeom prst="rect">
            <a:avLst/>
          </a:prstGeom>
          <a:noFill/>
          <a:ln/>
        </p:spPr>
        <p:txBody>
          <a:bodyPr wrap="square" lIns="0" tIns="0" rIns="0" bIns="0" rtlCol="0" anchor="t">
            <a:normAutofit/>
          </a:bodyPr>
          <a:lstStyle/>
          <a:p>
            <a:pPr algn="l" indent="0" marL="0">
              <a:lnSpc>
                <a:spcPct val="130000"/>
              </a:lnSpc>
              <a:buNone/>
            </a:pPr>
            <a:r>
              <a:rPr lang="en-US" sz="1200" dirty="0">
                <a:solidFill>
                  <a:srgbClr val="3B4E4E"/>
                </a:solidFill>
                <a:latin typeface="Overpass Light" pitchFamily="34" charset="0"/>
                <a:ea typeface="Overpass Light" pitchFamily="34" charset="-122"/>
                <a:cs typeface="Overpass Light" pitchFamily="34" charset="-120"/>
              </a:rPr>
              <a:t>Temperature is a number on a continuous scale.</a:t>
            </a:r>
            <a:endParaRPr lang="en-US" sz="1200" dirty="0"/>
          </a:p>
        </p:txBody>
      </p:sp>
      <p:sp>
        <p:nvSpPr>
          <p:cNvPr id="19" name="Shape 12"/>
          <p:cNvSpPr/>
          <p:nvPr/>
        </p:nvSpPr>
        <p:spPr>
          <a:xfrm>
            <a:off x="8990581" y="2502198"/>
            <a:ext cx="2545989" cy="1216819"/>
          </a:xfrm>
          <a:prstGeom prst="roundRect">
            <a:avLst>
              <a:gd name="adj" fmla="val 5441"/>
            </a:avLst>
          </a:prstGeom>
          <a:solidFill>
            <a:srgbClr val="DDEEE6"/>
          </a:solidFill>
          <a:ln w="6350">
            <a:solidFill>
              <a:srgbClr val="C3D4CC"/>
            </a:solidFill>
            <a:prstDash val="solid"/>
          </a:ln>
        </p:spPr>
      </p:sp>
      <p:sp>
        <p:nvSpPr>
          <p:cNvPr id="20" name="Text 13"/>
          <p:cNvSpPr/>
          <p:nvPr/>
        </p:nvSpPr>
        <p:spPr>
          <a:xfrm>
            <a:off x="9154487" y="2666107"/>
            <a:ext cx="2218178" cy="246261"/>
          </a:xfrm>
          <a:prstGeom prst="rect">
            <a:avLst/>
          </a:prstGeom>
          <a:noFill/>
          <a:ln/>
        </p:spPr>
        <p:txBody>
          <a:bodyPr wrap="none" lIns="0" tIns="0" rIns="0" bIns="0" rtlCol="0" anchor="t"/>
          <a:lstStyle/>
          <a:p>
            <a:pPr algn="l" indent="0" marL="0">
              <a:lnSpc>
                <a:spcPct val="104000"/>
              </a:lnSpc>
              <a:buNone/>
            </a:pPr>
            <a:r>
              <a:rPr lang="en-US" sz="1550" b="1" dirty="0">
                <a:solidFill>
                  <a:srgbClr val="3B4E4E"/>
                </a:solidFill>
                <a:latin typeface="Syne Bold" pitchFamily="34" charset="0"/>
                <a:ea typeface="Syne Bold" pitchFamily="34" charset="-122"/>
                <a:cs typeface="Syne Bold" pitchFamily="34" charset="-120"/>
              </a:rPr>
              <a:t>2 → Classification</a:t>
            </a:r>
            <a:endParaRPr lang="en-US" sz="1550" dirty="0"/>
          </a:p>
        </p:txBody>
      </p:sp>
      <p:sp>
        <p:nvSpPr>
          <p:cNvPr id="21" name="Text 14"/>
          <p:cNvSpPr/>
          <p:nvPr/>
        </p:nvSpPr>
        <p:spPr>
          <a:xfrm>
            <a:off x="9154487" y="3062585"/>
            <a:ext cx="2218178" cy="492522"/>
          </a:xfrm>
          <a:prstGeom prst="rect">
            <a:avLst/>
          </a:prstGeom>
          <a:noFill/>
          <a:ln/>
        </p:spPr>
        <p:txBody>
          <a:bodyPr wrap="square" lIns="0" tIns="0" rIns="0" bIns="0" rtlCol="0" anchor="t">
            <a:normAutofit/>
          </a:bodyPr>
          <a:lstStyle/>
          <a:p>
            <a:pPr algn="l" indent="0" marL="0">
              <a:lnSpc>
                <a:spcPct val="130000"/>
              </a:lnSpc>
              <a:buNone/>
            </a:pPr>
            <a:r>
              <a:rPr lang="en-US" sz="1200" dirty="0">
                <a:solidFill>
                  <a:srgbClr val="3B4E4E"/>
                </a:solidFill>
                <a:latin typeface="Overpass Light" pitchFamily="34" charset="0"/>
                <a:ea typeface="Overpass Light" pitchFamily="34" charset="-122"/>
                <a:cs typeface="Overpass Light" pitchFamily="34" charset="-120"/>
              </a:rPr>
              <a:t>Rain / No Rain — two discrete categories.</a:t>
            </a:r>
            <a:endParaRPr lang="en-US" sz="1200" dirty="0"/>
          </a:p>
        </p:txBody>
      </p:sp>
      <p:sp>
        <p:nvSpPr>
          <p:cNvPr id="22" name="Shape 15"/>
          <p:cNvSpPr/>
          <p:nvPr/>
        </p:nvSpPr>
        <p:spPr>
          <a:xfrm>
            <a:off x="6294478" y="3869234"/>
            <a:ext cx="2545889" cy="1216819"/>
          </a:xfrm>
          <a:prstGeom prst="roundRect">
            <a:avLst>
              <a:gd name="adj" fmla="val 5441"/>
            </a:avLst>
          </a:prstGeom>
          <a:solidFill>
            <a:srgbClr val="DDEEE6"/>
          </a:solidFill>
          <a:ln w="6350">
            <a:solidFill>
              <a:srgbClr val="C3D4CC"/>
            </a:solidFill>
            <a:prstDash val="solid"/>
          </a:ln>
        </p:spPr>
      </p:sp>
      <p:sp>
        <p:nvSpPr>
          <p:cNvPr id="23" name="Text 16"/>
          <p:cNvSpPr/>
          <p:nvPr/>
        </p:nvSpPr>
        <p:spPr>
          <a:xfrm>
            <a:off x="6458384" y="4033143"/>
            <a:ext cx="2218079" cy="246261"/>
          </a:xfrm>
          <a:prstGeom prst="rect">
            <a:avLst/>
          </a:prstGeom>
          <a:noFill/>
          <a:ln/>
        </p:spPr>
        <p:txBody>
          <a:bodyPr wrap="none" lIns="0" tIns="0" rIns="0" bIns="0" rtlCol="0" anchor="t"/>
          <a:lstStyle/>
          <a:p>
            <a:pPr algn="l" indent="0" marL="0">
              <a:lnSpc>
                <a:spcPct val="104000"/>
              </a:lnSpc>
              <a:buNone/>
            </a:pPr>
            <a:r>
              <a:rPr lang="en-US" sz="1550" b="1" dirty="0">
                <a:solidFill>
                  <a:srgbClr val="3B4E4E"/>
                </a:solidFill>
                <a:latin typeface="Syne Bold" pitchFamily="34" charset="0"/>
                <a:ea typeface="Syne Bold" pitchFamily="34" charset="-122"/>
                <a:cs typeface="Syne Bold" pitchFamily="34" charset="-120"/>
              </a:rPr>
              <a:t>3 → Regression</a:t>
            </a:r>
            <a:endParaRPr lang="en-US" sz="1550" dirty="0"/>
          </a:p>
        </p:txBody>
      </p:sp>
      <p:sp>
        <p:nvSpPr>
          <p:cNvPr id="24" name="Text 17"/>
          <p:cNvSpPr/>
          <p:nvPr/>
        </p:nvSpPr>
        <p:spPr>
          <a:xfrm>
            <a:off x="6458384" y="4429621"/>
            <a:ext cx="2218079" cy="246261"/>
          </a:xfrm>
          <a:prstGeom prst="rect">
            <a:avLst/>
          </a:prstGeom>
          <a:noFill/>
          <a:ln/>
        </p:spPr>
        <p:txBody>
          <a:bodyPr wrap="none" lIns="0" tIns="0" rIns="0" bIns="0" rtlCol="0" anchor="t"/>
          <a:lstStyle/>
          <a:p>
            <a:pPr algn="l" indent="0" marL="0">
              <a:lnSpc>
                <a:spcPct val="130000"/>
              </a:lnSpc>
              <a:buNone/>
            </a:pPr>
            <a:r>
              <a:rPr lang="en-US" sz="1200" dirty="0">
                <a:solidFill>
                  <a:srgbClr val="3B4E4E"/>
                </a:solidFill>
                <a:latin typeface="Overpass Light" pitchFamily="34" charset="0"/>
                <a:ea typeface="Overpass Light" pitchFamily="34" charset="-122"/>
                <a:cs typeface="Overpass Light" pitchFamily="34" charset="-120"/>
              </a:rPr>
              <a:t>A score of 67 or 82 is a number.</a:t>
            </a:r>
            <a:endParaRPr lang="en-US" sz="1200" dirty="0"/>
          </a:p>
        </p:txBody>
      </p:sp>
      <p:sp>
        <p:nvSpPr>
          <p:cNvPr id="25" name="Shape 18"/>
          <p:cNvSpPr/>
          <p:nvPr/>
        </p:nvSpPr>
        <p:spPr>
          <a:xfrm>
            <a:off x="8990581" y="3869234"/>
            <a:ext cx="2545989" cy="1216819"/>
          </a:xfrm>
          <a:prstGeom prst="roundRect">
            <a:avLst>
              <a:gd name="adj" fmla="val 5441"/>
            </a:avLst>
          </a:prstGeom>
          <a:solidFill>
            <a:srgbClr val="DDEEE6"/>
          </a:solidFill>
          <a:ln w="6350">
            <a:solidFill>
              <a:srgbClr val="C3D4CC"/>
            </a:solidFill>
            <a:prstDash val="solid"/>
          </a:ln>
        </p:spPr>
      </p:sp>
      <p:sp>
        <p:nvSpPr>
          <p:cNvPr id="26" name="Text 19"/>
          <p:cNvSpPr/>
          <p:nvPr/>
        </p:nvSpPr>
        <p:spPr>
          <a:xfrm>
            <a:off x="9154487" y="4033143"/>
            <a:ext cx="2218178" cy="246261"/>
          </a:xfrm>
          <a:prstGeom prst="rect">
            <a:avLst/>
          </a:prstGeom>
          <a:noFill/>
          <a:ln/>
        </p:spPr>
        <p:txBody>
          <a:bodyPr wrap="none" lIns="0" tIns="0" rIns="0" bIns="0" rtlCol="0" anchor="t"/>
          <a:lstStyle/>
          <a:p>
            <a:pPr algn="l" indent="0" marL="0">
              <a:lnSpc>
                <a:spcPct val="104000"/>
              </a:lnSpc>
              <a:buNone/>
            </a:pPr>
            <a:r>
              <a:rPr lang="en-US" sz="1550" b="1" dirty="0">
                <a:solidFill>
                  <a:srgbClr val="3B4E4E"/>
                </a:solidFill>
                <a:latin typeface="Syne Bold" pitchFamily="34" charset="0"/>
                <a:ea typeface="Syne Bold" pitchFamily="34" charset="-122"/>
                <a:cs typeface="Syne Bold" pitchFamily="34" charset="-120"/>
              </a:rPr>
              <a:t>4 → Classification</a:t>
            </a:r>
            <a:endParaRPr lang="en-US" sz="1550" dirty="0"/>
          </a:p>
        </p:txBody>
      </p:sp>
      <p:sp>
        <p:nvSpPr>
          <p:cNvPr id="27" name="Text 20"/>
          <p:cNvSpPr/>
          <p:nvPr/>
        </p:nvSpPr>
        <p:spPr>
          <a:xfrm>
            <a:off x="9154487" y="4429621"/>
            <a:ext cx="2218178" cy="492522"/>
          </a:xfrm>
          <a:prstGeom prst="rect">
            <a:avLst/>
          </a:prstGeom>
          <a:noFill/>
          <a:ln/>
        </p:spPr>
        <p:txBody>
          <a:bodyPr wrap="square" lIns="0" tIns="0" rIns="0" bIns="0" rtlCol="0" anchor="t">
            <a:normAutofit/>
          </a:bodyPr>
          <a:lstStyle/>
          <a:p>
            <a:pPr algn="l" indent="0" marL="0">
              <a:lnSpc>
                <a:spcPct val="130000"/>
              </a:lnSpc>
              <a:buNone/>
            </a:pPr>
            <a:r>
              <a:rPr lang="en-US" sz="1200" dirty="0">
                <a:solidFill>
                  <a:srgbClr val="3B4E4E"/>
                </a:solidFill>
                <a:latin typeface="Overpass Light" pitchFamily="34" charset="0"/>
                <a:ea typeface="Overpass Light" pitchFamily="34" charset="-122"/>
                <a:cs typeface="Overpass Light" pitchFamily="34" charset="-120"/>
              </a:rPr>
              <a:t>Pass / Fail — two discrete outcomes.</a:t>
            </a:r>
            <a:endParaRPr lang="en-US" sz="1200" dirty="0"/>
          </a:p>
        </p:txBody>
      </p:sp>
      <p:sp>
        <p:nvSpPr>
          <p:cNvPr id="28" name="Shape 21"/>
          <p:cNvSpPr/>
          <p:nvPr/>
        </p:nvSpPr>
        <p:spPr>
          <a:xfrm>
            <a:off x="6294478" y="5236270"/>
            <a:ext cx="5242092" cy="970558"/>
          </a:xfrm>
          <a:prstGeom prst="roundRect">
            <a:avLst>
              <a:gd name="adj" fmla="val 6822"/>
            </a:avLst>
          </a:prstGeom>
          <a:solidFill>
            <a:srgbClr val="DDEEE6"/>
          </a:solidFill>
          <a:ln w="6350">
            <a:solidFill>
              <a:srgbClr val="C3D4CC"/>
            </a:solidFill>
            <a:prstDash val="solid"/>
          </a:ln>
        </p:spPr>
      </p:sp>
      <p:sp>
        <p:nvSpPr>
          <p:cNvPr id="29" name="Text 22"/>
          <p:cNvSpPr/>
          <p:nvPr/>
        </p:nvSpPr>
        <p:spPr>
          <a:xfrm>
            <a:off x="6458384" y="5400179"/>
            <a:ext cx="4914281" cy="246261"/>
          </a:xfrm>
          <a:prstGeom prst="rect">
            <a:avLst/>
          </a:prstGeom>
          <a:noFill/>
          <a:ln/>
        </p:spPr>
        <p:txBody>
          <a:bodyPr wrap="none" lIns="0" tIns="0" rIns="0" bIns="0" rtlCol="0" anchor="t"/>
          <a:lstStyle/>
          <a:p>
            <a:pPr algn="l" indent="0" marL="0">
              <a:lnSpc>
                <a:spcPct val="104000"/>
              </a:lnSpc>
              <a:buNone/>
            </a:pPr>
            <a:r>
              <a:rPr lang="en-US" sz="1550" b="1" dirty="0">
                <a:solidFill>
                  <a:srgbClr val="3B4E4E"/>
                </a:solidFill>
                <a:latin typeface="Syne Bold" pitchFamily="34" charset="0"/>
                <a:ea typeface="Syne Bold" pitchFamily="34" charset="-122"/>
                <a:cs typeface="Syne Bold" pitchFamily="34" charset="-120"/>
              </a:rPr>
              <a:t>5 → Classification</a:t>
            </a:r>
            <a:endParaRPr lang="en-US" sz="1550" dirty="0"/>
          </a:p>
        </p:txBody>
      </p:sp>
      <p:sp>
        <p:nvSpPr>
          <p:cNvPr id="30" name="Text 23"/>
          <p:cNvSpPr/>
          <p:nvPr/>
        </p:nvSpPr>
        <p:spPr>
          <a:xfrm>
            <a:off x="6458384" y="5796657"/>
            <a:ext cx="4914281" cy="246261"/>
          </a:xfrm>
          <a:prstGeom prst="rect">
            <a:avLst/>
          </a:prstGeom>
          <a:noFill/>
          <a:ln/>
        </p:spPr>
        <p:txBody>
          <a:bodyPr wrap="none" lIns="0" tIns="0" rIns="0" bIns="0" rtlCol="0" anchor="t"/>
          <a:lstStyle/>
          <a:p>
            <a:pPr algn="l" indent="0" marL="0">
              <a:lnSpc>
                <a:spcPct val="130000"/>
              </a:lnSpc>
              <a:buNone/>
            </a:pPr>
            <a:r>
              <a:rPr lang="en-US" sz="1200" dirty="0">
                <a:solidFill>
                  <a:srgbClr val="3B4E4E"/>
                </a:solidFill>
                <a:latin typeface="Overpass Light" pitchFamily="34" charset="0"/>
                <a:ea typeface="Overpass Light" pitchFamily="34" charset="-122"/>
                <a:cs typeface="Overpass Light" pitchFamily="34" charset="-120"/>
              </a:rPr>
              <a:t>Three named plan options — a multi-class problem.</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E6"/>
        </a:solidFill>
      </p:bgPr>
    </p:bg>
    <p:spTree>
      <p:nvGrpSpPr>
        <p:cNvPr id="1" name=""/>
        <p:cNvGrpSpPr/>
        <p:nvPr/>
      </p:nvGrpSpPr>
      <p:grpSpPr>
        <a:xfrm>
          <a:off x="0" y="0"/>
          <a:ext cx="0" cy="0"/>
          <a:chOff x="0" y="0"/>
          <a:chExt cx="0" cy="0"/>
        </a:xfrm>
      </p:grpSpPr>
      <p:sp>
        <p:nvSpPr>
          <p:cNvPr id="2" name="Shape 0"/>
          <p:cNvSpPr/>
          <p:nvPr/>
        </p:nvSpPr>
        <p:spPr>
          <a:xfrm>
            <a:off x="661475" y="454819"/>
            <a:ext cx="680326" cy="137319"/>
          </a:xfrm>
          <a:prstGeom prst="roundRect">
            <a:avLst>
              <a:gd name="adj" fmla="val 22131"/>
            </a:avLst>
          </a:prstGeom>
          <a:solidFill>
            <a:srgbClr val="DDEEE6"/>
          </a:solidFill>
          <a:ln/>
        </p:spPr>
      </p:sp>
      <p:sp>
        <p:nvSpPr>
          <p:cNvPr id="3" name="Text 1"/>
          <p:cNvSpPr/>
          <p:nvPr/>
        </p:nvSpPr>
        <p:spPr>
          <a:xfrm>
            <a:off x="715647" y="481905"/>
            <a:ext cx="1181567" cy="83145"/>
          </a:xfrm>
          <a:prstGeom prst="rect">
            <a:avLst/>
          </a:prstGeom>
          <a:noFill/>
          <a:ln/>
        </p:spPr>
        <p:txBody>
          <a:bodyPr wrap="none" lIns="0" tIns="0" rIns="0" bIns="0" rtlCol="0" anchor="t"/>
          <a:lstStyle/>
          <a:p>
            <a:pPr algn="l" indent="0" marL="0">
              <a:lnSpc>
                <a:spcPct val="96000"/>
              </a:lnSpc>
              <a:buNone/>
            </a:pPr>
            <a:r>
              <a:rPr lang="en-US" sz="550" dirty="0">
                <a:solidFill>
                  <a:srgbClr val="3B4E4E"/>
                </a:solidFill>
                <a:latin typeface="Overpass Light" pitchFamily="34" charset="0"/>
                <a:ea typeface="Overpass Light" pitchFamily="34" charset="-122"/>
                <a:cs typeface="Overpass Light" pitchFamily="34" charset="-120"/>
              </a:rPr>
              <a:t>BUSINESS CASE 1</a:t>
            </a:r>
            <a:endParaRPr lang="en-US" sz="550" dirty="0"/>
          </a:p>
        </p:txBody>
      </p:sp>
      <p:sp>
        <p:nvSpPr>
          <p:cNvPr id="4" name="Text 2"/>
          <p:cNvSpPr/>
          <p:nvPr/>
        </p:nvSpPr>
        <p:spPr>
          <a:xfrm>
            <a:off x="661475" y="614242"/>
            <a:ext cx="10868745" cy="282575"/>
          </a:xfrm>
          <a:prstGeom prst="rect">
            <a:avLst/>
          </a:prstGeom>
          <a:noFill/>
          <a:ln/>
        </p:spPr>
        <p:txBody>
          <a:bodyPr wrap="none" lIns="0" tIns="0" rIns="0" bIns="0" rtlCol="0" anchor="t"/>
          <a:lstStyle/>
          <a:p>
            <a:pPr algn="l" indent="0" marL="0">
              <a:lnSpc>
                <a:spcPct val="104000"/>
              </a:lnSpc>
              <a:buNone/>
            </a:pPr>
            <a:r>
              <a:rPr lang="en-US" sz="1750" b="1" dirty="0">
                <a:solidFill>
                  <a:srgbClr val="233939"/>
                </a:solidFill>
                <a:latin typeface="Syne Bold" pitchFamily="34" charset="0"/>
                <a:ea typeface="Syne Bold" pitchFamily="34" charset="-122"/>
                <a:cs typeface="Syne Bold" pitchFamily="34" charset="-120"/>
              </a:rPr>
              <a:t>Estimating House Prices</a:t>
            </a:r>
            <a:endParaRPr lang="en-US" sz="1750" dirty="0"/>
          </a:p>
        </p:txBody>
      </p:sp>
      <p:pic>
        <p:nvPicPr>
          <p:cNvPr id="5" name="Image 0" descr="preencoded.png">    </p:cNvPr>
          <p:cNvPicPr>
            <a:picLocks noChangeAspect="1"/>
          </p:cNvPicPr>
          <p:nvPr/>
        </p:nvPicPr>
        <p:blipFill>
          <a:blip r:embed="rId1"/>
          <a:stretch>
            <a:fillRect/>
          </a:stretch>
        </p:blipFill>
        <p:spPr>
          <a:xfrm>
            <a:off x="661475" y="1024136"/>
            <a:ext cx="5324044" cy="5324177"/>
          </a:xfrm>
          <a:prstGeom prst="rect">
            <a:avLst/>
          </a:prstGeom>
        </p:spPr>
      </p:pic>
      <p:sp>
        <p:nvSpPr>
          <p:cNvPr id="6" name="Text 3"/>
          <p:cNvSpPr/>
          <p:nvPr/>
        </p:nvSpPr>
        <p:spPr>
          <a:xfrm>
            <a:off x="6212526" y="1017984"/>
            <a:ext cx="5324044" cy="141387"/>
          </a:xfrm>
          <a:prstGeom prst="rect">
            <a:avLst/>
          </a:prstGeom>
          <a:noFill/>
          <a:ln/>
        </p:spPr>
        <p:txBody>
          <a:bodyPr wrap="none" lIns="0" tIns="0" rIns="0" bIns="0" rtlCol="0" anchor="t"/>
          <a:lstStyle/>
          <a:p>
            <a:pPr algn="l" indent="0" marL="0">
              <a:lnSpc>
                <a:spcPct val="104000"/>
              </a:lnSpc>
              <a:buNone/>
            </a:pPr>
            <a:r>
              <a:rPr lang="en-US" sz="850" b="1" dirty="0">
                <a:solidFill>
                  <a:srgbClr val="233939"/>
                </a:solidFill>
                <a:latin typeface="Syne Bold" pitchFamily="34" charset="0"/>
                <a:ea typeface="Syne Bold" pitchFamily="34" charset="-122"/>
                <a:cs typeface="Syne Bold" pitchFamily="34" charset="-120"/>
              </a:rPr>
              <a:t>The Situation</a:t>
            </a:r>
            <a:endParaRPr lang="en-US" sz="850" dirty="0"/>
          </a:p>
        </p:txBody>
      </p:sp>
      <p:sp>
        <p:nvSpPr>
          <p:cNvPr id="7" name="Text 4"/>
          <p:cNvSpPr/>
          <p:nvPr/>
        </p:nvSpPr>
        <p:spPr>
          <a:xfrm>
            <a:off x="6212526" y="1208782"/>
            <a:ext cx="5324044" cy="223838"/>
          </a:xfrm>
          <a:prstGeom prst="rect">
            <a:avLst/>
          </a:prstGeom>
          <a:noFill/>
          <a:ln/>
        </p:spPr>
        <p:txBody>
          <a:bodyPr wrap="square" lIns="0" tIns="0" rIns="0" bIns="0" rtlCol="0" anchor="t">
            <a:normAutofit/>
          </a:bodyPr>
          <a:lstStyle/>
          <a:p>
            <a:pPr algn="l" indent="0" marL="0">
              <a:lnSpc>
                <a:spcPct val="103000"/>
              </a:lnSpc>
              <a:buNone/>
            </a:pPr>
            <a:r>
              <a:rPr lang="en-US" sz="700" dirty="0">
                <a:solidFill>
                  <a:srgbClr val="3B4E4E"/>
                </a:solidFill>
                <a:latin typeface="Overpass Light" pitchFamily="34" charset="0"/>
                <a:ea typeface="Overpass Light" pitchFamily="34" charset="-122"/>
                <a:cs typeface="Overpass Light" pitchFamily="34" charset="-120"/>
              </a:rPr>
              <a:t>A property website wants to display an estimated price for every listed house — automatically, at scale, without a human valuer reviewing each listing.</a:t>
            </a:r>
            <a:endParaRPr lang="en-US" sz="700" dirty="0"/>
          </a:p>
        </p:txBody>
      </p:sp>
      <p:sp>
        <p:nvSpPr>
          <p:cNvPr id="8" name="Text 5"/>
          <p:cNvSpPr/>
          <p:nvPr/>
        </p:nvSpPr>
        <p:spPr>
          <a:xfrm>
            <a:off x="6212526" y="1482030"/>
            <a:ext cx="5324044" cy="141387"/>
          </a:xfrm>
          <a:prstGeom prst="rect">
            <a:avLst/>
          </a:prstGeom>
          <a:noFill/>
          <a:ln/>
        </p:spPr>
        <p:txBody>
          <a:bodyPr wrap="none" lIns="0" tIns="0" rIns="0" bIns="0" rtlCol="0" anchor="t"/>
          <a:lstStyle/>
          <a:p>
            <a:pPr algn="l" indent="0" marL="0">
              <a:lnSpc>
                <a:spcPct val="104000"/>
              </a:lnSpc>
              <a:buNone/>
            </a:pPr>
            <a:r>
              <a:rPr lang="en-US" sz="850" b="1" dirty="0">
                <a:solidFill>
                  <a:srgbClr val="233939"/>
                </a:solidFill>
                <a:latin typeface="Syne Bold" pitchFamily="34" charset="0"/>
                <a:ea typeface="Syne Bold" pitchFamily="34" charset="-122"/>
                <a:cs typeface="Syne Bold" pitchFamily="34" charset="-120"/>
              </a:rPr>
              <a:t>Thinking It Through</a:t>
            </a:r>
            <a:endParaRPr lang="en-US" sz="850" dirty="0"/>
          </a:p>
        </p:txBody>
      </p:sp>
      <p:pic>
        <p:nvPicPr>
          <p:cNvPr id="9"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199826" y="1666280"/>
            <a:ext cx="2643816" cy="440035"/>
          </a:xfrm>
          <a:prstGeom prst="rect">
            <a:avLst/>
          </a:prstGeom>
        </p:spPr>
      </p:pic>
      <p:sp>
        <p:nvSpPr>
          <p:cNvPr id="10" name="Text 6"/>
          <p:cNvSpPr/>
          <p:nvPr/>
        </p:nvSpPr>
        <p:spPr>
          <a:xfrm>
            <a:off x="6328311" y="1678980"/>
            <a:ext cx="2515331" cy="141387"/>
          </a:xfrm>
          <a:prstGeom prst="rect">
            <a:avLst/>
          </a:prstGeom>
          <a:noFill/>
          <a:ln/>
        </p:spPr>
        <p:txBody>
          <a:bodyPr wrap="none" lIns="0" tIns="0" rIns="0" bIns="0" rtlCol="0" anchor="t"/>
          <a:lstStyle/>
          <a:p>
            <a:pPr algn="l" indent="0" marL="0">
              <a:lnSpc>
                <a:spcPct val="104000"/>
              </a:lnSpc>
              <a:buNone/>
            </a:pPr>
            <a:r>
              <a:rPr lang="en-US" sz="850" b="1" dirty="0">
                <a:solidFill>
                  <a:srgbClr val="3B4E4E"/>
                </a:solidFill>
                <a:latin typeface="Syne Bold" pitchFamily="34" charset="0"/>
                <a:ea typeface="Syne Bold" pitchFamily="34" charset="-122"/>
                <a:cs typeface="Syne Bold" pitchFamily="34" charset="-120"/>
              </a:rPr>
              <a:t>Past data with correct answers?</a:t>
            </a:r>
            <a:endParaRPr lang="en-US" sz="850" dirty="0"/>
          </a:p>
        </p:txBody>
      </p:sp>
      <p:sp>
        <p:nvSpPr>
          <p:cNvPr id="11" name="Text 7"/>
          <p:cNvSpPr/>
          <p:nvPr/>
        </p:nvSpPr>
        <p:spPr>
          <a:xfrm>
            <a:off x="6328311" y="1869777"/>
            <a:ext cx="2515331" cy="223838"/>
          </a:xfrm>
          <a:prstGeom prst="rect">
            <a:avLst/>
          </a:prstGeom>
          <a:noFill/>
          <a:ln/>
        </p:spPr>
        <p:txBody>
          <a:bodyPr wrap="square" lIns="0" tIns="0" rIns="0" bIns="0" rtlCol="0" anchor="t">
            <a:normAutofit/>
          </a:bodyPr>
          <a:lstStyle/>
          <a:p>
            <a:pPr algn="l" indent="0" marL="0">
              <a:lnSpc>
                <a:spcPct val="103000"/>
              </a:lnSpc>
              <a:buNone/>
            </a:pPr>
            <a:r>
              <a:rPr lang="en-US" sz="700" dirty="0">
                <a:solidFill>
                  <a:srgbClr val="3B4E4E"/>
                </a:solidFill>
                <a:latin typeface="Overpass Light" pitchFamily="34" charset="0"/>
                <a:ea typeface="Overpass Light" pitchFamily="34" charset="-122"/>
                <a:cs typeface="Overpass Light" pitchFamily="34" charset="-120"/>
              </a:rPr>
              <a:t>Yes — historical sales records include the actual price achieved for each property.</a:t>
            </a:r>
            <a:endParaRPr lang="en-US" sz="700" dirty="0"/>
          </a:p>
        </p:txBody>
      </p:sp>
      <p:pic>
        <p:nvPicPr>
          <p:cNvPr id="12" name="Image 2" descr="preencoded.png">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892754" y="1666280"/>
            <a:ext cx="2643816" cy="440035"/>
          </a:xfrm>
          <a:prstGeom prst="rect">
            <a:avLst/>
          </a:prstGeom>
        </p:spPr>
      </p:pic>
      <p:sp>
        <p:nvSpPr>
          <p:cNvPr id="13" name="Text 8"/>
          <p:cNvSpPr/>
          <p:nvPr/>
        </p:nvSpPr>
        <p:spPr>
          <a:xfrm>
            <a:off x="9021239" y="1678980"/>
            <a:ext cx="2515331" cy="141387"/>
          </a:xfrm>
          <a:prstGeom prst="rect">
            <a:avLst/>
          </a:prstGeom>
          <a:noFill/>
          <a:ln/>
        </p:spPr>
        <p:txBody>
          <a:bodyPr wrap="none" lIns="0" tIns="0" rIns="0" bIns="0" rtlCol="0" anchor="t"/>
          <a:lstStyle/>
          <a:p>
            <a:pPr algn="l" indent="0" marL="0">
              <a:lnSpc>
                <a:spcPct val="104000"/>
              </a:lnSpc>
              <a:buNone/>
            </a:pPr>
            <a:r>
              <a:rPr lang="en-US" sz="850" b="1" dirty="0">
                <a:solidFill>
                  <a:srgbClr val="3B4E4E"/>
                </a:solidFill>
                <a:latin typeface="Syne Bold" pitchFamily="34" charset="0"/>
                <a:ea typeface="Syne Bold" pitchFamily="34" charset="-122"/>
                <a:cs typeface="Syne Bold" pitchFamily="34" charset="-120"/>
              </a:rPr>
              <a:t>Number or category?</a:t>
            </a:r>
            <a:endParaRPr lang="en-US" sz="850" dirty="0"/>
          </a:p>
        </p:txBody>
      </p:sp>
      <p:sp>
        <p:nvSpPr>
          <p:cNvPr id="14" name="Text 9"/>
          <p:cNvSpPr/>
          <p:nvPr/>
        </p:nvSpPr>
        <p:spPr>
          <a:xfrm>
            <a:off x="9021239" y="1869777"/>
            <a:ext cx="2515331" cy="111919"/>
          </a:xfrm>
          <a:prstGeom prst="rect">
            <a:avLst/>
          </a:prstGeom>
          <a:noFill/>
          <a:ln/>
        </p:spPr>
        <p:txBody>
          <a:bodyPr wrap="none" lIns="0" tIns="0" rIns="0" bIns="0" rtlCol="0" anchor="t"/>
          <a:lstStyle/>
          <a:p>
            <a:pPr algn="l" indent="0" marL="0">
              <a:lnSpc>
                <a:spcPct val="103000"/>
              </a:lnSpc>
              <a:buNone/>
            </a:pPr>
            <a:r>
              <a:rPr lang="en-US" sz="700" dirty="0">
                <a:solidFill>
                  <a:srgbClr val="3B4E4E"/>
                </a:solidFill>
                <a:latin typeface="Overpass Light" pitchFamily="34" charset="0"/>
                <a:ea typeface="Overpass Light" pitchFamily="34" charset="-122"/>
                <a:cs typeface="Overpass Light" pitchFamily="34" charset="-120"/>
              </a:rPr>
              <a:t>A number — the predicted price in rupees or dollars.</a:t>
            </a:r>
            <a:endParaRPr lang="en-US" sz="700" dirty="0"/>
          </a:p>
        </p:txBody>
      </p:sp>
      <p:pic>
        <p:nvPicPr>
          <p:cNvPr id="15" name="Image 3" descr="preencoded.png">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199826" y="2179836"/>
            <a:ext cx="5336744" cy="440035"/>
          </a:xfrm>
          <a:prstGeom prst="rect">
            <a:avLst/>
          </a:prstGeom>
        </p:spPr>
      </p:pic>
      <p:sp>
        <p:nvSpPr>
          <p:cNvPr id="16" name="Text 10"/>
          <p:cNvSpPr/>
          <p:nvPr/>
        </p:nvSpPr>
        <p:spPr>
          <a:xfrm>
            <a:off x="6328311" y="2192536"/>
            <a:ext cx="5208259" cy="141387"/>
          </a:xfrm>
          <a:prstGeom prst="rect">
            <a:avLst/>
          </a:prstGeom>
          <a:noFill/>
          <a:ln/>
        </p:spPr>
        <p:txBody>
          <a:bodyPr wrap="none" lIns="0" tIns="0" rIns="0" bIns="0" rtlCol="0" anchor="t"/>
          <a:lstStyle/>
          <a:p>
            <a:pPr algn="l" indent="0" marL="0">
              <a:lnSpc>
                <a:spcPct val="104000"/>
              </a:lnSpc>
              <a:buNone/>
            </a:pPr>
            <a:r>
              <a:rPr lang="en-US" sz="850" b="1" dirty="0">
                <a:solidFill>
                  <a:srgbClr val="3B4E4E"/>
                </a:solidFill>
                <a:latin typeface="Syne Bold" pitchFamily="34" charset="0"/>
                <a:ea typeface="Syne Bold" pitchFamily="34" charset="-122"/>
                <a:cs typeface="Syne Bold" pitchFamily="34" charset="-120"/>
              </a:rPr>
              <a:t>Problem type</a:t>
            </a:r>
            <a:endParaRPr lang="en-US" sz="850" dirty="0"/>
          </a:p>
        </p:txBody>
      </p:sp>
      <p:sp>
        <p:nvSpPr>
          <p:cNvPr id="17" name="Text 11"/>
          <p:cNvSpPr/>
          <p:nvPr/>
        </p:nvSpPr>
        <p:spPr>
          <a:xfrm>
            <a:off x="6328311" y="2383334"/>
            <a:ext cx="5208259" cy="223838"/>
          </a:xfrm>
          <a:prstGeom prst="rect">
            <a:avLst/>
          </a:prstGeom>
          <a:noFill/>
          <a:ln/>
        </p:spPr>
        <p:txBody>
          <a:bodyPr wrap="square" lIns="0" tIns="0" rIns="0" bIns="0" rtlCol="0" anchor="t">
            <a:normAutofit/>
          </a:bodyPr>
          <a:lstStyle/>
          <a:p>
            <a:pPr algn="l" indent="0" marL="0">
              <a:lnSpc>
                <a:spcPct val="103000"/>
              </a:lnSpc>
              <a:buNone/>
            </a:pPr>
            <a:r>
              <a:rPr lang="en-US" sz="700" b="1" dirty="0">
                <a:solidFill>
                  <a:srgbClr val="3B4E4E"/>
                </a:solidFill>
                <a:latin typeface="Overpass Bold" pitchFamily="34" charset="0"/>
                <a:ea typeface="Overpass Bold" pitchFamily="34" charset="-122"/>
                <a:cs typeface="Overpass Bold" pitchFamily="34" charset="-120"/>
              </a:rPr>
              <a:t>Supervised regression.</a:t>
            </a:r>
            <a:pPr algn="l" indent="0" marL="0">
              <a:lnSpc>
                <a:spcPct val="103000"/>
              </a:lnSpc>
              <a:buNone/>
            </a:pPr>
            <a:r>
              <a:rPr lang="en-US" sz="700" dirty="0">
                <a:solidFill>
                  <a:srgbClr val="3B4E4E"/>
                </a:solidFill>
                <a:latin typeface="Overpass Light" pitchFamily="34" charset="0"/>
                <a:ea typeface="Overpass Light" pitchFamily="34" charset="-122"/>
                <a:cs typeface="Overpass Light" pitchFamily="34" charset="-120"/>
              </a:rPr>
              <a:t> Features include: area (sq ft), number of bedrooms, location/pin code, building age, floor number, amenities.</a:t>
            </a:r>
            <a:endParaRPr lang="en-US" sz="700" dirty="0"/>
          </a:p>
        </p:txBody>
      </p:sp>
      <p:sp>
        <p:nvSpPr>
          <p:cNvPr id="18" name="Text 12"/>
          <p:cNvSpPr/>
          <p:nvPr/>
        </p:nvSpPr>
        <p:spPr>
          <a:xfrm>
            <a:off x="6212526" y="2662734"/>
            <a:ext cx="5324044" cy="141387"/>
          </a:xfrm>
          <a:prstGeom prst="rect">
            <a:avLst/>
          </a:prstGeom>
          <a:noFill/>
          <a:ln/>
        </p:spPr>
        <p:txBody>
          <a:bodyPr wrap="none" lIns="0" tIns="0" rIns="0" bIns="0" rtlCol="0" anchor="t"/>
          <a:lstStyle/>
          <a:p>
            <a:pPr algn="l" indent="0" marL="0">
              <a:lnSpc>
                <a:spcPct val="104000"/>
              </a:lnSpc>
              <a:buNone/>
            </a:pPr>
            <a:r>
              <a:rPr lang="en-US" sz="850" b="1" dirty="0">
                <a:solidFill>
                  <a:srgbClr val="233939"/>
                </a:solidFill>
                <a:latin typeface="Syne Bold" pitchFamily="34" charset="0"/>
                <a:ea typeface="Syne Bold" pitchFamily="34" charset="-122"/>
                <a:cs typeface="Syne Bold" pitchFamily="34" charset="-120"/>
              </a:rPr>
              <a:t>Algorithm to Start With: Linear Regression</a:t>
            </a:r>
            <a:endParaRPr lang="en-US" sz="850" dirty="0"/>
          </a:p>
        </p:txBody>
      </p:sp>
      <p:sp>
        <p:nvSpPr>
          <p:cNvPr id="19" name="Shape 13"/>
          <p:cNvSpPr/>
          <p:nvPr/>
        </p:nvSpPr>
        <p:spPr>
          <a:xfrm>
            <a:off x="6212526" y="2859683"/>
            <a:ext cx="5324044" cy="245864"/>
          </a:xfrm>
          <a:prstGeom prst="roundRect">
            <a:avLst>
              <a:gd name="adj" fmla="val 15451"/>
            </a:avLst>
          </a:prstGeom>
          <a:solidFill>
            <a:srgbClr val="DDEEE6"/>
          </a:solidFill>
          <a:ln/>
        </p:spPr>
      </p:sp>
      <p:pic>
        <p:nvPicPr>
          <p:cNvPr id="20" name="Image 4" descr="preencoded.png">    </p:cNvPr>
          <p:cNvPicPr>
            <a:picLocks noChangeAspect="1"/>
          </p:cNvPicPr>
          <p:nvPr/>
        </p:nvPicPr>
        <p:blipFill>
          <a:blip r:embed="rId8"/>
          <a:stretch>
            <a:fillRect/>
          </a:stretch>
        </p:blipFill>
        <p:spPr>
          <a:xfrm>
            <a:off x="6302912" y="2931616"/>
            <a:ext cx="113007" cy="90388"/>
          </a:xfrm>
          <a:prstGeom prst="rect">
            <a:avLst/>
          </a:prstGeom>
        </p:spPr>
      </p:pic>
      <p:sp>
        <p:nvSpPr>
          <p:cNvPr id="21" name="Text 14"/>
          <p:cNvSpPr/>
          <p:nvPr/>
        </p:nvSpPr>
        <p:spPr>
          <a:xfrm>
            <a:off x="6506305" y="2926655"/>
            <a:ext cx="5549464" cy="111919"/>
          </a:xfrm>
          <a:prstGeom prst="rect">
            <a:avLst/>
          </a:prstGeom>
          <a:noFill/>
          <a:ln/>
        </p:spPr>
        <p:txBody>
          <a:bodyPr wrap="none" lIns="0" tIns="0" rIns="0" bIns="0" rtlCol="0" anchor="t"/>
          <a:lstStyle/>
          <a:p>
            <a:pPr algn="l" indent="0" marL="0">
              <a:lnSpc>
                <a:spcPct val="103000"/>
              </a:lnSpc>
              <a:buNone/>
            </a:pPr>
            <a:r>
              <a:rPr lang="en-US" sz="700" b="1" dirty="0">
                <a:solidFill>
                  <a:srgbClr val="000000"/>
                </a:solidFill>
                <a:latin typeface="Overpass Bold" pitchFamily="34" charset="0"/>
                <a:ea typeface="Overpass Bold" pitchFamily="34" charset="-122"/>
                <a:cs typeface="Overpass Bold" pitchFamily="34" charset="-120"/>
              </a:rPr>
              <a:t>Class discussion:</a:t>
            </a:r>
            <a:pPr algn="l" indent="0" marL="0">
              <a:lnSpc>
                <a:spcPct val="103000"/>
              </a:lnSpc>
              <a:buNone/>
            </a:pPr>
            <a:r>
              <a:rPr lang="en-US" sz="700" dirty="0">
                <a:solidFill>
                  <a:srgbClr val="000000"/>
                </a:solidFill>
                <a:latin typeface="Overpass Light" pitchFamily="34" charset="0"/>
                <a:ea typeface="Overpass Light" pitchFamily="34" charset="-122"/>
                <a:cs typeface="Overpass Light" pitchFamily="34" charset="-120"/>
              </a:rPr>
              <a:t> Which single feature do you think affects price the most in your city — area, location, or something else?</a:t>
            </a:r>
            <a:endParaRPr lang="en-US" sz="7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E6"/>
        </a:solidFill>
      </p:bgPr>
    </p:bg>
    <p:spTree>
      <p:nvGrpSpPr>
        <p:cNvPr id="1" name=""/>
        <p:cNvGrpSpPr/>
        <p:nvPr/>
      </p:nvGrpSpPr>
      <p:grpSpPr>
        <a:xfrm>
          <a:off x="0" y="0"/>
          <a:ext cx="0" cy="0"/>
          <a:chOff x="0" y="0"/>
          <a:chExt cx="0" cy="0"/>
        </a:xfrm>
      </p:grpSpPr>
      <p:sp>
        <p:nvSpPr>
          <p:cNvPr id="2" name="Text 0"/>
          <p:cNvSpPr/>
          <p:nvPr/>
        </p:nvSpPr>
        <p:spPr>
          <a:xfrm>
            <a:off x="661475" y="487875"/>
            <a:ext cx="10868745" cy="436066"/>
          </a:xfrm>
          <a:prstGeom prst="rect">
            <a:avLst/>
          </a:prstGeom>
          <a:noFill/>
          <a:ln/>
        </p:spPr>
        <p:txBody>
          <a:bodyPr wrap="none" lIns="0" tIns="0" rIns="0" bIns="0" rtlCol="0" anchor="t"/>
          <a:lstStyle/>
          <a:p>
            <a:pPr algn="l" indent="0" marL="0">
              <a:lnSpc>
                <a:spcPct val="104000"/>
              </a:lnSpc>
              <a:buNone/>
            </a:pPr>
            <a:r>
              <a:rPr lang="en-US" sz="2700" b="1" dirty="0">
                <a:solidFill>
                  <a:srgbClr val="233939"/>
                </a:solidFill>
                <a:latin typeface="Syne Bold" pitchFamily="34" charset="0"/>
                <a:ea typeface="Syne Bold" pitchFamily="34" charset="-122"/>
                <a:cs typeface="Syne Bold" pitchFamily="34" charset="-120"/>
              </a:rPr>
              <a:t>Algorithm: Linear Regression</a:t>
            </a:r>
            <a:endParaRPr lang="en-US" sz="2700" dirty="0"/>
          </a:p>
        </p:txBody>
      </p:sp>
      <p:sp>
        <p:nvSpPr>
          <p:cNvPr id="3" name="Text 1"/>
          <p:cNvSpPr/>
          <p:nvPr/>
        </p:nvSpPr>
        <p:spPr>
          <a:xfrm>
            <a:off x="661475" y="1154112"/>
            <a:ext cx="11478330" cy="205879"/>
          </a:xfrm>
          <a:prstGeom prst="rect">
            <a:avLst/>
          </a:prstGeom>
          <a:noFill/>
          <a:ln/>
        </p:spPr>
        <p:txBody>
          <a:bodyPr wrap="none" lIns="0" tIns="0" rIns="0" bIns="0" rtlCol="0" anchor="t"/>
          <a:lstStyle/>
          <a:p>
            <a:pPr algn="l" indent="0" marL="0">
              <a:lnSpc>
                <a:spcPct val="123000"/>
              </a:lnSpc>
              <a:buNone/>
            </a:pPr>
            <a:r>
              <a:rPr lang="en-US" sz="1050" dirty="0">
                <a:solidFill>
                  <a:srgbClr val="3B4E4E"/>
                </a:solidFill>
                <a:latin typeface="Overpass Light" pitchFamily="34" charset="0"/>
                <a:ea typeface="Overpass Light" pitchFamily="34" charset="-122"/>
                <a:cs typeface="Overpass Light" pitchFamily="34" charset="-120"/>
              </a:rPr>
              <a:t>Linear regression is the simplest and most interpretable algorithm for predicting a number. It is almost always the right place to start for any regression problem.</a:t>
            </a:r>
            <a:endParaRPr lang="en-US" sz="1050" dirty="0"/>
          </a:p>
        </p:txBody>
      </p:sp>
      <p:sp>
        <p:nvSpPr>
          <p:cNvPr id="4" name="Text 2"/>
          <p:cNvSpPr/>
          <p:nvPr/>
        </p:nvSpPr>
        <p:spPr>
          <a:xfrm>
            <a:off x="661475" y="1610122"/>
            <a:ext cx="5264217" cy="217984"/>
          </a:xfrm>
          <a:prstGeom prst="rect">
            <a:avLst/>
          </a:prstGeom>
          <a:noFill/>
          <a:ln/>
        </p:spPr>
        <p:txBody>
          <a:bodyPr wrap="none" lIns="0" tIns="0" rIns="0" bIns="0" rtlCol="0" anchor="t"/>
          <a:lstStyle/>
          <a:p>
            <a:pPr algn="l" indent="0" marL="0">
              <a:lnSpc>
                <a:spcPct val="104000"/>
              </a:lnSpc>
              <a:buNone/>
            </a:pPr>
            <a:r>
              <a:rPr lang="en-US" sz="1350" b="1" dirty="0">
                <a:solidFill>
                  <a:srgbClr val="233939"/>
                </a:solidFill>
                <a:latin typeface="Syne Bold" pitchFamily="34" charset="0"/>
                <a:ea typeface="Syne Bold" pitchFamily="34" charset="-122"/>
                <a:cs typeface="Syne Bold" pitchFamily="34" charset="-120"/>
              </a:rPr>
              <a:t>How It Works</a:t>
            </a:r>
            <a:endParaRPr lang="en-US" sz="1350" dirty="0"/>
          </a:p>
        </p:txBody>
      </p:sp>
      <p:sp>
        <p:nvSpPr>
          <p:cNvPr id="5" name="Text 3"/>
          <p:cNvSpPr/>
          <p:nvPr/>
        </p:nvSpPr>
        <p:spPr>
          <a:xfrm>
            <a:off x="661475" y="1945779"/>
            <a:ext cx="5264217" cy="1447205"/>
          </a:xfrm>
          <a:prstGeom prst="rect">
            <a:avLst/>
          </a:prstGeom>
          <a:noFill/>
          <a:ln/>
        </p:spPr>
        <p:txBody>
          <a:bodyPr wrap="square" lIns="0" tIns="0" rIns="0" bIns="0" rtlCol="0" anchor="t">
            <a:normAutofit/>
          </a:bodyPr>
          <a:lstStyle/>
          <a:p>
            <a:pPr algn="l" indent="0" marL="0">
              <a:lnSpc>
                <a:spcPct val="123000"/>
              </a:lnSpc>
              <a:spcAft>
                <a:spcPts val="800"/>
              </a:spcAft>
              <a:buNone/>
            </a:pPr>
            <a:r>
              <a:rPr lang="en-US" sz="1050" dirty="0">
                <a:solidFill>
                  <a:srgbClr val="3B4E4E"/>
                </a:solidFill>
                <a:latin typeface="Overpass Light" pitchFamily="34" charset="0"/>
                <a:ea typeface="Overpass Light" pitchFamily="34" charset="-122"/>
                <a:cs typeface="Overpass Light" pitchFamily="34" charset="-120"/>
              </a:rPr>
              <a:t>The model predicts the target by multiplying each feature by a learned weight and adding all the results together:</a:t>
            </a:r>
            <a:endParaRPr lang="en-US" sz="1050" dirty="0"/>
          </a:p>
          <a:p>
            <a:pPr algn="l" indent="0" marL="0">
              <a:lnSpc>
                <a:spcPct val="123000"/>
              </a:lnSpc>
              <a:spcAft>
                <a:spcPts val="800"/>
              </a:spcAft>
              <a:buNone/>
            </a:pPr>
            <a:r>
              <a:rPr lang="en-US" sz="1050" b="1" dirty="0">
                <a:solidFill>
                  <a:srgbClr val="3B4E4E"/>
                </a:solidFill>
                <a:latin typeface="Overpass Bold" pitchFamily="34" charset="0"/>
                <a:ea typeface="Overpass Bold" pitchFamily="34" charset="-122"/>
                <a:cs typeface="Overpass Bold" pitchFamily="34" charset="-120"/>
              </a:rPr>
              <a:t>Price = (w₁ × area) + (w₂ × bedrooms) + (w₃ × location score) + … + base value</a:t>
            </a:r>
            <a:endParaRPr lang="en-US" sz="1050" dirty="0"/>
          </a:p>
          <a:p>
            <a:pPr algn="l" indent="0" marL="0">
              <a:lnSpc>
                <a:spcPct val="123000"/>
              </a:lnSpc>
              <a:buNone/>
            </a:pPr>
            <a:r>
              <a:rPr lang="en-US" sz="1050" dirty="0">
                <a:solidFill>
                  <a:srgbClr val="3B4E4E"/>
                </a:solidFill>
                <a:latin typeface="Overpass Light" pitchFamily="34" charset="0"/>
                <a:ea typeface="Overpass Light" pitchFamily="34" charset="-122"/>
                <a:cs typeface="Overpass Light" pitchFamily="34" charset="-120"/>
              </a:rPr>
              <a:t>During training, the algorithm adjusts the weights repeatedly until the gap between predicted and actual prices is as small as possible. This gap-minimisation process is called </a:t>
            </a:r>
            <a:pPr algn="l" indent="0" marL="0">
              <a:lnSpc>
                <a:spcPct val="123000"/>
              </a:lnSpc>
              <a:buNone/>
            </a:pPr>
            <a:r>
              <a:rPr lang="en-US" sz="1050" b="1" dirty="0">
                <a:solidFill>
                  <a:srgbClr val="3B4E4E"/>
                </a:solidFill>
                <a:latin typeface="Overpass Bold" pitchFamily="34" charset="0"/>
                <a:ea typeface="Overpass Bold" pitchFamily="34" charset="-122"/>
                <a:cs typeface="Overpass Bold" pitchFamily="34" charset="-120"/>
              </a:rPr>
              <a:t>least squares optimisation</a:t>
            </a:r>
            <a:pPr algn="l" indent="0" marL="0">
              <a:lnSpc>
                <a:spcPct val="123000"/>
              </a:lnSpc>
              <a:buNone/>
            </a:pPr>
            <a:r>
              <a:rPr lang="en-US" sz="1050" dirty="0">
                <a:solidFill>
                  <a:srgbClr val="3B4E4E"/>
                </a:solidFill>
                <a:latin typeface="Overpass Light" pitchFamily="34" charset="0"/>
                <a:ea typeface="Overpass Light" pitchFamily="34" charset="-122"/>
                <a:cs typeface="Overpass Light" pitchFamily="34" charset="-120"/>
              </a:rPr>
              <a:t>.</a:t>
            </a:r>
            <a:endParaRPr lang="en-US" sz="1050" dirty="0"/>
          </a:p>
        </p:txBody>
      </p:sp>
      <p:sp>
        <p:nvSpPr>
          <p:cNvPr id="6" name="Text 4"/>
          <p:cNvSpPr/>
          <p:nvPr/>
        </p:nvSpPr>
        <p:spPr>
          <a:xfrm>
            <a:off x="661475" y="3510657"/>
            <a:ext cx="5264217" cy="217984"/>
          </a:xfrm>
          <a:prstGeom prst="rect">
            <a:avLst/>
          </a:prstGeom>
          <a:noFill/>
          <a:ln/>
        </p:spPr>
        <p:txBody>
          <a:bodyPr wrap="none" lIns="0" tIns="0" rIns="0" bIns="0" rtlCol="0" anchor="t"/>
          <a:lstStyle/>
          <a:p>
            <a:pPr algn="l" indent="0" marL="0">
              <a:lnSpc>
                <a:spcPct val="104000"/>
              </a:lnSpc>
              <a:buNone/>
            </a:pPr>
            <a:r>
              <a:rPr lang="en-US" sz="1350" b="1" dirty="0">
                <a:solidFill>
                  <a:srgbClr val="233939"/>
                </a:solidFill>
                <a:latin typeface="Syne Bold" pitchFamily="34" charset="0"/>
                <a:ea typeface="Syne Bold" pitchFamily="34" charset="-122"/>
                <a:cs typeface="Syne Bold" pitchFamily="34" charset="-120"/>
              </a:rPr>
              <a:t>What to Expect as Output</a:t>
            </a:r>
            <a:endParaRPr lang="en-US" sz="1350" dirty="0"/>
          </a:p>
        </p:txBody>
      </p:sp>
      <p:sp>
        <p:nvSpPr>
          <p:cNvPr id="7" name="Text 5"/>
          <p:cNvSpPr/>
          <p:nvPr/>
        </p:nvSpPr>
        <p:spPr>
          <a:xfrm>
            <a:off x="661475" y="3846314"/>
            <a:ext cx="5264217" cy="617637"/>
          </a:xfrm>
          <a:prstGeom prst="rect">
            <a:avLst/>
          </a:prstGeom>
          <a:noFill/>
          <a:ln/>
        </p:spPr>
        <p:txBody>
          <a:bodyPr wrap="square" lIns="0" tIns="0" rIns="0" bIns="0" rtlCol="0" anchor="t">
            <a:normAutofit/>
          </a:bodyPr>
          <a:lstStyle/>
          <a:p>
            <a:pPr algn="l" indent="0" marL="0">
              <a:lnSpc>
                <a:spcPct val="123000"/>
              </a:lnSpc>
              <a:buNone/>
            </a:pPr>
            <a:r>
              <a:rPr lang="en-US" sz="1050" dirty="0">
                <a:solidFill>
                  <a:srgbClr val="3B4E4E"/>
                </a:solidFill>
                <a:latin typeface="Overpass Light" pitchFamily="34" charset="0"/>
                <a:ea typeface="Overpass Light" pitchFamily="34" charset="-122"/>
                <a:cs typeface="Overpass Light" pitchFamily="34" charset="-120"/>
              </a:rPr>
              <a:t>A predicted number for each new property. Alongside the prediction, the weights themselves reveal which features drive prices up or down — and by how much. This interpretability is a major business advantage.</a:t>
            </a:r>
            <a:endParaRPr lang="en-US" sz="1050" dirty="0"/>
          </a:p>
        </p:txBody>
      </p:sp>
      <p:sp>
        <p:nvSpPr>
          <p:cNvPr id="8" name="Text 6"/>
          <p:cNvSpPr/>
          <p:nvPr/>
        </p:nvSpPr>
        <p:spPr>
          <a:xfrm>
            <a:off x="6272353" y="1610122"/>
            <a:ext cx="5264217" cy="217984"/>
          </a:xfrm>
          <a:prstGeom prst="rect">
            <a:avLst/>
          </a:prstGeom>
          <a:noFill/>
          <a:ln/>
        </p:spPr>
        <p:txBody>
          <a:bodyPr wrap="none" lIns="0" tIns="0" rIns="0" bIns="0" rtlCol="0" anchor="t"/>
          <a:lstStyle/>
          <a:p>
            <a:pPr algn="l" indent="0" marL="0">
              <a:lnSpc>
                <a:spcPct val="104000"/>
              </a:lnSpc>
              <a:buNone/>
            </a:pPr>
            <a:r>
              <a:rPr lang="en-US" sz="1350" b="1" dirty="0">
                <a:solidFill>
                  <a:srgbClr val="233939"/>
                </a:solidFill>
                <a:latin typeface="Syne Bold" pitchFamily="34" charset="0"/>
                <a:ea typeface="Syne Bold" pitchFamily="34" charset="-122"/>
                <a:cs typeface="Syne Bold" pitchFamily="34" charset="-120"/>
              </a:rPr>
              <a:t>Strengths and Limits</a:t>
            </a:r>
            <a:endParaRPr lang="en-US" sz="1350" dirty="0"/>
          </a:p>
        </p:txBody>
      </p:sp>
      <p:pic>
        <p:nvPicPr>
          <p:cNvPr id="9"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272353" y="1960562"/>
            <a:ext cx="5264217" cy="1064518"/>
          </a:xfrm>
          <a:prstGeom prst="rect">
            <a:avLst/>
          </a:prstGeom>
        </p:spPr>
      </p:pic>
      <p:sp>
        <p:nvSpPr>
          <p:cNvPr id="10" name="Text 7"/>
          <p:cNvSpPr/>
          <p:nvPr/>
        </p:nvSpPr>
        <p:spPr>
          <a:xfrm>
            <a:off x="6507099" y="2119114"/>
            <a:ext cx="4870923" cy="217984"/>
          </a:xfrm>
          <a:prstGeom prst="rect">
            <a:avLst/>
          </a:prstGeom>
          <a:noFill/>
          <a:ln/>
        </p:spPr>
        <p:txBody>
          <a:bodyPr wrap="none" lIns="0" tIns="0" rIns="0" bIns="0" rtlCol="0" anchor="t"/>
          <a:lstStyle/>
          <a:p>
            <a:pPr algn="l" indent="0" marL="0">
              <a:lnSpc>
                <a:spcPct val="104000"/>
              </a:lnSpc>
              <a:buNone/>
            </a:pPr>
            <a:r>
              <a:rPr lang="en-US" sz="1350" b="1" dirty="0">
                <a:solidFill>
                  <a:srgbClr val="3B4E4E"/>
                </a:solidFill>
                <a:latin typeface="Syne Bold" pitchFamily="34" charset="0"/>
                <a:ea typeface="Syne Bold" pitchFamily="34" charset="-122"/>
                <a:cs typeface="Syne Bold" pitchFamily="34" charset="-120"/>
              </a:rPr>
              <a:t>✓ Strength: Explainability</a:t>
            </a:r>
            <a:endParaRPr lang="en-US" sz="1350" dirty="0"/>
          </a:p>
        </p:txBody>
      </p:sp>
      <p:sp>
        <p:nvSpPr>
          <p:cNvPr id="11" name="Text 8"/>
          <p:cNvSpPr/>
          <p:nvPr/>
        </p:nvSpPr>
        <p:spPr>
          <a:xfrm>
            <a:off x="6507099" y="2454771"/>
            <a:ext cx="4870923" cy="411758"/>
          </a:xfrm>
          <a:prstGeom prst="rect">
            <a:avLst/>
          </a:prstGeom>
          <a:noFill/>
          <a:ln/>
        </p:spPr>
        <p:txBody>
          <a:bodyPr wrap="square" lIns="0" tIns="0" rIns="0" bIns="0" rtlCol="0" anchor="t">
            <a:normAutofit/>
          </a:bodyPr>
          <a:lstStyle/>
          <a:p>
            <a:pPr algn="l" indent="0" marL="0">
              <a:lnSpc>
                <a:spcPct val="123000"/>
              </a:lnSpc>
              <a:buNone/>
            </a:pPr>
            <a:r>
              <a:rPr lang="en-US" sz="1050" dirty="0">
                <a:solidFill>
                  <a:srgbClr val="3B4E4E"/>
                </a:solidFill>
                <a:latin typeface="Overpass Light" pitchFamily="34" charset="0"/>
                <a:ea typeface="Overpass Light" pitchFamily="34" charset="-122"/>
                <a:cs typeface="Overpass Light" pitchFamily="34" charset="-120"/>
              </a:rPr>
              <a:t>Stakeholders can see exactly which features matter and by how much. No black-box decisions.</a:t>
            </a:r>
            <a:endParaRPr lang="en-US" sz="1050" dirty="0"/>
          </a:p>
        </p:txBody>
      </p:sp>
      <p:pic>
        <p:nvPicPr>
          <p:cNvPr id="12"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272353" y="3142754"/>
            <a:ext cx="5264217" cy="858639"/>
          </a:xfrm>
          <a:prstGeom prst="rect">
            <a:avLst/>
          </a:prstGeom>
        </p:spPr>
      </p:pic>
      <p:sp>
        <p:nvSpPr>
          <p:cNvPr id="13" name="Text 9"/>
          <p:cNvSpPr/>
          <p:nvPr/>
        </p:nvSpPr>
        <p:spPr>
          <a:xfrm>
            <a:off x="6507099" y="3301305"/>
            <a:ext cx="4870923" cy="217984"/>
          </a:xfrm>
          <a:prstGeom prst="rect">
            <a:avLst/>
          </a:prstGeom>
          <a:noFill/>
          <a:ln/>
        </p:spPr>
        <p:txBody>
          <a:bodyPr wrap="none" lIns="0" tIns="0" rIns="0" bIns="0" rtlCol="0" anchor="t"/>
          <a:lstStyle/>
          <a:p>
            <a:pPr algn="l" indent="0" marL="0">
              <a:lnSpc>
                <a:spcPct val="104000"/>
              </a:lnSpc>
              <a:buNone/>
            </a:pPr>
            <a:r>
              <a:rPr lang="en-US" sz="1350" b="1" dirty="0">
                <a:solidFill>
                  <a:srgbClr val="3B4E4E"/>
                </a:solidFill>
                <a:latin typeface="Syne Bold" pitchFamily="34" charset="0"/>
                <a:ea typeface="Syne Bold" pitchFamily="34" charset="-122"/>
                <a:cs typeface="Syne Bold" pitchFamily="34" charset="-120"/>
              </a:rPr>
              <a:t>✓ Strength: Fast to Train</a:t>
            </a:r>
            <a:endParaRPr lang="en-US" sz="1350" dirty="0"/>
          </a:p>
        </p:txBody>
      </p:sp>
      <p:sp>
        <p:nvSpPr>
          <p:cNvPr id="14" name="Text 10"/>
          <p:cNvSpPr/>
          <p:nvPr/>
        </p:nvSpPr>
        <p:spPr>
          <a:xfrm>
            <a:off x="6507099" y="3636962"/>
            <a:ext cx="4870923" cy="205879"/>
          </a:xfrm>
          <a:prstGeom prst="rect">
            <a:avLst/>
          </a:prstGeom>
          <a:noFill/>
          <a:ln/>
        </p:spPr>
        <p:txBody>
          <a:bodyPr wrap="none" lIns="0" tIns="0" rIns="0" bIns="0" rtlCol="0" anchor="t"/>
          <a:lstStyle/>
          <a:p>
            <a:pPr algn="l" indent="0" marL="0">
              <a:lnSpc>
                <a:spcPct val="123000"/>
              </a:lnSpc>
              <a:buNone/>
            </a:pPr>
            <a:r>
              <a:rPr lang="en-US" sz="1050" dirty="0">
                <a:solidFill>
                  <a:srgbClr val="3B4E4E"/>
                </a:solidFill>
                <a:latin typeface="Overpass Light" pitchFamily="34" charset="0"/>
                <a:ea typeface="Overpass Light" pitchFamily="34" charset="-122"/>
                <a:cs typeface="Overpass Light" pitchFamily="34" charset="-120"/>
              </a:rPr>
              <a:t>Trains in seconds even on large datasets. Easy to deploy and maintain.</a:t>
            </a:r>
            <a:endParaRPr lang="en-US" sz="1050" dirty="0"/>
          </a:p>
        </p:txBody>
      </p:sp>
      <p:pic>
        <p:nvPicPr>
          <p:cNvPr id="15"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272353" y="4119066"/>
            <a:ext cx="5264217" cy="1064518"/>
          </a:xfrm>
          <a:prstGeom prst="rect">
            <a:avLst/>
          </a:prstGeom>
        </p:spPr>
      </p:pic>
      <p:sp>
        <p:nvSpPr>
          <p:cNvPr id="16" name="Text 11"/>
          <p:cNvSpPr/>
          <p:nvPr/>
        </p:nvSpPr>
        <p:spPr>
          <a:xfrm>
            <a:off x="6507099" y="4277618"/>
            <a:ext cx="4870923" cy="217984"/>
          </a:xfrm>
          <a:prstGeom prst="rect">
            <a:avLst/>
          </a:prstGeom>
          <a:noFill/>
          <a:ln/>
        </p:spPr>
        <p:txBody>
          <a:bodyPr wrap="none" lIns="0" tIns="0" rIns="0" bIns="0" rtlCol="0" anchor="t"/>
          <a:lstStyle/>
          <a:p>
            <a:pPr algn="l" indent="0" marL="0">
              <a:lnSpc>
                <a:spcPct val="104000"/>
              </a:lnSpc>
              <a:buNone/>
            </a:pPr>
            <a:r>
              <a:rPr lang="en-US" sz="1350" b="1" dirty="0">
                <a:solidFill>
                  <a:srgbClr val="3B4E4E"/>
                </a:solidFill>
                <a:latin typeface="Syne Bold" pitchFamily="34" charset="0"/>
                <a:ea typeface="Syne Bold" pitchFamily="34" charset="-122"/>
                <a:cs typeface="Syne Bold" pitchFamily="34" charset="-120"/>
              </a:rPr>
              <a:t>✗ Limit: Assumes Linearity</a:t>
            </a:r>
            <a:endParaRPr lang="en-US" sz="1350" dirty="0"/>
          </a:p>
        </p:txBody>
      </p:sp>
      <p:sp>
        <p:nvSpPr>
          <p:cNvPr id="17" name="Text 12"/>
          <p:cNvSpPr/>
          <p:nvPr/>
        </p:nvSpPr>
        <p:spPr>
          <a:xfrm>
            <a:off x="6507099" y="4613275"/>
            <a:ext cx="4870923" cy="411758"/>
          </a:xfrm>
          <a:prstGeom prst="rect">
            <a:avLst/>
          </a:prstGeom>
          <a:noFill/>
          <a:ln/>
        </p:spPr>
        <p:txBody>
          <a:bodyPr wrap="square" lIns="0" tIns="0" rIns="0" bIns="0" rtlCol="0" anchor="t">
            <a:normAutofit/>
          </a:bodyPr>
          <a:lstStyle/>
          <a:p>
            <a:pPr algn="l" indent="0" marL="0">
              <a:lnSpc>
                <a:spcPct val="123000"/>
              </a:lnSpc>
              <a:buNone/>
            </a:pPr>
            <a:r>
              <a:rPr lang="en-US" sz="1050" dirty="0">
                <a:solidFill>
                  <a:srgbClr val="3B4E4E"/>
                </a:solidFill>
                <a:latin typeface="Overpass Light" pitchFamily="34" charset="0"/>
                <a:ea typeface="Overpass Light" pitchFamily="34" charset="-122"/>
                <a:cs typeface="Overpass Light" pitchFamily="34" charset="-120"/>
              </a:rPr>
              <a:t>Works poorly when the true relationship curves sharply or has complex interactions between features.</a:t>
            </a:r>
            <a:endParaRPr lang="en-US" sz="1050" dirty="0"/>
          </a:p>
        </p:txBody>
      </p:sp>
      <p:sp>
        <p:nvSpPr>
          <p:cNvPr id="18" name="Text 13"/>
          <p:cNvSpPr/>
          <p:nvPr/>
        </p:nvSpPr>
        <p:spPr>
          <a:xfrm>
            <a:off x="6272353" y="5316041"/>
            <a:ext cx="5264217" cy="217984"/>
          </a:xfrm>
          <a:prstGeom prst="rect">
            <a:avLst/>
          </a:prstGeom>
          <a:noFill/>
          <a:ln/>
        </p:spPr>
        <p:txBody>
          <a:bodyPr wrap="none" lIns="0" tIns="0" rIns="0" bIns="0" rtlCol="0" anchor="t"/>
          <a:lstStyle/>
          <a:p>
            <a:pPr algn="l" indent="0" marL="0">
              <a:lnSpc>
                <a:spcPct val="104000"/>
              </a:lnSpc>
              <a:buNone/>
            </a:pPr>
            <a:r>
              <a:rPr lang="en-US" sz="1350" b="1" dirty="0">
                <a:solidFill>
                  <a:srgbClr val="233939"/>
                </a:solidFill>
                <a:latin typeface="Syne Bold" pitchFamily="34" charset="0"/>
                <a:ea typeface="Syne Bold" pitchFamily="34" charset="-122"/>
                <a:cs typeface="Syne Bold" pitchFamily="34" charset="-120"/>
              </a:rPr>
              <a:t>Real-World Use</a:t>
            </a:r>
            <a:endParaRPr lang="en-US" sz="1350" dirty="0"/>
          </a:p>
        </p:txBody>
      </p:sp>
      <p:sp>
        <p:nvSpPr>
          <p:cNvPr id="19" name="Text 14"/>
          <p:cNvSpPr/>
          <p:nvPr/>
        </p:nvSpPr>
        <p:spPr>
          <a:xfrm>
            <a:off x="6272353" y="5651698"/>
            <a:ext cx="5264217" cy="617637"/>
          </a:xfrm>
          <a:prstGeom prst="rect">
            <a:avLst/>
          </a:prstGeom>
          <a:noFill/>
          <a:ln/>
        </p:spPr>
        <p:txBody>
          <a:bodyPr wrap="square" lIns="0" tIns="0" rIns="0" bIns="0" rtlCol="0" anchor="t">
            <a:normAutofit/>
          </a:bodyPr>
          <a:lstStyle/>
          <a:p>
            <a:pPr algn="l" indent="0" marL="0">
              <a:lnSpc>
                <a:spcPct val="123000"/>
              </a:lnSpc>
              <a:buNone/>
            </a:pPr>
            <a:r>
              <a:rPr lang="en-US" sz="1050" dirty="0">
                <a:solidFill>
                  <a:srgbClr val="3B4E4E"/>
                </a:solidFill>
                <a:latin typeface="Overpass Light" pitchFamily="34" charset="0"/>
                <a:ea typeface="Overpass Light" pitchFamily="34" charset="-122"/>
                <a:cs typeface="Overpass Light" pitchFamily="34" charset="-120"/>
              </a:rPr>
              <a:t>Property portals such as </a:t>
            </a:r>
            <a:pPr algn="l" indent="0" marL="0">
              <a:lnSpc>
                <a:spcPct val="123000"/>
              </a:lnSpc>
              <a:buNone/>
            </a:pPr>
            <a:r>
              <a:rPr lang="en-US" sz="1050" b="1" dirty="0">
                <a:solidFill>
                  <a:srgbClr val="3B4E4E"/>
                </a:solidFill>
                <a:latin typeface="Overpass Bold" pitchFamily="34" charset="0"/>
                <a:ea typeface="Overpass Bold" pitchFamily="34" charset="-122"/>
                <a:cs typeface="Overpass Bold" pitchFamily="34" charset="-120"/>
              </a:rPr>
              <a:t>Zillow</a:t>
            </a:r>
            <a:pPr algn="l" indent="0" marL="0">
              <a:lnSpc>
                <a:spcPct val="123000"/>
              </a:lnSpc>
              <a:buNone/>
            </a:pPr>
            <a:r>
              <a:rPr lang="en-US" sz="1050" dirty="0">
                <a:solidFill>
                  <a:srgbClr val="3B4E4E"/>
                </a:solidFill>
                <a:latin typeface="Overpass Light" pitchFamily="34" charset="0"/>
                <a:ea typeface="Overpass Light" pitchFamily="34" charset="-122"/>
                <a:cs typeface="Overpass Light" pitchFamily="34" charset="-120"/>
              </a:rPr>
              <a:t>, </a:t>
            </a:r>
            <a:pPr algn="l" indent="0" marL="0">
              <a:lnSpc>
                <a:spcPct val="123000"/>
              </a:lnSpc>
              <a:buNone/>
            </a:pPr>
            <a:r>
              <a:rPr lang="en-US" sz="1050" b="1" dirty="0">
                <a:solidFill>
                  <a:srgbClr val="3B4E4E"/>
                </a:solidFill>
                <a:latin typeface="Overpass Bold" pitchFamily="34" charset="0"/>
                <a:ea typeface="Overpass Bold" pitchFamily="34" charset="-122"/>
                <a:cs typeface="Overpass Bold" pitchFamily="34" charset="-120"/>
              </a:rPr>
              <a:t>MagicBricks</a:t>
            </a:r>
            <a:pPr algn="l" indent="0" marL="0">
              <a:lnSpc>
                <a:spcPct val="123000"/>
              </a:lnSpc>
              <a:buNone/>
            </a:pPr>
            <a:r>
              <a:rPr lang="en-US" sz="1050" dirty="0">
                <a:solidFill>
                  <a:srgbClr val="3B4E4E"/>
                </a:solidFill>
                <a:latin typeface="Overpass Light" pitchFamily="34" charset="0"/>
                <a:ea typeface="Overpass Light" pitchFamily="34" charset="-122"/>
                <a:cs typeface="Overpass Light" pitchFamily="34" charset="-120"/>
              </a:rPr>
              <a:t>, and </a:t>
            </a:r>
            <a:pPr algn="l" indent="0" marL="0">
              <a:lnSpc>
                <a:spcPct val="123000"/>
              </a:lnSpc>
              <a:buNone/>
            </a:pPr>
            <a:r>
              <a:rPr lang="en-US" sz="1050" b="1" dirty="0">
                <a:solidFill>
                  <a:srgbClr val="3B4E4E"/>
                </a:solidFill>
                <a:latin typeface="Overpass Bold" pitchFamily="34" charset="0"/>
                <a:ea typeface="Overpass Bold" pitchFamily="34" charset="-122"/>
                <a:cs typeface="Overpass Bold" pitchFamily="34" charset="-120"/>
              </a:rPr>
              <a:t>99acres</a:t>
            </a:r>
            <a:pPr algn="l" indent="0" marL="0">
              <a:lnSpc>
                <a:spcPct val="123000"/>
              </a:lnSpc>
              <a:buNone/>
            </a:pPr>
            <a:r>
              <a:rPr lang="en-US" sz="1050" dirty="0">
                <a:solidFill>
                  <a:srgbClr val="3B4E4E"/>
                </a:solidFill>
                <a:latin typeface="Overpass Light" pitchFamily="34" charset="0"/>
                <a:ea typeface="Overpass Light" pitchFamily="34" charset="-122"/>
                <a:cs typeface="Overpass Light" pitchFamily="34" charset="-120"/>
              </a:rPr>
              <a:t> use variants of linear regression to show estimated prices. Insurance companies use it to estimate claim amounts from vehicle or property data.</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E6"/>
        </a:solidFill>
      </p:bgPr>
    </p:bg>
    <p:spTree>
      <p:nvGrpSpPr>
        <p:cNvPr id="1" name=""/>
        <p:cNvGrpSpPr/>
        <p:nvPr/>
      </p:nvGrpSpPr>
      <p:grpSpPr>
        <a:xfrm>
          <a:off x="0" y="0"/>
          <a:ext cx="0" cy="0"/>
          <a:chOff x="0" y="0"/>
          <a:chExt cx="0" cy="0"/>
        </a:xfrm>
      </p:grpSpPr>
      <p:sp>
        <p:nvSpPr>
          <p:cNvPr id="2" name="Shape 0"/>
          <p:cNvSpPr/>
          <p:nvPr/>
        </p:nvSpPr>
        <p:spPr>
          <a:xfrm>
            <a:off x="661475" y="567432"/>
            <a:ext cx="1218872" cy="239415"/>
          </a:xfrm>
          <a:prstGeom prst="roundRect">
            <a:avLst>
              <a:gd name="adj" fmla="val 22123"/>
            </a:avLst>
          </a:prstGeom>
          <a:solidFill>
            <a:srgbClr val="DDEEE6"/>
          </a:solidFill>
          <a:ln/>
        </p:spPr>
      </p:sp>
      <p:sp>
        <p:nvSpPr>
          <p:cNvPr id="3" name="Text 1"/>
          <p:cNvSpPr/>
          <p:nvPr/>
        </p:nvSpPr>
        <p:spPr>
          <a:xfrm>
            <a:off x="756028" y="614660"/>
            <a:ext cx="1639350" cy="144959"/>
          </a:xfrm>
          <a:prstGeom prst="rect">
            <a:avLst/>
          </a:prstGeom>
          <a:noFill/>
          <a:ln/>
        </p:spPr>
        <p:txBody>
          <a:bodyPr wrap="none" lIns="0" tIns="0" rIns="0" bIns="0" rtlCol="0" anchor="t"/>
          <a:lstStyle/>
          <a:p>
            <a:pPr algn="l" indent="0" marL="0">
              <a:lnSpc>
                <a:spcPct val="96000"/>
              </a:lnSpc>
              <a:buNone/>
            </a:pPr>
            <a:r>
              <a:rPr lang="en-US" sz="950" dirty="0">
                <a:solidFill>
                  <a:srgbClr val="3B4E4E"/>
                </a:solidFill>
                <a:latin typeface="Overpass Light" pitchFamily="34" charset="0"/>
                <a:ea typeface="Overpass Light" pitchFamily="34" charset="-122"/>
                <a:cs typeface="Overpass Light" pitchFamily="34" charset="-120"/>
              </a:rPr>
              <a:t>BUSINESS CASE 2</a:t>
            </a:r>
            <a:endParaRPr lang="en-US" sz="950" dirty="0"/>
          </a:p>
        </p:txBody>
      </p:sp>
      <p:sp>
        <p:nvSpPr>
          <p:cNvPr id="4" name="Text 2"/>
          <p:cNvSpPr/>
          <p:nvPr/>
        </p:nvSpPr>
        <p:spPr>
          <a:xfrm>
            <a:off x="661475" y="870716"/>
            <a:ext cx="10868745" cy="492621"/>
          </a:xfrm>
          <a:prstGeom prst="rect">
            <a:avLst/>
          </a:prstGeom>
          <a:noFill/>
          <a:ln/>
        </p:spPr>
        <p:txBody>
          <a:bodyPr wrap="none" lIns="0" tIns="0" rIns="0" bIns="0" rtlCol="0" anchor="t"/>
          <a:lstStyle/>
          <a:p>
            <a:pPr algn="l" indent="0" marL="0">
              <a:lnSpc>
                <a:spcPct val="104000"/>
              </a:lnSpc>
              <a:buNone/>
            </a:pPr>
            <a:r>
              <a:rPr lang="en-US" sz="3100" b="1" dirty="0">
                <a:solidFill>
                  <a:srgbClr val="233939"/>
                </a:solidFill>
                <a:latin typeface="Syne Bold" pitchFamily="34" charset="0"/>
                <a:ea typeface="Syne Bold" pitchFamily="34" charset="-122"/>
                <a:cs typeface="Syne Bold" pitchFamily="34" charset="-120"/>
              </a:rPr>
              <a:t>Will This Borrower Repay the Loan?</a:t>
            </a:r>
            <a:endParaRPr lang="en-US" sz="3100" dirty="0"/>
          </a:p>
        </p:txBody>
      </p:sp>
      <p:sp>
        <p:nvSpPr>
          <p:cNvPr id="5" name="Text 3"/>
          <p:cNvSpPr/>
          <p:nvPr/>
        </p:nvSpPr>
        <p:spPr>
          <a:xfrm>
            <a:off x="661475" y="1584821"/>
            <a:ext cx="11478330" cy="246261"/>
          </a:xfrm>
          <a:prstGeom prst="rect">
            <a:avLst/>
          </a:prstGeom>
          <a:noFill/>
          <a:ln/>
        </p:spPr>
        <p:txBody>
          <a:bodyPr wrap="none" lIns="0" tIns="0" rIns="0" bIns="0" rtlCol="0" anchor="t"/>
          <a:lstStyle/>
          <a:p>
            <a:pPr algn="l" indent="0" marL="0">
              <a:lnSpc>
                <a:spcPct val="130000"/>
              </a:lnSpc>
              <a:buNone/>
            </a:pPr>
            <a:r>
              <a:rPr lang="en-US" sz="1200" dirty="0">
                <a:solidFill>
                  <a:srgbClr val="3B4E4E"/>
                </a:solidFill>
                <a:latin typeface="Overpass Light" pitchFamily="34" charset="0"/>
                <a:ea typeface="Overpass Light" pitchFamily="34" charset="-122"/>
                <a:cs typeface="Overpass Light" pitchFamily="34" charset="-120"/>
              </a:rPr>
              <a:t>A bank wants to decide quickly whether to approve a personal loan — and must be able to explain every decision to regulators and customers.</a:t>
            </a:r>
            <a:endParaRPr lang="en-US" sz="1200" dirty="0"/>
          </a:p>
        </p:txBody>
      </p:sp>
      <p:sp>
        <p:nvSpPr>
          <p:cNvPr id="6" name="Text 4"/>
          <p:cNvSpPr/>
          <p:nvPr/>
        </p:nvSpPr>
        <p:spPr>
          <a:xfrm>
            <a:off x="661475" y="2152190"/>
            <a:ext cx="5242092" cy="246261"/>
          </a:xfrm>
          <a:prstGeom prst="rect">
            <a:avLst/>
          </a:prstGeom>
          <a:noFill/>
          <a:ln/>
        </p:spPr>
        <p:txBody>
          <a:bodyPr wrap="none" lIns="0" tIns="0" rIns="0" bIns="0" rtlCol="0" anchor="t"/>
          <a:lstStyle/>
          <a:p>
            <a:pPr algn="l" indent="0" marL="0">
              <a:lnSpc>
                <a:spcPct val="104000"/>
              </a:lnSpc>
              <a:buNone/>
            </a:pPr>
            <a:r>
              <a:rPr lang="en-US" sz="1550" b="1" dirty="0">
                <a:solidFill>
                  <a:srgbClr val="233939"/>
                </a:solidFill>
                <a:latin typeface="Syne Bold" pitchFamily="34" charset="0"/>
                <a:ea typeface="Syne Bold" pitchFamily="34" charset="-122"/>
                <a:cs typeface="Syne Bold" pitchFamily="34" charset="-120"/>
              </a:rPr>
              <a:t>Thinking It Through</a:t>
            </a:r>
            <a:endParaRPr lang="en-US" sz="1550" dirty="0"/>
          </a:p>
        </p:txBody>
      </p:sp>
      <p:pic>
        <p:nvPicPr>
          <p:cNvPr id="7"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42425" y="2546449"/>
            <a:ext cx="2546187" cy="1419622"/>
          </a:xfrm>
          <a:prstGeom prst="rect">
            <a:avLst/>
          </a:prstGeom>
        </p:spPr>
      </p:pic>
      <p:sp>
        <p:nvSpPr>
          <p:cNvPr id="8" name="Text 5"/>
          <p:cNvSpPr/>
          <p:nvPr/>
        </p:nvSpPr>
        <p:spPr>
          <a:xfrm>
            <a:off x="857129" y="2565499"/>
            <a:ext cx="2331483" cy="492522"/>
          </a:xfrm>
          <a:prstGeom prst="rect">
            <a:avLst/>
          </a:prstGeom>
          <a:noFill/>
          <a:ln/>
        </p:spPr>
        <p:txBody>
          <a:bodyPr wrap="square" lIns="0" tIns="0" rIns="0" bIns="0" rtlCol="0" anchor="t">
            <a:normAutofit/>
          </a:bodyPr>
          <a:lstStyle/>
          <a:p>
            <a:pPr algn="l" indent="0" marL="0">
              <a:lnSpc>
                <a:spcPct val="104000"/>
              </a:lnSpc>
              <a:buNone/>
            </a:pPr>
            <a:r>
              <a:rPr lang="en-US" sz="1550" b="1" dirty="0">
                <a:solidFill>
                  <a:srgbClr val="3B4E4E"/>
                </a:solidFill>
                <a:latin typeface="Syne Bold" pitchFamily="34" charset="0"/>
                <a:ea typeface="Syne Bold" pitchFamily="34" charset="-122"/>
                <a:cs typeface="Syne Bold" pitchFamily="34" charset="-120"/>
              </a:rPr>
              <a:t>Past data with correct answers?</a:t>
            </a:r>
            <a:endParaRPr lang="en-US" sz="1550" dirty="0"/>
          </a:p>
        </p:txBody>
      </p:sp>
      <p:sp>
        <p:nvSpPr>
          <p:cNvPr id="9" name="Text 6"/>
          <p:cNvSpPr/>
          <p:nvPr/>
        </p:nvSpPr>
        <p:spPr>
          <a:xfrm>
            <a:off x="857129" y="3208238"/>
            <a:ext cx="2331483" cy="738783"/>
          </a:xfrm>
          <a:prstGeom prst="rect">
            <a:avLst/>
          </a:prstGeom>
          <a:noFill/>
          <a:ln/>
        </p:spPr>
        <p:txBody>
          <a:bodyPr wrap="square" lIns="0" tIns="0" rIns="0" bIns="0" rtlCol="0" anchor="t">
            <a:normAutofit/>
          </a:bodyPr>
          <a:lstStyle/>
          <a:p>
            <a:pPr algn="l" indent="0" marL="0">
              <a:lnSpc>
                <a:spcPct val="130000"/>
              </a:lnSpc>
              <a:buNone/>
            </a:pPr>
            <a:r>
              <a:rPr lang="en-US" sz="1200" dirty="0">
                <a:solidFill>
                  <a:srgbClr val="3B4E4E"/>
                </a:solidFill>
                <a:latin typeface="Overpass Light" pitchFamily="34" charset="0"/>
                <a:ea typeface="Overpass Light" pitchFamily="34" charset="-122"/>
                <a:cs typeface="Overpass Light" pitchFamily="34" charset="-120"/>
              </a:rPr>
              <a:t>Yes — historical loans each marked as "repaid" or "defaulted".</a:t>
            </a:r>
            <a:endParaRPr lang="en-US" sz="1200" dirty="0"/>
          </a:p>
        </p:txBody>
      </p:sp>
      <p:pic>
        <p:nvPicPr>
          <p:cNvPr id="10"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357280" y="2546449"/>
            <a:ext cx="2546286" cy="1419622"/>
          </a:xfrm>
          <a:prstGeom prst="rect">
            <a:avLst/>
          </a:prstGeom>
        </p:spPr>
      </p:pic>
      <p:sp>
        <p:nvSpPr>
          <p:cNvPr id="11" name="Text 7"/>
          <p:cNvSpPr/>
          <p:nvPr/>
        </p:nvSpPr>
        <p:spPr>
          <a:xfrm>
            <a:off x="3571984" y="2565499"/>
            <a:ext cx="2331582" cy="246261"/>
          </a:xfrm>
          <a:prstGeom prst="rect">
            <a:avLst/>
          </a:prstGeom>
          <a:noFill/>
          <a:ln/>
        </p:spPr>
        <p:txBody>
          <a:bodyPr wrap="none" lIns="0" tIns="0" rIns="0" bIns="0" rtlCol="0" anchor="t"/>
          <a:lstStyle/>
          <a:p>
            <a:pPr algn="l" indent="0" marL="0">
              <a:lnSpc>
                <a:spcPct val="104000"/>
              </a:lnSpc>
              <a:buNone/>
            </a:pPr>
            <a:r>
              <a:rPr lang="en-US" sz="1550" b="1" dirty="0">
                <a:solidFill>
                  <a:srgbClr val="3B4E4E"/>
                </a:solidFill>
                <a:latin typeface="Syne Bold" pitchFamily="34" charset="0"/>
                <a:ea typeface="Syne Bold" pitchFamily="34" charset="-122"/>
                <a:cs typeface="Syne Bold" pitchFamily="34" charset="-120"/>
              </a:rPr>
              <a:t>Number or category?</a:t>
            </a:r>
            <a:endParaRPr lang="en-US" sz="1550" dirty="0"/>
          </a:p>
        </p:txBody>
      </p:sp>
      <p:sp>
        <p:nvSpPr>
          <p:cNvPr id="12" name="Text 8"/>
          <p:cNvSpPr/>
          <p:nvPr/>
        </p:nvSpPr>
        <p:spPr>
          <a:xfrm>
            <a:off x="3571984" y="2961977"/>
            <a:ext cx="2331582" cy="492522"/>
          </a:xfrm>
          <a:prstGeom prst="rect">
            <a:avLst/>
          </a:prstGeom>
          <a:noFill/>
          <a:ln/>
        </p:spPr>
        <p:txBody>
          <a:bodyPr wrap="square" lIns="0" tIns="0" rIns="0" bIns="0" rtlCol="0" anchor="t">
            <a:normAutofit/>
          </a:bodyPr>
          <a:lstStyle/>
          <a:p>
            <a:pPr algn="l" indent="0" marL="0">
              <a:lnSpc>
                <a:spcPct val="130000"/>
              </a:lnSpc>
              <a:buNone/>
            </a:pPr>
            <a:r>
              <a:rPr lang="en-US" sz="1200" dirty="0">
                <a:solidFill>
                  <a:srgbClr val="3B4E4E"/>
                </a:solidFill>
                <a:latin typeface="Overpass Light" pitchFamily="34" charset="0"/>
                <a:ea typeface="Overpass Light" pitchFamily="34" charset="-122"/>
                <a:cs typeface="Overpass Light" pitchFamily="34" charset="-120"/>
              </a:rPr>
              <a:t>Category: default / no default. Two discrete outcomes.</a:t>
            </a:r>
            <a:endParaRPr lang="en-US" sz="1200" dirty="0"/>
          </a:p>
        </p:txBody>
      </p:sp>
      <p:pic>
        <p:nvPicPr>
          <p:cNvPr id="13"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42425" y="4228405"/>
            <a:ext cx="2546187" cy="1912144"/>
          </a:xfrm>
          <a:prstGeom prst="rect">
            <a:avLst/>
          </a:prstGeom>
        </p:spPr>
      </p:pic>
      <p:sp>
        <p:nvSpPr>
          <p:cNvPr id="14" name="Text 9"/>
          <p:cNvSpPr/>
          <p:nvPr/>
        </p:nvSpPr>
        <p:spPr>
          <a:xfrm>
            <a:off x="857129" y="4247455"/>
            <a:ext cx="2331483" cy="246261"/>
          </a:xfrm>
          <a:prstGeom prst="rect">
            <a:avLst/>
          </a:prstGeom>
          <a:noFill/>
          <a:ln/>
        </p:spPr>
        <p:txBody>
          <a:bodyPr wrap="none" lIns="0" tIns="0" rIns="0" bIns="0" rtlCol="0" anchor="t"/>
          <a:lstStyle/>
          <a:p>
            <a:pPr algn="l" indent="0" marL="0">
              <a:lnSpc>
                <a:spcPct val="104000"/>
              </a:lnSpc>
              <a:buNone/>
            </a:pPr>
            <a:r>
              <a:rPr lang="en-US" sz="1550" b="1" dirty="0">
                <a:solidFill>
                  <a:srgbClr val="3B4E4E"/>
                </a:solidFill>
                <a:latin typeface="Syne Bold" pitchFamily="34" charset="0"/>
                <a:ea typeface="Syne Bold" pitchFamily="34" charset="-122"/>
                <a:cs typeface="Syne Bold" pitchFamily="34" charset="-120"/>
              </a:rPr>
              <a:t>Explanation needed?</a:t>
            </a:r>
            <a:endParaRPr lang="en-US" sz="1550" dirty="0"/>
          </a:p>
        </p:txBody>
      </p:sp>
      <p:sp>
        <p:nvSpPr>
          <p:cNvPr id="15" name="Text 10"/>
          <p:cNvSpPr/>
          <p:nvPr/>
        </p:nvSpPr>
        <p:spPr>
          <a:xfrm>
            <a:off x="857129" y="4643934"/>
            <a:ext cx="2331483" cy="1477566"/>
          </a:xfrm>
          <a:prstGeom prst="rect">
            <a:avLst/>
          </a:prstGeom>
          <a:noFill/>
          <a:ln/>
        </p:spPr>
        <p:txBody>
          <a:bodyPr wrap="square" lIns="0" tIns="0" rIns="0" bIns="0" rtlCol="0" anchor="t">
            <a:normAutofit/>
          </a:bodyPr>
          <a:lstStyle/>
          <a:p>
            <a:pPr algn="l" indent="0" marL="0">
              <a:lnSpc>
                <a:spcPct val="130000"/>
              </a:lnSpc>
              <a:buNone/>
            </a:pPr>
            <a:r>
              <a:rPr lang="en-US" sz="1200" dirty="0">
                <a:solidFill>
                  <a:srgbClr val="3B4E4E"/>
                </a:solidFill>
                <a:latin typeface="Overpass Light" pitchFamily="34" charset="0"/>
                <a:ea typeface="Overpass Light" pitchFamily="34" charset="-122"/>
                <a:cs typeface="Overpass Light" pitchFamily="34" charset="-120"/>
              </a:rPr>
              <a:t>Yes. Regulators require banks to justify credit decisions. A customer who is rejected has the right to ask why. A black-box model creates legal and reputational risk.</a:t>
            </a:r>
            <a:endParaRPr lang="en-US" sz="1200" dirty="0"/>
          </a:p>
        </p:txBody>
      </p:sp>
      <p:pic>
        <p:nvPicPr>
          <p:cNvPr id="16"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3357280" y="4228405"/>
            <a:ext cx="2546286" cy="1912144"/>
          </a:xfrm>
          <a:prstGeom prst="rect">
            <a:avLst/>
          </a:prstGeom>
        </p:spPr>
      </p:pic>
      <p:sp>
        <p:nvSpPr>
          <p:cNvPr id="17" name="Text 11"/>
          <p:cNvSpPr/>
          <p:nvPr/>
        </p:nvSpPr>
        <p:spPr>
          <a:xfrm>
            <a:off x="3571984" y="4247455"/>
            <a:ext cx="2331582" cy="246261"/>
          </a:xfrm>
          <a:prstGeom prst="rect">
            <a:avLst/>
          </a:prstGeom>
          <a:noFill/>
          <a:ln/>
        </p:spPr>
        <p:txBody>
          <a:bodyPr wrap="none" lIns="0" tIns="0" rIns="0" bIns="0" rtlCol="0" anchor="t"/>
          <a:lstStyle/>
          <a:p>
            <a:pPr algn="l" indent="0" marL="0">
              <a:lnSpc>
                <a:spcPct val="104000"/>
              </a:lnSpc>
              <a:buNone/>
            </a:pPr>
            <a:r>
              <a:rPr lang="en-US" sz="1550" b="1" dirty="0">
                <a:solidFill>
                  <a:srgbClr val="3B4E4E"/>
                </a:solidFill>
                <a:latin typeface="Syne Bold" pitchFamily="34" charset="0"/>
                <a:ea typeface="Syne Bold" pitchFamily="34" charset="-122"/>
                <a:cs typeface="Syne Bold" pitchFamily="34" charset="-120"/>
              </a:rPr>
              <a:t>Problem type</a:t>
            </a:r>
            <a:endParaRPr lang="en-US" sz="1550" dirty="0"/>
          </a:p>
        </p:txBody>
      </p:sp>
      <p:sp>
        <p:nvSpPr>
          <p:cNvPr id="18" name="Text 12"/>
          <p:cNvSpPr/>
          <p:nvPr/>
        </p:nvSpPr>
        <p:spPr>
          <a:xfrm>
            <a:off x="3571984" y="4643934"/>
            <a:ext cx="2331582" cy="492522"/>
          </a:xfrm>
          <a:prstGeom prst="rect">
            <a:avLst/>
          </a:prstGeom>
          <a:noFill/>
          <a:ln/>
        </p:spPr>
        <p:txBody>
          <a:bodyPr wrap="square" lIns="0" tIns="0" rIns="0" bIns="0" rtlCol="0" anchor="t">
            <a:normAutofit/>
          </a:bodyPr>
          <a:lstStyle/>
          <a:p>
            <a:pPr algn="l" indent="0" marL="0">
              <a:lnSpc>
                <a:spcPct val="130000"/>
              </a:lnSpc>
              <a:buNone/>
            </a:pPr>
            <a:r>
              <a:rPr lang="en-US" sz="1200" b="1" dirty="0">
                <a:solidFill>
                  <a:srgbClr val="3B4E4E"/>
                </a:solidFill>
                <a:latin typeface="Overpass Bold" pitchFamily="34" charset="0"/>
                <a:ea typeface="Overpass Bold" pitchFamily="34" charset="-122"/>
                <a:cs typeface="Overpass Bold" pitchFamily="34" charset="-120"/>
              </a:rPr>
              <a:t>Supervised classification, explainable.</a:t>
            </a:r>
            <a:endParaRPr lang="en-US" sz="1200" dirty="0"/>
          </a:p>
        </p:txBody>
      </p:sp>
      <p:sp>
        <p:nvSpPr>
          <p:cNvPr id="19" name="Text 13"/>
          <p:cNvSpPr/>
          <p:nvPr/>
        </p:nvSpPr>
        <p:spPr>
          <a:xfrm>
            <a:off x="6294478" y="2152190"/>
            <a:ext cx="5242092" cy="246261"/>
          </a:xfrm>
          <a:prstGeom prst="rect">
            <a:avLst/>
          </a:prstGeom>
          <a:noFill/>
          <a:ln/>
        </p:spPr>
        <p:txBody>
          <a:bodyPr wrap="none" lIns="0" tIns="0" rIns="0" bIns="0" rtlCol="0" anchor="t"/>
          <a:lstStyle/>
          <a:p>
            <a:pPr algn="l" indent="0" marL="0">
              <a:lnSpc>
                <a:spcPct val="104000"/>
              </a:lnSpc>
              <a:buNone/>
            </a:pPr>
            <a:r>
              <a:rPr lang="en-US" sz="1550" b="1" dirty="0">
                <a:solidFill>
                  <a:srgbClr val="233939"/>
                </a:solidFill>
                <a:latin typeface="Syne Bold" pitchFamily="34" charset="0"/>
                <a:ea typeface="Syne Bold" pitchFamily="34" charset="-122"/>
                <a:cs typeface="Syne Bold" pitchFamily="34" charset="-120"/>
              </a:rPr>
              <a:t>Algorithm to Start With: Logistic Regression</a:t>
            </a:r>
            <a:endParaRPr lang="en-US" sz="1550" dirty="0"/>
          </a:p>
        </p:txBody>
      </p:sp>
      <p:sp>
        <p:nvSpPr>
          <p:cNvPr id="20" name="Text 14"/>
          <p:cNvSpPr/>
          <p:nvPr/>
        </p:nvSpPr>
        <p:spPr>
          <a:xfrm>
            <a:off x="6294478" y="2546747"/>
            <a:ext cx="5242092" cy="738783"/>
          </a:xfrm>
          <a:prstGeom prst="rect">
            <a:avLst/>
          </a:prstGeom>
          <a:noFill/>
          <a:ln/>
        </p:spPr>
        <p:txBody>
          <a:bodyPr wrap="square" lIns="0" tIns="0" rIns="0" bIns="0" rtlCol="0" anchor="t">
            <a:normAutofit/>
          </a:bodyPr>
          <a:lstStyle/>
          <a:p>
            <a:pPr algn="l" indent="0" marL="0">
              <a:lnSpc>
                <a:spcPct val="130000"/>
              </a:lnSpc>
              <a:buNone/>
            </a:pPr>
            <a:r>
              <a:rPr lang="en-US" sz="1200" dirty="0">
                <a:solidFill>
                  <a:srgbClr val="3B4E4E"/>
                </a:solidFill>
                <a:latin typeface="Overpass Light" pitchFamily="34" charset="0"/>
                <a:ea typeface="Overpass Light" pitchFamily="34" charset="-122"/>
                <a:cs typeface="Overpass Light" pitchFamily="34" charset="-120"/>
              </a:rPr>
              <a:t>Despite the name containing "regression", logistic regression is a </a:t>
            </a:r>
            <a:pPr algn="l" indent="0" marL="0">
              <a:lnSpc>
                <a:spcPct val="130000"/>
              </a:lnSpc>
              <a:buNone/>
            </a:pPr>
            <a:r>
              <a:rPr lang="en-US" sz="1200" b="1" dirty="0">
                <a:solidFill>
                  <a:srgbClr val="3B4E4E"/>
                </a:solidFill>
                <a:latin typeface="Overpass Bold" pitchFamily="34" charset="0"/>
                <a:ea typeface="Overpass Bold" pitchFamily="34" charset="-122"/>
                <a:cs typeface="Overpass Bold" pitchFamily="34" charset="-120"/>
              </a:rPr>
              <a:t>classification</a:t>
            </a:r>
            <a:pPr algn="l" indent="0" marL="0">
              <a:lnSpc>
                <a:spcPct val="130000"/>
              </a:lnSpc>
              <a:buNone/>
            </a:pPr>
            <a:r>
              <a:rPr lang="en-US" sz="1200" dirty="0">
                <a:solidFill>
                  <a:srgbClr val="3B4E4E"/>
                </a:solidFill>
                <a:latin typeface="Overpass Light" pitchFamily="34" charset="0"/>
                <a:ea typeface="Overpass Light" pitchFamily="34" charset="-122"/>
                <a:cs typeface="Overpass Light" pitchFamily="34" charset="-120"/>
              </a:rPr>
              <a:t> algorithm. It outputs a probability that a record belongs to one of two categories.</a:t>
            </a:r>
            <a:endParaRPr lang="en-US" sz="1200" dirty="0"/>
          </a:p>
        </p:txBody>
      </p:sp>
      <p:sp>
        <p:nvSpPr>
          <p:cNvPr id="21" name="Shape 15"/>
          <p:cNvSpPr/>
          <p:nvPr/>
        </p:nvSpPr>
        <p:spPr>
          <a:xfrm>
            <a:off x="6294478" y="3454499"/>
            <a:ext cx="5242092" cy="1087834"/>
          </a:xfrm>
          <a:prstGeom prst="roundRect">
            <a:avLst>
              <a:gd name="adj" fmla="val 6086"/>
            </a:avLst>
          </a:prstGeom>
          <a:solidFill>
            <a:srgbClr val="DDEEE6"/>
          </a:solidFill>
          <a:ln/>
        </p:spPr>
      </p:sp>
      <p:pic>
        <p:nvPicPr>
          <p:cNvPr id="22" name="Image 4" descr="preencoded.png">    </p:cNvPr>
          <p:cNvPicPr>
            <a:picLocks noChangeAspect="1"/>
          </p:cNvPicPr>
          <p:nvPr/>
        </p:nvPicPr>
        <p:blipFill>
          <a:blip r:embed="rId9"/>
          <a:stretch>
            <a:fillRect/>
          </a:stretch>
        </p:blipFill>
        <p:spPr>
          <a:xfrm>
            <a:off x="6452034" y="3664942"/>
            <a:ext cx="197044" cy="157559"/>
          </a:xfrm>
          <a:prstGeom prst="rect">
            <a:avLst/>
          </a:prstGeom>
        </p:spPr>
      </p:pic>
      <p:sp>
        <p:nvSpPr>
          <p:cNvPr id="23" name="Text 16"/>
          <p:cNvSpPr/>
          <p:nvPr/>
        </p:nvSpPr>
        <p:spPr>
          <a:xfrm>
            <a:off x="6806633" y="3629025"/>
            <a:ext cx="4572382" cy="738783"/>
          </a:xfrm>
          <a:prstGeom prst="rect">
            <a:avLst/>
          </a:prstGeom>
          <a:noFill/>
          <a:ln/>
        </p:spPr>
        <p:txBody>
          <a:bodyPr wrap="square" lIns="0" tIns="0" rIns="0" bIns="0" rtlCol="0" anchor="t">
            <a:normAutofit/>
          </a:bodyPr>
          <a:lstStyle/>
          <a:p>
            <a:pPr algn="l" indent="0" marL="0">
              <a:lnSpc>
                <a:spcPct val="130000"/>
              </a:lnSpc>
              <a:buNone/>
            </a:pPr>
            <a:r>
              <a:rPr lang="en-US" sz="1200" b="1" dirty="0">
                <a:solidFill>
                  <a:srgbClr val="000000"/>
                </a:solidFill>
                <a:latin typeface="Overpass Bold" pitchFamily="34" charset="0"/>
                <a:ea typeface="Overpass Bold" pitchFamily="34" charset="-122"/>
                <a:cs typeface="Overpass Bold" pitchFamily="34" charset="-120"/>
              </a:rPr>
              <a:t>Class discussion:</a:t>
            </a:r>
            <a:pPr algn="l" indent="0" marL="0">
              <a:lnSpc>
                <a:spcPct val="130000"/>
              </a:lnSpc>
              <a:buNone/>
            </a:pPr>
            <a:r>
              <a:rPr lang="en-US" sz="1200" dirty="0">
                <a:solidFill>
                  <a:srgbClr val="000000"/>
                </a:solidFill>
                <a:latin typeface="Overpass Light" pitchFamily="34" charset="0"/>
                <a:ea typeface="Overpass Light" pitchFamily="34" charset="-122"/>
                <a:cs typeface="Overpass Light" pitchFamily="34" charset="-120"/>
              </a:rPr>
              <a:t> Why would a bank reject a model that is highly accurate but cannot explain its decisions? Think about regulation, fairness, and customer trust.</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E6"/>
        </a:solidFill>
      </p:bgPr>
    </p:bg>
    <p:spTree>
      <p:nvGrpSpPr>
        <p:cNvPr id="1" name=""/>
        <p:cNvGrpSpPr/>
        <p:nvPr/>
      </p:nvGrpSpPr>
      <p:grpSpPr>
        <a:xfrm>
          <a:off x="0" y="0"/>
          <a:ext cx="0" cy="0"/>
          <a:chOff x="0" y="0"/>
          <a:chExt cx="0" cy="0"/>
        </a:xfrm>
      </p:grpSpPr>
      <p:sp>
        <p:nvSpPr>
          <p:cNvPr id="2" name="Text 0"/>
          <p:cNvSpPr/>
          <p:nvPr/>
        </p:nvSpPr>
        <p:spPr>
          <a:xfrm>
            <a:off x="661475" y="566749"/>
            <a:ext cx="10868745" cy="460375"/>
          </a:xfrm>
          <a:prstGeom prst="rect">
            <a:avLst/>
          </a:prstGeom>
          <a:noFill/>
          <a:ln/>
        </p:spPr>
        <p:txBody>
          <a:bodyPr wrap="none" lIns="0" tIns="0" rIns="0" bIns="0" rtlCol="0" anchor="t"/>
          <a:lstStyle/>
          <a:p>
            <a:pPr algn="l" indent="0" marL="0">
              <a:lnSpc>
                <a:spcPct val="104000"/>
              </a:lnSpc>
              <a:buNone/>
            </a:pPr>
            <a:r>
              <a:rPr lang="en-US" sz="2850" b="1" dirty="0">
                <a:solidFill>
                  <a:srgbClr val="233939"/>
                </a:solidFill>
                <a:latin typeface="Syne Bold" pitchFamily="34" charset="0"/>
                <a:ea typeface="Syne Bold" pitchFamily="34" charset="-122"/>
                <a:cs typeface="Syne Bold" pitchFamily="34" charset="-120"/>
              </a:rPr>
              <a:t>Algorithm: Logistic Regression</a:t>
            </a:r>
            <a:endParaRPr lang="en-US" sz="2850" dirty="0"/>
          </a:p>
        </p:txBody>
      </p:sp>
      <p:sp>
        <p:nvSpPr>
          <p:cNvPr id="3" name="Text 1"/>
          <p:cNvSpPr/>
          <p:nvPr/>
        </p:nvSpPr>
        <p:spPr>
          <a:xfrm>
            <a:off x="661475" y="1283891"/>
            <a:ext cx="10868745" cy="445691"/>
          </a:xfrm>
          <a:prstGeom prst="rect">
            <a:avLst/>
          </a:prstGeom>
          <a:noFill/>
          <a:ln/>
        </p:spPr>
        <p:txBody>
          <a:bodyPr wrap="square" lIns="0" tIns="0" rIns="0" bIns="0" rtlCol="0" anchor="t">
            <a:normAutofit/>
          </a:bodyPr>
          <a:lstStyle/>
          <a:p>
            <a:pPr algn="l" indent="0" marL="0">
              <a:lnSpc>
                <a:spcPct val="126000"/>
              </a:lnSpc>
              <a:buNone/>
            </a:pPr>
            <a:r>
              <a:rPr lang="en-US" sz="1150" dirty="0">
                <a:solidFill>
                  <a:srgbClr val="3B4E4E"/>
                </a:solidFill>
                <a:latin typeface="Overpass Light" pitchFamily="34" charset="0"/>
                <a:ea typeface="Overpass Light" pitchFamily="34" charset="-122"/>
                <a:cs typeface="Overpass Light" pitchFamily="34" charset="-120"/>
              </a:rPr>
              <a:t>Logistic regression is the workhorse of binary classification in regulated industries. It has been used in bank credit scorecards for decades because it combines reasonable accuracy with full interpretability.</a:t>
            </a:r>
            <a:endParaRPr lang="en-US" sz="1150" dirty="0"/>
          </a:p>
        </p:txBody>
      </p:sp>
      <p:sp>
        <p:nvSpPr>
          <p:cNvPr id="4" name="Text 2"/>
          <p:cNvSpPr/>
          <p:nvPr/>
        </p:nvSpPr>
        <p:spPr>
          <a:xfrm>
            <a:off x="661475" y="2011071"/>
            <a:ext cx="5254692" cy="230187"/>
          </a:xfrm>
          <a:prstGeom prst="rect">
            <a:avLst/>
          </a:prstGeom>
          <a:noFill/>
          <a:ln/>
        </p:spPr>
        <p:txBody>
          <a:bodyPr wrap="none" lIns="0" tIns="0" rIns="0" bIns="0" rtlCol="0" anchor="t"/>
          <a:lstStyle/>
          <a:p>
            <a:pPr algn="l" indent="0" marL="0">
              <a:lnSpc>
                <a:spcPct val="104000"/>
              </a:lnSpc>
              <a:buNone/>
            </a:pPr>
            <a:r>
              <a:rPr lang="en-US" sz="1400" b="1" dirty="0">
                <a:solidFill>
                  <a:srgbClr val="233939"/>
                </a:solidFill>
                <a:latin typeface="Syne Bold" pitchFamily="34" charset="0"/>
                <a:ea typeface="Syne Bold" pitchFamily="34" charset="-122"/>
                <a:cs typeface="Syne Bold" pitchFamily="34" charset="-120"/>
              </a:rPr>
              <a:t>How It Works</a:t>
            </a:r>
            <a:endParaRPr lang="en-US" sz="1400" dirty="0"/>
          </a:p>
        </p:txBody>
      </p:sp>
      <p:sp>
        <p:nvSpPr>
          <p:cNvPr id="5" name="Text 3"/>
          <p:cNvSpPr/>
          <p:nvPr/>
        </p:nvSpPr>
        <p:spPr>
          <a:xfrm>
            <a:off x="661475" y="2369641"/>
            <a:ext cx="5254692" cy="2018903"/>
          </a:xfrm>
          <a:prstGeom prst="rect">
            <a:avLst/>
          </a:prstGeom>
          <a:noFill/>
          <a:ln/>
        </p:spPr>
        <p:txBody>
          <a:bodyPr wrap="square" lIns="0" tIns="0" rIns="0" bIns="0" rtlCol="0" anchor="t">
            <a:normAutofit/>
          </a:bodyPr>
          <a:lstStyle/>
          <a:p>
            <a:pPr algn="l" indent="0" marL="0">
              <a:lnSpc>
                <a:spcPct val="126000"/>
              </a:lnSpc>
              <a:spcAft>
                <a:spcPts val="900"/>
              </a:spcAft>
              <a:buNone/>
            </a:pPr>
            <a:r>
              <a:rPr lang="en-US" sz="1150" dirty="0">
                <a:solidFill>
                  <a:srgbClr val="3B4E4E"/>
                </a:solidFill>
                <a:latin typeface="Overpass Light" pitchFamily="34" charset="0"/>
                <a:ea typeface="Overpass Light" pitchFamily="34" charset="-122"/>
                <a:cs typeface="Overpass Light" pitchFamily="34" charset="-120"/>
              </a:rPr>
              <a:t>Like linear regression, it multiplies each feature by a learned weight. But instead of outputting the raw total, it passes that total through the </a:t>
            </a:r>
            <a:pPr algn="l" indent="0" marL="0">
              <a:lnSpc>
                <a:spcPct val="126000"/>
              </a:lnSpc>
              <a:spcAft>
                <a:spcPts val="900"/>
              </a:spcAft>
              <a:buNone/>
            </a:pPr>
            <a:r>
              <a:rPr lang="en-US" sz="1150" b="1" dirty="0">
                <a:solidFill>
                  <a:srgbClr val="3B4E4E"/>
                </a:solidFill>
                <a:latin typeface="Overpass Bold" pitchFamily="34" charset="0"/>
                <a:ea typeface="Overpass Bold" pitchFamily="34" charset="-122"/>
                <a:cs typeface="Overpass Bold" pitchFamily="34" charset="-120"/>
              </a:rPr>
              <a:t>sigmoid function</a:t>
            </a:r>
            <a:pPr algn="l" indent="0" marL="0">
              <a:lnSpc>
                <a:spcPct val="126000"/>
              </a:lnSpc>
              <a:spcAft>
                <a:spcPts val="900"/>
              </a:spcAft>
              <a:buNone/>
            </a:pPr>
            <a:r>
              <a:rPr lang="en-US" sz="1150" dirty="0">
                <a:solidFill>
                  <a:srgbClr val="3B4E4E"/>
                </a:solidFill>
                <a:latin typeface="Overpass Light" pitchFamily="34" charset="0"/>
                <a:ea typeface="Overpass Light" pitchFamily="34" charset="-122"/>
                <a:cs typeface="Overpass Light" pitchFamily="34" charset="-120"/>
              </a:rPr>
              <a:t> — a mathematical formula that squashes any number into a value between 0 and 1.</a:t>
            </a:r>
            <a:endParaRPr lang="en-US" sz="1150" dirty="0"/>
          </a:p>
          <a:p>
            <a:pPr algn="l" indent="0" marL="0">
              <a:lnSpc>
                <a:spcPct val="126000"/>
              </a:lnSpc>
              <a:spcAft>
                <a:spcPts val="900"/>
              </a:spcAft>
              <a:buNone/>
            </a:pPr>
            <a:r>
              <a:rPr lang="en-US" sz="1150" dirty="0">
                <a:solidFill>
                  <a:srgbClr val="3B4E4E"/>
                </a:solidFill>
                <a:latin typeface="Overpass Light" pitchFamily="34" charset="0"/>
                <a:ea typeface="Overpass Light" pitchFamily="34" charset="-122"/>
                <a:cs typeface="Overpass Light" pitchFamily="34" charset="-120"/>
              </a:rPr>
              <a:t>That value is a </a:t>
            </a:r>
            <a:pPr algn="l" indent="0" marL="0">
              <a:lnSpc>
                <a:spcPct val="126000"/>
              </a:lnSpc>
              <a:spcAft>
                <a:spcPts val="900"/>
              </a:spcAft>
              <a:buNone/>
            </a:pPr>
            <a:r>
              <a:rPr lang="en-US" sz="1150" b="1" dirty="0">
                <a:solidFill>
                  <a:srgbClr val="3B4E4E"/>
                </a:solidFill>
                <a:latin typeface="Overpass Bold" pitchFamily="34" charset="0"/>
                <a:ea typeface="Overpass Bold" pitchFamily="34" charset="-122"/>
                <a:cs typeface="Overpass Bold" pitchFamily="34" charset="-120"/>
              </a:rPr>
              <a:t>probability</a:t>
            </a:r>
            <a:pPr algn="l" indent="0" marL="0">
              <a:lnSpc>
                <a:spcPct val="126000"/>
              </a:lnSpc>
              <a:spcAft>
                <a:spcPts val="900"/>
              </a:spcAft>
              <a:buNone/>
            </a:pPr>
            <a:r>
              <a:rPr lang="en-US" sz="1150" dirty="0">
                <a:solidFill>
                  <a:srgbClr val="3B4E4E"/>
                </a:solidFill>
                <a:latin typeface="Overpass Light" pitchFamily="34" charset="0"/>
                <a:ea typeface="Overpass Light" pitchFamily="34" charset="-122"/>
                <a:cs typeface="Overpass Light" pitchFamily="34" charset="-120"/>
              </a:rPr>
              <a:t>. You then choose a cut-off threshold — commonly 0.5 — to convert the probability into a decision: above the threshold means "likely to default", below means "likely to repay".</a:t>
            </a:r>
            <a:endParaRPr lang="en-US" sz="1150" dirty="0"/>
          </a:p>
          <a:p>
            <a:pPr algn="l" indent="0" marL="0">
              <a:lnSpc>
                <a:spcPct val="126000"/>
              </a:lnSpc>
              <a:buNone/>
            </a:pPr>
            <a:r>
              <a:rPr lang="en-US" sz="1150" dirty="0">
                <a:solidFill>
                  <a:srgbClr val="3B4E4E"/>
                </a:solidFill>
                <a:latin typeface="Overpass Light" pitchFamily="34" charset="0"/>
                <a:ea typeface="Overpass Light" pitchFamily="34" charset="-122"/>
                <a:cs typeface="Overpass Light" pitchFamily="34" charset="-120"/>
              </a:rPr>
              <a:t>The threshold itself can be tuned to control the trade-off between missing defaults and wrongly rejecting good customers.</a:t>
            </a:r>
            <a:endParaRPr lang="en-US" sz="1150" dirty="0"/>
          </a:p>
        </p:txBody>
      </p:sp>
      <p:sp>
        <p:nvSpPr>
          <p:cNvPr id="6" name="Text 4"/>
          <p:cNvSpPr/>
          <p:nvPr/>
        </p:nvSpPr>
        <p:spPr>
          <a:xfrm>
            <a:off x="6281878" y="2011071"/>
            <a:ext cx="5254692" cy="230187"/>
          </a:xfrm>
          <a:prstGeom prst="rect">
            <a:avLst/>
          </a:prstGeom>
          <a:noFill/>
          <a:ln/>
        </p:spPr>
        <p:txBody>
          <a:bodyPr wrap="none" lIns="0" tIns="0" rIns="0" bIns="0" rtlCol="0" anchor="t"/>
          <a:lstStyle/>
          <a:p>
            <a:pPr algn="l" indent="0" marL="0">
              <a:lnSpc>
                <a:spcPct val="104000"/>
              </a:lnSpc>
              <a:buNone/>
            </a:pPr>
            <a:r>
              <a:rPr lang="en-US" sz="1400" b="1" dirty="0">
                <a:solidFill>
                  <a:srgbClr val="233939"/>
                </a:solidFill>
                <a:latin typeface="Syne Bold" pitchFamily="34" charset="0"/>
                <a:ea typeface="Syne Bold" pitchFamily="34" charset="-122"/>
                <a:cs typeface="Syne Bold" pitchFamily="34" charset="-120"/>
              </a:rPr>
              <a:t>What to Expect as Output</a:t>
            </a:r>
            <a:endParaRPr lang="en-US" sz="1400" dirty="0"/>
          </a:p>
        </p:txBody>
      </p:sp>
      <p:sp>
        <p:nvSpPr>
          <p:cNvPr id="7" name="Text 5"/>
          <p:cNvSpPr/>
          <p:nvPr/>
        </p:nvSpPr>
        <p:spPr>
          <a:xfrm>
            <a:off x="6281878" y="2369641"/>
            <a:ext cx="5254692" cy="668536"/>
          </a:xfrm>
          <a:prstGeom prst="rect">
            <a:avLst/>
          </a:prstGeom>
          <a:noFill/>
          <a:ln/>
        </p:spPr>
        <p:txBody>
          <a:bodyPr wrap="square" lIns="0" tIns="0" rIns="0" bIns="0" rtlCol="0" anchor="t">
            <a:normAutofit/>
          </a:bodyPr>
          <a:lstStyle/>
          <a:p>
            <a:pPr algn="l" indent="0" marL="0">
              <a:lnSpc>
                <a:spcPct val="126000"/>
              </a:lnSpc>
              <a:buNone/>
            </a:pPr>
            <a:r>
              <a:rPr lang="en-US" sz="1150" dirty="0">
                <a:solidFill>
                  <a:srgbClr val="3B4E4E"/>
                </a:solidFill>
                <a:latin typeface="Overpass Light" pitchFamily="34" charset="0"/>
                <a:ea typeface="Overpass Light" pitchFamily="34" charset="-122"/>
                <a:cs typeface="Overpass Light" pitchFamily="34" charset="-120"/>
              </a:rPr>
              <a:t>A probability for each applicant — for example, "18% chance of default" — plus weights that show which features increase or decrease the risk. This output is directly usable in a credit scorecard.</a:t>
            </a:r>
            <a:endParaRPr lang="en-US" sz="1150" dirty="0"/>
          </a:p>
        </p:txBody>
      </p:sp>
      <p:pic>
        <p:nvPicPr>
          <p:cNvPr id="8"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281878" y="3185716"/>
            <a:ext cx="2561764" cy="2038350"/>
          </a:xfrm>
          <a:prstGeom prst="rect">
            <a:avLst/>
          </a:prstGeom>
        </p:spPr>
      </p:pic>
      <p:sp>
        <p:nvSpPr>
          <p:cNvPr id="9" name="Text 6"/>
          <p:cNvSpPr/>
          <p:nvPr/>
        </p:nvSpPr>
        <p:spPr>
          <a:xfrm>
            <a:off x="6524363" y="3352006"/>
            <a:ext cx="2152993" cy="460375"/>
          </a:xfrm>
          <a:prstGeom prst="rect">
            <a:avLst/>
          </a:prstGeom>
          <a:noFill/>
          <a:ln/>
        </p:spPr>
        <p:txBody>
          <a:bodyPr wrap="square" lIns="0" tIns="0" rIns="0" bIns="0" rtlCol="0" anchor="t">
            <a:normAutofit/>
          </a:bodyPr>
          <a:lstStyle/>
          <a:p>
            <a:pPr algn="l" indent="0" marL="0">
              <a:lnSpc>
                <a:spcPct val="104000"/>
              </a:lnSpc>
              <a:buNone/>
            </a:pPr>
            <a:r>
              <a:rPr lang="en-US" sz="1400" b="1" dirty="0">
                <a:solidFill>
                  <a:srgbClr val="3B4E4E"/>
                </a:solidFill>
                <a:latin typeface="Syne Bold" pitchFamily="34" charset="0"/>
                <a:ea typeface="Syne Bold" pitchFamily="34" charset="-122"/>
                <a:cs typeface="Syne Bold" pitchFamily="34" charset="-120"/>
              </a:rPr>
              <a:t>✓ Fast and Explainable</a:t>
            </a:r>
            <a:endParaRPr lang="en-US" sz="1400" dirty="0"/>
          </a:p>
        </p:txBody>
      </p:sp>
      <p:sp>
        <p:nvSpPr>
          <p:cNvPr id="10" name="Text 7"/>
          <p:cNvSpPr/>
          <p:nvPr/>
        </p:nvSpPr>
        <p:spPr>
          <a:xfrm>
            <a:off x="6524363" y="3943548"/>
            <a:ext cx="2152993" cy="668536"/>
          </a:xfrm>
          <a:prstGeom prst="rect">
            <a:avLst/>
          </a:prstGeom>
          <a:noFill/>
          <a:ln/>
        </p:spPr>
        <p:txBody>
          <a:bodyPr wrap="square" lIns="0" tIns="0" rIns="0" bIns="0" rtlCol="0" anchor="t">
            <a:normAutofit/>
          </a:bodyPr>
          <a:lstStyle/>
          <a:p>
            <a:pPr algn="l" indent="0" marL="0">
              <a:lnSpc>
                <a:spcPct val="126000"/>
              </a:lnSpc>
              <a:buNone/>
            </a:pPr>
            <a:r>
              <a:rPr lang="en-US" sz="1150" dirty="0">
                <a:solidFill>
                  <a:srgbClr val="3B4E4E"/>
                </a:solidFill>
                <a:latin typeface="Overpass Light" pitchFamily="34" charset="0"/>
                <a:ea typeface="Overpass Light" pitchFamily="34" charset="-122"/>
                <a:cs typeface="Overpass Light" pitchFamily="34" charset="-120"/>
              </a:rPr>
              <a:t>Output is a clear probability with feature-level explanations. Regulators accept it.</a:t>
            </a:r>
            <a:endParaRPr lang="en-US" sz="1150" dirty="0"/>
          </a:p>
        </p:txBody>
      </p:sp>
      <p:pic>
        <p:nvPicPr>
          <p:cNvPr id="11"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974806" y="3185716"/>
            <a:ext cx="2561764" cy="2038350"/>
          </a:xfrm>
          <a:prstGeom prst="rect">
            <a:avLst/>
          </a:prstGeom>
        </p:spPr>
      </p:pic>
      <p:sp>
        <p:nvSpPr>
          <p:cNvPr id="12" name="Text 8"/>
          <p:cNvSpPr/>
          <p:nvPr/>
        </p:nvSpPr>
        <p:spPr>
          <a:xfrm>
            <a:off x="9217291" y="3352006"/>
            <a:ext cx="2152993" cy="460375"/>
          </a:xfrm>
          <a:prstGeom prst="rect">
            <a:avLst/>
          </a:prstGeom>
          <a:noFill/>
          <a:ln/>
        </p:spPr>
        <p:txBody>
          <a:bodyPr wrap="square" lIns="0" tIns="0" rIns="0" bIns="0" rtlCol="0" anchor="t">
            <a:normAutofit/>
          </a:bodyPr>
          <a:lstStyle/>
          <a:p>
            <a:pPr algn="l" indent="0" marL="0">
              <a:lnSpc>
                <a:spcPct val="104000"/>
              </a:lnSpc>
              <a:buNone/>
            </a:pPr>
            <a:r>
              <a:rPr lang="en-US" sz="1400" b="1" dirty="0">
                <a:solidFill>
                  <a:srgbClr val="3B4E4E"/>
                </a:solidFill>
                <a:latin typeface="Syne Bold" pitchFamily="34" charset="0"/>
                <a:ea typeface="Syne Bold" pitchFamily="34" charset="-122"/>
                <a:cs typeface="Syne Bold" pitchFamily="34" charset="-120"/>
              </a:rPr>
              <a:t>✗ Misses Complex Patterns</a:t>
            </a:r>
            <a:endParaRPr lang="en-US" sz="1400" dirty="0"/>
          </a:p>
        </p:txBody>
      </p:sp>
      <p:sp>
        <p:nvSpPr>
          <p:cNvPr id="13" name="Text 9"/>
          <p:cNvSpPr/>
          <p:nvPr/>
        </p:nvSpPr>
        <p:spPr>
          <a:xfrm>
            <a:off x="9217291" y="3943548"/>
            <a:ext cx="2152993" cy="1114227"/>
          </a:xfrm>
          <a:prstGeom prst="rect">
            <a:avLst/>
          </a:prstGeom>
          <a:noFill/>
          <a:ln/>
        </p:spPr>
        <p:txBody>
          <a:bodyPr wrap="square" lIns="0" tIns="0" rIns="0" bIns="0" rtlCol="0" anchor="t">
            <a:normAutofit/>
          </a:bodyPr>
          <a:lstStyle/>
          <a:p>
            <a:pPr algn="l" indent="0" marL="0">
              <a:lnSpc>
                <a:spcPct val="126000"/>
              </a:lnSpc>
              <a:buNone/>
            </a:pPr>
            <a:r>
              <a:rPr lang="en-US" sz="1150" dirty="0">
                <a:solidFill>
                  <a:srgbClr val="3B4E4E"/>
                </a:solidFill>
                <a:latin typeface="Overpass Light" pitchFamily="34" charset="0"/>
                <a:ea typeface="Overpass Light" pitchFamily="34" charset="-122"/>
                <a:cs typeface="Overpass Light" pitchFamily="34" charset="-120"/>
              </a:rPr>
              <a:t>Assumes a roughly linear relationship between features and the log-odds of the outcome. Non-linear interactions require more advanced models.</a:t>
            </a:r>
            <a:endParaRPr lang="en-US" sz="1150" dirty="0"/>
          </a:p>
        </p:txBody>
      </p:sp>
      <p:sp>
        <p:nvSpPr>
          <p:cNvPr id="14" name="Text 10"/>
          <p:cNvSpPr/>
          <p:nvPr/>
        </p:nvSpPr>
        <p:spPr>
          <a:xfrm>
            <a:off x="6281878" y="5374388"/>
            <a:ext cx="5254692" cy="230187"/>
          </a:xfrm>
          <a:prstGeom prst="rect">
            <a:avLst/>
          </a:prstGeom>
          <a:noFill/>
          <a:ln/>
        </p:spPr>
        <p:txBody>
          <a:bodyPr wrap="none" lIns="0" tIns="0" rIns="0" bIns="0" rtlCol="0" anchor="t"/>
          <a:lstStyle/>
          <a:p>
            <a:pPr algn="l" indent="0" marL="0">
              <a:lnSpc>
                <a:spcPct val="104000"/>
              </a:lnSpc>
              <a:buNone/>
            </a:pPr>
            <a:r>
              <a:rPr lang="en-US" sz="1400" b="1" dirty="0">
                <a:solidFill>
                  <a:srgbClr val="233939"/>
                </a:solidFill>
                <a:latin typeface="Syne Bold" pitchFamily="34" charset="0"/>
                <a:ea typeface="Syne Bold" pitchFamily="34" charset="-122"/>
                <a:cs typeface="Syne Bold" pitchFamily="34" charset="-120"/>
              </a:rPr>
              <a:t>Real-World Use</a:t>
            </a:r>
            <a:endParaRPr lang="en-US" sz="1400" dirty="0"/>
          </a:p>
        </p:txBody>
      </p:sp>
      <p:sp>
        <p:nvSpPr>
          <p:cNvPr id="15" name="Text 11"/>
          <p:cNvSpPr/>
          <p:nvPr/>
        </p:nvSpPr>
        <p:spPr>
          <a:xfrm>
            <a:off x="6281878" y="5732959"/>
            <a:ext cx="5254692" cy="445691"/>
          </a:xfrm>
          <a:prstGeom prst="rect">
            <a:avLst/>
          </a:prstGeom>
          <a:noFill/>
          <a:ln/>
        </p:spPr>
        <p:txBody>
          <a:bodyPr wrap="square" lIns="0" tIns="0" rIns="0" bIns="0" rtlCol="0" anchor="t">
            <a:normAutofit/>
          </a:bodyPr>
          <a:lstStyle/>
          <a:p>
            <a:pPr algn="l" indent="0" marL="0">
              <a:lnSpc>
                <a:spcPct val="126000"/>
              </a:lnSpc>
              <a:buNone/>
            </a:pPr>
            <a:r>
              <a:rPr lang="en-US" sz="1150" dirty="0">
                <a:solidFill>
                  <a:srgbClr val="3B4E4E"/>
                </a:solidFill>
                <a:latin typeface="Overpass Light" pitchFamily="34" charset="0"/>
                <a:ea typeface="Overpass Light" pitchFamily="34" charset="-122"/>
                <a:cs typeface="Overpass Light" pitchFamily="34" charset="-120"/>
              </a:rPr>
              <a:t>Credit scorecards at major banks globally. Also used in hospitals to estimate patient risk of readmission or complication.</a:t>
            </a:r>
            <a:endParaRPr lang="en-US" sz="11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E6"/>
        </a:solidFill>
      </p:bgPr>
    </p:bg>
    <p:spTree>
      <p:nvGrpSpPr>
        <p:cNvPr id="1" name=""/>
        <p:cNvGrpSpPr/>
        <p:nvPr/>
      </p:nvGrpSpPr>
      <p:grpSpPr>
        <a:xfrm>
          <a:off x="0" y="0"/>
          <a:ext cx="0" cy="0"/>
          <a:chOff x="0" y="0"/>
          <a:chExt cx="0" cy="0"/>
        </a:xfrm>
      </p:grpSpPr>
      <p:sp>
        <p:nvSpPr>
          <p:cNvPr id="2" name="Shape 0"/>
          <p:cNvSpPr/>
          <p:nvPr/>
        </p:nvSpPr>
        <p:spPr>
          <a:xfrm>
            <a:off x="661475" y="454819"/>
            <a:ext cx="697490" cy="137319"/>
          </a:xfrm>
          <a:prstGeom prst="roundRect">
            <a:avLst>
              <a:gd name="adj" fmla="val 22131"/>
            </a:avLst>
          </a:prstGeom>
          <a:solidFill>
            <a:srgbClr val="DDEEE6"/>
          </a:solidFill>
          <a:ln/>
        </p:spPr>
      </p:sp>
      <p:sp>
        <p:nvSpPr>
          <p:cNvPr id="3" name="Text 1"/>
          <p:cNvSpPr/>
          <p:nvPr/>
        </p:nvSpPr>
        <p:spPr>
          <a:xfrm>
            <a:off x="715647" y="481905"/>
            <a:ext cx="1198731" cy="83145"/>
          </a:xfrm>
          <a:prstGeom prst="rect">
            <a:avLst/>
          </a:prstGeom>
          <a:noFill/>
          <a:ln/>
        </p:spPr>
        <p:txBody>
          <a:bodyPr wrap="none" lIns="0" tIns="0" rIns="0" bIns="0" rtlCol="0" anchor="t"/>
          <a:lstStyle/>
          <a:p>
            <a:pPr algn="l" indent="0" marL="0">
              <a:lnSpc>
                <a:spcPct val="96000"/>
              </a:lnSpc>
              <a:buNone/>
            </a:pPr>
            <a:r>
              <a:rPr lang="en-US" sz="550" dirty="0">
                <a:solidFill>
                  <a:srgbClr val="3B4E4E"/>
                </a:solidFill>
                <a:latin typeface="Overpass Light" pitchFamily="34" charset="0"/>
                <a:ea typeface="Overpass Light" pitchFamily="34" charset="-122"/>
                <a:cs typeface="Overpass Light" pitchFamily="34" charset="-120"/>
              </a:rPr>
              <a:t>BUSINESS CASE 3</a:t>
            </a:r>
            <a:endParaRPr lang="en-US" sz="550" dirty="0"/>
          </a:p>
        </p:txBody>
      </p:sp>
      <p:sp>
        <p:nvSpPr>
          <p:cNvPr id="4" name="Text 2"/>
          <p:cNvSpPr/>
          <p:nvPr/>
        </p:nvSpPr>
        <p:spPr>
          <a:xfrm>
            <a:off x="661475" y="614242"/>
            <a:ext cx="10868745" cy="282575"/>
          </a:xfrm>
          <a:prstGeom prst="rect">
            <a:avLst/>
          </a:prstGeom>
          <a:noFill/>
          <a:ln/>
        </p:spPr>
        <p:txBody>
          <a:bodyPr wrap="none" lIns="0" tIns="0" rIns="0" bIns="0" rtlCol="0" anchor="t"/>
          <a:lstStyle/>
          <a:p>
            <a:pPr algn="l" indent="0" marL="0">
              <a:lnSpc>
                <a:spcPct val="104000"/>
              </a:lnSpc>
              <a:buNone/>
            </a:pPr>
            <a:r>
              <a:rPr lang="en-US" sz="1750" b="1" dirty="0">
                <a:solidFill>
                  <a:srgbClr val="233939"/>
                </a:solidFill>
                <a:latin typeface="Syne Bold" pitchFamily="34" charset="0"/>
                <a:ea typeface="Syne Bold" pitchFamily="34" charset="-122"/>
                <a:cs typeface="Syne Bold" pitchFamily="34" charset="-120"/>
              </a:rPr>
              <a:t>Which Customers Will Leave Us?</a:t>
            </a:r>
            <a:endParaRPr lang="en-US" sz="1750" dirty="0"/>
          </a:p>
        </p:txBody>
      </p:sp>
      <p:sp>
        <p:nvSpPr>
          <p:cNvPr id="5" name="Text 3"/>
          <p:cNvSpPr/>
          <p:nvPr/>
        </p:nvSpPr>
        <p:spPr>
          <a:xfrm>
            <a:off x="661475" y="1017984"/>
            <a:ext cx="5324044" cy="141387"/>
          </a:xfrm>
          <a:prstGeom prst="rect">
            <a:avLst/>
          </a:prstGeom>
          <a:noFill/>
          <a:ln/>
        </p:spPr>
        <p:txBody>
          <a:bodyPr wrap="none" lIns="0" tIns="0" rIns="0" bIns="0" rtlCol="0" anchor="t"/>
          <a:lstStyle/>
          <a:p>
            <a:pPr algn="l" indent="0" marL="0">
              <a:lnSpc>
                <a:spcPct val="104000"/>
              </a:lnSpc>
              <a:buNone/>
            </a:pPr>
            <a:r>
              <a:rPr lang="en-US" sz="850" b="1" dirty="0">
                <a:solidFill>
                  <a:srgbClr val="233939"/>
                </a:solidFill>
                <a:latin typeface="Syne Bold" pitchFamily="34" charset="0"/>
                <a:ea typeface="Syne Bold" pitchFamily="34" charset="-122"/>
                <a:cs typeface="Syne Bold" pitchFamily="34" charset="-120"/>
              </a:rPr>
              <a:t>The Situation</a:t>
            </a:r>
            <a:endParaRPr lang="en-US" sz="850" dirty="0"/>
          </a:p>
        </p:txBody>
      </p:sp>
      <p:sp>
        <p:nvSpPr>
          <p:cNvPr id="6" name="Text 4"/>
          <p:cNvSpPr/>
          <p:nvPr/>
        </p:nvSpPr>
        <p:spPr>
          <a:xfrm>
            <a:off x="661475" y="1208782"/>
            <a:ext cx="5324044" cy="223838"/>
          </a:xfrm>
          <a:prstGeom prst="rect">
            <a:avLst/>
          </a:prstGeom>
          <a:noFill/>
          <a:ln/>
        </p:spPr>
        <p:txBody>
          <a:bodyPr wrap="square" lIns="0" tIns="0" rIns="0" bIns="0" rtlCol="0" anchor="t">
            <a:normAutofit/>
          </a:bodyPr>
          <a:lstStyle/>
          <a:p>
            <a:pPr algn="l" indent="0" marL="0">
              <a:lnSpc>
                <a:spcPct val="103000"/>
              </a:lnSpc>
              <a:buNone/>
            </a:pPr>
            <a:r>
              <a:rPr lang="en-US" sz="700" dirty="0">
                <a:solidFill>
                  <a:srgbClr val="3B4E4E"/>
                </a:solidFill>
                <a:latin typeface="Overpass Light" pitchFamily="34" charset="0"/>
                <a:ea typeface="Overpass Light" pitchFamily="34" charset="-122"/>
                <a:cs typeface="Overpass Light" pitchFamily="34" charset="-120"/>
              </a:rPr>
              <a:t>A telecom company loses customers every month. It wants to identify who is likely to leave — before they do — so it can offer them a better plan or targeted incentive.</a:t>
            </a:r>
            <a:endParaRPr lang="en-US" sz="700" dirty="0"/>
          </a:p>
        </p:txBody>
      </p:sp>
      <p:sp>
        <p:nvSpPr>
          <p:cNvPr id="7" name="Text 5"/>
          <p:cNvSpPr/>
          <p:nvPr/>
        </p:nvSpPr>
        <p:spPr>
          <a:xfrm>
            <a:off x="661475" y="1482030"/>
            <a:ext cx="5324044" cy="141387"/>
          </a:xfrm>
          <a:prstGeom prst="rect">
            <a:avLst/>
          </a:prstGeom>
          <a:noFill/>
          <a:ln/>
        </p:spPr>
        <p:txBody>
          <a:bodyPr wrap="none" lIns="0" tIns="0" rIns="0" bIns="0" rtlCol="0" anchor="t"/>
          <a:lstStyle/>
          <a:p>
            <a:pPr algn="l" indent="0" marL="0">
              <a:lnSpc>
                <a:spcPct val="104000"/>
              </a:lnSpc>
              <a:buNone/>
            </a:pPr>
            <a:r>
              <a:rPr lang="en-US" sz="850" b="1" dirty="0">
                <a:solidFill>
                  <a:srgbClr val="233939"/>
                </a:solidFill>
                <a:latin typeface="Syne Bold" pitchFamily="34" charset="0"/>
                <a:ea typeface="Syne Bold" pitchFamily="34" charset="-122"/>
                <a:cs typeface="Syne Bold" pitchFamily="34" charset="-120"/>
              </a:rPr>
              <a:t>Thinking It Through</a:t>
            </a:r>
            <a:endParaRPr lang="en-US" sz="850" dirty="0"/>
          </a:p>
        </p:txBody>
      </p:sp>
      <p:pic>
        <p:nvPicPr>
          <p:cNvPr id="8"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48775" y="1666280"/>
            <a:ext cx="2643816" cy="440035"/>
          </a:xfrm>
          <a:prstGeom prst="rect">
            <a:avLst/>
          </a:prstGeom>
        </p:spPr>
      </p:pic>
      <p:sp>
        <p:nvSpPr>
          <p:cNvPr id="9" name="Text 6"/>
          <p:cNvSpPr/>
          <p:nvPr/>
        </p:nvSpPr>
        <p:spPr>
          <a:xfrm>
            <a:off x="777260" y="1678980"/>
            <a:ext cx="2515331" cy="141387"/>
          </a:xfrm>
          <a:prstGeom prst="rect">
            <a:avLst/>
          </a:prstGeom>
          <a:noFill/>
          <a:ln/>
        </p:spPr>
        <p:txBody>
          <a:bodyPr wrap="none" lIns="0" tIns="0" rIns="0" bIns="0" rtlCol="0" anchor="t"/>
          <a:lstStyle/>
          <a:p>
            <a:pPr algn="l" indent="0" marL="0">
              <a:lnSpc>
                <a:spcPct val="104000"/>
              </a:lnSpc>
              <a:buNone/>
            </a:pPr>
            <a:r>
              <a:rPr lang="en-US" sz="850" b="1" dirty="0">
                <a:solidFill>
                  <a:srgbClr val="3B4E4E"/>
                </a:solidFill>
                <a:latin typeface="Syne Bold" pitchFamily="34" charset="0"/>
                <a:ea typeface="Syne Bold" pitchFamily="34" charset="-122"/>
                <a:cs typeface="Syne Bold" pitchFamily="34" charset="-120"/>
              </a:rPr>
              <a:t>Past data with correct answers?</a:t>
            </a:r>
            <a:endParaRPr lang="en-US" sz="850" dirty="0"/>
          </a:p>
        </p:txBody>
      </p:sp>
      <p:sp>
        <p:nvSpPr>
          <p:cNvPr id="10" name="Text 7"/>
          <p:cNvSpPr/>
          <p:nvPr/>
        </p:nvSpPr>
        <p:spPr>
          <a:xfrm>
            <a:off x="777260" y="1869777"/>
            <a:ext cx="2515331" cy="223838"/>
          </a:xfrm>
          <a:prstGeom prst="rect">
            <a:avLst/>
          </a:prstGeom>
          <a:noFill/>
          <a:ln/>
        </p:spPr>
        <p:txBody>
          <a:bodyPr wrap="square" lIns="0" tIns="0" rIns="0" bIns="0" rtlCol="0" anchor="t">
            <a:normAutofit/>
          </a:bodyPr>
          <a:lstStyle/>
          <a:p>
            <a:pPr algn="l" indent="0" marL="0">
              <a:lnSpc>
                <a:spcPct val="103000"/>
              </a:lnSpc>
              <a:buNone/>
            </a:pPr>
            <a:r>
              <a:rPr lang="en-US" sz="700" dirty="0">
                <a:solidFill>
                  <a:srgbClr val="3B4E4E"/>
                </a:solidFill>
                <a:latin typeface="Overpass Light" pitchFamily="34" charset="0"/>
                <a:ea typeface="Overpass Light" pitchFamily="34" charset="-122"/>
                <a:cs typeface="Overpass Light" pitchFamily="34" charset="-120"/>
              </a:rPr>
              <a:t>Yes — records for customers who left (churned) and who stayed.</a:t>
            </a:r>
            <a:endParaRPr lang="en-US" sz="700" dirty="0"/>
          </a:p>
        </p:txBody>
      </p:sp>
      <p:pic>
        <p:nvPicPr>
          <p:cNvPr id="11"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341703" y="1666280"/>
            <a:ext cx="2643816" cy="440035"/>
          </a:xfrm>
          <a:prstGeom prst="rect">
            <a:avLst/>
          </a:prstGeom>
        </p:spPr>
      </p:pic>
      <p:sp>
        <p:nvSpPr>
          <p:cNvPr id="12" name="Text 8"/>
          <p:cNvSpPr/>
          <p:nvPr/>
        </p:nvSpPr>
        <p:spPr>
          <a:xfrm>
            <a:off x="3470188" y="1678980"/>
            <a:ext cx="2515331" cy="141387"/>
          </a:xfrm>
          <a:prstGeom prst="rect">
            <a:avLst/>
          </a:prstGeom>
          <a:noFill/>
          <a:ln/>
        </p:spPr>
        <p:txBody>
          <a:bodyPr wrap="none" lIns="0" tIns="0" rIns="0" bIns="0" rtlCol="0" anchor="t"/>
          <a:lstStyle/>
          <a:p>
            <a:pPr algn="l" indent="0" marL="0">
              <a:lnSpc>
                <a:spcPct val="104000"/>
              </a:lnSpc>
              <a:buNone/>
            </a:pPr>
            <a:r>
              <a:rPr lang="en-US" sz="850" b="1" dirty="0">
                <a:solidFill>
                  <a:srgbClr val="3B4E4E"/>
                </a:solidFill>
                <a:latin typeface="Syne Bold" pitchFamily="34" charset="0"/>
                <a:ea typeface="Syne Bold" pitchFamily="34" charset="-122"/>
                <a:cs typeface="Syne Bold" pitchFamily="34" charset="-120"/>
              </a:rPr>
              <a:t>Number or category?</a:t>
            </a:r>
            <a:endParaRPr lang="en-US" sz="850" dirty="0"/>
          </a:p>
        </p:txBody>
      </p:sp>
      <p:sp>
        <p:nvSpPr>
          <p:cNvPr id="13" name="Text 9"/>
          <p:cNvSpPr/>
          <p:nvPr/>
        </p:nvSpPr>
        <p:spPr>
          <a:xfrm>
            <a:off x="3470188" y="1869777"/>
            <a:ext cx="2515331" cy="111919"/>
          </a:xfrm>
          <a:prstGeom prst="rect">
            <a:avLst/>
          </a:prstGeom>
          <a:noFill/>
          <a:ln/>
        </p:spPr>
        <p:txBody>
          <a:bodyPr wrap="none" lIns="0" tIns="0" rIns="0" bIns="0" rtlCol="0" anchor="t"/>
          <a:lstStyle/>
          <a:p>
            <a:pPr algn="l" indent="0" marL="0">
              <a:lnSpc>
                <a:spcPct val="103000"/>
              </a:lnSpc>
              <a:buNone/>
            </a:pPr>
            <a:r>
              <a:rPr lang="en-US" sz="700" dirty="0">
                <a:solidFill>
                  <a:srgbClr val="3B4E4E"/>
                </a:solidFill>
                <a:latin typeface="Overpass Light" pitchFamily="34" charset="0"/>
                <a:ea typeface="Overpass Light" pitchFamily="34" charset="-122"/>
                <a:cs typeface="Overpass Light" pitchFamily="34" charset="-120"/>
              </a:rPr>
              <a:t>Category: leave / stay.</a:t>
            </a:r>
            <a:endParaRPr lang="en-US" sz="700" dirty="0"/>
          </a:p>
        </p:txBody>
      </p:sp>
      <p:pic>
        <p:nvPicPr>
          <p:cNvPr id="14"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48775" y="2179836"/>
            <a:ext cx="2643816" cy="551954"/>
          </a:xfrm>
          <a:prstGeom prst="rect">
            <a:avLst/>
          </a:prstGeom>
        </p:spPr>
      </p:pic>
      <p:sp>
        <p:nvSpPr>
          <p:cNvPr id="15" name="Text 10"/>
          <p:cNvSpPr/>
          <p:nvPr/>
        </p:nvSpPr>
        <p:spPr>
          <a:xfrm>
            <a:off x="777260" y="2192536"/>
            <a:ext cx="2515331" cy="141387"/>
          </a:xfrm>
          <a:prstGeom prst="rect">
            <a:avLst/>
          </a:prstGeom>
          <a:noFill/>
          <a:ln/>
        </p:spPr>
        <p:txBody>
          <a:bodyPr wrap="none" lIns="0" tIns="0" rIns="0" bIns="0" rtlCol="0" anchor="t"/>
          <a:lstStyle/>
          <a:p>
            <a:pPr algn="l" indent="0" marL="0">
              <a:lnSpc>
                <a:spcPct val="104000"/>
              </a:lnSpc>
              <a:buNone/>
            </a:pPr>
            <a:r>
              <a:rPr lang="en-US" sz="850" b="1" dirty="0">
                <a:solidFill>
                  <a:srgbClr val="3B4E4E"/>
                </a:solidFill>
                <a:latin typeface="Syne Bold" pitchFamily="34" charset="0"/>
                <a:ea typeface="Syne Bold" pitchFamily="34" charset="-122"/>
                <a:cs typeface="Syne Bold" pitchFamily="34" charset="-120"/>
              </a:rPr>
              <a:t>Explainability needed?</a:t>
            </a:r>
            <a:endParaRPr lang="en-US" sz="850" dirty="0"/>
          </a:p>
        </p:txBody>
      </p:sp>
      <p:sp>
        <p:nvSpPr>
          <p:cNvPr id="16" name="Text 11"/>
          <p:cNvSpPr/>
          <p:nvPr/>
        </p:nvSpPr>
        <p:spPr>
          <a:xfrm>
            <a:off x="777260" y="2383334"/>
            <a:ext cx="2515331" cy="335756"/>
          </a:xfrm>
          <a:prstGeom prst="rect">
            <a:avLst/>
          </a:prstGeom>
          <a:noFill/>
          <a:ln/>
        </p:spPr>
        <p:txBody>
          <a:bodyPr wrap="square" lIns="0" tIns="0" rIns="0" bIns="0" rtlCol="0" anchor="t">
            <a:normAutofit/>
          </a:bodyPr>
          <a:lstStyle/>
          <a:p>
            <a:pPr algn="l" indent="0" marL="0">
              <a:lnSpc>
                <a:spcPct val="103000"/>
              </a:lnSpc>
              <a:buNone/>
            </a:pPr>
            <a:r>
              <a:rPr lang="en-US" sz="700" dirty="0">
                <a:solidFill>
                  <a:srgbClr val="3B4E4E"/>
                </a:solidFill>
                <a:latin typeface="Overpass Light" pitchFamily="34" charset="0"/>
                <a:ea typeface="Overpass Light" pitchFamily="34" charset="-122"/>
                <a:cs typeface="Overpass Light" pitchFamily="34" charset="-120"/>
              </a:rPr>
              <a:t>Yes. The marketing team wants clear, actionable rules — not just a score. They need to know </a:t>
            </a:r>
            <a:pPr algn="l" indent="0" marL="0">
              <a:lnSpc>
                <a:spcPct val="103000"/>
              </a:lnSpc>
              <a:buNone/>
            </a:pPr>
            <a:r>
              <a:rPr lang="en-US" sz="700" i="1" dirty="0">
                <a:solidFill>
                  <a:srgbClr val="3B4E4E"/>
                </a:solidFill>
                <a:latin typeface="Overpass Light" pitchFamily="34" charset="0"/>
                <a:ea typeface="Overpass Light" pitchFamily="34" charset="-122"/>
                <a:cs typeface="Overpass Light" pitchFamily="34" charset="-120"/>
              </a:rPr>
              <a:t>why</a:t>
            </a:r>
            <a:pPr algn="l" indent="0" marL="0">
              <a:lnSpc>
                <a:spcPct val="103000"/>
              </a:lnSpc>
              <a:buNone/>
            </a:pPr>
            <a:r>
              <a:rPr lang="en-US" sz="700" dirty="0">
                <a:solidFill>
                  <a:srgbClr val="3B4E4E"/>
                </a:solidFill>
                <a:latin typeface="Overpass Light" pitchFamily="34" charset="0"/>
                <a:ea typeface="Overpass Light" pitchFamily="34" charset="-122"/>
                <a:cs typeface="Overpass Light" pitchFamily="34" charset="-120"/>
              </a:rPr>
              <a:t> a customer is flagged, so they can tailor their offer.</a:t>
            </a:r>
            <a:endParaRPr lang="en-US" sz="700" dirty="0"/>
          </a:p>
        </p:txBody>
      </p:sp>
      <p:pic>
        <p:nvPicPr>
          <p:cNvPr id="17"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3341703" y="2179836"/>
            <a:ext cx="2643816" cy="551954"/>
          </a:xfrm>
          <a:prstGeom prst="rect">
            <a:avLst/>
          </a:prstGeom>
        </p:spPr>
      </p:pic>
      <p:sp>
        <p:nvSpPr>
          <p:cNvPr id="18" name="Text 12"/>
          <p:cNvSpPr/>
          <p:nvPr/>
        </p:nvSpPr>
        <p:spPr>
          <a:xfrm>
            <a:off x="3470188" y="2192536"/>
            <a:ext cx="2515331" cy="141387"/>
          </a:xfrm>
          <a:prstGeom prst="rect">
            <a:avLst/>
          </a:prstGeom>
          <a:noFill/>
          <a:ln/>
        </p:spPr>
        <p:txBody>
          <a:bodyPr wrap="none" lIns="0" tIns="0" rIns="0" bIns="0" rtlCol="0" anchor="t"/>
          <a:lstStyle/>
          <a:p>
            <a:pPr algn="l" indent="0" marL="0">
              <a:lnSpc>
                <a:spcPct val="104000"/>
              </a:lnSpc>
              <a:buNone/>
            </a:pPr>
            <a:r>
              <a:rPr lang="en-US" sz="850" b="1" dirty="0">
                <a:solidFill>
                  <a:srgbClr val="3B4E4E"/>
                </a:solidFill>
                <a:latin typeface="Syne Bold" pitchFamily="34" charset="0"/>
                <a:ea typeface="Syne Bold" pitchFamily="34" charset="-122"/>
                <a:cs typeface="Syne Bold" pitchFamily="34" charset="-120"/>
              </a:rPr>
              <a:t>Problem type</a:t>
            </a:r>
            <a:endParaRPr lang="en-US" sz="850" dirty="0"/>
          </a:p>
        </p:txBody>
      </p:sp>
      <p:sp>
        <p:nvSpPr>
          <p:cNvPr id="19" name="Text 13"/>
          <p:cNvSpPr/>
          <p:nvPr/>
        </p:nvSpPr>
        <p:spPr>
          <a:xfrm>
            <a:off x="3470188" y="2383334"/>
            <a:ext cx="2515331" cy="111919"/>
          </a:xfrm>
          <a:prstGeom prst="rect">
            <a:avLst/>
          </a:prstGeom>
          <a:noFill/>
          <a:ln/>
        </p:spPr>
        <p:txBody>
          <a:bodyPr wrap="none" lIns="0" tIns="0" rIns="0" bIns="0" rtlCol="0" anchor="t"/>
          <a:lstStyle/>
          <a:p>
            <a:pPr algn="l" indent="0" marL="0">
              <a:lnSpc>
                <a:spcPct val="103000"/>
              </a:lnSpc>
              <a:buNone/>
            </a:pPr>
            <a:r>
              <a:rPr lang="en-US" sz="700" b="1" dirty="0">
                <a:solidFill>
                  <a:srgbClr val="3B4E4E"/>
                </a:solidFill>
                <a:latin typeface="Overpass Bold" pitchFamily="34" charset="0"/>
                <a:ea typeface="Overpass Bold" pitchFamily="34" charset="-122"/>
                <a:cs typeface="Overpass Bold" pitchFamily="34" charset="-120"/>
              </a:rPr>
              <a:t>Supervised classification with readable rules.</a:t>
            </a:r>
            <a:endParaRPr lang="en-US" sz="700" dirty="0"/>
          </a:p>
        </p:txBody>
      </p:sp>
      <p:sp>
        <p:nvSpPr>
          <p:cNvPr id="20" name="Shape 14"/>
          <p:cNvSpPr/>
          <p:nvPr/>
        </p:nvSpPr>
        <p:spPr>
          <a:xfrm>
            <a:off x="661475" y="2774652"/>
            <a:ext cx="5324044" cy="357783"/>
          </a:xfrm>
          <a:prstGeom prst="roundRect">
            <a:avLst>
              <a:gd name="adj" fmla="val 10618"/>
            </a:avLst>
          </a:prstGeom>
          <a:solidFill>
            <a:srgbClr val="DDEEE6"/>
          </a:solidFill>
          <a:ln/>
        </p:spPr>
      </p:sp>
      <p:pic>
        <p:nvPicPr>
          <p:cNvPr id="21" name="Image 4" descr="preencoded.png">    </p:cNvPr>
          <p:cNvPicPr>
            <a:picLocks noChangeAspect="1"/>
          </p:cNvPicPr>
          <p:nvPr/>
        </p:nvPicPr>
        <p:blipFill>
          <a:blip r:embed="rId9"/>
          <a:stretch>
            <a:fillRect/>
          </a:stretch>
        </p:blipFill>
        <p:spPr>
          <a:xfrm>
            <a:off x="751861" y="2846586"/>
            <a:ext cx="113007" cy="90388"/>
          </a:xfrm>
          <a:prstGeom prst="rect">
            <a:avLst/>
          </a:prstGeom>
        </p:spPr>
      </p:pic>
      <p:sp>
        <p:nvSpPr>
          <p:cNvPr id="22" name="Text 15"/>
          <p:cNvSpPr/>
          <p:nvPr/>
        </p:nvSpPr>
        <p:spPr>
          <a:xfrm>
            <a:off x="955254" y="2841625"/>
            <a:ext cx="4939879" cy="223838"/>
          </a:xfrm>
          <a:prstGeom prst="rect">
            <a:avLst/>
          </a:prstGeom>
          <a:noFill/>
          <a:ln/>
        </p:spPr>
        <p:txBody>
          <a:bodyPr wrap="square" lIns="0" tIns="0" rIns="0" bIns="0" rtlCol="0" anchor="t">
            <a:normAutofit/>
          </a:bodyPr>
          <a:lstStyle/>
          <a:p>
            <a:pPr algn="l" indent="0" marL="0">
              <a:lnSpc>
                <a:spcPct val="103000"/>
              </a:lnSpc>
              <a:buNone/>
            </a:pPr>
            <a:r>
              <a:rPr lang="en-US" sz="700" b="1" dirty="0">
                <a:solidFill>
                  <a:srgbClr val="000000"/>
                </a:solidFill>
                <a:latin typeface="Overpass Bold" pitchFamily="34" charset="0"/>
                <a:ea typeface="Overpass Bold" pitchFamily="34" charset="-122"/>
                <a:cs typeface="Overpass Bold" pitchFamily="34" charset="-120"/>
              </a:rPr>
              <a:t>Class discussion:</a:t>
            </a:r>
            <a:pPr algn="l" indent="0" marL="0">
              <a:lnSpc>
                <a:spcPct val="103000"/>
              </a:lnSpc>
              <a:buNone/>
            </a:pPr>
            <a:r>
              <a:rPr lang="en-US" sz="700" dirty="0">
                <a:solidFill>
                  <a:srgbClr val="000000"/>
                </a:solidFill>
                <a:latin typeface="Overpass Light" pitchFamily="34" charset="0"/>
                <a:ea typeface="Overpass Light" pitchFamily="34" charset="-122"/>
                <a:cs typeface="Overpass Light" pitchFamily="34" charset="-120"/>
              </a:rPr>
              <a:t> What signs would tell you a customer is about to switch operators? Think about their contract type, usage patterns, and complaint history.</a:t>
            </a:r>
            <a:endParaRPr lang="en-US" sz="700" dirty="0"/>
          </a:p>
        </p:txBody>
      </p:sp>
      <p:pic>
        <p:nvPicPr>
          <p:cNvPr id="23" name="Image 5" descr="preencoded.png">    </p:cNvPr>
          <p:cNvPicPr>
            <a:picLocks noChangeAspect="1"/>
          </p:cNvPicPr>
          <p:nvPr/>
        </p:nvPicPr>
        <p:blipFill>
          <a:blip r:embed="rId10"/>
          <a:stretch>
            <a:fillRect/>
          </a:stretch>
        </p:blipFill>
        <p:spPr>
          <a:xfrm>
            <a:off x="6212526" y="1024136"/>
            <a:ext cx="5324044" cy="5324177"/>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E6"/>
        </a:solidFill>
      </p:bgPr>
    </p:bg>
    <p:spTree>
      <p:nvGrpSpPr>
        <p:cNvPr id="1" name=""/>
        <p:cNvGrpSpPr/>
        <p:nvPr/>
      </p:nvGrpSpPr>
      <p:grpSpPr>
        <a:xfrm>
          <a:off x="0" y="0"/>
          <a:ext cx="0" cy="0"/>
          <a:chOff x="0" y="0"/>
          <a:chExt cx="0" cy="0"/>
        </a:xfrm>
      </p:grpSpPr>
      <p:sp>
        <p:nvSpPr>
          <p:cNvPr id="2" name="Text 0"/>
          <p:cNvSpPr/>
          <p:nvPr/>
        </p:nvSpPr>
        <p:spPr>
          <a:xfrm>
            <a:off x="661475" y="487875"/>
            <a:ext cx="10868745" cy="436066"/>
          </a:xfrm>
          <a:prstGeom prst="rect">
            <a:avLst/>
          </a:prstGeom>
          <a:noFill/>
          <a:ln/>
        </p:spPr>
        <p:txBody>
          <a:bodyPr wrap="none" lIns="0" tIns="0" rIns="0" bIns="0" rtlCol="0" anchor="t"/>
          <a:lstStyle/>
          <a:p>
            <a:pPr algn="l" indent="0" marL="0">
              <a:lnSpc>
                <a:spcPct val="104000"/>
              </a:lnSpc>
              <a:buNone/>
            </a:pPr>
            <a:r>
              <a:rPr lang="en-US" sz="2700" b="1" dirty="0">
                <a:solidFill>
                  <a:srgbClr val="233939"/>
                </a:solidFill>
                <a:latin typeface="Syne Bold" pitchFamily="34" charset="0"/>
                <a:ea typeface="Syne Bold" pitchFamily="34" charset="-122"/>
                <a:cs typeface="Syne Bold" pitchFamily="34" charset="-120"/>
              </a:rPr>
              <a:t>Algorithm: Decision Tree</a:t>
            </a:r>
            <a:endParaRPr lang="en-US" sz="2700" dirty="0"/>
          </a:p>
        </p:txBody>
      </p:sp>
      <p:sp>
        <p:nvSpPr>
          <p:cNvPr id="3" name="Text 1"/>
          <p:cNvSpPr/>
          <p:nvPr/>
        </p:nvSpPr>
        <p:spPr>
          <a:xfrm>
            <a:off x="661475" y="1154112"/>
            <a:ext cx="10868745" cy="411758"/>
          </a:xfrm>
          <a:prstGeom prst="rect">
            <a:avLst/>
          </a:prstGeom>
          <a:noFill/>
          <a:ln/>
        </p:spPr>
        <p:txBody>
          <a:bodyPr wrap="square" lIns="0" tIns="0" rIns="0" bIns="0" rtlCol="0" anchor="t">
            <a:normAutofit/>
          </a:bodyPr>
          <a:lstStyle/>
          <a:p>
            <a:pPr algn="l" indent="0" marL="0">
              <a:lnSpc>
                <a:spcPct val="123000"/>
              </a:lnSpc>
              <a:buNone/>
            </a:pPr>
            <a:r>
              <a:rPr lang="en-US" sz="1050" dirty="0">
                <a:solidFill>
                  <a:srgbClr val="3B4E4E"/>
                </a:solidFill>
                <a:latin typeface="Overpass Light" pitchFamily="34" charset="0"/>
                <a:ea typeface="Overpass Light" pitchFamily="34" charset="-122"/>
                <a:cs typeface="Overpass Light" pitchFamily="34" charset="-120"/>
              </a:rPr>
              <a:t>A decision tree produces a model that looks exactly like a flowchart. Anyone in the business — not just data scientists — can read it, follow its logic, and act on it. This makes it uniquely valuable when the output must drive frontline decisions.</a:t>
            </a:r>
            <a:endParaRPr lang="en-US" sz="1050" dirty="0"/>
          </a:p>
        </p:txBody>
      </p:sp>
      <p:sp>
        <p:nvSpPr>
          <p:cNvPr id="4" name="Text 2"/>
          <p:cNvSpPr/>
          <p:nvPr/>
        </p:nvSpPr>
        <p:spPr>
          <a:xfrm>
            <a:off x="661475" y="1816001"/>
            <a:ext cx="5264217" cy="217984"/>
          </a:xfrm>
          <a:prstGeom prst="rect">
            <a:avLst/>
          </a:prstGeom>
          <a:noFill/>
          <a:ln/>
        </p:spPr>
        <p:txBody>
          <a:bodyPr wrap="none" lIns="0" tIns="0" rIns="0" bIns="0" rtlCol="0" anchor="t"/>
          <a:lstStyle/>
          <a:p>
            <a:pPr algn="l" indent="0" marL="0">
              <a:lnSpc>
                <a:spcPct val="104000"/>
              </a:lnSpc>
              <a:buNone/>
            </a:pPr>
            <a:r>
              <a:rPr lang="en-US" sz="1350" b="1" dirty="0">
                <a:solidFill>
                  <a:srgbClr val="233939"/>
                </a:solidFill>
                <a:latin typeface="Syne Bold" pitchFamily="34" charset="0"/>
                <a:ea typeface="Syne Bold" pitchFamily="34" charset="-122"/>
                <a:cs typeface="Syne Bold" pitchFamily="34" charset="-120"/>
              </a:rPr>
              <a:t>How It Works</a:t>
            </a:r>
            <a:endParaRPr lang="en-US" sz="1350" dirty="0"/>
          </a:p>
        </p:txBody>
      </p:sp>
      <p:sp>
        <p:nvSpPr>
          <p:cNvPr id="5" name="Text 3"/>
          <p:cNvSpPr/>
          <p:nvPr/>
        </p:nvSpPr>
        <p:spPr>
          <a:xfrm>
            <a:off x="661475" y="2151658"/>
            <a:ext cx="5264217" cy="1341239"/>
          </a:xfrm>
          <a:prstGeom prst="rect">
            <a:avLst/>
          </a:prstGeom>
          <a:noFill/>
          <a:ln/>
        </p:spPr>
        <p:txBody>
          <a:bodyPr wrap="square" lIns="0" tIns="0" rIns="0" bIns="0" rtlCol="0" anchor="t">
            <a:normAutofit/>
          </a:bodyPr>
          <a:lstStyle/>
          <a:p>
            <a:pPr algn="l" indent="0" marL="0">
              <a:lnSpc>
                <a:spcPct val="123000"/>
              </a:lnSpc>
              <a:spcAft>
                <a:spcPts val="800"/>
              </a:spcAft>
              <a:buNone/>
            </a:pPr>
            <a:r>
              <a:rPr lang="en-US" sz="1050" dirty="0">
                <a:solidFill>
                  <a:srgbClr val="3B4E4E"/>
                </a:solidFill>
                <a:latin typeface="Overpass Light" pitchFamily="34" charset="0"/>
                <a:ea typeface="Overpass Light" pitchFamily="34" charset="-122"/>
                <a:cs typeface="Overpass Light" pitchFamily="34" charset="-120"/>
              </a:rPr>
              <a:t>The algorithm searches for the single yes/no question about the features that best separates churners from stayers. For example: "Is this a monthly contract?" might be the most powerful first question.</a:t>
            </a:r>
            <a:endParaRPr lang="en-US" sz="1050" dirty="0"/>
          </a:p>
          <a:p>
            <a:pPr algn="l" indent="0" marL="0">
              <a:lnSpc>
                <a:spcPct val="123000"/>
              </a:lnSpc>
              <a:buNone/>
            </a:pPr>
            <a:r>
              <a:rPr lang="en-US" sz="1050" dirty="0">
                <a:solidFill>
                  <a:srgbClr val="3B4E4E"/>
                </a:solidFill>
                <a:latin typeface="Overpass Light" pitchFamily="34" charset="0"/>
                <a:ea typeface="Overpass Light" pitchFamily="34" charset="-122"/>
                <a:cs typeface="Overpass Light" pitchFamily="34" charset="-120"/>
              </a:rPr>
              <a:t>It then repeats the process within each resulting group, finding the next best question. It continues until each leaf of the tree is dominated by one category, or until a stopping rule kicks in.</a:t>
            </a:r>
            <a:endParaRPr lang="en-US" sz="1050" dirty="0"/>
          </a:p>
        </p:txBody>
      </p:sp>
      <p:sp>
        <p:nvSpPr>
          <p:cNvPr id="6" name="Text 4"/>
          <p:cNvSpPr/>
          <p:nvPr/>
        </p:nvSpPr>
        <p:spPr>
          <a:xfrm>
            <a:off x="661475" y="3610570"/>
            <a:ext cx="5264217" cy="217984"/>
          </a:xfrm>
          <a:prstGeom prst="rect">
            <a:avLst/>
          </a:prstGeom>
          <a:noFill/>
          <a:ln/>
        </p:spPr>
        <p:txBody>
          <a:bodyPr wrap="none" lIns="0" tIns="0" rIns="0" bIns="0" rtlCol="0" anchor="t"/>
          <a:lstStyle/>
          <a:p>
            <a:pPr algn="l" indent="0" marL="0">
              <a:lnSpc>
                <a:spcPct val="104000"/>
              </a:lnSpc>
              <a:buNone/>
            </a:pPr>
            <a:r>
              <a:rPr lang="en-US" sz="1350" b="1" dirty="0">
                <a:solidFill>
                  <a:srgbClr val="233939"/>
                </a:solidFill>
                <a:latin typeface="Syne Bold" pitchFamily="34" charset="0"/>
                <a:ea typeface="Syne Bold" pitchFamily="34" charset="-122"/>
                <a:cs typeface="Syne Bold" pitchFamily="34" charset="-120"/>
              </a:rPr>
              <a:t>Example Output Rule</a:t>
            </a:r>
            <a:endParaRPr lang="en-US" sz="1350" dirty="0"/>
          </a:p>
        </p:txBody>
      </p:sp>
      <p:sp>
        <p:nvSpPr>
          <p:cNvPr id="7" name="Text 5"/>
          <p:cNvSpPr/>
          <p:nvPr/>
        </p:nvSpPr>
        <p:spPr>
          <a:xfrm>
            <a:off x="661475" y="3946227"/>
            <a:ext cx="5264217" cy="929481"/>
          </a:xfrm>
          <a:prstGeom prst="rect">
            <a:avLst/>
          </a:prstGeom>
          <a:noFill/>
          <a:ln/>
        </p:spPr>
        <p:txBody>
          <a:bodyPr wrap="square" lIns="0" tIns="0" rIns="0" bIns="0" rtlCol="0" anchor="t">
            <a:normAutofit/>
          </a:bodyPr>
          <a:lstStyle/>
          <a:p>
            <a:pPr algn="l" indent="0" marL="0">
              <a:lnSpc>
                <a:spcPct val="123000"/>
              </a:lnSpc>
              <a:spcAft>
                <a:spcPts val="800"/>
              </a:spcAft>
              <a:buNone/>
            </a:pPr>
            <a:r>
              <a:rPr lang="en-US" sz="1050" b="1" dirty="0">
                <a:solidFill>
                  <a:srgbClr val="3B4E4E"/>
                </a:solidFill>
                <a:latin typeface="Overpass Bold" pitchFamily="34" charset="0"/>
                <a:ea typeface="Overpass Bold" pitchFamily="34" charset="-122"/>
                <a:cs typeface="Overpass Bold" pitchFamily="34" charset="-120"/>
              </a:rPr>
              <a:t>"Monthly contract AND more than 3 complaints in the last 6 months AND no usage in the last 2 weeks → 87% likely to churn."</a:t>
            </a:r>
            <a:endParaRPr lang="en-US" sz="1050" dirty="0"/>
          </a:p>
          <a:p>
            <a:pPr algn="l" indent="0" marL="0">
              <a:lnSpc>
                <a:spcPct val="123000"/>
              </a:lnSpc>
              <a:buNone/>
            </a:pPr>
            <a:r>
              <a:rPr lang="en-US" sz="1050" dirty="0">
                <a:solidFill>
                  <a:srgbClr val="3B4E4E"/>
                </a:solidFill>
                <a:latin typeface="Overpass Light" pitchFamily="34" charset="0"/>
                <a:ea typeface="Overpass Light" pitchFamily="34" charset="-122"/>
                <a:cs typeface="Overpass Light" pitchFamily="34" charset="-120"/>
              </a:rPr>
              <a:t>The marketing team can read this rule, understand it, and immediately know which customers to call and what to offer them.</a:t>
            </a:r>
            <a:endParaRPr lang="en-US" sz="1050" dirty="0"/>
          </a:p>
        </p:txBody>
      </p:sp>
      <p:sp>
        <p:nvSpPr>
          <p:cNvPr id="8" name="Text 6"/>
          <p:cNvSpPr/>
          <p:nvPr/>
        </p:nvSpPr>
        <p:spPr>
          <a:xfrm>
            <a:off x="6272353" y="1816001"/>
            <a:ext cx="5264217" cy="217984"/>
          </a:xfrm>
          <a:prstGeom prst="rect">
            <a:avLst/>
          </a:prstGeom>
          <a:noFill/>
          <a:ln/>
        </p:spPr>
        <p:txBody>
          <a:bodyPr wrap="none" lIns="0" tIns="0" rIns="0" bIns="0" rtlCol="0" anchor="t"/>
          <a:lstStyle/>
          <a:p>
            <a:pPr algn="l" indent="0" marL="0">
              <a:lnSpc>
                <a:spcPct val="104000"/>
              </a:lnSpc>
              <a:buNone/>
            </a:pPr>
            <a:r>
              <a:rPr lang="en-US" sz="1350" b="1" dirty="0">
                <a:solidFill>
                  <a:srgbClr val="233939"/>
                </a:solidFill>
                <a:latin typeface="Syne Bold" pitchFamily="34" charset="0"/>
                <a:ea typeface="Syne Bold" pitchFamily="34" charset="-122"/>
                <a:cs typeface="Syne Bold" pitchFamily="34" charset="-120"/>
              </a:rPr>
              <a:t>Strengths and Limits</a:t>
            </a:r>
            <a:endParaRPr lang="en-US" sz="1350" dirty="0"/>
          </a:p>
        </p:txBody>
      </p:sp>
      <p:pic>
        <p:nvPicPr>
          <p:cNvPr id="9"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272353" y="2166441"/>
            <a:ext cx="5264217" cy="1064518"/>
          </a:xfrm>
          <a:prstGeom prst="rect">
            <a:avLst/>
          </a:prstGeom>
        </p:spPr>
      </p:pic>
      <p:sp>
        <p:nvSpPr>
          <p:cNvPr id="10" name="Text 7"/>
          <p:cNvSpPr/>
          <p:nvPr/>
        </p:nvSpPr>
        <p:spPr>
          <a:xfrm>
            <a:off x="6507099" y="2324993"/>
            <a:ext cx="4870923" cy="217984"/>
          </a:xfrm>
          <a:prstGeom prst="rect">
            <a:avLst/>
          </a:prstGeom>
          <a:noFill/>
          <a:ln/>
        </p:spPr>
        <p:txBody>
          <a:bodyPr wrap="none" lIns="0" tIns="0" rIns="0" bIns="0" rtlCol="0" anchor="t"/>
          <a:lstStyle/>
          <a:p>
            <a:pPr algn="l" indent="0" marL="0">
              <a:lnSpc>
                <a:spcPct val="104000"/>
              </a:lnSpc>
              <a:buNone/>
            </a:pPr>
            <a:r>
              <a:rPr lang="en-US" sz="1350" b="1" dirty="0">
                <a:solidFill>
                  <a:srgbClr val="3B4E4E"/>
                </a:solidFill>
                <a:latin typeface="Syne Bold" pitchFamily="34" charset="0"/>
                <a:ea typeface="Syne Bold" pitchFamily="34" charset="-122"/>
                <a:cs typeface="Syne Bold" pitchFamily="34" charset="-120"/>
              </a:rPr>
              <a:t>✓ Human-Readable Rules</a:t>
            </a:r>
            <a:endParaRPr lang="en-US" sz="1350" dirty="0"/>
          </a:p>
        </p:txBody>
      </p:sp>
      <p:sp>
        <p:nvSpPr>
          <p:cNvPr id="11" name="Text 8"/>
          <p:cNvSpPr/>
          <p:nvPr/>
        </p:nvSpPr>
        <p:spPr>
          <a:xfrm>
            <a:off x="6507099" y="2660650"/>
            <a:ext cx="4870923" cy="411758"/>
          </a:xfrm>
          <a:prstGeom prst="rect">
            <a:avLst/>
          </a:prstGeom>
          <a:noFill/>
          <a:ln/>
        </p:spPr>
        <p:txBody>
          <a:bodyPr wrap="square" lIns="0" tIns="0" rIns="0" bIns="0" rtlCol="0" anchor="t">
            <a:normAutofit/>
          </a:bodyPr>
          <a:lstStyle/>
          <a:p>
            <a:pPr algn="l" indent="0" marL="0">
              <a:lnSpc>
                <a:spcPct val="123000"/>
              </a:lnSpc>
              <a:buNone/>
            </a:pPr>
            <a:r>
              <a:rPr lang="en-US" sz="1050" dirty="0">
                <a:solidFill>
                  <a:srgbClr val="3B4E4E"/>
                </a:solidFill>
                <a:latin typeface="Overpass Light" pitchFamily="34" charset="0"/>
                <a:ea typeface="Overpass Light" pitchFamily="34" charset="-122"/>
                <a:cs typeface="Overpass Light" pitchFamily="34" charset="-120"/>
              </a:rPr>
              <a:t>Business stakeholders can validate the logic and spot errors without any statistical knowledge.</a:t>
            </a:r>
            <a:endParaRPr lang="en-US" sz="1050" dirty="0"/>
          </a:p>
        </p:txBody>
      </p:sp>
      <p:pic>
        <p:nvPicPr>
          <p:cNvPr id="12"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272353" y="3348633"/>
            <a:ext cx="5264217" cy="858639"/>
          </a:xfrm>
          <a:prstGeom prst="rect">
            <a:avLst/>
          </a:prstGeom>
        </p:spPr>
      </p:pic>
      <p:sp>
        <p:nvSpPr>
          <p:cNvPr id="13" name="Text 9"/>
          <p:cNvSpPr/>
          <p:nvPr/>
        </p:nvSpPr>
        <p:spPr>
          <a:xfrm>
            <a:off x="6507099" y="3507184"/>
            <a:ext cx="4870923" cy="217984"/>
          </a:xfrm>
          <a:prstGeom prst="rect">
            <a:avLst/>
          </a:prstGeom>
          <a:noFill/>
          <a:ln/>
        </p:spPr>
        <p:txBody>
          <a:bodyPr wrap="none" lIns="0" tIns="0" rIns="0" bIns="0" rtlCol="0" anchor="t"/>
          <a:lstStyle/>
          <a:p>
            <a:pPr algn="l" indent="0" marL="0">
              <a:lnSpc>
                <a:spcPct val="104000"/>
              </a:lnSpc>
              <a:buNone/>
            </a:pPr>
            <a:r>
              <a:rPr lang="en-US" sz="1350" b="1" dirty="0">
                <a:solidFill>
                  <a:srgbClr val="3B4E4E"/>
                </a:solidFill>
                <a:latin typeface="Syne Bold" pitchFamily="34" charset="0"/>
                <a:ea typeface="Syne Bold" pitchFamily="34" charset="-122"/>
                <a:cs typeface="Syne Bold" pitchFamily="34" charset="-120"/>
              </a:rPr>
              <a:t>✓ No Feature Scaling Needed</a:t>
            </a:r>
            <a:endParaRPr lang="en-US" sz="1350" dirty="0"/>
          </a:p>
        </p:txBody>
      </p:sp>
      <p:sp>
        <p:nvSpPr>
          <p:cNvPr id="14" name="Text 10"/>
          <p:cNvSpPr/>
          <p:nvPr/>
        </p:nvSpPr>
        <p:spPr>
          <a:xfrm>
            <a:off x="6507099" y="3842841"/>
            <a:ext cx="4870923" cy="205879"/>
          </a:xfrm>
          <a:prstGeom prst="rect">
            <a:avLst/>
          </a:prstGeom>
          <a:noFill/>
          <a:ln/>
        </p:spPr>
        <p:txBody>
          <a:bodyPr wrap="none" lIns="0" tIns="0" rIns="0" bIns="0" rtlCol="0" anchor="t"/>
          <a:lstStyle/>
          <a:p>
            <a:pPr algn="l" indent="0" marL="0">
              <a:lnSpc>
                <a:spcPct val="123000"/>
              </a:lnSpc>
              <a:buNone/>
            </a:pPr>
            <a:r>
              <a:rPr lang="en-US" sz="1050" dirty="0">
                <a:solidFill>
                  <a:srgbClr val="3B4E4E"/>
                </a:solidFill>
                <a:latin typeface="Overpass Light" pitchFamily="34" charset="0"/>
                <a:ea typeface="Overpass Light" pitchFamily="34" charset="-122"/>
                <a:cs typeface="Overpass Light" pitchFamily="34" charset="-120"/>
              </a:rPr>
              <a:t>Works directly with raw numbers and categories — no preprocessing required.</a:t>
            </a:r>
            <a:endParaRPr lang="en-US" sz="1050" dirty="0"/>
          </a:p>
        </p:txBody>
      </p:sp>
      <p:pic>
        <p:nvPicPr>
          <p:cNvPr id="15"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272353" y="4324945"/>
            <a:ext cx="5264217" cy="1064518"/>
          </a:xfrm>
          <a:prstGeom prst="rect">
            <a:avLst/>
          </a:prstGeom>
        </p:spPr>
      </p:pic>
      <p:sp>
        <p:nvSpPr>
          <p:cNvPr id="16" name="Text 11"/>
          <p:cNvSpPr/>
          <p:nvPr/>
        </p:nvSpPr>
        <p:spPr>
          <a:xfrm>
            <a:off x="6507099" y="4483497"/>
            <a:ext cx="4870923" cy="217984"/>
          </a:xfrm>
          <a:prstGeom prst="rect">
            <a:avLst/>
          </a:prstGeom>
          <a:noFill/>
          <a:ln/>
        </p:spPr>
        <p:txBody>
          <a:bodyPr wrap="none" lIns="0" tIns="0" rIns="0" bIns="0" rtlCol="0" anchor="t"/>
          <a:lstStyle/>
          <a:p>
            <a:pPr algn="l" indent="0" marL="0">
              <a:lnSpc>
                <a:spcPct val="104000"/>
              </a:lnSpc>
              <a:buNone/>
            </a:pPr>
            <a:r>
              <a:rPr lang="en-US" sz="1350" b="1" dirty="0">
                <a:solidFill>
                  <a:srgbClr val="3B4E4E"/>
                </a:solidFill>
                <a:latin typeface="Syne Bold" pitchFamily="34" charset="0"/>
                <a:ea typeface="Syne Bold" pitchFamily="34" charset="-122"/>
                <a:cs typeface="Syne Bold" pitchFamily="34" charset="-120"/>
              </a:rPr>
              <a:t>✗ Prone to Overfitting</a:t>
            </a:r>
            <a:endParaRPr lang="en-US" sz="1350" dirty="0"/>
          </a:p>
        </p:txBody>
      </p:sp>
      <p:sp>
        <p:nvSpPr>
          <p:cNvPr id="17" name="Text 12"/>
          <p:cNvSpPr/>
          <p:nvPr/>
        </p:nvSpPr>
        <p:spPr>
          <a:xfrm>
            <a:off x="6507099" y="4819154"/>
            <a:ext cx="4870923" cy="411758"/>
          </a:xfrm>
          <a:prstGeom prst="rect">
            <a:avLst/>
          </a:prstGeom>
          <a:noFill/>
          <a:ln/>
        </p:spPr>
        <p:txBody>
          <a:bodyPr wrap="square" lIns="0" tIns="0" rIns="0" bIns="0" rtlCol="0" anchor="t">
            <a:normAutofit/>
          </a:bodyPr>
          <a:lstStyle/>
          <a:p>
            <a:pPr algn="l" indent="0" marL="0">
              <a:lnSpc>
                <a:spcPct val="123000"/>
              </a:lnSpc>
              <a:buNone/>
            </a:pPr>
            <a:r>
              <a:rPr lang="en-US" sz="1050" dirty="0">
                <a:solidFill>
                  <a:srgbClr val="3B4E4E"/>
                </a:solidFill>
                <a:latin typeface="Overpass Light" pitchFamily="34" charset="0"/>
                <a:ea typeface="Overpass Light" pitchFamily="34" charset="-122"/>
                <a:cs typeface="Overpass Light" pitchFamily="34" charset="-120"/>
              </a:rPr>
              <a:t>A single deep tree memorises the training data, including its noise, and performs poorly on new customers. Pruning or ensemble methods are needed.</a:t>
            </a:r>
            <a:endParaRPr lang="en-US" sz="1050" dirty="0"/>
          </a:p>
        </p:txBody>
      </p:sp>
      <p:sp>
        <p:nvSpPr>
          <p:cNvPr id="18" name="Text 13"/>
          <p:cNvSpPr/>
          <p:nvPr/>
        </p:nvSpPr>
        <p:spPr>
          <a:xfrm>
            <a:off x="6272353" y="5521920"/>
            <a:ext cx="5264217" cy="217984"/>
          </a:xfrm>
          <a:prstGeom prst="rect">
            <a:avLst/>
          </a:prstGeom>
          <a:noFill/>
          <a:ln/>
        </p:spPr>
        <p:txBody>
          <a:bodyPr wrap="none" lIns="0" tIns="0" rIns="0" bIns="0" rtlCol="0" anchor="t"/>
          <a:lstStyle/>
          <a:p>
            <a:pPr algn="l" indent="0" marL="0">
              <a:lnSpc>
                <a:spcPct val="104000"/>
              </a:lnSpc>
              <a:buNone/>
            </a:pPr>
            <a:r>
              <a:rPr lang="en-US" sz="1350" b="1" dirty="0">
                <a:solidFill>
                  <a:srgbClr val="233939"/>
                </a:solidFill>
                <a:latin typeface="Syne Bold" pitchFamily="34" charset="0"/>
                <a:ea typeface="Syne Bold" pitchFamily="34" charset="-122"/>
                <a:cs typeface="Syne Bold" pitchFamily="34" charset="-120"/>
              </a:rPr>
              <a:t>Real-World Use</a:t>
            </a:r>
            <a:endParaRPr lang="en-US" sz="1350" dirty="0"/>
          </a:p>
        </p:txBody>
      </p:sp>
      <p:sp>
        <p:nvSpPr>
          <p:cNvPr id="19" name="Text 14"/>
          <p:cNvSpPr/>
          <p:nvPr/>
        </p:nvSpPr>
        <p:spPr>
          <a:xfrm>
            <a:off x="6272353" y="5857577"/>
            <a:ext cx="5264217" cy="411758"/>
          </a:xfrm>
          <a:prstGeom prst="rect">
            <a:avLst/>
          </a:prstGeom>
          <a:noFill/>
          <a:ln/>
        </p:spPr>
        <p:txBody>
          <a:bodyPr wrap="square" lIns="0" tIns="0" rIns="0" bIns="0" rtlCol="0" anchor="t">
            <a:normAutofit/>
          </a:bodyPr>
          <a:lstStyle/>
          <a:p>
            <a:pPr algn="l" indent="0" marL="0">
              <a:lnSpc>
                <a:spcPct val="123000"/>
              </a:lnSpc>
              <a:buNone/>
            </a:pPr>
            <a:r>
              <a:rPr lang="en-US" sz="1050" dirty="0">
                <a:solidFill>
                  <a:srgbClr val="3B4E4E"/>
                </a:solidFill>
                <a:latin typeface="Overpass Light" pitchFamily="34" charset="0"/>
                <a:ea typeface="Overpass Light" pitchFamily="34" charset="-122"/>
                <a:cs typeface="Overpass Light" pitchFamily="34" charset="-120"/>
              </a:rPr>
              <a:t>Telecom churn analysis and retention campaigns; loan pre-screening rule sets; medical triage guidelines in hospitals and clinics.</a:t>
            </a:r>
            <a:endParaRPr lang="en-US" sz="10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E6"/>
        </a:solidFill>
      </p:bgPr>
    </p:bg>
    <p:spTree>
      <p:nvGrpSpPr>
        <p:cNvPr id="1" name=""/>
        <p:cNvGrpSpPr/>
        <p:nvPr/>
      </p:nvGrpSpPr>
      <p:grpSpPr>
        <a:xfrm>
          <a:off x="0" y="0"/>
          <a:ext cx="0" cy="0"/>
          <a:chOff x="0" y="0"/>
          <a:chExt cx="0" cy="0"/>
        </a:xfrm>
      </p:grpSpPr>
      <p:sp>
        <p:nvSpPr>
          <p:cNvPr id="2" name="Shape 0"/>
          <p:cNvSpPr/>
          <p:nvPr/>
        </p:nvSpPr>
        <p:spPr>
          <a:xfrm>
            <a:off x="661475" y="469900"/>
            <a:ext cx="1178193" cy="231676"/>
          </a:xfrm>
          <a:prstGeom prst="roundRect">
            <a:avLst>
              <a:gd name="adj" fmla="val 22113"/>
            </a:avLst>
          </a:prstGeom>
          <a:solidFill>
            <a:srgbClr val="DDEEE6"/>
          </a:solidFill>
          <a:ln/>
        </p:spPr>
      </p:sp>
      <p:sp>
        <p:nvSpPr>
          <p:cNvPr id="3" name="Text 1"/>
          <p:cNvSpPr/>
          <p:nvPr/>
        </p:nvSpPr>
        <p:spPr>
          <a:xfrm>
            <a:off x="752952" y="515640"/>
            <a:ext cx="1604823" cy="140196"/>
          </a:xfrm>
          <a:prstGeom prst="rect">
            <a:avLst/>
          </a:prstGeom>
          <a:noFill/>
          <a:ln/>
        </p:spPr>
        <p:txBody>
          <a:bodyPr wrap="none" lIns="0" tIns="0" rIns="0" bIns="0" rtlCol="0" anchor="t"/>
          <a:lstStyle/>
          <a:p>
            <a:pPr algn="l" indent="0" marL="0">
              <a:lnSpc>
                <a:spcPct val="96000"/>
              </a:lnSpc>
              <a:buNone/>
            </a:pPr>
            <a:r>
              <a:rPr lang="en-US" sz="950" dirty="0">
                <a:solidFill>
                  <a:srgbClr val="3B4E4E"/>
                </a:solidFill>
                <a:latin typeface="Overpass Light" pitchFamily="34" charset="0"/>
                <a:ea typeface="Overpass Light" pitchFamily="34" charset="-122"/>
                <a:cs typeface="Overpass Light" pitchFamily="34" charset="-120"/>
              </a:rPr>
              <a:t>BUSINESS CASE 4</a:t>
            </a:r>
            <a:endParaRPr lang="en-US" sz="950" dirty="0"/>
          </a:p>
        </p:txBody>
      </p:sp>
      <p:sp>
        <p:nvSpPr>
          <p:cNvPr id="4" name="Text 2"/>
          <p:cNvSpPr/>
          <p:nvPr/>
        </p:nvSpPr>
        <p:spPr>
          <a:xfrm>
            <a:off x="661475" y="762438"/>
            <a:ext cx="10868745" cy="476448"/>
          </a:xfrm>
          <a:prstGeom prst="rect">
            <a:avLst/>
          </a:prstGeom>
          <a:noFill/>
          <a:ln/>
        </p:spPr>
        <p:txBody>
          <a:bodyPr wrap="none" lIns="0" tIns="0" rIns="0" bIns="0" rtlCol="0" anchor="t"/>
          <a:lstStyle/>
          <a:p>
            <a:pPr algn="l" indent="0" marL="0">
              <a:lnSpc>
                <a:spcPct val="104000"/>
              </a:lnSpc>
              <a:buNone/>
            </a:pPr>
            <a:r>
              <a:rPr lang="en-US" sz="3000" b="1" dirty="0">
                <a:solidFill>
                  <a:srgbClr val="233939"/>
                </a:solidFill>
                <a:latin typeface="Syne Bold" pitchFamily="34" charset="0"/>
                <a:ea typeface="Syne Bold" pitchFamily="34" charset="-122"/>
                <a:cs typeface="Syne Bold" pitchFamily="34" charset="-120"/>
              </a:rPr>
              <a:t>Is This Card Transaction Fraud?</a:t>
            </a:r>
            <a:endParaRPr lang="en-US" sz="3000" dirty="0"/>
          </a:p>
        </p:txBody>
      </p:sp>
      <p:sp>
        <p:nvSpPr>
          <p:cNvPr id="5" name="Text 3"/>
          <p:cNvSpPr/>
          <p:nvPr/>
        </p:nvSpPr>
        <p:spPr>
          <a:xfrm>
            <a:off x="661475" y="1445022"/>
            <a:ext cx="10868745" cy="468908"/>
          </a:xfrm>
          <a:prstGeom prst="rect">
            <a:avLst/>
          </a:prstGeom>
          <a:noFill/>
          <a:ln/>
        </p:spPr>
        <p:txBody>
          <a:bodyPr wrap="square" lIns="0" tIns="0" rIns="0" bIns="0" rtlCol="0" anchor="t">
            <a:normAutofit/>
          </a:bodyPr>
          <a:lstStyle/>
          <a:p>
            <a:pPr algn="l" indent="0" marL="0">
              <a:lnSpc>
                <a:spcPct val="128000"/>
              </a:lnSpc>
              <a:buNone/>
            </a:pPr>
            <a:r>
              <a:rPr lang="en-US" sz="1200" dirty="0">
                <a:solidFill>
                  <a:srgbClr val="3B4E4E"/>
                </a:solidFill>
                <a:latin typeface="Overpass Light" pitchFamily="34" charset="0"/>
                <a:ea typeface="Overpass Light" pitchFamily="34" charset="-122"/>
                <a:cs typeface="Overpass Light" pitchFamily="34" charset="-120"/>
              </a:rPr>
              <a:t>A payments company must decide in under a second whether each transaction is genuine. Fraud is rare — often fewer than 1 in 1,000 transactions — but the cost of missing it is enormous.</a:t>
            </a:r>
            <a:endParaRPr lang="en-US" sz="1200" dirty="0"/>
          </a:p>
        </p:txBody>
      </p:sp>
      <p:sp>
        <p:nvSpPr>
          <p:cNvPr id="6" name="Text 4"/>
          <p:cNvSpPr/>
          <p:nvPr/>
        </p:nvSpPr>
        <p:spPr>
          <a:xfrm>
            <a:off x="661475" y="2216419"/>
            <a:ext cx="5248441" cy="238224"/>
          </a:xfrm>
          <a:prstGeom prst="rect">
            <a:avLst/>
          </a:prstGeom>
          <a:noFill/>
          <a:ln/>
        </p:spPr>
        <p:txBody>
          <a:bodyPr wrap="none" lIns="0" tIns="0" rIns="0" bIns="0" rtlCol="0" anchor="t"/>
          <a:lstStyle/>
          <a:p>
            <a:pPr algn="l" indent="0" marL="0">
              <a:lnSpc>
                <a:spcPct val="104000"/>
              </a:lnSpc>
              <a:buNone/>
            </a:pPr>
            <a:r>
              <a:rPr lang="en-US" sz="1500" b="1" dirty="0">
                <a:solidFill>
                  <a:srgbClr val="233939"/>
                </a:solidFill>
                <a:latin typeface="Syne Bold" pitchFamily="34" charset="0"/>
                <a:ea typeface="Syne Bold" pitchFamily="34" charset="-122"/>
                <a:cs typeface="Syne Bold" pitchFamily="34" charset="-120"/>
              </a:rPr>
              <a:t>Thinking It Through</a:t>
            </a:r>
            <a:endParaRPr lang="en-US" sz="1500" dirty="0"/>
          </a:p>
        </p:txBody>
      </p:sp>
      <p:pic>
        <p:nvPicPr>
          <p:cNvPr id="7"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42425" y="2589709"/>
            <a:ext cx="2555414" cy="1358404"/>
          </a:xfrm>
          <a:prstGeom prst="rect">
            <a:avLst/>
          </a:prstGeom>
        </p:spPr>
      </p:pic>
      <p:sp>
        <p:nvSpPr>
          <p:cNvPr id="8" name="Text 5"/>
          <p:cNvSpPr/>
          <p:nvPr/>
        </p:nvSpPr>
        <p:spPr>
          <a:xfrm>
            <a:off x="851970" y="2608759"/>
            <a:ext cx="2345869" cy="476448"/>
          </a:xfrm>
          <a:prstGeom prst="rect">
            <a:avLst/>
          </a:prstGeom>
          <a:noFill/>
          <a:ln/>
        </p:spPr>
        <p:txBody>
          <a:bodyPr wrap="square" lIns="0" tIns="0" rIns="0" bIns="0" rtlCol="0" anchor="t">
            <a:normAutofit/>
          </a:bodyPr>
          <a:lstStyle/>
          <a:p>
            <a:pPr algn="l" indent="0" marL="0">
              <a:lnSpc>
                <a:spcPct val="104000"/>
              </a:lnSpc>
              <a:buNone/>
            </a:pPr>
            <a:r>
              <a:rPr lang="en-US" sz="1500" b="1" dirty="0">
                <a:solidFill>
                  <a:srgbClr val="3B4E4E"/>
                </a:solidFill>
                <a:latin typeface="Syne Bold" pitchFamily="34" charset="0"/>
                <a:ea typeface="Syne Bold" pitchFamily="34" charset="-122"/>
                <a:cs typeface="Syne Bold" pitchFamily="34" charset="-120"/>
              </a:rPr>
              <a:t>Past data with correct answers?</a:t>
            </a:r>
            <a:endParaRPr lang="en-US" sz="1500" dirty="0"/>
          </a:p>
        </p:txBody>
      </p:sp>
      <p:sp>
        <p:nvSpPr>
          <p:cNvPr id="9" name="Text 6"/>
          <p:cNvSpPr/>
          <p:nvPr/>
        </p:nvSpPr>
        <p:spPr>
          <a:xfrm>
            <a:off x="851970" y="3225701"/>
            <a:ext cx="2345869" cy="703362"/>
          </a:xfrm>
          <a:prstGeom prst="rect">
            <a:avLst/>
          </a:prstGeom>
          <a:noFill/>
          <a:ln/>
        </p:spPr>
        <p:txBody>
          <a:bodyPr wrap="square" lIns="0" tIns="0" rIns="0" bIns="0" rtlCol="0" anchor="t">
            <a:normAutofit/>
          </a:bodyPr>
          <a:lstStyle/>
          <a:p>
            <a:pPr algn="l" indent="0" marL="0">
              <a:lnSpc>
                <a:spcPct val="128000"/>
              </a:lnSpc>
              <a:buNone/>
            </a:pPr>
            <a:r>
              <a:rPr lang="en-US" sz="1200" dirty="0">
                <a:solidFill>
                  <a:srgbClr val="3B4E4E"/>
                </a:solidFill>
                <a:latin typeface="Overpass Light" pitchFamily="34" charset="0"/>
                <a:ea typeface="Overpass Light" pitchFamily="34" charset="-122"/>
                <a:cs typeface="Overpass Light" pitchFamily="34" charset="-120"/>
              </a:rPr>
              <a:t>Yes — transactions labelled fraud or genuine by the investigations team.</a:t>
            </a:r>
            <a:endParaRPr lang="en-US" sz="1200" dirty="0"/>
          </a:p>
        </p:txBody>
      </p:sp>
      <p:pic>
        <p:nvPicPr>
          <p:cNvPr id="10"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354403" y="2589709"/>
            <a:ext cx="2555513" cy="1358404"/>
          </a:xfrm>
          <a:prstGeom prst="rect">
            <a:avLst/>
          </a:prstGeom>
        </p:spPr>
      </p:pic>
      <p:sp>
        <p:nvSpPr>
          <p:cNvPr id="11" name="Text 7"/>
          <p:cNvSpPr/>
          <p:nvPr/>
        </p:nvSpPr>
        <p:spPr>
          <a:xfrm>
            <a:off x="3563948" y="2608759"/>
            <a:ext cx="2345969" cy="238224"/>
          </a:xfrm>
          <a:prstGeom prst="rect">
            <a:avLst/>
          </a:prstGeom>
          <a:noFill/>
          <a:ln/>
        </p:spPr>
        <p:txBody>
          <a:bodyPr wrap="none" lIns="0" tIns="0" rIns="0" bIns="0" rtlCol="0" anchor="t"/>
          <a:lstStyle/>
          <a:p>
            <a:pPr algn="l" indent="0" marL="0">
              <a:lnSpc>
                <a:spcPct val="104000"/>
              </a:lnSpc>
              <a:buNone/>
            </a:pPr>
            <a:r>
              <a:rPr lang="en-US" sz="1500" b="1" dirty="0">
                <a:solidFill>
                  <a:srgbClr val="3B4E4E"/>
                </a:solidFill>
                <a:latin typeface="Syne Bold" pitchFamily="34" charset="0"/>
                <a:ea typeface="Syne Bold" pitchFamily="34" charset="-122"/>
                <a:cs typeface="Syne Bold" pitchFamily="34" charset="-120"/>
              </a:rPr>
              <a:t>Number or category?</a:t>
            </a:r>
            <a:endParaRPr lang="en-US" sz="1500" dirty="0"/>
          </a:p>
        </p:txBody>
      </p:sp>
      <p:sp>
        <p:nvSpPr>
          <p:cNvPr id="12" name="Text 8"/>
          <p:cNvSpPr/>
          <p:nvPr/>
        </p:nvSpPr>
        <p:spPr>
          <a:xfrm>
            <a:off x="3563948" y="2987477"/>
            <a:ext cx="2345969" cy="234454"/>
          </a:xfrm>
          <a:prstGeom prst="rect">
            <a:avLst/>
          </a:prstGeom>
          <a:noFill/>
          <a:ln/>
        </p:spPr>
        <p:txBody>
          <a:bodyPr wrap="none" lIns="0" tIns="0" rIns="0" bIns="0" rtlCol="0" anchor="t"/>
          <a:lstStyle/>
          <a:p>
            <a:pPr algn="l" indent="0" marL="0">
              <a:lnSpc>
                <a:spcPct val="128000"/>
              </a:lnSpc>
              <a:buNone/>
            </a:pPr>
            <a:r>
              <a:rPr lang="en-US" sz="1200" dirty="0">
                <a:solidFill>
                  <a:srgbClr val="3B4E4E"/>
                </a:solidFill>
                <a:latin typeface="Overpass Light" pitchFamily="34" charset="0"/>
                <a:ea typeface="Overpass Light" pitchFamily="34" charset="-122"/>
                <a:cs typeface="Overpass Light" pitchFamily="34" charset="-120"/>
              </a:rPr>
              <a:t>Category: fraud / genuine.</a:t>
            </a:r>
            <a:endParaRPr lang="en-US" sz="1200" dirty="0"/>
          </a:p>
        </p:txBody>
      </p:sp>
      <p:pic>
        <p:nvPicPr>
          <p:cNvPr id="13"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42425" y="4191099"/>
            <a:ext cx="2555414" cy="2057995"/>
          </a:xfrm>
          <a:prstGeom prst="rect">
            <a:avLst/>
          </a:prstGeom>
        </p:spPr>
      </p:pic>
      <p:sp>
        <p:nvSpPr>
          <p:cNvPr id="14" name="Text 9"/>
          <p:cNvSpPr/>
          <p:nvPr/>
        </p:nvSpPr>
        <p:spPr>
          <a:xfrm>
            <a:off x="851970" y="4210149"/>
            <a:ext cx="2345869" cy="238224"/>
          </a:xfrm>
          <a:prstGeom prst="rect">
            <a:avLst/>
          </a:prstGeom>
          <a:noFill/>
          <a:ln/>
        </p:spPr>
        <p:txBody>
          <a:bodyPr wrap="none" lIns="0" tIns="0" rIns="0" bIns="0" rtlCol="0" anchor="t"/>
          <a:lstStyle/>
          <a:p>
            <a:pPr algn="l" indent="0" marL="0">
              <a:lnSpc>
                <a:spcPct val="104000"/>
              </a:lnSpc>
              <a:buNone/>
            </a:pPr>
            <a:r>
              <a:rPr lang="en-US" sz="1500" b="1" dirty="0">
                <a:solidFill>
                  <a:srgbClr val="3B4E4E"/>
                </a:solidFill>
                <a:latin typeface="Syne Bold" pitchFamily="34" charset="0"/>
                <a:ea typeface="Syne Bold" pitchFamily="34" charset="-122"/>
                <a:cs typeface="Syne Bold" pitchFamily="34" charset="-120"/>
              </a:rPr>
              <a:t>Special challenge</a:t>
            </a:r>
            <a:endParaRPr lang="en-US" sz="1500" dirty="0"/>
          </a:p>
        </p:txBody>
      </p:sp>
      <p:sp>
        <p:nvSpPr>
          <p:cNvPr id="15" name="Text 10"/>
          <p:cNvSpPr/>
          <p:nvPr/>
        </p:nvSpPr>
        <p:spPr>
          <a:xfrm>
            <a:off x="851970" y="4588867"/>
            <a:ext cx="2345869" cy="1641177"/>
          </a:xfrm>
          <a:prstGeom prst="rect">
            <a:avLst/>
          </a:prstGeom>
          <a:noFill/>
          <a:ln/>
        </p:spPr>
        <p:txBody>
          <a:bodyPr wrap="square" lIns="0" tIns="0" rIns="0" bIns="0" rtlCol="0" anchor="t">
            <a:normAutofit/>
          </a:bodyPr>
          <a:lstStyle/>
          <a:p>
            <a:pPr algn="l" indent="0" marL="0">
              <a:lnSpc>
                <a:spcPct val="128000"/>
              </a:lnSpc>
              <a:buNone/>
            </a:pPr>
            <a:r>
              <a:rPr lang="en-US" sz="1200" dirty="0">
                <a:solidFill>
                  <a:srgbClr val="3B4E4E"/>
                </a:solidFill>
                <a:latin typeface="Overpass Light" pitchFamily="34" charset="0"/>
                <a:ea typeface="Overpass Light" pitchFamily="34" charset="-122"/>
                <a:cs typeface="Overpass Light" pitchFamily="34" charset="-120"/>
              </a:rPr>
              <a:t>The data is highly imbalanced. If a naive model predicts "genuine" for every single transaction, it achieves 99.9% accuracy — yet misses every fraud case entirely. Accuracy alone is a useless metric here.</a:t>
            </a:r>
            <a:endParaRPr lang="en-US" sz="1200" dirty="0"/>
          </a:p>
        </p:txBody>
      </p:sp>
      <p:pic>
        <p:nvPicPr>
          <p:cNvPr id="16"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3354403" y="4191099"/>
            <a:ext cx="2555513" cy="2057995"/>
          </a:xfrm>
          <a:prstGeom prst="rect">
            <a:avLst/>
          </a:prstGeom>
        </p:spPr>
      </p:pic>
      <p:sp>
        <p:nvSpPr>
          <p:cNvPr id="17" name="Text 11"/>
          <p:cNvSpPr/>
          <p:nvPr/>
        </p:nvSpPr>
        <p:spPr>
          <a:xfrm>
            <a:off x="3563948" y="4210149"/>
            <a:ext cx="2345969" cy="238224"/>
          </a:xfrm>
          <a:prstGeom prst="rect">
            <a:avLst/>
          </a:prstGeom>
          <a:noFill/>
          <a:ln/>
        </p:spPr>
        <p:txBody>
          <a:bodyPr wrap="none" lIns="0" tIns="0" rIns="0" bIns="0" rtlCol="0" anchor="t"/>
          <a:lstStyle/>
          <a:p>
            <a:pPr algn="l" indent="0" marL="0">
              <a:lnSpc>
                <a:spcPct val="104000"/>
              </a:lnSpc>
              <a:buNone/>
            </a:pPr>
            <a:r>
              <a:rPr lang="en-US" sz="1500" b="1" dirty="0">
                <a:solidFill>
                  <a:srgbClr val="3B4E4E"/>
                </a:solidFill>
                <a:latin typeface="Syne Bold" pitchFamily="34" charset="0"/>
                <a:ea typeface="Syne Bold" pitchFamily="34" charset="-122"/>
                <a:cs typeface="Syne Bold" pitchFamily="34" charset="-120"/>
              </a:rPr>
              <a:t>Problem type</a:t>
            </a:r>
            <a:endParaRPr lang="en-US" sz="1500" dirty="0"/>
          </a:p>
        </p:txBody>
      </p:sp>
      <p:sp>
        <p:nvSpPr>
          <p:cNvPr id="18" name="Text 12"/>
          <p:cNvSpPr/>
          <p:nvPr/>
        </p:nvSpPr>
        <p:spPr>
          <a:xfrm>
            <a:off x="3563948" y="4588867"/>
            <a:ext cx="2345969" cy="703362"/>
          </a:xfrm>
          <a:prstGeom prst="rect">
            <a:avLst/>
          </a:prstGeom>
          <a:noFill/>
          <a:ln/>
        </p:spPr>
        <p:txBody>
          <a:bodyPr wrap="square" lIns="0" tIns="0" rIns="0" bIns="0" rtlCol="0" anchor="t">
            <a:normAutofit/>
          </a:bodyPr>
          <a:lstStyle/>
          <a:p>
            <a:pPr algn="l" indent="0" marL="0">
              <a:lnSpc>
                <a:spcPct val="128000"/>
              </a:lnSpc>
              <a:buNone/>
            </a:pPr>
            <a:r>
              <a:rPr lang="en-US" sz="1200" b="1" dirty="0">
                <a:solidFill>
                  <a:srgbClr val="3B4E4E"/>
                </a:solidFill>
                <a:latin typeface="Overpass Bold" pitchFamily="34" charset="0"/>
                <a:ea typeface="Overpass Bold" pitchFamily="34" charset="-122"/>
                <a:cs typeface="Overpass Bold" pitchFamily="34" charset="-120"/>
              </a:rPr>
              <a:t>Supervised classification, high accuracy needed on the rare class.</a:t>
            </a:r>
            <a:endParaRPr lang="en-US" sz="1200" dirty="0"/>
          </a:p>
        </p:txBody>
      </p:sp>
      <p:sp>
        <p:nvSpPr>
          <p:cNvPr id="19" name="Text 13"/>
          <p:cNvSpPr/>
          <p:nvPr/>
        </p:nvSpPr>
        <p:spPr>
          <a:xfrm>
            <a:off x="6288129" y="2216419"/>
            <a:ext cx="5248441" cy="238224"/>
          </a:xfrm>
          <a:prstGeom prst="rect">
            <a:avLst/>
          </a:prstGeom>
          <a:noFill/>
          <a:ln/>
        </p:spPr>
        <p:txBody>
          <a:bodyPr wrap="none" lIns="0" tIns="0" rIns="0" bIns="0" rtlCol="0" anchor="t"/>
          <a:lstStyle/>
          <a:p>
            <a:pPr algn="l" indent="0" marL="0">
              <a:lnSpc>
                <a:spcPct val="104000"/>
              </a:lnSpc>
              <a:buNone/>
            </a:pPr>
            <a:r>
              <a:rPr lang="en-US" sz="1500" b="1" dirty="0">
                <a:solidFill>
                  <a:srgbClr val="233939"/>
                </a:solidFill>
                <a:latin typeface="Syne Bold" pitchFamily="34" charset="0"/>
                <a:ea typeface="Syne Bold" pitchFamily="34" charset="-122"/>
                <a:cs typeface="Syne Bold" pitchFamily="34" charset="-120"/>
              </a:rPr>
              <a:t>Algorithm to Start With: Random Forest</a:t>
            </a:r>
            <a:endParaRPr lang="en-US" sz="1500" dirty="0"/>
          </a:p>
        </p:txBody>
      </p:sp>
      <p:sp>
        <p:nvSpPr>
          <p:cNvPr id="20" name="Text 14"/>
          <p:cNvSpPr/>
          <p:nvPr/>
        </p:nvSpPr>
        <p:spPr>
          <a:xfrm>
            <a:off x="6288129" y="2591197"/>
            <a:ext cx="5248441" cy="468908"/>
          </a:xfrm>
          <a:prstGeom prst="rect">
            <a:avLst/>
          </a:prstGeom>
          <a:noFill/>
          <a:ln/>
        </p:spPr>
        <p:txBody>
          <a:bodyPr wrap="square" lIns="0" tIns="0" rIns="0" bIns="0" rtlCol="0" anchor="t">
            <a:normAutofit/>
          </a:bodyPr>
          <a:lstStyle/>
          <a:p>
            <a:pPr algn="l" indent="0" marL="0">
              <a:lnSpc>
                <a:spcPct val="128000"/>
              </a:lnSpc>
              <a:buNone/>
            </a:pPr>
            <a:r>
              <a:rPr lang="en-US" sz="1200" dirty="0">
                <a:solidFill>
                  <a:srgbClr val="3B4E4E"/>
                </a:solidFill>
                <a:latin typeface="Overpass Light" pitchFamily="34" charset="0"/>
                <a:ea typeface="Overpass Light" pitchFamily="34" charset="-122"/>
                <a:cs typeface="Overpass Light" pitchFamily="34" charset="-120"/>
              </a:rPr>
              <a:t>A random forest handles imbalanced data better than a single tree and produces dramatically more reliable predictions on unseen transactions.</a:t>
            </a:r>
            <a:endParaRPr lang="en-US" sz="1200" dirty="0"/>
          </a:p>
        </p:txBody>
      </p:sp>
      <p:sp>
        <p:nvSpPr>
          <p:cNvPr id="21" name="Shape 15"/>
          <p:cNvSpPr/>
          <p:nvPr/>
        </p:nvSpPr>
        <p:spPr>
          <a:xfrm>
            <a:off x="6288129" y="3218160"/>
            <a:ext cx="5248441" cy="1032570"/>
          </a:xfrm>
          <a:prstGeom prst="roundRect">
            <a:avLst>
              <a:gd name="adj" fmla="val 6202"/>
            </a:avLst>
          </a:prstGeom>
          <a:solidFill>
            <a:srgbClr val="FCF2B5"/>
          </a:solidFill>
          <a:ln/>
        </p:spPr>
      </p:sp>
      <p:pic>
        <p:nvPicPr>
          <p:cNvPr id="22" name="Image 4" descr="preencoded.png">    </p:cNvPr>
          <p:cNvPicPr>
            <a:picLocks noChangeAspect="1"/>
          </p:cNvPicPr>
          <p:nvPr/>
        </p:nvPicPr>
        <p:blipFill>
          <a:blip r:embed="rId9"/>
          <a:stretch>
            <a:fillRect/>
          </a:stretch>
        </p:blipFill>
        <p:spPr>
          <a:xfrm>
            <a:off x="6440525" y="3415804"/>
            <a:ext cx="190495" cy="152400"/>
          </a:xfrm>
          <a:prstGeom prst="rect">
            <a:avLst/>
          </a:prstGeom>
        </p:spPr>
      </p:pic>
      <p:sp>
        <p:nvSpPr>
          <p:cNvPr id="23" name="Text 16"/>
          <p:cNvSpPr/>
          <p:nvPr/>
        </p:nvSpPr>
        <p:spPr>
          <a:xfrm>
            <a:off x="6783416" y="3382764"/>
            <a:ext cx="4600758" cy="703362"/>
          </a:xfrm>
          <a:prstGeom prst="rect">
            <a:avLst/>
          </a:prstGeom>
          <a:noFill/>
          <a:ln/>
        </p:spPr>
        <p:txBody>
          <a:bodyPr wrap="square" lIns="0" tIns="0" rIns="0" bIns="0" rtlCol="0" anchor="t">
            <a:normAutofit/>
          </a:bodyPr>
          <a:lstStyle/>
          <a:p>
            <a:pPr algn="l" indent="0" marL="0">
              <a:lnSpc>
                <a:spcPct val="128000"/>
              </a:lnSpc>
              <a:buNone/>
            </a:pPr>
            <a:r>
              <a:rPr lang="en-US" sz="1200" b="1" dirty="0">
                <a:solidFill>
                  <a:srgbClr val="000000"/>
                </a:solidFill>
                <a:latin typeface="Overpass Bold" pitchFamily="34" charset="0"/>
                <a:ea typeface="Overpass Bold" pitchFamily="34" charset="-122"/>
                <a:cs typeface="Overpass Bold" pitchFamily="34" charset="-120"/>
              </a:rPr>
              <a:t>Class discussion:</a:t>
            </a:r>
            <a:pPr algn="l" indent="0" marL="0">
              <a:lnSpc>
                <a:spcPct val="128000"/>
              </a:lnSpc>
              <a:buNone/>
            </a:pPr>
            <a:r>
              <a:rPr lang="en-US" sz="1200" dirty="0">
                <a:solidFill>
                  <a:srgbClr val="000000"/>
                </a:solidFill>
                <a:latin typeface="Overpass Light" pitchFamily="34" charset="0"/>
                <a:ea typeface="Overpass Light" pitchFamily="34" charset="-122"/>
                <a:cs typeface="Overpass Light" pitchFamily="34" charset="-120"/>
              </a:rPr>
              <a:t> If a model predicts "genuine" for every transaction, it is 99.9% accurate. Why is this model worthless for the business? What metric should we use instead?</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E6"/>
        </a:solidFill>
      </p:bgPr>
    </p:bg>
    <p:spTree>
      <p:nvGrpSpPr>
        <p:cNvPr id="1" name=""/>
        <p:cNvGrpSpPr/>
        <p:nvPr/>
      </p:nvGrpSpPr>
      <p:grpSpPr>
        <a:xfrm>
          <a:off x="0" y="0"/>
          <a:ext cx="0" cy="0"/>
          <a:chOff x="0" y="0"/>
          <a:chExt cx="0" cy="0"/>
        </a:xfrm>
      </p:grpSpPr>
      <p:sp>
        <p:nvSpPr>
          <p:cNvPr id="2" name="Text 0"/>
          <p:cNvSpPr/>
          <p:nvPr/>
        </p:nvSpPr>
        <p:spPr>
          <a:xfrm>
            <a:off x="661475" y="466012"/>
            <a:ext cx="10868745" cy="444103"/>
          </a:xfrm>
          <a:prstGeom prst="rect">
            <a:avLst/>
          </a:prstGeom>
          <a:noFill/>
          <a:ln/>
        </p:spPr>
        <p:txBody>
          <a:bodyPr wrap="none" lIns="0" tIns="0" rIns="0" bIns="0" rtlCol="0" anchor="t"/>
          <a:lstStyle/>
          <a:p>
            <a:pPr algn="l" indent="0" marL="0">
              <a:lnSpc>
                <a:spcPct val="104000"/>
              </a:lnSpc>
              <a:buNone/>
            </a:pPr>
            <a:r>
              <a:rPr lang="en-US" sz="2750" b="1" dirty="0">
                <a:solidFill>
                  <a:srgbClr val="233939"/>
                </a:solidFill>
                <a:latin typeface="Syne Bold" pitchFamily="34" charset="0"/>
                <a:ea typeface="Syne Bold" pitchFamily="34" charset="-122"/>
                <a:cs typeface="Syne Bold" pitchFamily="34" charset="-120"/>
              </a:rPr>
              <a:t>Algorithm: Random Forest</a:t>
            </a:r>
            <a:endParaRPr lang="en-US" sz="2750" dirty="0"/>
          </a:p>
        </p:txBody>
      </p:sp>
      <p:sp>
        <p:nvSpPr>
          <p:cNvPr id="3" name="Text 1"/>
          <p:cNvSpPr/>
          <p:nvPr/>
        </p:nvSpPr>
        <p:spPr>
          <a:xfrm>
            <a:off x="661475" y="1147961"/>
            <a:ext cx="10868745" cy="422870"/>
          </a:xfrm>
          <a:prstGeom prst="rect">
            <a:avLst/>
          </a:prstGeom>
          <a:noFill/>
          <a:ln/>
        </p:spPr>
        <p:txBody>
          <a:bodyPr wrap="square" lIns="0" tIns="0" rIns="0" bIns="0" rtlCol="0" anchor="t">
            <a:normAutofit/>
          </a:bodyPr>
          <a:lstStyle/>
          <a:p>
            <a:pPr algn="l" indent="0" marL="0">
              <a:lnSpc>
                <a:spcPct val="124000"/>
              </a:lnSpc>
              <a:buNone/>
            </a:pPr>
            <a:r>
              <a:rPr lang="en-US" sz="1100" dirty="0">
                <a:solidFill>
                  <a:srgbClr val="3B4E4E"/>
                </a:solidFill>
                <a:latin typeface="Overpass Light" pitchFamily="34" charset="0"/>
                <a:ea typeface="Overpass Light" pitchFamily="34" charset="-122"/>
                <a:cs typeface="Overpass Light" pitchFamily="34" charset="-120"/>
              </a:rPr>
              <a:t>Random forest is one of the most reliable and widely deployed algorithms in industry. It addresses the core weakness of a single decision tree — overfitting — by combining the votes of many trees, each trained differently.</a:t>
            </a:r>
            <a:endParaRPr lang="en-US" sz="1100" dirty="0"/>
          </a:p>
        </p:txBody>
      </p:sp>
      <p:sp>
        <p:nvSpPr>
          <p:cNvPr id="4" name="Text 2"/>
          <p:cNvSpPr/>
          <p:nvPr/>
        </p:nvSpPr>
        <p:spPr>
          <a:xfrm>
            <a:off x="661475" y="1831916"/>
            <a:ext cx="5261042" cy="222052"/>
          </a:xfrm>
          <a:prstGeom prst="rect">
            <a:avLst/>
          </a:prstGeom>
          <a:noFill/>
          <a:ln/>
        </p:spPr>
        <p:txBody>
          <a:bodyPr wrap="none" lIns="0" tIns="0" rIns="0" bIns="0" rtlCol="0" anchor="t"/>
          <a:lstStyle/>
          <a:p>
            <a:pPr algn="l" indent="0" marL="0">
              <a:lnSpc>
                <a:spcPct val="104000"/>
              </a:lnSpc>
              <a:buNone/>
            </a:pPr>
            <a:r>
              <a:rPr lang="en-US" sz="1350" b="1" dirty="0">
                <a:solidFill>
                  <a:srgbClr val="233939"/>
                </a:solidFill>
                <a:latin typeface="Syne Bold" pitchFamily="34" charset="0"/>
                <a:ea typeface="Syne Bold" pitchFamily="34" charset="-122"/>
                <a:cs typeface="Syne Bold" pitchFamily="34" charset="-120"/>
              </a:rPr>
              <a:t>How It Works</a:t>
            </a:r>
            <a:endParaRPr lang="en-US" sz="1350" dirty="0"/>
          </a:p>
        </p:txBody>
      </p:sp>
      <p:sp>
        <p:nvSpPr>
          <p:cNvPr id="5" name="Text 3"/>
          <p:cNvSpPr/>
          <p:nvPr/>
        </p:nvSpPr>
        <p:spPr>
          <a:xfrm>
            <a:off x="661475" y="2189659"/>
            <a:ext cx="284255" cy="177602"/>
          </a:xfrm>
          <a:prstGeom prst="rect">
            <a:avLst/>
          </a:prstGeom>
          <a:noFill/>
          <a:ln/>
        </p:spPr>
        <p:txBody>
          <a:bodyPr wrap="none" lIns="0" tIns="0" rIns="0" bIns="0" rtlCol="0" anchor="ctr"/>
          <a:lstStyle/>
          <a:p>
            <a:pPr algn="l" indent="0" marL="0">
              <a:lnSpc>
                <a:spcPct val="100000"/>
              </a:lnSpc>
              <a:buNone/>
            </a:pPr>
            <a:r>
              <a:rPr lang="en-US" sz="1100" dirty="0">
                <a:solidFill>
                  <a:srgbClr val="3B4E4E"/>
                </a:solidFill>
                <a:latin typeface="Syne" pitchFamily="34" charset="0"/>
                <a:ea typeface="Syne" pitchFamily="34" charset="-122"/>
                <a:cs typeface="Syne" pitchFamily="34" charset="-120"/>
              </a:rPr>
              <a:t>01</a:t>
            </a:r>
            <a:endParaRPr lang="en-US" sz="1100" dirty="0"/>
          </a:p>
        </p:txBody>
      </p:sp>
      <p:sp>
        <p:nvSpPr>
          <p:cNvPr id="6" name="Shape 4"/>
          <p:cNvSpPr/>
          <p:nvPr/>
        </p:nvSpPr>
        <p:spPr>
          <a:xfrm>
            <a:off x="661475" y="2412107"/>
            <a:ext cx="5261042" cy="19050"/>
          </a:xfrm>
          <a:prstGeom prst="rect">
            <a:avLst/>
          </a:prstGeom>
          <a:solidFill>
            <a:srgbClr val="224435"/>
          </a:solidFill>
          <a:ln/>
        </p:spPr>
      </p:sp>
      <p:sp>
        <p:nvSpPr>
          <p:cNvPr id="7" name="Text 5"/>
          <p:cNvSpPr/>
          <p:nvPr/>
        </p:nvSpPr>
        <p:spPr>
          <a:xfrm>
            <a:off x="661475" y="2521248"/>
            <a:ext cx="5261042" cy="222052"/>
          </a:xfrm>
          <a:prstGeom prst="rect">
            <a:avLst/>
          </a:prstGeom>
          <a:noFill/>
          <a:ln/>
        </p:spPr>
        <p:txBody>
          <a:bodyPr wrap="none" lIns="0" tIns="0" rIns="0" bIns="0" rtlCol="0" anchor="t"/>
          <a:lstStyle/>
          <a:p>
            <a:pPr algn="l" indent="0" marL="0">
              <a:lnSpc>
                <a:spcPct val="104000"/>
              </a:lnSpc>
              <a:buNone/>
            </a:pPr>
            <a:r>
              <a:rPr lang="en-US" sz="1350" b="1" dirty="0">
                <a:solidFill>
                  <a:srgbClr val="3B4E4E"/>
                </a:solidFill>
                <a:latin typeface="Syne Bold" pitchFamily="34" charset="0"/>
                <a:ea typeface="Syne Bold" pitchFamily="34" charset="-122"/>
                <a:cs typeface="Syne Bold" pitchFamily="34" charset="-120"/>
              </a:rPr>
              <a:t>Bootstrap Sampling</a:t>
            </a:r>
            <a:endParaRPr lang="en-US" sz="1350" dirty="0"/>
          </a:p>
        </p:txBody>
      </p:sp>
      <p:sp>
        <p:nvSpPr>
          <p:cNvPr id="8" name="Text 6"/>
          <p:cNvSpPr/>
          <p:nvPr/>
        </p:nvSpPr>
        <p:spPr>
          <a:xfrm>
            <a:off x="661475" y="2865438"/>
            <a:ext cx="5261042" cy="422870"/>
          </a:xfrm>
          <a:prstGeom prst="rect">
            <a:avLst/>
          </a:prstGeom>
          <a:noFill/>
          <a:ln/>
        </p:spPr>
        <p:txBody>
          <a:bodyPr wrap="square" lIns="0" tIns="0" rIns="0" bIns="0" rtlCol="0" anchor="t">
            <a:normAutofit/>
          </a:bodyPr>
          <a:lstStyle/>
          <a:p>
            <a:pPr algn="l" indent="0" marL="0">
              <a:lnSpc>
                <a:spcPct val="124000"/>
              </a:lnSpc>
              <a:buNone/>
            </a:pPr>
            <a:r>
              <a:rPr lang="en-US" sz="1100" dirty="0">
                <a:solidFill>
                  <a:srgbClr val="3B4E4E"/>
                </a:solidFill>
                <a:latin typeface="Overpass Light" pitchFamily="34" charset="0"/>
                <a:ea typeface="Overpass Light" pitchFamily="34" charset="-122"/>
                <a:cs typeface="Overpass Light" pitchFamily="34" charset="-120"/>
              </a:rPr>
              <a:t>Each tree is trained on a different random sample of the training data — some rows are included multiple times, others are left out entirely.</a:t>
            </a:r>
            <a:endParaRPr lang="en-US" sz="1100" dirty="0"/>
          </a:p>
        </p:txBody>
      </p:sp>
      <p:sp>
        <p:nvSpPr>
          <p:cNvPr id="9" name="Text 7"/>
          <p:cNvSpPr/>
          <p:nvPr/>
        </p:nvSpPr>
        <p:spPr>
          <a:xfrm>
            <a:off x="661475" y="3517007"/>
            <a:ext cx="284255" cy="177602"/>
          </a:xfrm>
          <a:prstGeom prst="rect">
            <a:avLst/>
          </a:prstGeom>
          <a:noFill/>
          <a:ln/>
        </p:spPr>
        <p:txBody>
          <a:bodyPr wrap="none" lIns="0" tIns="0" rIns="0" bIns="0" rtlCol="0" anchor="ctr"/>
          <a:lstStyle/>
          <a:p>
            <a:pPr algn="l" indent="0" marL="0">
              <a:lnSpc>
                <a:spcPct val="100000"/>
              </a:lnSpc>
              <a:buNone/>
            </a:pPr>
            <a:r>
              <a:rPr lang="en-US" sz="1100" dirty="0">
                <a:solidFill>
                  <a:srgbClr val="3B4E4E"/>
                </a:solidFill>
                <a:latin typeface="Syne" pitchFamily="34" charset="0"/>
                <a:ea typeface="Syne" pitchFamily="34" charset="-122"/>
                <a:cs typeface="Syne" pitchFamily="34" charset="-120"/>
              </a:rPr>
              <a:t>02</a:t>
            </a:r>
            <a:endParaRPr lang="en-US" sz="1100" dirty="0"/>
          </a:p>
        </p:txBody>
      </p:sp>
      <p:sp>
        <p:nvSpPr>
          <p:cNvPr id="10" name="Shape 8"/>
          <p:cNvSpPr/>
          <p:nvPr/>
        </p:nvSpPr>
        <p:spPr>
          <a:xfrm>
            <a:off x="661475" y="3739455"/>
            <a:ext cx="5261042" cy="19050"/>
          </a:xfrm>
          <a:prstGeom prst="rect">
            <a:avLst/>
          </a:prstGeom>
          <a:solidFill>
            <a:srgbClr val="224435"/>
          </a:solidFill>
          <a:ln/>
        </p:spPr>
      </p:sp>
      <p:sp>
        <p:nvSpPr>
          <p:cNvPr id="11" name="Text 9"/>
          <p:cNvSpPr/>
          <p:nvPr/>
        </p:nvSpPr>
        <p:spPr>
          <a:xfrm>
            <a:off x="661475" y="3848596"/>
            <a:ext cx="5261042" cy="222052"/>
          </a:xfrm>
          <a:prstGeom prst="rect">
            <a:avLst/>
          </a:prstGeom>
          <a:noFill/>
          <a:ln/>
        </p:spPr>
        <p:txBody>
          <a:bodyPr wrap="none" lIns="0" tIns="0" rIns="0" bIns="0" rtlCol="0" anchor="t"/>
          <a:lstStyle/>
          <a:p>
            <a:pPr algn="l" indent="0" marL="0">
              <a:lnSpc>
                <a:spcPct val="104000"/>
              </a:lnSpc>
              <a:buNone/>
            </a:pPr>
            <a:r>
              <a:rPr lang="en-US" sz="1350" b="1" dirty="0">
                <a:solidFill>
                  <a:srgbClr val="3B4E4E"/>
                </a:solidFill>
                <a:latin typeface="Syne Bold" pitchFamily="34" charset="0"/>
                <a:ea typeface="Syne Bold" pitchFamily="34" charset="-122"/>
                <a:cs typeface="Syne Bold" pitchFamily="34" charset="-120"/>
              </a:rPr>
              <a:t>Random Feature Selection</a:t>
            </a:r>
            <a:endParaRPr lang="en-US" sz="1350" dirty="0"/>
          </a:p>
        </p:txBody>
      </p:sp>
      <p:sp>
        <p:nvSpPr>
          <p:cNvPr id="12" name="Text 10"/>
          <p:cNvSpPr/>
          <p:nvPr/>
        </p:nvSpPr>
        <p:spPr>
          <a:xfrm>
            <a:off x="661475" y="4192786"/>
            <a:ext cx="5261042" cy="422870"/>
          </a:xfrm>
          <a:prstGeom prst="rect">
            <a:avLst/>
          </a:prstGeom>
          <a:noFill/>
          <a:ln/>
        </p:spPr>
        <p:txBody>
          <a:bodyPr wrap="square" lIns="0" tIns="0" rIns="0" bIns="0" rtlCol="0" anchor="t">
            <a:normAutofit/>
          </a:bodyPr>
          <a:lstStyle/>
          <a:p>
            <a:pPr algn="l" indent="0" marL="0">
              <a:lnSpc>
                <a:spcPct val="124000"/>
              </a:lnSpc>
              <a:buNone/>
            </a:pPr>
            <a:r>
              <a:rPr lang="en-US" sz="1100" dirty="0">
                <a:solidFill>
                  <a:srgbClr val="3B4E4E"/>
                </a:solidFill>
                <a:latin typeface="Overpass Light" pitchFamily="34" charset="0"/>
                <a:ea typeface="Overpass Light" pitchFamily="34" charset="-122"/>
                <a:cs typeface="Overpass Light" pitchFamily="34" charset="-120"/>
              </a:rPr>
              <a:t>At each split in a tree, only a random subset of features is considered. This forces diversity — different trees learn different aspects of the data.</a:t>
            </a:r>
            <a:endParaRPr lang="en-US" sz="1100" dirty="0"/>
          </a:p>
        </p:txBody>
      </p:sp>
      <p:sp>
        <p:nvSpPr>
          <p:cNvPr id="13" name="Text 11"/>
          <p:cNvSpPr/>
          <p:nvPr/>
        </p:nvSpPr>
        <p:spPr>
          <a:xfrm>
            <a:off x="661475" y="4844355"/>
            <a:ext cx="284255" cy="177602"/>
          </a:xfrm>
          <a:prstGeom prst="rect">
            <a:avLst/>
          </a:prstGeom>
          <a:noFill/>
          <a:ln/>
        </p:spPr>
        <p:txBody>
          <a:bodyPr wrap="none" lIns="0" tIns="0" rIns="0" bIns="0" rtlCol="0" anchor="ctr"/>
          <a:lstStyle/>
          <a:p>
            <a:pPr algn="l" indent="0" marL="0">
              <a:lnSpc>
                <a:spcPct val="100000"/>
              </a:lnSpc>
              <a:buNone/>
            </a:pPr>
            <a:r>
              <a:rPr lang="en-US" sz="1100" dirty="0">
                <a:solidFill>
                  <a:srgbClr val="3B4E4E"/>
                </a:solidFill>
                <a:latin typeface="Syne" pitchFamily="34" charset="0"/>
                <a:ea typeface="Syne" pitchFamily="34" charset="-122"/>
                <a:cs typeface="Syne" pitchFamily="34" charset="-120"/>
              </a:rPr>
              <a:t>03</a:t>
            </a:r>
            <a:endParaRPr lang="en-US" sz="1100" dirty="0"/>
          </a:p>
        </p:txBody>
      </p:sp>
      <p:sp>
        <p:nvSpPr>
          <p:cNvPr id="14" name="Shape 12"/>
          <p:cNvSpPr/>
          <p:nvPr/>
        </p:nvSpPr>
        <p:spPr>
          <a:xfrm>
            <a:off x="661475" y="5066804"/>
            <a:ext cx="5261042" cy="19050"/>
          </a:xfrm>
          <a:prstGeom prst="rect">
            <a:avLst/>
          </a:prstGeom>
          <a:solidFill>
            <a:srgbClr val="224435"/>
          </a:solidFill>
          <a:ln/>
        </p:spPr>
      </p:sp>
      <p:sp>
        <p:nvSpPr>
          <p:cNvPr id="15" name="Text 13"/>
          <p:cNvSpPr/>
          <p:nvPr/>
        </p:nvSpPr>
        <p:spPr>
          <a:xfrm>
            <a:off x="661475" y="5175945"/>
            <a:ext cx="5261042" cy="222052"/>
          </a:xfrm>
          <a:prstGeom prst="rect">
            <a:avLst/>
          </a:prstGeom>
          <a:noFill/>
          <a:ln/>
        </p:spPr>
        <p:txBody>
          <a:bodyPr wrap="none" lIns="0" tIns="0" rIns="0" bIns="0" rtlCol="0" anchor="t"/>
          <a:lstStyle/>
          <a:p>
            <a:pPr algn="l" indent="0" marL="0">
              <a:lnSpc>
                <a:spcPct val="104000"/>
              </a:lnSpc>
              <a:buNone/>
            </a:pPr>
            <a:r>
              <a:rPr lang="en-US" sz="1350" b="1" dirty="0">
                <a:solidFill>
                  <a:srgbClr val="3B4E4E"/>
                </a:solidFill>
                <a:latin typeface="Syne Bold" pitchFamily="34" charset="0"/>
                <a:ea typeface="Syne Bold" pitchFamily="34" charset="-122"/>
                <a:cs typeface="Syne Bold" pitchFamily="34" charset="-120"/>
              </a:rPr>
              <a:t>Majority Vote</a:t>
            </a:r>
            <a:endParaRPr lang="en-US" sz="1350" dirty="0"/>
          </a:p>
        </p:txBody>
      </p:sp>
      <p:sp>
        <p:nvSpPr>
          <p:cNvPr id="16" name="Text 14"/>
          <p:cNvSpPr/>
          <p:nvPr/>
        </p:nvSpPr>
        <p:spPr>
          <a:xfrm>
            <a:off x="661475" y="5520134"/>
            <a:ext cx="5261042" cy="634305"/>
          </a:xfrm>
          <a:prstGeom prst="rect">
            <a:avLst/>
          </a:prstGeom>
          <a:noFill/>
          <a:ln/>
        </p:spPr>
        <p:txBody>
          <a:bodyPr wrap="square" lIns="0" tIns="0" rIns="0" bIns="0" rtlCol="0" anchor="t">
            <a:normAutofit/>
          </a:bodyPr>
          <a:lstStyle/>
          <a:p>
            <a:pPr algn="l" indent="0" marL="0">
              <a:lnSpc>
                <a:spcPct val="124000"/>
              </a:lnSpc>
              <a:buNone/>
            </a:pPr>
            <a:r>
              <a:rPr lang="en-US" sz="1100" dirty="0">
                <a:solidFill>
                  <a:srgbClr val="3B4E4E"/>
                </a:solidFill>
                <a:latin typeface="Overpass Light" pitchFamily="34" charset="0"/>
                <a:ea typeface="Overpass Light" pitchFamily="34" charset="-122"/>
                <a:cs typeface="Overpass Light" pitchFamily="34" charset="-120"/>
              </a:rPr>
              <a:t>For a new transaction, all trees give a vote. The category that receives the most votes becomes the final prediction. Errors made by individual trees cancel out across the ensemble.</a:t>
            </a:r>
            <a:endParaRPr lang="en-US" sz="1100" dirty="0"/>
          </a:p>
        </p:txBody>
      </p:sp>
      <p:sp>
        <p:nvSpPr>
          <p:cNvPr id="17" name="Text 15"/>
          <p:cNvSpPr/>
          <p:nvPr/>
        </p:nvSpPr>
        <p:spPr>
          <a:xfrm>
            <a:off x="6275528" y="1831916"/>
            <a:ext cx="5261042" cy="222052"/>
          </a:xfrm>
          <a:prstGeom prst="rect">
            <a:avLst/>
          </a:prstGeom>
          <a:noFill/>
          <a:ln/>
        </p:spPr>
        <p:txBody>
          <a:bodyPr wrap="none" lIns="0" tIns="0" rIns="0" bIns="0" rtlCol="0" anchor="t"/>
          <a:lstStyle/>
          <a:p>
            <a:pPr algn="l" indent="0" marL="0">
              <a:lnSpc>
                <a:spcPct val="104000"/>
              </a:lnSpc>
              <a:buNone/>
            </a:pPr>
            <a:r>
              <a:rPr lang="en-US" sz="1350" b="1" dirty="0">
                <a:solidFill>
                  <a:srgbClr val="233939"/>
                </a:solidFill>
                <a:latin typeface="Syne Bold" pitchFamily="34" charset="0"/>
                <a:ea typeface="Syne Bold" pitchFamily="34" charset="-122"/>
                <a:cs typeface="Syne Bold" pitchFamily="34" charset="-120"/>
              </a:rPr>
              <a:t>What to Expect as Output</a:t>
            </a:r>
            <a:endParaRPr lang="en-US" sz="1350" dirty="0"/>
          </a:p>
        </p:txBody>
      </p:sp>
      <p:sp>
        <p:nvSpPr>
          <p:cNvPr id="18" name="Text 16"/>
          <p:cNvSpPr/>
          <p:nvPr/>
        </p:nvSpPr>
        <p:spPr>
          <a:xfrm>
            <a:off x="6275528" y="2174478"/>
            <a:ext cx="5261042" cy="845741"/>
          </a:xfrm>
          <a:prstGeom prst="rect">
            <a:avLst/>
          </a:prstGeom>
          <a:noFill/>
          <a:ln/>
        </p:spPr>
        <p:txBody>
          <a:bodyPr wrap="square" lIns="0" tIns="0" rIns="0" bIns="0" rtlCol="0" anchor="t">
            <a:normAutofit/>
          </a:bodyPr>
          <a:lstStyle/>
          <a:p>
            <a:pPr algn="l" indent="0" marL="0">
              <a:lnSpc>
                <a:spcPct val="124000"/>
              </a:lnSpc>
              <a:buNone/>
            </a:pPr>
            <a:r>
              <a:rPr lang="en-US" sz="1100" dirty="0">
                <a:solidFill>
                  <a:srgbClr val="3B4E4E"/>
                </a:solidFill>
                <a:latin typeface="Overpass Light" pitchFamily="34" charset="0"/>
                <a:ea typeface="Overpass Light" pitchFamily="34" charset="-122"/>
                <a:cs typeface="Overpass Light" pitchFamily="34" charset="-120"/>
              </a:rPr>
              <a:t>A category (fraud / genuine) for each transaction, plus a probability score. The model also produces a </a:t>
            </a:r>
            <a:pPr algn="l" indent="0" marL="0">
              <a:lnSpc>
                <a:spcPct val="124000"/>
              </a:lnSpc>
              <a:buNone/>
            </a:pPr>
            <a:r>
              <a:rPr lang="en-US" sz="1100" b="1" dirty="0">
                <a:solidFill>
                  <a:srgbClr val="3B4E4E"/>
                </a:solidFill>
                <a:latin typeface="Overpass Bold" pitchFamily="34" charset="0"/>
                <a:ea typeface="Overpass Bold" pitchFamily="34" charset="-122"/>
                <a:cs typeface="Overpass Bold" pitchFamily="34" charset="-120"/>
              </a:rPr>
              <a:t>feature importance ranking</a:t>
            </a:r>
            <a:pPr algn="l" indent="0" marL="0">
              <a:lnSpc>
                <a:spcPct val="124000"/>
              </a:lnSpc>
              <a:buNone/>
            </a:pPr>
            <a:r>
              <a:rPr lang="en-US" sz="1100" dirty="0">
                <a:solidFill>
                  <a:srgbClr val="3B4E4E"/>
                </a:solidFill>
                <a:latin typeface="Overpass Light" pitchFamily="34" charset="0"/>
                <a:ea typeface="Overpass Light" pitchFamily="34" charset="-122"/>
                <a:cs typeface="Overpass Light" pitchFamily="34" charset="-120"/>
              </a:rPr>
              <a:t> — telling you which transaction attributes (e.g. unusual location, transaction size, time of day) most strongly signal fraud.</a:t>
            </a:r>
            <a:endParaRPr lang="en-US" sz="1100" dirty="0"/>
          </a:p>
        </p:txBody>
      </p:sp>
      <p:pic>
        <p:nvPicPr>
          <p:cNvPr id="19"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275528" y="3157538"/>
            <a:ext cx="2569404" cy="1522809"/>
          </a:xfrm>
          <a:prstGeom prst="rect">
            <a:avLst/>
          </a:prstGeom>
        </p:spPr>
      </p:pic>
      <p:sp>
        <p:nvSpPr>
          <p:cNvPr id="20" name="Text 17"/>
          <p:cNvSpPr/>
          <p:nvPr/>
        </p:nvSpPr>
        <p:spPr>
          <a:xfrm>
            <a:off x="6512853" y="3318669"/>
            <a:ext cx="2170951" cy="444103"/>
          </a:xfrm>
          <a:prstGeom prst="rect">
            <a:avLst/>
          </a:prstGeom>
          <a:noFill/>
          <a:ln/>
        </p:spPr>
        <p:txBody>
          <a:bodyPr wrap="square" lIns="0" tIns="0" rIns="0" bIns="0" rtlCol="0" anchor="t">
            <a:normAutofit/>
          </a:bodyPr>
          <a:lstStyle/>
          <a:p>
            <a:pPr algn="l" indent="0" marL="0">
              <a:lnSpc>
                <a:spcPct val="104000"/>
              </a:lnSpc>
              <a:buNone/>
            </a:pPr>
            <a:r>
              <a:rPr lang="en-US" sz="1350" b="1" dirty="0">
                <a:solidFill>
                  <a:srgbClr val="3B4E4E"/>
                </a:solidFill>
                <a:latin typeface="Syne Bold" pitchFamily="34" charset="0"/>
                <a:ea typeface="Syne Bold" pitchFamily="34" charset="-122"/>
                <a:cs typeface="Syne Bold" pitchFamily="34" charset="-120"/>
              </a:rPr>
              <a:t>✓ High Accuracy, Little Tuning</a:t>
            </a:r>
            <a:endParaRPr lang="en-US" sz="1350" dirty="0"/>
          </a:p>
        </p:txBody>
      </p:sp>
      <p:sp>
        <p:nvSpPr>
          <p:cNvPr id="21" name="Text 18"/>
          <p:cNvSpPr/>
          <p:nvPr/>
        </p:nvSpPr>
        <p:spPr>
          <a:xfrm>
            <a:off x="6512853" y="3884910"/>
            <a:ext cx="2170951" cy="634305"/>
          </a:xfrm>
          <a:prstGeom prst="rect">
            <a:avLst/>
          </a:prstGeom>
          <a:noFill/>
          <a:ln/>
        </p:spPr>
        <p:txBody>
          <a:bodyPr wrap="square" lIns="0" tIns="0" rIns="0" bIns="0" rtlCol="0" anchor="t">
            <a:normAutofit/>
          </a:bodyPr>
          <a:lstStyle/>
          <a:p>
            <a:pPr algn="l" indent="0" marL="0">
              <a:lnSpc>
                <a:spcPct val="124000"/>
              </a:lnSpc>
              <a:buNone/>
            </a:pPr>
            <a:r>
              <a:rPr lang="en-US" sz="1100" dirty="0">
                <a:solidFill>
                  <a:srgbClr val="3B4E4E"/>
                </a:solidFill>
                <a:latin typeface="Overpass Light" pitchFamily="34" charset="0"/>
                <a:ea typeface="Overpass Light" pitchFamily="34" charset="-122"/>
                <a:cs typeface="Overpass Light" pitchFamily="34" charset="-120"/>
              </a:rPr>
              <a:t>Works well out of the box on most structured datasets. Robust to noisy features.</a:t>
            </a:r>
            <a:endParaRPr lang="en-US" sz="1100" dirty="0"/>
          </a:p>
        </p:txBody>
      </p:sp>
      <p:pic>
        <p:nvPicPr>
          <p:cNvPr id="22"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967067" y="3157538"/>
            <a:ext cx="2569503" cy="1522809"/>
          </a:xfrm>
          <a:prstGeom prst="rect">
            <a:avLst/>
          </a:prstGeom>
        </p:spPr>
      </p:pic>
      <p:sp>
        <p:nvSpPr>
          <p:cNvPr id="23" name="Text 19"/>
          <p:cNvSpPr/>
          <p:nvPr/>
        </p:nvSpPr>
        <p:spPr>
          <a:xfrm>
            <a:off x="9204392" y="3318669"/>
            <a:ext cx="2171050" cy="222052"/>
          </a:xfrm>
          <a:prstGeom prst="rect">
            <a:avLst/>
          </a:prstGeom>
          <a:noFill/>
          <a:ln/>
        </p:spPr>
        <p:txBody>
          <a:bodyPr wrap="none" lIns="0" tIns="0" rIns="0" bIns="0" rtlCol="0" anchor="t"/>
          <a:lstStyle/>
          <a:p>
            <a:pPr algn="l" indent="0" marL="0">
              <a:lnSpc>
                <a:spcPct val="104000"/>
              </a:lnSpc>
              <a:buNone/>
            </a:pPr>
            <a:r>
              <a:rPr lang="en-US" sz="1350" b="1" dirty="0">
                <a:solidFill>
                  <a:srgbClr val="3B4E4E"/>
                </a:solidFill>
                <a:latin typeface="Syne Bold" pitchFamily="34" charset="0"/>
                <a:ea typeface="Syne Bold" pitchFamily="34" charset="-122"/>
                <a:cs typeface="Syne Bold" pitchFamily="34" charset="-120"/>
              </a:rPr>
              <a:t>✗ Less Interpretable</a:t>
            </a:r>
            <a:endParaRPr lang="en-US" sz="1350" dirty="0"/>
          </a:p>
        </p:txBody>
      </p:sp>
      <p:sp>
        <p:nvSpPr>
          <p:cNvPr id="24" name="Text 20"/>
          <p:cNvSpPr/>
          <p:nvPr/>
        </p:nvSpPr>
        <p:spPr>
          <a:xfrm>
            <a:off x="9204392" y="3662859"/>
            <a:ext cx="2171050" cy="845741"/>
          </a:xfrm>
          <a:prstGeom prst="rect">
            <a:avLst/>
          </a:prstGeom>
          <a:noFill/>
          <a:ln/>
        </p:spPr>
        <p:txBody>
          <a:bodyPr wrap="square" lIns="0" tIns="0" rIns="0" bIns="0" rtlCol="0" anchor="t">
            <a:normAutofit/>
          </a:bodyPr>
          <a:lstStyle/>
          <a:p>
            <a:pPr algn="l" indent="0" marL="0">
              <a:lnSpc>
                <a:spcPct val="124000"/>
              </a:lnSpc>
              <a:buNone/>
            </a:pPr>
            <a:r>
              <a:rPr lang="en-US" sz="1100" dirty="0">
                <a:solidFill>
                  <a:srgbClr val="3B4E4E"/>
                </a:solidFill>
                <a:latin typeface="Overpass Light" pitchFamily="34" charset="0"/>
                <a:ea typeface="Overpass Light" pitchFamily="34" charset="-122"/>
                <a:cs typeface="Overpass Light" pitchFamily="34" charset="-120"/>
              </a:rPr>
              <a:t>Harder to explain than a single tree. Not the first choice when regulation demands full transparency.</a:t>
            </a:r>
            <a:endParaRPr lang="en-US" sz="1100" dirty="0"/>
          </a:p>
        </p:txBody>
      </p:sp>
      <p:sp>
        <p:nvSpPr>
          <p:cNvPr id="25" name="Text 21"/>
          <p:cNvSpPr/>
          <p:nvPr/>
        </p:nvSpPr>
        <p:spPr>
          <a:xfrm>
            <a:off x="6275528" y="4819293"/>
            <a:ext cx="5261042" cy="222052"/>
          </a:xfrm>
          <a:prstGeom prst="rect">
            <a:avLst/>
          </a:prstGeom>
          <a:noFill/>
          <a:ln/>
        </p:spPr>
        <p:txBody>
          <a:bodyPr wrap="none" lIns="0" tIns="0" rIns="0" bIns="0" rtlCol="0" anchor="t"/>
          <a:lstStyle/>
          <a:p>
            <a:pPr algn="l" indent="0" marL="0">
              <a:lnSpc>
                <a:spcPct val="104000"/>
              </a:lnSpc>
              <a:buNone/>
            </a:pPr>
            <a:r>
              <a:rPr lang="en-US" sz="1350" b="1" dirty="0">
                <a:solidFill>
                  <a:srgbClr val="233939"/>
                </a:solidFill>
                <a:latin typeface="Syne Bold" pitchFamily="34" charset="0"/>
                <a:ea typeface="Syne Bold" pitchFamily="34" charset="-122"/>
                <a:cs typeface="Syne Bold" pitchFamily="34" charset="-120"/>
              </a:rPr>
              <a:t>Real-World Use</a:t>
            </a:r>
            <a:endParaRPr lang="en-US" sz="1350" dirty="0"/>
          </a:p>
        </p:txBody>
      </p:sp>
      <p:sp>
        <p:nvSpPr>
          <p:cNvPr id="26" name="Text 22"/>
          <p:cNvSpPr/>
          <p:nvPr/>
        </p:nvSpPr>
        <p:spPr>
          <a:xfrm>
            <a:off x="6275528" y="5161855"/>
            <a:ext cx="5261042" cy="422870"/>
          </a:xfrm>
          <a:prstGeom prst="rect">
            <a:avLst/>
          </a:prstGeom>
          <a:noFill/>
          <a:ln/>
        </p:spPr>
        <p:txBody>
          <a:bodyPr wrap="square" lIns="0" tIns="0" rIns="0" bIns="0" rtlCol="0" anchor="t">
            <a:normAutofit/>
          </a:bodyPr>
          <a:lstStyle/>
          <a:p>
            <a:pPr algn="l" indent="0" marL="0">
              <a:lnSpc>
                <a:spcPct val="124000"/>
              </a:lnSpc>
              <a:buNone/>
            </a:pPr>
            <a:r>
              <a:rPr lang="en-US" sz="1100" dirty="0">
                <a:solidFill>
                  <a:srgbClr val="3B4E4E"/>
                </a:solidFill>
                <a:latin typeface="Overpass Light" pitchFamily="34" charset="0"/>
                <a:ea typeface="Overpass Light" pitchFamily="34" charset="-122"/>
                <a:cs typeface="Overpass Light" pitchFamily="34" charset="-120"/>
              </a:rPr>
              <a:t>Fraud screening at Visa, Mastercard, and PayPal; insurance claim checks; credit risk models at retail banks.</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E6"/>
        </a:solidFill>
      </p:bgPr>
    </p:bg>
    <p:spTree>
      <p:nvGrpSpPr>
        <p:cNvPr id="1" name=""/>
        <p:cNvGrpSpPr/>
        <p:nvPr/>
      </p:nvGrpSpPr>
      <p:grpSpPr>
        <a:xfrm>
          <a:off x="0" y="0"/>
          <a:ext cx="0" cy="0"/>
          <a:chOff x="0" y="0"/>
          <a:chExt cx="0" cy="0"/>
        </a:xfrm>
      </p:grpSpPr>
      <p:sp>
        <p:nvSpPr>
          <p:cNvPr id="2" name="Shape 0"/>
          <p:cNvSpPr/>
          <p:nvPr/>
        </p:nvSpPr>
        <p:spPr>
          <a:xfrm>
            <a:off x="661475" y="454819"/>
            <a:ext cx="699375" cy="137319"/>
          </a:xfrm>
          <a:prstGeom prst="roundRect">
            <a:avLst>
              <a:gd name="adj" fmla="val 22131"/>
            </a:avLst>
          </a:prstGeom>
          <a:solidFill>
            <a:srgbClr val="DDEEE6"/>
          </a:solidFill>
          <a:ln/>
        </p:spPr>
      </p:sp>
      <p:sp>
        <p:nvSpPr>
          <p:cNvPr id="3" name="Text 1"/>
          <p:cNvSpPr/>
          <p:nvPr/>
        </p:nvSpPr>
        <p:spPr>
          <a:xfrm>
            <a:off x="715647" y="481905"/>
            <a:ext cx="1200616" cy="83145"/>
          </a:xfrm>
          <a:prstGeom prst="rect">
            <a:avLst/>
          </a:prstGeom>
          <a:noFill/>
          <a:ln/>
        </p:spPr>
        <p:txBody>
          <a:bodyPr wrap="none" lIns="0" tIns="0" rIns="0" bIns="0" rtlCol="0" anchor="t"/>
          <a:lstStyle/>
          <a:p>
            <a:pPr algn="l" indent="0" marL="0">
              <a:lnSpc>
                <a:spcPct val="96000"/>
              </a:lnSpc>
              <a:buNone/>
            </a:pPr>
            <a:r>
              <a:rPr lang="en-US" sz="550" dirty="0">
                <a:solidFill>
                  <a:srgbClr val="3B4E4E"/>
                </a:solidFill>
                <a:latin typeface="Overpass Light" pitchFamily="34" charset="0"/>
                <a:ea typeface="Overpass Light" pitchFamily="34" charset="-122"/>
                <a:cs typeface="Overpass Light" pitchFamily="34" charset="-120"/>
              </a:rPr>
              <a:t>BUSINESS CASE 5</a:t>
            </a:r>
            <a:endParaRPr lang="en-US" sz="550" dirty="0"/>
          </a:p>
        </p:txBody>
      </p:sp>
      <p:sp>
        <p:nvSpPr>
          <p:cNvPr id="4" name="Text 2"/>
          <p:cNvSpPr/>
          <p:nvPr/>
        </p:nvSpPr>
        <p:spPr>
          <a:xfrm>
            <a:off x="661475" y="614242"/>
            <a:ext cx="10868745" cy="282575"/>
          </a:xfrm>
          <a:prstGeom prst="rect">
            <a:avLst/>
          </a:prstGeom>
          <a:noFill/>
          <a:ln/>
        </p:spPr>
        <p:txBody>
          <a:bodyPr wrap="none" lIns="0" tIns="0" rIns="0" bIns="0" rtlCol="0" anchor="t"/>
          <a:lstStyle/>
          <a:p>
            <a:pPr algn="l" indent="0" marL="0">
              <a:lnSpc>
                <a:spcPct val="104000"/>
              </a:lnSpc>
              <a:buNone/>
            </a:pPr>
            <a:r>
              <a:rPr lang="en-US" sz="1750" b="1" dirty="0">
                <a:solidFill>
                  <a:srgbClr val="233939"/>
                </a:solidFill>
                <a:latin typeface="Syne Bold" pitchFamily="34" charset="0"/>
                <a:ea typeface="Syne Bold" pitchFamily="34" charset="-122"/>
                <a:cs typeface="Syne Bold" pitchFamily="34" charset="-120"/>
              </a:rPr>
              <a:t>How Many Units Will Each Store Sell?</a:t>
            </a:r>
            <a:endParaRPr lang="en-US" sz="1750" dirty="0"/>
          </a:p>
        </p:txBody>
      </p:sp>
      <p:pic>
        <p:nvPicPr>
          <p:cNvPr id="5" name="Image 0" descr="preencoded.png">    </p:cNvPr>
          <p:cNvPicPr>
            <a:picLocks noChangeAspect="1"/>
          </p:cNvPicPr>
          <p:nvPr/>
        </p:nvPicPr>
        <p:blipFill>
          <a:blip r:embed="rId1"/>
          <a:stretch>
            <a:fillRect/>
          </a:stretch>
        </p:blipFill>
        <p:spPr>
          <a:xfrm>
            <a:off x="661475" y="1024136"/>
            <a:ext cx="5324044" cy="5324177"/>
          </a:xfrm>
          <a:prstGeom prst="rect">
            <a:avLst/>
          </a:prstGeom>
        </p:spPr>
      </p:pic>
      <p:sp>
        <p:nvSpPr>
          <p:cNvPr id="6" name="Text 3"/>
          <p:cNvSpPr/>
          <p:nvPr/>
        </p:nvSpPr>
        <p:spPr>
          <a:xfrm>
            <a:off x="6212526" y="1017984"/>
            <a:ext cx="5324044" cy="141387"/>
          </a:xfrm>
          <a:prstGeom prst="rect">
            <a:avLst/>
          </a:prstGeom>
          <a:noFill/>
          <a:ln/>
        </p:spPr>
        <p:txBody>
          <a:bodyPr wrap="none" lIns="0" tIns="0" rIns="0" bIns="0" rtlCol="0" anchor="t"/>
          <a:lstStyle/>
          <a:p>
            <a:pPr algn="l" indent="0" marL="0">
              <a:lnSpc>
                <a:spcPct val="104000"/>
              </a:lnSpc>
              <a:buNone/>
            </a:pPr>
            <a:r>
              <a:rPr lang="en-US" sz="850" b="1" dirty="0">
                <a:solidFill>
                  <a:srgbClr val="233939"/>
                </a:solidFill>
                <a:latin typeface="Syne Bold" pitchFamily="34" charset="0"/>
                <a:ea typeface="Syne Bold" pitchFamily="34" charset="-122"/>
                <a:cs typeface="Syne Bold" pitchFamily="34" charset="-120"/>
              </a:rPr>
              <a:t>The Situation</a:t>
            </a:r>
            <a:endParaRPr lang="en-US" sz="850" dirty="0"/>
          </a:p>
        </p:txBody>
      </p:sp>
      <p:sp>
        <p:nvSpPr>
          <p:cNvPr id="7" name="Text 4"/>
          <p:cNvSpPr/>
          <p:nvPr/>
        </p:nvSpPr>
        <p:spPr>
          <a:xfrm>
            <a:off x="6212526" y="1208782"/>
            <a:ext cx="5324044" cy="223838"/>
          </a:xfrm>
          <a:prstGeom prst="rect">
            <a:avLst/>
          </a:prstGeom>
          <a:noFill/>
          <a:ln/>
        </p:spPr>
        <p:txBody>
          <a:bodyPr wrap="square" lIns="0" tIns="0" rIns="0" bIns="0" rtlCol="0" anchor="t">
            <a:normAutofit/>
          </a:bodyPr>
          <a:lstStyle/>
          <a:p>
            <a:pPr algn="l" indent="0" marL="0">
              <a:lnSpc>
                <a:spcPct val="103000"/>
              </a:lnSpc>
              <a:buNone/>
            </a:pPr>
            <a:r>
              <a:rPr lang="en-US" sz="700" dirty="0">
                <a:solidFill>
                  <a:srgbClr val="3B4E4E"/>
                </a:solidFill>
                <a:latin typeface="Overpass Light" pitchFamily="34" charset="0"/>
                <a:ea typeface="Overpass Light" pitchFamily="34" charset="-122"/>
                <a:cs typeface="Overpass Light" pitchFamily="34" charset="-120"/>
              </a:rPr>
              <a:t>A retail chain needs to forecast sales for thousands of products across hundreds of stores to plan stock levels, logistics, and staffing. Under-forecasting leads to empty shelves and lost sales; over-forecasting leads to waste and storage costs.</a:t>
            </a:r>
            <a:endParaRPr lang="en-US" sz="700" dirty="0"/>
          </a:p>
        </p:txBody>
      </p:sp>
      <p:sp>
        <p:nvSpPr>
          <p:cNvPr id="8" name="Text 5"/>
          <p:cNvSpPr/>
          <p:nvPr/>
        </p:nvSpPr>
        <p:spPr>
          <a:xfrm>
            <a:off x="6212526" y="1482030"/>
            <a:ext cx="5324044" cy="141387"/>
          </a:xfrm>
          <a:prstGeom prst="rect">
            <a:avLst/>
          </a:prstGeom>
          <a:noFill/>
          <a:ln/>
        </p:spPr>
        <p:txBody>
          <a:bodyPr wrap="none" lIns="0" tIns="0" rIns="0" bIns="0" rtlCol="0" anchor="t"/>
          <a:lstStyle/>
          <a:p>
            <a:pPr algn="l" indent="0" marL="0">
              <a:lnSpc>
                <a:spcPct val="104000"/>
              </a:lnSpc>
              <a:buNone/>
            </a:pPr>
            <a:r>
              <a:rPr lang="en-US" sz="850" b="1" dirty="0">
                <a:solidFill>
                  <a:srgbClr val="233939"/>
                </a:solidFill>
                <a:latin typeface="Syne Bold" pitchFamily="34" charset="0"/>
                <a:ea typeface="Syne Bold" pitchFamily="34" charset="-122"/>
                <a:cs typeface="Syne Bold" pitchFamily="34" charset="-120"/>
              </a:rPr>
              <a:t>Thinking It Through</a:t>
            </a:r>
            <a:endParaRPr lang="en-US" sz="850" dirty="0"/>
          </a:p>
        </p:txBody>
      </p:sp>
      <p:pic>
        <p:nvPicPr>
          <p:cNvPr id="9"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199826" y="1666280"/>
            <a:ext cx="2643816" cy="440035"/>
          </a:xfrm>
          <a:prstGeom prst="rect">
            <a:avLst/>
          </a:prstGeom>
        </p:spPr>
      </p:pic>
      <p:sp>
        <p:nvSpPr>
          <p:cNvPr id="10" name="Text 6"/>
          <p:cNvSpPr/>
          <p:nvPr/>
        </p:nvSpPr>
        <p:spPr>
          <a:xfrm>
            <a:off x="6328311" y="1678980"/>
            <a:ext cx="2515331" cy="141387"/>
          </a:xfrm>
          <a:prstGeom prst="rect">
            <a:avLst/>
          </a:prstGeom>
          <a:noFill/>
          <a:ln/>
        </p:spPr>
        <p:txBody>
          <a:bodyPr wrap="none" lIns="0" tIns="0" rIns="0" bIns="0" rtlCol="0" anchor="t"/>
          <a:lstStyle/>
          <a:p>
            <a:pPr algn="l" indent="0" marL="0">
              <a:lnSpc>
                <a:spcPct val="104000"/>
              </a:lnSpc>
              <a:buNone/>
            </a:pPr>
            <a:r>
              <a:rPr lang="en-US" sz="850" b="1" dirty="0">
                <a:solidFill>
                  <a:srgbClr val="3B4E4E"/>
                </a:solidFill>
                <a:latin typeface="Syne Bold" pitchFamily="34" charset="0"/>
                <a:ea typeface="Syne Bold" pitchFamily="34" charset="-122"/>
                <a:cs typeface="Syne Bold" pitchFamily="34" charset="-120"/>
              </a:rPr>
              <a:t>Past data with correct answers?</a:t>
            </a:r>
            <a:endParaRPr lang="en-US" sz="850" dirty="0"/>
          </a:p>
        </p:txBody>
      </p:sp>
      <p:sp>
        <p:nvSpPr>
          <p:cNvPr id="11" name="Text 7"/>
          <p:cNvSpPr/>
          <p:nvPr/>
        </p:nvSpPr>
        <p:spPr>
          <a:xfrm>
            <a:off x="6328311" y="1869777"/>
            <a:ext cx="2515331" cy="223838"/>
          </a:xfrm>
          <a:prstGeom prst="rect">
            <a:avLst/>
          </a:prstGeom>
          <a:noFill/>
          <a:ln/>
        </p:spPr>
        <p:txBody>
          <a:bodyPr wrap="square" lIns="0" tIns="0" rIns="0" bIns="0" rtlCol="0" anchor="t">
            <a:normAutofit/>
          </a:bodyPr>
          <a:lstStyle/>
          <a:p>
            <a:pPr algn="l" indent="0" marL="0">
              <a:lnSpc>
                <a:spcPct val="103000"/>
              </a:lnSpc>
              <a:buNone/>
            </a:pPr>
            <a:r>
              <a:rPr lang="en-US" sz="700" dirty="0">
                <a:solidFill>
                  <a:srgbClr val="3B4E4E"/>
                </a:solidFill>
                <a:latin typeface="Overpass Light" pitchFamily="34" charset="0"/>
                <a:ea typeface="Overpass Light" pitchFamily="34" charset="-122"/>
                <a:cs typeface="Overpass Light" pitchFamily="34" charset="-120"/>
              </a:rPr>
              <a:t>Yes — years of detailed sales records at product-store-day level.</a:t>
            </a:r>
            <a:endParaRPr lang="en-US" sz="700" dirty="0"/>
          </a:p>
        </p:txBody>
      </p:sp>
      <p:pic>
        <p:nvPicPr>
          <p:cNvPr id="12" name="Image 2" descr="preencoded.png">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892754" y="1666280"/>
            <a:ext cx="2643816" cy="440035"/>
          </a:xfrm>
          <a:prstGeom prst="rect">
            <a:avLst/>
          </a:prstGeom>
        </p:spPr>
      </p:pic>
      <p:sp>
        <p:nvSpPr>
          <p:cNvPr id="13" name="Text 8"/>
          <p:cNvSpPr/>
          <p:nvPr/>
        </p:nvSpPr>
        <p:spPr>
          <a:xfrm>
            <a:off x="9021239" y="1678980"/>
            <a:ext cx="2515331" cy="141387"/>
          </a:xfrm>
          <a:prstGeom prst="rect">
            <a:avLst/>
          </a:prstGeom>
          <a:noFill/>
          <a:ln/>
        </p:spPr>
        <p:txBody>
          <a:bodyPr wrap="none" lIns="0" tIns="0" rIns="0" bIns="0" rtlCol="0" anchor="t"/>
          <a:lstStyle/>
          <a:p>
            <a:pPr algn="l" indent="0" marL="0">
              <a:lnSpc>
                <a:spcPct val="104000"/>
              </a:lnSpc>
              <a:buNone/>
            </a:pPr>
            <a:r>
              <a:rPr lang="en-US" sz="850" b="1" dirty="0">
                <a:solidFill>
                  <a:srgbClr val="3B4E4E"/>
                </a:solidFill>
                <a:latin typeface="Syne Bold" pitchFamily="34" charset="0"/>
                <a:ea typeface="Syne Bold" pitchFamily="34" charset="-122"/>
                <a:cs typeface="Syne Bold" pitchFamily="34" charset="-120"/>
              </a:rPr>
              <a:t>Number or category?</a:t>
            </a:r>
            <a:endParaRPr lang="en-US" sz="850" dirty="0"/>
          </a:p>
        </p:txBody>
      </p:sp>
      <p:sp>
        <p:nvSpPr>
          <p:cNvPr id="14" name="Text 9"/>
          <p:cNvSpPr/>
          <p:nvPr/>
        </p:nvSpPr>
        <p:spPr>
          <a:xfrm>
            <a:off x="9021239" y="1869777"/>
            <a:ext cx="2515331" cy="111919"/>
          </a:xfrm>
          <a:prstGeom prst="rect">
            <a:avLst/>
          </a:prstGeom>
          <a:noFill/>
          <a:ln/>
        </p:spPr>
        <p:txBody>
          <a:bodyPr wrap="none" lIns="0" tIns="0" rIns="0" bIns="0" rtlCol="0" anchor="t"/>
          <a:lstStyle/>
          <a:p>
            <a:pPr algn="l" indent="0" marL="0">
              <a:lnSpc>
                <a:spcPct val="103000"/>
              </a:lnSpc>
              <a:buNone/>
            </a:pPr>
            <a:r>
              <a:rPr lang="en-US" sz="700" dirty="0">
                <a:solidFill>
                  <a:srgbClr val="3B4E4E"/>
                </a:solidFill>
                <a:latin typeface="Overpass Light" pitchFamily="34" charset="0"/>
                <a:ea typeface="Overpass Light" pitchFamily="34" charset="-122"/>
                <a:cs typeface="Overpass Light" pitchFamily="34" charset="-120"/>
              </a:rPr>
              <a:t>A number — units sold per period.</a:t>
            </a:r>
            <a:endParaRPr lang="en-US" sz="700" dirty="0"/>
          </a:p>
        </p:txBody>
      </p:sp>
      <p:pic>
        <p:nvPicPr>
          <p:cNvPr id="15" name="Image 3" descr="preencoded.png">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199826" y="2179836"/>
            <a:ext cx="2643816" cy="551954"/>
          </a:xfrm>
          <a:prstGeom prst="rect">
            <a:avLst/>
          </a:prstGeom>
        </p:spPr>
      </p:pic>
      <p:sp>
        <p:nvSpPr>
          <p:cNvPr id="16" name="Text 10"/>
          <p:cNvSpPr/>
          <p:nvPr/>
        </p:nvSpPr>
        <p:spPr>
          <a:xfrm>
            <a:off x="6328311" y="2192536"/>
            <a:ext cx="2515331" cy="141387"/>
          </a:xfrm>
          <a:prstGeom prst="rect">
            <a:avLst/>
          </a:prstGeom>
          <a:noFill/>
          <a:ln/>
        </p:spPr>
        <p:txBody>
          <a:bodyPr wrap="none" lIns="0" tIns="0" rIns="0" bIns="0" rtlCol="0" anchor="t"/>
          <a:lstStyle/>
          <a:p>
            <a:pPr algn="l" indent="0" marL="0">
              <a:lnSpc>
                <a:spcPct val="104000"/>
              </a:lnSpc>
              <a:buNone/>
            </a:pPr>
            <a:r>
              <a:rPr lang="en-US" sz="850" b="1" dirty="0">
                <a:solidFill>
                  <a:srgbClr val="3B4E4E"/>
                </a:solidFill>
                <a:latin typeface="Syne Bold" pitchFamily="34" charset="0"/>
                <a:ea typeface="Syne Bold" pitchFamily="34" charset="-122"/>
                <a:cs typeface="Syne Bold" pitchFamily="34" charset="-120"/>
              </a:rPr>
              <a:t>Complexity</a:t>
            </a:r>
            <a:endParaRPr lang="en-US" sz="850" dirty="0"/>
          </a:p>
        </p:txBody>
      </p:sp>
      <p:sp>
        <p:nvSpPr>
          <p:cNvPr id="17" name="Text 11"/>
          <p:cNvSpPr/>
          <p:nvPr/>
        </p:nvSpPr>
        <p:spPr>
          <a:xfrm>
            <a:off x="6328311" y="2383334"/>
            <a:ext cx="2515331" cy="335756"/>
          </a:xfrm>
          <a:prstGeom prst="rect">
            <a:avLst/>
          </a:prstGeom>
          <a:noFill/>
          <a:ln/>
        </p:spPr>
        <p:txBody>
          <a:bodyPr wrap="square" lIns="0" tIns="0" rIns="0" bIns="0" rtlCol="0" anchor="t">
            <a:normAutofit/>
          </a:bodyPr>
          <a:lstStyle/>
          <a:p>
            <a:pPr algn="l" indent="0" marL="0">
              <a:lnSpc>
                <a:spcPct val="103000"/>
              </a:lnSpc>
              <a:buNone/>
            </a:pPr>
            <a:r>
              <a:rPr lang="en-US" sz="700" dirty="0">
                <a:solidFill>
                  <a:srgbClr val="3B4E4E"/>
                </a:solidFill>
                <a:latin typeface="Overpass Light" pitchFamily="34" charset="0"/>
                <a:ea typeface="Overpass Light" pitchFamily="34" charset="-122"/>
                <a:cs typeface="Overpass Light" pitchFamily="34" charset="-120"/>
              </a:rPr>
              <a:t>Many features interact in non-linear ways: price, promotional discounts, festival season, weather, store location, and competitor activity all affect demand simultaneously.</a:t>
            </a:r>
            <a:endParaRPr lang="en-US" sz="700" dirty="0"/>
          </a:p>
        </p:txBody>
      </p:sp>
      <p:pic>
        <p:nvPicPr>
          <p:cNvPr id="18" name="Image 4" descr="preencoded.png">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8892754" y="2179836"/>
            <a:ext cx="2643816" cy="551954"/>
          </a:xfrm>
          <a:prstGeom prst="rect">
            <a:avLst/>
          </a:prstGeom>
        </p:spPr>
      </p:pic>
      <p:sp>
        <p:nvSpPr>
          <p:cNvPr id="19" name="Text 12"/>
          <p:cNvSpPr/>
          <p:nvPr/>
        </p:nvSpPr>
        <p:spPr>
          <a:xfrm>
            <a:off x="9021239" y="2192536"/>
            <a:ext cx="2515331" cy="141387"/>
          </a:xfrm>
          <a:prstGeom prst="rect">
            <a:avLst/>
          </a:prstGeom>
          <a:noFill/>
          <a:ln/>
        </p:spPr>
        <p:txBody>
          <a:bodyPr wrap="none" lIns="0" tIns="0" rIns="0" bIns="0" rtlCol="0" anchor="t"/>
          <a:lstStyle/>
          <a:p>
            <a:pPr algn="l" indent="0" marL="0">
              <a:lnSpc>
                <a:spcPct val="104000"/>
              </a:lnSpc>
              <a:buNone/>
            </a:pPr>
            <a:r>
              <a:rPr lang="en-US" sz="850" b="1" dirty="0">
                <a:solidFill>
                  <a:srgbClr val="3B4E4E"/>
                </a:solidFill>
                <a:latin typeface="Syne Bold" pitchFamily="34" charset="0"/>
                <a:ea typeface="Syne Bold" pitchFamily="34" charset="-122"/>
                <a:cs typeface="Syne Bold" pitchFamily="34" charset="-120"/>
              </a:rPr>
              <a:t>Problem type</a:t>
            </a:r>
            <a:endParaRPr lang="en-US" sz="850" dirty="0"/>
          </a:p>
        </p:txBody>
      </p:sp>
      <p:sp>
        <p:nvSpPr>
          <p:cNvPr id="20" name="Text 13"/>
          <p:cNvSpPr/>
          <p:nvPr/>
        </p:nvSpPr>
        <p:spPr>
          <a:xfrm>
            <a:off x="9021239" y="2383334"/>
            <a:ext cx="2515331" cy="111919"/>
          </a:xfrm>
          <a:prstGeom prst="rect">
            <a:avLst/>
          </a:prstGeom>
          <a:noFill/>
          <a:ln/>
        </p:spPr>
        <p:txBody>
          <a:bodyPr wrap="none" lIns="0" tIns="0" rIns="0" bIns="0" rtlCol="0" anchor="t"/>
          <a:lstStyle/>
          <a:p>
            <a:pPr algn="l" indent="0" marL="0">
              <a:lnSpc>
                <a:spcPct val="103000"/>
              </a:lnSpc>
              <a:buNone/>
            </a:pPr>
            <a:r>
              <a:rPr lang="en-US" sz="700" b="1" dirty="0">
                <a:solidFill>
                  <a:srgbClr val="3B4E4E"/>
                </a:solidFill>
                <a:latin typeface="Overpass Bold" pitchFamily="34" charset="0"/>
                <a:ea typeface="Overpass Bold" pitchFamily="34" charset="-122"/>
                <a:cs typeface="Overpass Bold" pitchFamily="34" charset="-120"/>
              </a:rPr>
              <a:t>Supervised regression with complex, interacting features.</a:t>
            </a:r>
            <a:endParaRPr lang="en-US" sz="700" dirty="0"/>
          </a:p>
        </p:txBody>
      </p:sp>
      <p:sp>
        <p:nvSpPr>
          <p:cNvPr id="21" name="Shape 14"/>
          <p:cNvSpPr/>
          <p:nvPr/>
        </p:nvSpPr>
        <p:spPr>
          <a:xfrm>
            <a:off x="6212526" y="2774652"/>
            <a:ext cx="5324044" cy="357783"/>
          </a:xfrm>
          <a:prstGeom prst="roundRect">
            <a:avLst>
              <a:gd name="adj" fmla="val 10618"/>
            </a:avLst>
          </a:prstGeom>
          <a:solidFill>
            <a:srgbClr val="DDEEE6"/>
          </a:solidFill>
          <a:ln/>
        </p:spPr>
      </p:sp>
      <p:pic>
        <p:nvPicPr>
          <p:cNvPr id="22" name="Image 5" descr="preencoded.png">    </p:cNvPr>
          <p:cNvPicPr>
            <a:picLocks noChangeAspect="1"/>
          </p:cNvPicPr>
          <p:nvPr/>
        </p:nvPicPr>
        <p:blipFill>
          <a:blip r:embed="rId10"/>
          <a:stretch>
            <a:fillRect/>
          </a:stretch>
        </p:blipFill>
        <p:spPr>
          <a:xfrm>
            <a:off x="6302912" y="2846586"/>
            <a:ext cx="113007" cy="90388"/>
          </a:xfrm>
          <a:prstGeom prst="rect">
            <a:avLst/>
          </a:prstGeom>
        </p:spPr>
      </p:pic>
      <p:sp>
        <p:nvSpPr>
          <p:cNvPr id="23" name="Text 15"/>
          <p:cNvSpPr/>
          <p:nvPr/>
        </p:nvSpPr>
        <p:spPr>
          <a:xfrm>
            <a:off x="6506305" y="2841625"/>
            <a:ext cx="4939879" cy="223838"/>
          </a:xfrm>
          <a:prstGeom prst="rect">
            <a:avLst/>
          </a:prstGeom>
          <a:noFill/>
          <a:ln/>
        </p:spPr>
        <p:txBody>
          <a:bodyPr wrap="square" lIns="0" tIns="0" rIns="0" bIns="0" rtlCol="0" anchor="t">
            <a:normAutofit/>
          </a:bodyPr>
          <a:lstStyle/>
          <a:p>
            <a:pPr algn="l" indent="0" marL="0">
              <a:lnSpc>
                <a:spcPct val="103000"/>
              </a:lnSpc>
              <a:buNone/>
            </a:pPr>
            <a:r>
              <a:rPr lang="en-US" sz="700" b="1" dirty="0">
                <a:solidFill>
                  <a:srgbClr val="000000"/>
                </a:solidFill>
                <a:latin typeface="Overpass Bold" pitchFamily="34" charset="0"/>
                <a:ea typeface="Overpass Bold" pitchFamily="34" charset="-122"/>
                <a:cs typeface="Overpass Bold" pitchFamily="34" charset="-120"/>
              </a:rPr>
              <a:t>Class discussion:</a:t>
            </a:r>
            <a:pPr algn="l" indent="0" marL="0">
              <a:lnSpc>
                <a:spcPct val="103000"/>
              </a:lnSpc>
              <a:buNone/>
            </a:pPr>
            <a:r>
              <a:rPr lang="en-US" sz="700" dirty="0">
                <a:solidFill>
                  <a:srgbClr val="000000"/>
                </a:solidFill>
                <a:latin typeface="Overpass Light" pitchFamily="34" charset="0"/>
                <a:ea typeface="Overpass Light" pitchFamily="34" charset="-122"/>
                <a:cs typeface="Overpass Light" pitchFamily="34" charset="-120"/>
              </a:rPr>
              <a:t> What happens to a store if it forecasts too low? Too high? Which error is worse in a supermarket versus a fashion retailer?</a:t>
            </a:r>
            <a:endParaRPr lang="en-US" sz="7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E6"/>
        </a:solidFill>
      </p:bgPr>
    </p:bg>
    <p:spTree>
      <p:nvGrpSpPr>
        <p:cNvPr id="1" name=""/>
        <p:cNvGrpSpPr/>
        <p:nvPr/>
      </p:nvGrpSpPr>
      <p:grpSpPr>
        <a:xfrm>
          <a:off x="0" y="0"/>
          <a:ext cx="0" cy="0"/>
          <a:chOff x="0" y="0"/>
          <a:chExt cx="0" cy="0"/>
        </a:xfrm>
      </p:grpSpPr>
      <p:sp>
        <p:nvSpPr>
          <p:cNvPr id="2" name="Text 0"/>
          <p:cNvSpPr/>
          <p:nvPr/>
        </p:nvSpPr>
        <p:spPr>
          <a:xfrm>
            <a:off x="661475" y="522408"/>
            <a:ext cx="10868745" cy="411857"/>
          </a:xfrm>
          <a:prstGeom prst="rect">
            <a:avLst/>
          </a:prstGeom>
          <a:noFill/>
          <a:ln/>
        </p:spPr>
        <p:txBody>
          <a:bodyPr wrap="none" lIns="0" tIns="0" rIns="0" bIns="0" rtlCol="0" anchor="t"/>
          <a:lstStyle/>
          <a:p>
            <a:pPr algn="l" indent="0" marL="0">
              <a:lnSpc>
                <a:spcPct val="104000"/>
              </a:lnSpc>
              <a:buNone/>
            </a:pPr>
            <a:r>
              <a:rPr lang="en-US" sz="2550" b="1" dirty="0">
                <a:solidFill>
                  <a:srgbClr val="233939"/>
                </a:solidFill>
                <a:latin typeface="Syne Bold" pitchFamily="34" charset="0"/>
                <a:ea typeface="Syne Bold" pitchFamily="34" charset="-122"/>
                <a:cs typeface="Syne Bold" pitchFamily="34" charset="-120"/>
              </a:rPr>
              <a:t>Algorithm: Gradient Boosting</a:t>
            </a:r>
            <a:endParaRPr lang="en-US" sz="2550" dirty="0"/>
          </a:p>
        </p:txBody>
      </p:sp>
      <p:sp>
        <p:nvSpPr>
          <p:cNvPr id="3" name="Text 1"/>
          <p:cNvSpPr/>
          <p:nvPr/>
        </p:nvSpPr>
        <p:spPr>
          <a:xfrm>
            <a:off x="661475" y="1139329"/>
            <a:ext cx="10868745" cy="378817"/>
          </a:xfrm>
          <a:prstGeom prst="rect">
            <a:avLst/>
          </a:prstGeom>
          <a:noFill/>
          <a:ln/>
        </p:spPr>
        <p:txBody>
          <a:bodyPr wrap="square" lIns="0" tIns="0" rIns="0" bIns="0" rtlCol="0" anchor="t">
            <a:normAutofit/>
          </a:bodyPr>
          <a:lstStyle/>
          <a:p>
            <a:pPr algn="l" indent="0" marL="0">
              <a:lnSpc>
                <a:spcPct val="120000"/>
              </a:lnSpc>
              <a:buNone/>
            </a:pPr>
            <a:r>
              <a:rPr lang="en-US" sz="1000" dirty="0">
                <a:solidFill>
                  <a:srgbClr val="3B4E4E"/>
                </a:solidFill>
                <a:latin typeface="Overpass Light" pitchFamily="34" charset="0"/>
                <a:ea typeface="Overpass Light" pitchFamily="34" charset="-122"/>
                <a:cs typeface="Overpass Light" pitchFamily="34" charset="-120"/>
              </a:rPr>
              <a:t>Gradient boosting — implemented in popular libraries as </a:t>
            </a:r>
            <a:pPr algn="l" indent="0" marL="0">
              <a:lnSpc>
                <a:spcPct val="120000"/>
              </a:lnSpc>
              <a:buNone/>
            </a:pPr>
            <a:r>
              <a:rPr lang="en-US" sz="1000" b="1" dirty="0">
                <a:solidFill>
                  <a:srgbClr val="3B4E4E"/>
                </a:solidFill>
                <a:latin typeface="Overpass Bold" pitchFamily="34" charset="0"/>
                <a:ea typeface="Overpass Bold" pitchFamily="34" charset="-122"/>
                <a:cs typeface="Overpass Bold" pitchFamily="34" charset="-120"/>
              </a:rPr>
              <a:t>XGBoost</a:t>
            </a:r>
            <a:pPr algn="l" indent="0" marL="0">
              <a:lnSpc>
                <a:spcPct val="120000"/>
              </a:lnSpc>
              <a:buNone/>
            </a:pPr>
            <a:r>
              <a:rPr lang="en-US" sz="1000" dirty="0">
                <a:solidFill>
                  <a:srgbClr val="3B4E4E"/>
                </a:solidFill>
                <a:latin typeface="Overpass Light" pitchFamily="34" charset="0"/>
                <a:ea typeface="Overpass Light" pitchFamily="34" charset="-122"/>
                <a:cs typeface="Overpass Light" pitchFamily="34" charset="-120"/>
              </a:rPr>
              <a:t> and </a:t>
            </a:r>
            <a:pPr algn="l" indent="0" marL="0">
              <a:lnSpc>
                <a:spcPct val="120000"/>
              </a:lnSpc>
              <a:buNone/>
            </a:pPr>
            <a:r>
              <a:rPr lang="en-US" sz="1000" b="1" dirty="0">
                <a:solidFill>
                  <a:srgbClr val="3B4E4E"/>
                </a:solidFill>
                <a:latin typeface="Overpass Bold" pitchFamily="34" charset="0"/>
                <a:ea typeface="Overpass Bold" pitchFamily="34" charset="-122"/>
                <a:cs typeface="Overpass Bold" pitchFamily="34" charset="-120"/>
              </a:rPr>
              <a:t>LightGBM</a:t>
            </a:r>
            <a:pPr algn="l" indent="0" marL="0">
              <a:lnSpc>
                <a:spcPct val="120000"/>
              </a:lnSpc>
              <a:buNone/>
            </a:pPr>
            <a:r>
              <a:rPr lang="en-US" sz="1000" dirty="0">
                <a:solidFill>
                  <a:srgbClr val="3B4E4E"/>
                </a:solidFill>
                <a:latin typeface="Overpass Light" pitchFamily="34" charset="0"/>
                <a:ea typeface="Overpass Light" pitchFamily="34" charset="-122"/>
                <a:cs typeface="Overpass Light" pitchFamily="34" charset="-120"/>
              </a:rPr>
              <a:t> — is the top-performing algorithm on structured (tabular) data in most real-world benchmarks and competitions. It sacrifices some interpretability for substantially higher accuracy.</a:t>
            </a:r>
            <a:endParaRPr lang="en-US" sz="1000" dirty="0"/>
          </a:p>
        </p:txBody>
      </p:sp>
      <p:sp>
        <p:nvSpPr>
          <p:cNvPr id="4" name="Text 2"/>
          <p:cNvSpPr/>
          <p:nvPr/>
        </p:nvSpPr>
        <p:spPr>
          <a:xfrm>
            <a:off x="661475" y="1743681"/>
            <a:ext cx="5273642" cy="205879"/>
          </a:xfrm>
          <a:prstGeom prst="rect">
            <a:avLst/>
          </a:prstGeom>
          <a:noFill/>
          <a:ln/>
        </p:spPr>
        <p:txBody>
          <a:bodyPr wrap="none" lIns="0" tIns="0" rIns="0" bIns="0" rtlCol="0" anchor="t"/>
          <a:lstStyle/>
          <a:p>
            <a:pPr algn="l" indent="0" marL="0">
              <a:lnSpc>
                <a:spcPct val="104000"/>
              </a:lnSpc>
              <a:buNone/>
            </a:pPr>
            <a:r>
              <a:rPr lang="en-US" sz="1250" b="1" dirty="0">
                <a:solidFill>
                  <a:srgbClr val="233939"/>
                </a:solidFill>
                <a:latin typeface="Syne Bold" pitchFamily="34" charset="0"/>
                <a:ea typeface="Syne Bold" pitchFamily="34" charset="-122"/>
                <a:cs typeface="Syne Bold" pitchFamily="34" charset="-120"/>
              </a:rPr>
              <a:t>How It Works — Sequential Correction</a:t>
            </a:r>
            <a:endParaRPr lang="en-US" sz="1250" dirty="0"/>
          </a:p>
        </p:txBody>
      </p:sp>
      <p:sp>
        <p:nvSpPr>
          <p:cNvPr id="5" name="Shape 3"/>
          <p:cNvSpPr/>
          <p:nvPr/>
        </p:nvSpPr>
        <p:spPr>
          <a:xfrm>
            <a:off x="661475" y="2065139"/>
            <a:ext cx="131759" cy="953195"/>
          </a:xfrm>
          <a:prstGeom prst="roundRect">
            <a:avLst>
              <a:gd name="adj" fmla="val 42012"/>
            </a:avLst>
          </a:prstGeom>
          <a:solidFill>
            <a:srgbClr val="DDEEE6"/>
          </a:solidFill>
          <a:ln w="6350">
            <a:solidFill>
              <a:srgbClr val="C3D4CC"/>
            </a:solidFill>
            <a:prstDash val="solid"/>
          </a:ln>
        </p:spPr>
      </p:sp>
      <p:sp>
        <p:nvSpPr>
          <p:cNvPr id="6" name="Text 4"/>
          <p:cNvSpPr/>
          <p:nvPr/>
        </p:nvSpPr>
        <p:spPr>
          <a:xfrm>
            <a:off x="898205" y="2196902"/>
            <a:ext cx="5036912" cy="205879"/>
          </a:xfrm>
          <a:prstGeom prst="rect">
            <a:avLst/>
          </a:prstGeom>
          <a:noFill/>
          <a:ln/>
        </p:spPr>
        <p:txBody>
          <a:bodyPr wrap="none" lIns="0" tIns="0" rIns="0" bIns="0" rtlCol="0" anchor="t"/>
          <a:lstStyle/>
          <a:p>
            <a:pPr algn="l" indent="0" marL="0">
              <a:lnSpc>
                <a:spcPct val="104000"/>
              </a:lnSpc>
              <a:buNone/>
            </a:pPr>
            <a:r>
              <a:rPr lang="en-US" sz="1250" b="1" dirty="0">
                <a:solidFill>
                  <a:srgbClr val="3B4E4E"/>
                </a:solidFill>
                <a:latin typeface="Syne Bold" pitchFamily="34" charset="0"/>
                <a:ea typeface="Syne Bold" pitchFamily="34" charset="-122"/>
                <a:cs typeface="Syne Bold" pitchFamily="34" charset="-120"/>
              </a:rPr>
              <a:t>Tree 1: First Attempt</a:t>
            </a:r>
            <a:endParaRPr lang="en-US" sz="1250" dirty="0"/>
          </a:p>
        </p:txBody>
      </p:sp>
      <p:sp>
        <p:nvSpPr>
          <p:cNvPr id="7" name="Text 5"/>
          <p:cNvSpPr/>
          <p:nvPr/>
        </p:nvSpPr>
        <p:spPr>
          <a:xfrm>
            <a:off x="898205" y="2507754"/>
            <a:ext cx="5036912" cy="378817"/>
          </a:xfrm>
          <a:prstGeom prst="rect">
            <a:avLst/>
          </a:prstGeom>
          <a:noFill/>
          <a:ln/>
        </p:spPr>
        <p:txBody>
          <a:bodyPr wrap="square" lIns="0" tIns="0" rIns="0" bIns="0" rtlCol="0" anchor="t">
            <a:normAutofit/>
          </a:bodyPr>
          <a:lstStyle/>
          <a:p>
            <a:pPr algn="l" indent="0" marL="0">
              <a:lnSpc>
                <a:spcPct val="120000"/>
              </a:lnSpc>
              <a:buNone/>
            </a:pPr>
            <a:r>
              <a:rPr lang="en-US" sz="1000" dirty="0">
                <a:solidFill>
                  <a:srgbClr val="3B4E4E"/>
                </a:solidFill>
                <a:latin typeface="Overpass Light" pitchFamily="34" charset="0"/>
                <a:ea typeface="Overpass Light" pitchFamily="34" charset="-122"/>
                <a:cs typeface="Overpass Light" pitchFamily="34" charset="-120"/>
              </a:rPr>
              <a:t>The first small decision tree makes a rough prediction for every record. It will make many errors — this is expected.</a:t>
            </a:r>
            <a:endParaRPr lang="en-US" sz="1000" dirty="0"/>
          </a:p>
        </p:txBody>
      </p:sp>
      <p:sp>
        <p:nvSpPr>
          <p:cNvPr id="8" name="Shape 6"/>
          <p:cNvSpPr/>
          <p:nvPr/>
        </p:nvSpPr>
        <p:spPr>
          <a:xfrm>
            <a:off x="859114" y="3123307"/>
            <a:ext cx="131759" cy="953195"/>
          </a:xfrm>
          <a:prstGeom prst="roundRect">
            <a:avLst>
              <a:gd name="adj" fmla="val 42012"/>
            </a:avLst>
          </a:prstGeom>
          <a:solidFill>
            <a:srgbClr val="DDEEE6"/>
          </a:solidFill>
          <a:ln w="6350">
            <a:solidFill>
              <a:srgbClr val="C3D4CC"/>
            </a:solidFill>
            <a:prstDash val="solid"/>
          </a:ln>
        </p:spPr>
      </p:sp>
      <p:sp>
        <p:nvSpPr>
          <p:cNvPr id="9" name="Text 7"/>
          <p:cNvSpPr/>
          <p:nvPr/>
        </p:nvSpPr>
        <p:spPr>
          <a:xfrm>
            <a:off x="1095844" y="3255070"/>
            <a:ext cx="4839273" cy="205879"/>
          </a:xfrm>
          <a:prstGeom prst="rect">
            <a:avLst/>
          </a:prstGeom>
          <a:noFill/>
          <a:ln/>
        </p:spPr>
        <p:txBody>
          <a:bodyPr wrap="none" lIns="0" tIns="0" rIns="0" bIns="0" rtlCol="0" anchor="t"/>
          <a:lstStyle/>
          <a:p>
            <a:pPr algn="l" indent="0" marL="0">
              <a:lnSpc>
                <a:spcPct val="104000"/>
              </a:lnSpc>
              <a:buNone/>
            </a:pPr>
            <a:r>
              <a:rPr lang="en-US" sz="1250" b="1" dirty="0">
                <a:solidFill>
                  <a:srgbClr val="3B4E4E"/>
                </a:solidFill>
                <a:latin typeface="Syne Bold" pitchFamily="34" charset="0"/>
                <a:ea typeface="Syne Bold" pitchFamily="34" charset="-122"/>
                <a:cs typeface="Syne Bold" pitchFamily="34" charset="-120"/>
              </a:rPr>
              <a:t>Tree 2: Fix the Errors</a:t>
            </a:r>
            <a:endParaRPr lang="en-US" sz="1250" dirty="0"/>
          </a:p>
        </p:txBody>
      </p:sp>
      <p:sp>
        <p:nvSpPr>
          <p:cNvPr id="10" name="Text 8"/>
          <p:cNvSpPr/>
          <p:nvPr/>
        </p:nvSpPr>
        <p:spPr>
          <a:xfrm>
            <a:off x="1095844" y="3565922"/>
            <a:ext cx="4839273" cy="378817"/>
          </a:xfrm>
          <a:prstGeom prst="rect">
            <a:avLst/>
          </a:prstGeom>
          <a:noFill/>
          <a:ln/>
        </p:spPr>
        <p:txBody>
          <a:bodyPr wrap="square" lIns="0" tIns="0" rIns="0" bIns="0" rtlCol="0" anchor="t">
            <a:normAutofit/>
          </a:bodyPr>
          <a:lstStyle/>
          <a:p>
            <a:pPr algn="l" indent="0" marL="0">
              <a:lnSpc>
                <a:spcPct val="120000"/>
              </a:lnSpc>
              <a:buNone/>
            </a:pPr>
            <a:r>
              <a:rPr lang="en-US" sz="1000" dirty="0">
                <a:solidFill>
                  <a:srgbClr val="3B4E4E"/>
                </a:solidFill>
                <a:latin typeface="Overpass Light" pitchFamily="34" charset="0"/>
                <a:ea typeface="Overpass Light" pitchFamily="34" charset="-122"/>
                <a:cs typeface="Overpass Light" pitchFamily="34" charset="-120"/>
              </a:rPr>
              <a:t>The second tree is trained exclusively on the errors left by Tree 1 — learning where the first attempt went wrong.</a:t>
            </a:r>
            <a:endParaRPr lang="en-US" sz="1000" dirty="0"/>
          </a:p>
        </p:txBody>
      </p:sp>
      <p:sp>
        <p:nvSpPr>
          <p:cNvPr id="11" name="Shape 9"/>
          <p:cNvSpPr/>
          <p:nvPr/>
        </p:nvSpPr>
        <p:spPr>
          <a:xfrm>
            <a:off x="1056852" y="4181475"/>
            <a:ext cx="131759" cy="953195"/>
          </a:xfrm>
          <a:prstGeom prst="roundRect">
            <a:avLst>
              <a:gd name="adj" fmla="val 42012"/>
            </a:avLst>
          </a:prstGeom>
          <a:solidFill>
            <a:srgbClr val="DDEEE6"/>
          </a:solidFill>
          <a:ln w="6350">
            <a:solidFill>
              <a:srgbClr val="C3D4CC"/>
            </a:solidFill>
            <a:prstDash val="solid"/>
          </a:ln>
        </p:spPr>
      </p:sp>
      <p:sp>
        <p:nvSpPr>
          <p:cNvPr id="12" name="Text 10"/>
          <p:cNvSpPr/>
          <p:nvPr/>
        </p:nvSpPr>
        <p:spPr>
          <a:xfrm>
            <a:off x="1293582" y="4313238"/>
            <a:ext cx="4641535" cy="205879"/>
          </a:xfrm>
          <a:prstGeom prst="rect">
            <a:avLst/>
          </a:prstGeom>
          <a:noFill/>
          <a:ln/>
        </p:spPr>
        <p:txBody>
          <a:bodyPr wrap="none" lIns="0" tIns="0" rIns="0" bIns="0" rtlCol="0" anchor="t"/>
          <a:lstStyle/>
          <a:p>
            <a:pPr algn="l" indent="0" marL="0">
              <a:lnSpc>
                <a:spcPct val="104000"/>
              </a:lnSpc>
              <a:buNone/>
            </a:pPr>
            <a:r>
              <a:rPr lang="en-US" sz="1250" b="1" dirty="0">
                <a:solidFill>
                  <a:srgbClr val="3B4E4E"/>
                </a:solidFill>
                <a:latin typeface="Syne Bold" pitchFamily="34" charset="0"/>
                <a:ea typeface="Syne Bold" pitchFamily="34" charset="-122"/>
                <a:cs typeface="Syne Bold" pitchFamily="34" charset="-120"/>
              </a:rPr>
              <a:t>Trees 3…N: Iterate</a:t>
            </a:r>
            <a:endParaRPr lang="en-US" sz="1250" dirty="0"/>
          </a:p>
        </p:txBody>
      </p:sp>
      <p:sp>
        <p:nvSpPr>
          <p:cNvPr id="13" name="Text 11"/>
          <p:cNvSpPr/>
          <p:nvPr/>
        </p:nvSpPr>
        <p:spPr>
          <a:xfrm>
            <a:off x="1293582" y="4624090"/>
            <a:ext cx="4641535" cy="378817"/>
          </a:xfrm>
          <a:prstGeom prst="rect">
            <a:avLst/>
          </a:prstGeom>
          <a:noFill/>
          <a:ln/>
        </p:spPr>
        <p:txBody>
          <a:bodyPr wrap="square" lIns="0" tIns="0" rIns="0" bIns="0" rtlCol="0" anchor="t">
            <a:normAutofit/>
          </a:bodyPr>
          <a:lstStyle/>
          <a:p>
            <a:pPr algn="l" indent="0" marL="0">
              <a:lnSpc>
                <a:spcPct val="120000"/>
              </a:lnSpc>
              <a:buNone/>
            </a:pPr>
            <a:r>
              <a:rPr lang="en-US" sz="1000" dirty="0">
                <a:solidFill>
                  <a:srgbClr val="3B4E4E"/>
                </a:solidFill>
                <a:latin typeface="Overpass Light" pitchFamily="34" charset="0"/>
                <a:ea typeface="Overpass Light" pitchFamily="34" charset="-122"/>
                <a:cs typeface="Overpass Light" pitchFamily="34" charset="-120"/>
              </a:rPr>
              <a:t>Each new tree targets the residual errors of all previous trees combined. Hundreds of trees are built this way.</a:t>
            </a:r>
            <a:endParaRPr lang="en-US" sz="1000" dirty="0"/>
          </a:p>
        </p:txBody>
      </p:sp>
      <p:sp>
        <p:nvSpPr>
          <p:cNvPr id="14" name="Shape 12"/>
          <p:cNvSpPr/>
          <p:nvPr/>
        </p:nvSpPr>
        <p:spPr>
          <a:xfrm>
            <a:off x="1254490" y="5239643"/>
            <a:ext cx="131759" cy="953195"/>
          </a:xfrm>
          <a:prstGeom prst="roundRect">
            <a:avLst>
              <a:gd name="adj" fmla="val 42012"/>
            </a:avLst>
          </a:prstGeom>
          <a:solidFill>
            <a:srgbClr val="DDEEE6"/>
          </a:solidFill>
          <a:ln w="6350">
            <a:solidFill>
              <a:srgbClr val="C3D4CC"/>
            </a:solidFill>
            <a:prstDash val="solid"/>
          </a:ln>
        </p:spPr>
      </p:sp>
      <p:sp>
        <p:nvSpPr>
          <p:cNvPr id="15" name="Text 13"/>
          <p:cNvSpPr/>
          <p:nvPr/>
        </p:nvSpPr>
        <p:spPr>
          <a:xfrm>
            <a:off x="1491221" y="5371405"/>
            <a:ext cx="4443897" cy="205879"/>
          </a:xfrm>
          <a:prstGeom prst="rect">
            <a:avLst/>
          </a:prstGeom>
          <a:noFill/>
          <a:ln/>
        </p:spPr>
        <p:txBody>
          <a:bodyPr wrap="none" lIns="0" tIns="0" rIns="0" bIns="0" rtlCol="0" anchor="t"/>
          <a:lstStyle/>
          <a:p>
            <a:pPr algn="l" indent="0" marL="0">
              <a:lnSpc>
                <a:spcPct val="104000"/>
              </a:lnSpc>
              <a:buNone/>
            </a:pPr>
            <a:r>
              <a:rPr lang="en-US" sz="1250" b="1" dirty="0">
                <a:solidFill>
                  <a:srgbClr val="3B4E4E"/>
                </a:solidFill>
                <a:latin typeface="Syne Bold" pitchFamily="34" charset="0"/>
                <a:ea typeface="Syne Bold" pitchFamily="34" charset="-122"/>
                <a:cs typeface="Syne Bold" pitchFamily="34" charset="-120"/>
              </a:rPr>
              <a:t>Final Prediction</a:t>
            </a:r>
            <a:endParaRPr lang="en-US" sz="1250" dirty="0"/>
          </a:p>
        </p:txBody>
      </p:sp>
      <p:sp>
        <p:nvSpPr>
          <p:cNvPr id="16" name="Text 14"/>
          <p:cNvSpPr/>
          <p:nvPr/>
        </p:nvSpPr>
        <p:spPr>
          <a:xfrm>
            <a:off x="1491221" y="5682258"/>
            <a:ext cx="4443897" cy="378817"/>
          </a:xfrm>
          <a:prstGeom prst="rect">
            <a:avLst/>
          </a:prstGeom>
          <a:noFill/>
          <a:ln/>
        </p:spPr>
        <p:txBody>
          <a:bodyPr wrap="square" lIns="0" tIns="0" rIns="0" bIns="0" rtlCol="0" anchor="t">
            <a:normAutofit/>
          </a:bodyPr>
          <a:lstStyle/>
          <a:p>
            <a:pPr algn="l" indent="0" marL="0">
              <a:lnSpc>
                <a:spcPct val="120000"/>
              </a:lnSpc>
              <a:buNone/>
            </a:pPr>
            <a:r>
              <a:rPr lang="en-US" sz="1000" dirty="0">
                <a:solidFill>
                  <a:srgbClr val="3B4E4E"/>
                </a:solidFill>
                <a:latin typeface="Overpass Light" pitchFamily="34" charset="0"/>
                <a:ea typeface="Overpass Light" pitchFamily="34" charset="-122"/>
                <a:cs typeface="Overpass Light" pitchFamily="34" charset="-120"/>
              </a:rPr>
              <a:t>The final prediction is the sum of all trees' contributions — a highly refined, highly accurate result.</a:t>
            </a:r>
            <a:endParaRPr lang="en-US" sz="1000" dirty="0"/>
          </a:p>
        </p:txBody>
      </p:sp>
      <p:sp>
        <p:nvSpPr>
          <p:cNvPr id="17" name="Text 15"/>
          <p:cNvSpPr/>
          <p:nvPr/>
        </p:nvSpPr>
        <p:spPr>
          <a:xfrm>
            <a:off x="6262928" y="1743681"/>
            <a:ext cx="5273642" cy="205879"/>
          </a:xfrm>
          <a:prstGeom prst="rect">
            <a:avLst/>
          </a:prstGeom>
          <a:noFill/>
          <a:ln/>
        </p:spPr>
        <p:txBody>
          <a:bodyPr wrap="none" lIns="0" tIns="0" rIns="0" bIns="0" rtlCol="0" anchor="t"/>
          <a:lstStyle/>
          <a:p>
            <a:pPr algn="l" indent="0" marL="0">
              <a:lnSpc>
                <a:spcPct val="104000"/>
              </a:lnSpc>
              <a:buNone/>
            </a:pPr>
            <a:r>
              <a:rPr lang="en-US" sz="1250" b="1" dirty="0">
                <a:solidFill>
                  <a:srgbClr val="233939"/>
                </a:solidFill>
                <a:latin typeface="Syne Bold" pitchFamily="34" charset="0"/>
                <a:ea typeface="Syne Bold" pitchFamily="34" charset="-122"/>
                <a:cs typeface="Syne Bold" pitchFamily="34" charset="-120"/>
              </a:rPr>
              <a:t>Strengths and Limits</a:t>
            </a:r>
            <a:endParaRPr lang="en-US" sz="1250" dirty="0"/>
          </a:p>
        </p:txBody>
      </p:sp>
      <p:pic>
        <p:nvPicPr>
          <p:cNvPr id="18"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262928" y="2065139"/>
            <a:ext cx="5273642" cy="991295"/>
          </a:xfrm>
          <a:prstGeom prst="rect">
            <a:avLst/>
          </a:prstGeom>
        </p:spPr>
      </p:pic>
      <p:sp>
        <p:nvSpPr>
          <p:cNvPr id="19" name="Text 16"/>
          <p:cNvSpPr/>
          <p:nvPr/>
        </p:nvSpPr>
        <p:spPr>
          <a:xfrm>
            <a:off x="6489935" y="2215952"/>
            <a:ext cx="4895827" cy="205879"/>
          </a:xfrm>
          <a:prstGeom prst="rect">
            <a:avLst/>
          </a:prstGeom>
          <a:noFill/>
          <a:ln/>
        </p:spPr>
        <p:txBody>
          <a:bodyPr wrap="none" lIns="0" tIns="0" rIns="0" bIns="0" rtlCol="0" anchor="t"/>
          <a:lstStyle/>
          <a:p>
            <a:pPr algn="l" indent="0" marL="0">
              <a:lnSpc>
                <a:spcPct val="104000"/>
              </a:lnSpc>
              <a:buNone/>
            </a:pPr>
            <a:r>
              <a:rPr lang="en-US" sz="1250" b="1" dirty="0">
                <a:solidFill>
                  <a:srgbClr val="3B4E4E"/>
                </a:solidFill>
                <a:latin typeface="Syne Bold" pitchFamily="34" charset="0"/>
                <a:ea typeface="Syne Bold" pitchFamily="34" charset="-122"/>
                <a:cs typeface="Syne Bold" pitchFamily="34" charset="-120"/>
              </a:rPr>
              <a:t>✓ Best Accuracy on Tabular Data</a:t>
            </a:r>
            <a:endParaRPr lang="en-US" sz="1250" dirty="0"/>
          </a:p>
        </p:txBody>
      </p:sp>
      <p:sp>
        <p:nvSpPr>
          <p:cNvPr id="20" name="Text 17"/>
          <p:cNvSpPr/>
          <p:nvPr/>
        </p:nvSpPr>
        <p:spPr>
          <a:xfrm>
            <a:off x="6489935" y="2526804"/>
            <a:ext cx="4895827" cy="378817"/>
          </a:xfrm>
          <a:prstGeom prst="rect">
            <a:avLst/>
          </a:prstGeom>
          <a:noFill/>
          <a:ln/>
        </p:spPr>
        <p:txBody>
          <a:bodyPr wrap="square" lIns="0" tIns="0" rIns="0" bIns="0" rtlCol="0" anchor="t">
            <a:normAutofit/>
          </a:bodyPr>
          <a:lstStyle/>
          <a:p>
            <a:pPr algn="l" indent="0" marL="0">
              <a:lnSpc>
                <a:spcPct val="120000"/>
              </a:lnSpc>
              <a:buNone/>
            </a:pPr>
            <a:r>
              <a:rPr lang="en-US" sz="1000" dirty="0">
                <a:solidFill>
                  <a:srgbClr val="3B4E4E"/>
                </a:solidFill>
                <a:latin typeface="Overpass Light" pitchFamily="34" charset="0"/>
                <a:ea typeface="Overpass Light" pitchFamily="34" charset="-122"/>
                <a:cs typeface="Overpass Light" pitchFamily="34" charset="-120"/>
              </a:rPr>
              <a:t>Consistently wins Kaggle competitions and industry benchmarks on structured row-column datasets.</a:t>
            </a:r>
            <a:endParaRPr lang="en-US" sz="1000" dirty="0"/>
          </a:p>
        </p:txBody>
      </p:sp>
      <p:pic>
        <p:nvPicPr>
          <p:cNvPr id="21"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262928" y="3161407"/>
            <a:ext cx="5273642" cy="991295"/>
          </a:xfrm>
          <a:prstGeom prst="rect">
            <a:avLst/>
          </a:prstGeom>
        </p:spPr>
      </p:pic>
      <p:sp>
        <p:nvSpPr>
          <p:cNvPr id="22" name="Text 18"/>
          <p:cNvSpPr/>
          <p:nvPr/>
        </p:nvSpPr>
        <p:spPr>
          <a:xfrm>
            <a:off x="6489935" y="3312220"/>
            <a:ext cx="4895827" cy="205879"/>
          </a:xfrm>
          <a:prstGeom prst="rect">
            <a:avLst/>
          </a:prstGeom>
          <a:noFill/>
          <a:ln/>
        </p:spPr>
        <p:txBody>
          <a:bodyPr wrap="none" lIns="0" tIns="0" rIns="0" bIns="0" rtlCol="0" anchor="t"/>
          <a:lstStyle/>
          <a:p>
            <a:pPr algn="l" indent="0" marL="0">
              <a:lnSpc>
                <a:spcPct val="104000"/>
              </a:lnSpc>
              <a:buNone/>
            </a:pPr>
            <a:r>
              <a:rPr lang="en-US" sz="1250" b="1" dirty="0">
                <a:solidFill>
                  <a:srgbClr val="3B4E4E"/>
                </a:solidFill>
                <a:latin typeface="Syne Bold" pitchFamily="34" charset="0"/>
                <a:ea typeface="Syne Bold" pitchFamily="34" charset="-122"/>
                <a:cs typeface="Syne Bold" pitchFamily="34" charset="-120"/>
              </a:rPr>
              <a:t>✓ Handles Mixed Features</a:t>
            </a:r>
            <a:endParaRPr lang="en-US" sz="1250" dirty="0"/>
          </a:p>
        </p:txBody>
      </p:sp>
      <p:sp>
        <p:nvSpPr>
          <p:cNvPr id="23" name="Text 19"/>
          <p:cNvSpPr/>
          <p:nvPr/>
        </p:nvSpPr>
        <p:spPr>
          <a:xfrm>
            <a:off x="6489935" y="3623072"/>
            <a:ext cx="4895827" cy="378817"/>
          </a:xfrm>
          <a:prstGeom prst="rect">
            <a:avLst/>
          </a:prstGeom>
          <a:noFill/>
          <a:ln/>
        </p:spPr>
        <p:txBody>
          <a:bodyPr wrap="square" lIns="0" tIns="0" rIns="0" bIns="0" rtlCol="0" anchor="t">
            <a:normAutofit/>
          </a:bodyPr>
          <a:lstStyle/>
          <a:p>
            <a:pPr algn="l" indent="0" marL="0">
              <a:lnSpc>
                <a:spcPct val="120000"/>
              </a:lnSpc>
              <a:buNone/>
            </a:pPr>
            <a:r>
              <a:rPr lang="en-US" sz="1000" dirty="0">
                <a:solidFill>
                  <a:srgbClr val="3B4E4E"/>
                </a:solidFill>
                <a:latin typeface="Overpass Light" pitchFamily="34" charset="0"/>
                <a:ea typeface="Overpass Light" pitchFamily="34" charset="-122"/>
                <a:cs typeface="Overpass Light" pitchFamily="34" charset="-120"/>
              </a:rPr>
              <a:t>Works seamlessly with numbers, categories, missing values, and non-linear interactions.</a:t>
            </a:r>
            <a:endParaRPr lang="en-US" sz="1000" dirty="0"/>
          </a:p>
        </p:txBody>
      </p:sp>
      <p:pic>
        <p:nvPicPr>
          <p:cNvPr id="24"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262928" y="4257675"/>
            <a:ext cx="5273642" cy="991295"/>
          </a:xfrm>
          <a:prstGeom prst="rect">
            <a:avLst/>
          </a:prstGeom>
        </p:spPr>
      </p:pic>
      <p:sp>
        <p:nvSpPr>
          <p:cNvPr id="25" name="Text 20"/>
          <p:cNvSpPr/>
          <p:nvPr/>
        </p:nvSpPr>
        <p:spPr>
          <a:xfrm>
            <a:off x="6489935" y="4408488"/>
            <a:ext cx="4895827" cy="205879"/>
          </a:xfrm>
          <a:prstGeom prst="rect">
            <a:avLst/>
          </a:prstGeom>
          <a:noFill/>
          <a:ln/>
        </p:spPr>
        <p:txBody>
          <a:bodyPr wrap="none" lIns="0" tIns="0" rIns="0" bIns="0" rtlCol="0" anchor="t"/>
          <a:lstStyle/>
          <a:p>
            <a:pPr algn="l" indent="0" marL="0">
              <a:lnSpc>
                <a:spcPct val="104000"/>
              </a:lnSpc>
              <a:buNone/>
            </a:pPr>
            <a:r>
              <a:rPr lang="en-US" sz="1250" b="1" dirty="0">
                <a:solidFill>
                  <a:srgbClr val="3B4E4E"/>
                </a:solidFill>
                <a:latin typeface="Syne Bold" pitchFamily="34" charset="0"/>
                <a:ea typeface="Syne Bold" pitchFamily="34" charset="-122"/>
                <a:cs typeface="Syne Bold" pitchFamily="34" charset="-120"/>
              </a:rPr>
              <a:t>✗ Needs Careful Tuning</a:t>
            </a:r>
            <a:endParaRPr lang="en-US" sz="1250" dirty="0"/>
          </a:p>
        </p:txBody>
      </p:sp>
      <p:sp>
        <p:nvSpPr>
          <p:cNvPr id="26" name="Text 21"/>
          <p:cNvSpPr/>
          <p:nvPr/>
        </p:nvSpPr>
        <p:spPr>
          <a:xfrm>
            <a:off x="6489935" y="4719340"/>
            <a:ext cx="4895827" cy="378817"/>
          </a:xfrm>
          <a:prstGeom prst="rect">
            <a:avLst/>
          </a:prstGeom>
          <a:noFill/>
          <a:ln/>
        </p:spPr>
        <p:txBody>
          <a:bodyPr wrap="square" lIns="0" tIns="0" rIns="0" bIns="0" rtlCol="0" anchor="t">
            <a:normAutofit/>
          </a:bodyPr>
          <a:lstStyle/>
          <a:p>
            <a:pPr algn="l" indent="0" marL="0">
              <a:lnSpc>
                <a:spcPct val="120000"/>
              </a:lnSpc>
              <a:buNone/>
            </a:pPr>
            <a:r>
              <a:rPr lang="en-US" sz="1000" dirty="0">
                <a:solidFill>
                  <a:srgbClr val="3B4E4E"/>
                </a:solidFill>
                <a:latin typeface="Overpass Light" pitchFamily="34" charset="0"/>
                <a:ea typeface="Overpass Light" pitchFamily="34" charset="-122"/>
                <a:cs typeface="Overpass Light" pitchFamily="34" charset="-120"/>
              </a:rPr>
              <a:t>Hyperparameters (learning rate, tree depth, number of trees) must be tuned. Without care, it memorises training data.</a:t>
            </a:r>
            <a:endParaRPr lang="en-US" sz="1000" dirty="0"/>
          </a:p>
        </p:txBody>
      </p:sp>
      <p:sp>
        <p:nvSpPr>
          <p:cNvPr id="27" name="Text 22"/>
          <p:cNvSpPr/>
          <p:nvPr/>
        </p:nvSpPr>
        <p:spPr>
          <a:xfrm>
            <a:off x="6262928" y="5369531"/>
            <a:ext cx="5273642" cy="205879"/>
          </a:xfrm>
          <a:prstGeom prst="rect">
            <a:avLst/>
          </a:prstGeom>
          <a:noFill/>
          <a:ln/>
        </p:spPr>
        <p:txBody>
          <a:bodyPr wrap="none" lIns="0" tIns="0" rIns="0" bIns="0" rtlCol="0" anchor="t"/>
          <a:lstStyle/>
          <a:p>
            <a:pPr algn="l" indent="0" marL="0">
              <a:lnSpc>
                <a:spcPct val="104000"/>
              </a:lnSpc>
              <a:buNone/>
            </a:pPr>
            <a:r>
              <a:rPr lang="en-US" sz="1250" b="1" dirty="0">
                <a:solidFill>
                  <a:srgbClr val="233939"/>
                </a:solidFill>
                <a:latin typeface="Syne Bold" pitchFamily="34" charset="0"/>
                <a:ea typeface="Syne Bold" pitchFamily="34" charset="-122"/>
                <a:cs typeface="Syne Bold" pitchFamily="34" charset="-120"/>
              </a:rPr>
              <a:t>Real-World Use</a:t>
            </a:r>
            <a:endParaRPr lang="en-US" sz="1250" dirty="0"/>
          </a:p>
        </p:txBody>
      </p:sp>
      <p:sp>
        <p:nvSpPr>
          <p:cNvPr id="28" name="Text 23"/>
          <p:cNvSpPr/>
          <p:nvPr/>
        </p:nvSpPr>
        <p:spPr>
          <a:xfrm>
            <a:off x="6262928" y="5677892"/>
            <a:ext cx="5273642" cy="568226"/>
          </a:xfrm>
          <a:prstGeom prst="rect">
            <a:avLst/>
          </a:prstGeom>
          <a:noFill/>
          <a:ln/>
        </p:spPr>
        <p:txBody>
          <a:bodyPr wrap="square" lIns="0" tIns="0" rIns="0" bIns="0" rtlCol="0" anchor="t">
            <a:normAutofit/>
          </a:bodyPr>
          <a:lstStyle/>
          <a:p>
            <a:pPr algn="l" indent="0" marL="0">
              <a:lnSpc>
                <a:spcPct val="120000"/>
              </a:lnSpc>
              <a:buNone/>
            </a:pPr>
            <a:r>
              <a:rPr lang="en-US" sz="1000" dirty="0">
                <a:solidFill>
                  <a:srgbClr val="3B4E4E"/>
                </a:solidFill>
                <a:latin typeface="Overpass Light" pitchFamily="34" charset="0"/>
                <a:ea typeface="Overpass Light" pitchFamily="34" charset="-122"/>
                <a:cs typeface="Overpass Light" pitchFamily="34" charset="-120"/>
              </a:rPr>
              <a:t>The </a:t>
            </a:r>
            <a:pPr algn="l" indent="0" marL="0">
              <a:lnSpc>
                <a:spcPct val="120000"/>
              </a:lnSpc>
              <a:buNone/>
            </a:pPr>
            <a:r>
              <a:rPr lang="en-US" sz="1000" b="1" dirty="0">
                <a:solidFill>
                  <a:srgbClr val="3B4E4E"/>
                </a:solidFill>
                <a:latin typeface="Overpass Bold" pitchFamily="34" charset="0"/>
                <a:ea typeface="Overpass Bold" pitchFamily="34" charset="-122"/>
                <a:cs typeface="Overpass Bold" pitchFamily="34" charset="-120"/>
              </a:rPr>
              <a:t>M5 Forecasting Competition</a:t>
            </a:r>
            <a:pPr algn="l" indent="0" marL="0">
              <a:lnSpc>
                <a:spcPct val="120000"/>
              </a:lnSpc>
              <a:buNone/>
            </a:pPr>
            <a:r>
              <a:rPr lang="en-US" sz="1000" dirty="0">
                <a:solidFill>
                  <a:srgbClr val="3B4E4E"/>
                </a:solidFill>
                <a:latin typeface="Overpass Light" pitchFamily="34" charset="0"/>
                <a:ea typeface="Overpass Light" pitchFamily="34" charset="-122"/>
                <a:cs typeface="Overpass Light" pitchFamily="34" charset="-120"/>
              </a:rPr>
              <a:t> — based on Walmart's actual sales data — was won by gradient boosting models. Widely used for pricing optimisation, insurance risk scoring, and click-through-rate prediction in advertising.</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E6"/>
        </a:solidFill>
      </p:bgPr>
    </p:bg>
    <p:spTree>
      <p:nvGrpSpPr>
        <p:cNvPr id="1" name=""/>
        <p:cNvGrpSpPr/>
        <p:nvPr/>
      </p:nvGrpSpPr>
      <p:grpSpPr>
        <a:xfrm>
          <a:off x="0" y="0"/>
          <a:ext cx="0" cy="0"/>
          <a:chOff x="0" y="0"/>
          <a:chExt cx="0" cy="0"/>
        </a:xfrm>
      </p:grpSpPr>
      <p:sp>
        <p:nvSpPr>
          <p:cNvPr id="2" name="Shape 0"/>
          <p:cNvSpPr/>
          <p:nvPr/>
        </p:nvSpPr>
        <p:spPr>
          <a:xfrm>
            <a:off x="661475" y="469900"/>
            <a:ext cx="1176110" cy="231676"/>
          </a:xfrm>
          <a:prstGeom prst="roundRect">
            <a:avLst>
              <a:gd name="adj" fmla="val 22113"/>
            </a:avLst>
          </a:prstGeom>
          <a:solidFill>
            <a:srgbClr val="DDEEE6"/>
          </a:solidFill>
          <a:ln/>
        </p:spPr>
      </p:sp>
      <p:sp>
        <p:nvSpPr>
          <p:cNvPr id="3" name="Text 1"/>
          <p:cNvSpPr/>
          <p:nvPr/>
        </p:nvSpPr>
        <p:spPr>
          <a:xfrm>
            <a:off x="752952" y="515640"/>
            <a:ext cx="1602740" cy="140196"/>
          </a:xfrm>
          <a:prstGeom prst="rect">
            <a:avLst/>
          </a:prstGeom>
          <a:noFill/>
          <a:ln/>
        </p:spPr>
        <p:txBody>
          <a:bodyPr wrap="none" lIns="0" tIns="0" rIns="0" bIns="0" rtlCol="0" anchor="t"/>
          <a:lstStyle/>
          <a:p>
            <a:pPr algn="l" indent="0" marL="0">
              <a:lnSpc>
                <a:spcPct val="96000"/>
              </a:lnSpc>
              <a:buNone/>
            </a:pPr>
            <a:r>
              <a:rPr lang="en-US" sz="950" dirty="0">
                <a:solidFill>
                  <a:srgbClr val="3B4E4E"/>
                </a:solidFill>
                <a:latin typeface="Overpass Light" pitchFamily="34" charset="0"/>
                <a:ea typeface="Overpass Light" pitchFamily="34" charset="-122"/>
                <a:cs typeface="Overpass Light" pitchFamily="34" charset="-120"/>
              </a:rPr>
              <a:t>BUSINESS CASE 6</a:t>
            </a:r>
            <a:endParaRPr lang="en-US" sz="950" dirty="0"/>
          </a:p>
        </p:txBody>
      </p:sp>
      <p:sp>
        <p:nvSpPr>
          <p:cNvPr id="4" name="Text 2"/>
          <p:cNvSpPr/>
          <p:nvPr/>
        </p:nvSpPr>
        <p:spPr>
          <a:xfrm>
            <a:off x="661475" y="762438"/>
            <a:ext cx="10868745" cy="476448"/>
          </a:xfrm>
          <a:prstGeom prst="rect">
            <a:avLst/>
          </a:prstGeom>
          <a:noFill/>
          <a:ln/>
        </p:spPr>
        <p:txBody>
          <a:bodyPr wrap="none" lIns="0" tIns="0" rIns="0" bIns="0" rtlCol="0" anchor="t"/>
          <a:lstStyle/>
          <a:p>
            <a:pPr algn="l" indent="0" marL="0">
              <a:lnSpc>
                <a:spcPct val="104000"/>
              </a:lnSpc>
              <a:buNone/>
            </a:pPr>
            <a:r>
              <a:rPr lang="en-US" sz="3000" b="1" dirty="0">
                <a:solidFill>
                  <a:srgbClr val="233939"/>
                </a:solidFill>
                <a:latin typeface="Syne Bold" pitchFamily="34" charset="0"/>
                <a:ea typeface="Syne Bold" pitchFamily="34" charset="-122"/>
                <a:cs typeface="Syne Bold" pitchFamily="34" charset="-120"/>
              </a:rPr>
              <a:t>Spam or Not Spam?</a:t>
            </a:r>
            <a:endParaRPr lang="en-US" sz="3000" dirty="0"/>
          </a:p>
        </p:txBody>
      </p:sp>
      <p:sp>
        <p:nvSpPr>
          <p:cNvPr id="5" name="Text 3"/>
          <p:cNvSpPr/>
          <p:nvPr/>
        </p:nvSpPr>
        <p:spPr>
          <a:xfrm>
            <a:off x="661475" y="1445022"/>
            <a:ext cx="10868745" cy="468908"/>
          </a:xfrm>
          <a:prstGeom prst="rect">
            <a:avLst/>
          </a:prstGeom>
          <a:noFill/>
          <a:ln/>
        </p:spPr>
        <p:txBody>
          <a:bodyPr wrap="square" lIns="0" tIns="0" rIns="0" bIns="0" rtlCol="0" anchor="t">
            <a:normAutofit/>
          </a:bodyPr>
          <a:lstStyle/>
          <a:p>
            <a:pPr algn="l" indent="0" marL="0">
              <a:lnSpc>
                <a:spcPct val="128000"/>
              </a:lnSpc>
              <a:buNone/>
            </a:pPr>
            <a:r>
              <a:rPr lang="en-US" sz="1200" dirty="0">
                <a:solidFill>
                  <a:srgbClr val="3B4E4E"/>
                </a:solidFill>
                <a:latin typeface="Overpass Light" pitchFamily="34" charset="0"/>
                <a:ea typeface="Overpass Light" pitchFamily="34" charset="-122"/>
                <a:cs typeface="Overpass Light" pitchFamily="34" charset="-120"/>
              </a:rPr>
              <a:t>An email provider wants to automatically move unwanted emails out of users' inboxes. Millions of emails arrive every hour — the model must be extremely fast and work well even on limited historical data.</a:t>
            </a:r>
            <a:endParaRPr lang="en-US" sz="1200" dirty="0"/>
          </a:p>
        </p:txBody>
      </p:sp>
      <p:sp>
        <p:nvSpPr>
          <p:cNvPr id="6" name="Text 4"/>
          <p:cNvSpPr/>
          <p:nvPr/>
        </p:nvSpPr>
        <p:spPr>
          <a:xfrm>
            <a:off x="661475" y="2216419"/>
            <a:ext cx="5248441" cy="238224"/>
          </a:xfrm>
          <a:prstGeom prst="rect">
            <a:avLst/>
          </a:prstGeom>
          <a:noFill/>
          <a:ln/>
        </p:spPr>
        <p:txBody>
          <a:bodyPr wrap="none" lIns="0" tIns="0" rIns="0" bIns="0" rtlCol="0" anchor="t"/>
          <a:lstStyle/>
          <a:p>
            <a:pPr algn="l" indent="0" marL="0">
              <a:lnSpc>
                <a:spcPct val="104000"/>
              </a:lnSpc>
              <a:buNone/>
            </a:pPr>
            <a:r>
              <a:rPr lang="en-US" sz="1500" b="1" dirty="0">
                <a:solidFill>
                  <a:srgbClr val="233939"/>
                </a:solidFill>
                <a:latin typeface="Syne Bold" pitchFamily="34" charset="0"/>
                <a:ea typeface="Syne Bold" pitchFamily="34" charset="-122"/>
                <a:cs typeface="Syne Bold" pitchFamily="34" charset="-120"/>
              </a:rPr>
              <a:t>Thinking It Through</a:t>
            </a:r>
            <a:endParaRPr lang="en-US" sz="1500" dirty="0"/>
          </a:p>
        </p:txBody>
      </p:sp>
      <p:pic>
        <p:nvPicPr>
          <p:cNvPr id="7"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42425" y="2589709"/>
            <a:ext cx="2555414" cy="1358404"/>
          </a:xfrm>
          <a:prstGeom prst="rect">
            <a:avLst/>
          </a:prstGeom>
        </p:spPr>
      </p:pic>
      <p:sp>
        <p:nvSpPr>
          <p:cNvPr id="8" name="Text 5"/>
          <p:cNvSpPr/>
          <p:nvPr/>
        </p:nvSpPr>
        <p:spPr>
          <a:xfrm>
            <a:off x="851970" y="2608759"/>
            <a:ext cx="2345869" cy="476448"/>
          </a:xfrm>
          <a:prstGeom prst="rect">
            <a:avLst/>
          </a:prstGeom>
          <a:noFill/>
          <a:ln/>
        </p:spPr>
        <p:txBody>
          <a:bodyPr wrap="square" lIns="0" tIns="0" rIns="0" bIns="0" rtlCol="0" anchor="t">
            <a:normAutofit/>
          </a:bodyPr>
          <a:lstStyle/>
          <a:p>
            <a:pPr algn="l" indent="0" marL="0">
              <a:lnSpc>
                <a:spcPct val="104000"/>
              </a:lnSpc>
              <a:buNone/>
            </a:pPr>
            <a:r>
              <a:rPr lang="en-US" sz="1500" b="1" dirty="0">
                <a:solidFill>
                  <a:srgbClr val="3B4E4E"/>
                </a:solidFill>
                <a:latin typeface="Syne Bold" pitchFamily="34" charset="0"/>
                <a:ea typeface="Syne Bold" pitchFamily="34" charset="-122"/>
                <a:cs typeface="Syne Bold" pitchFamily="34" charset="-120"/>
              </a:rPr>
              <a:t>Past data with correct answers?</a:t>
            </a:r>
            <a:endParaRPr lang="en-US" sz="1500" dirty="0"/>
          </a:p>
        </p:txBody>
      </p:sp>
      <p:sp>
        <p:nvSpPr>
          <p:cNvPr id="9" name="Text 6"/>
          <p:cNvSpPr/>
          <p:nvPr/>
        </p:nvSpPr>
        <p:spPr>
          <a:xfrm>
            <a:off x="851970" y="3225701"/>
            <a:ext cx="2345869" cy="703362"/>
          </a:xfrm>
          <a:prstGeom prst="rect">
            <a:avLst/>
          </a:prstGeom>
          <a:noFill/>
          <a:ln/>
        </p:spPr>
        <p:txBody>
          <a:bodyPr wrap="square" lIns="0" tIns="0" rIns="0" bIns="0" rtlCol="0" anchor="t">
            <a:normAutofit/>
          </a:bodyPr>
          <a:lstStyle/>
          <a:p>
            <a:pPr algn="l" indent="0" marL="0">
              <a:lnSpc>
                <a:spcPct val="128000"/>
              </a:lnSpc>
              <a:buNone/>
            </a:pPr>
            <a:r>
              <a:rPr lang="en-US" sz="1200" dirty="0">
                <a:solidFill>
                  <a:srgbClr val="3B4E4E"/>
                </a:solidFill>
                <a:latin typeface="Overpass Light" pitchFamily="34" charset="0"/>
                <a:ea typeface="Overpass Light" pitchFamily="34" charset="-122"/>
                <a:cs typeface="Overpass Light" pitchFamily="34" charset="-120"/>
              </a:rPr>
              <a:t>Yes — emails that users have previously marked as spam, plus emails confirmed as genuine.</a:t>
            </a:r>
            <a:endParaRPr lang="en-US" sz="1200" dirty="0"/>
          </a:p>
        </p:txBody>
      </p:sp>
      <p:pic>
        <p:nvPicPr>
          <p:cNvPr id="10"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354403" y="2589709"/>
            <a:ext cx="2555513" cy="1358404"/>
          </a:xfrm>
          <a:prstGeom prst="rect">
            <a:avLst/>
          </a:prstGeom>
        </p:spPr>
      </p:pic>
      <p:sp>
        <p:nvSpPr>
          <p:cNvPr id="11" name="Text 7"/>
          <p:cNvSpPr/>
          <p:nvPr/>
        </p:nvSpPr>
        <p:spPr>
          <a:xfrm>
            <a:off x="3563948" y="2608759"/>
            <a:ext cx="2345969" cy="238224"/>
          </a:xfrm>
          <a:prstGeom prst="rect">
            <a:avLst/>
          </a:prstGeom>
          <a:noFill/>
          <a:ln/>
        </p:spPr>
        <p:txBody>
          <a:bodyPr wrap="none" lIns="0" tIns="0" rIns="0" bIns="0" rtlCol="0" anchor="t"/>
          <a:lstStyle/>
          <a:p>
            <a:pPr algn="l" indent="0" marL="0">
              <a:lnSpc>
                <a:spcPct val="104000"/>
              </a:lnSpc>
              <a:buNone/>
            </a:pPr>
            <a:r>
              <a:rPr lang="en-US" sz="1500" b="1" dirty="0">
                <a:solidFill>
                  <a:srgbClr val="3B4E4E"/>
                </a:solidFill>
                <a:latin typeface="Syne Bold" pitchFamily="34" charset="0"/>
                <a:ea typeface="Syne Bold" pitchFamily="34" charset="-122"/>
                <a:cs typeface="Syne Bold" pitchFamily="34" charset="-120"/>
              </a:rPr>
              <a:t>Number or category?</a:t>
            </a:r>
            <a:endParaRPr lang="en-US" sz="1500" dirty="0"/>
          </a:p>
        </p:txBody>
      </p:sp>
      <p:sp>
        <p:nvSpPr>
          <p:cNvPr id="12" name="Text 8"/>
          <p:cNvSpPr/>
          <p:nvPr/>
        </p:nvSpPr>
        <p:spPr>
          <a:xfrm>
            <a:off x="3563948" y="2987477"/>
            <a:ext cx="2345969" cy="234454"/>
          </a:xfrm>
          <a:prstGeom prst="rect">
            <a:avLst/>
          </a:prstGeom>
          <a:noFill/>
          <a:ln/>
        </p:spPr>
        <p:txBody>
          <a:bodyPr wrap="none" lIns="0" tIns="0" rIns="0" bIns="0" rtlCol="0" anchor="t"/>
          <a:lstStyle/>
          <a:p>
            <a:pPr algn="l" indent="0" marL="0">
              <a:lnSpc>
                <a:spcPct val="128000"/>
              </a:lnSpc>
              <a:buNone/>
            </a:pPr>
            <a:r>
              <a:rPr lang="en-US" sz="1200" dirty="0">
                <a:solidFill>
                  <a:srgbClr val="3B4E4E"/>
                </a:solidFill>
                <a:latin typeface="Overpass Light" pitchFamily="34" charset="0"/>
                <a:ea typeface="Overpass Light" pitchFamily="34" charset="-122"/>
                <a:cs typeface="Overpass Light" pitchFamily="34" charset="-120"/>
              </a:rPr>
              <a:t>Category: spam / not spam.</a:t>
            </a:r>
            <a:endParaRPr lang="en-US" sz="1200" dirty="0"/>
          </a:p>
        </p:txBody>
      </p:sp>
      <p:pic>
        <p:nvPicPr>
          <p:cNvPr id="13"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42425" y="4191099"/>
            <a:ext cx="2555414" cy="2057995"/>
          </a:xfrm>
          <a:prstGeom prst="rect">
            <a:avLst/>
          </a:prstGeom>
        </p:spPr>
      </p:pic>
      <p:sp>
        <p:nvSpPr>
          <p:cNvPr id="14" name="Text 9"/>
          <p:cNvSpPr/>
          <p:nvPr/>
        </p:nvSpPr>
        <p:spPr>
          <a:xfrm>
            <a:off x="851970" y="4210149"/>
            <a:ext cx="2345869" cy="238224"/>
          </a:xfrm>
          <a:prstGeom prst="rect">
            <a:avLst/>
          </a:prstGeom>
          <a:noFill/>
          <a:ln/>
        </p:spPr>
        <p:txBody>
          <a:bodyPr wrap="none" lIns="0" tIns="0" rIns="0" bIns="0" rtlCol="0" anchor="t"/>
          <a:lstStyle/>
          <a:p>
            <a:pPr algn="l" indent="0" marL="0">
              <a:lnSpc>
                <a:spcPct val="104000"/>
              </a:lnSpc>
              <a:buNone/>
            </a:pPr>
            <a:r>
              <a:rPr lang="en-US" sz="1500" b="1" dirty="0">
                <a:solidFill>
                  <a:srgbClr val="3B4E4E"/>
                </a:solidFill>
                <a:latin typeface="Syne Bold" pitchFamily="34" charset="0"/>
                <a:ea typeface="Syne Bold" pitchFamily="34" charset="-122"/>
                <a:cs typeface="Syne Bold" pitchFamily="34" charset="-120"/>
              </a:rPr>
              <a:t>Special challenge</a:t>
            </a:r>
            <a:endParaRPr lang="en-US" sz="1500" dirty="0"/>
          </a:p>
        </p:txBody>
      </p:sp>
      <p:sp>
        <p:nvSpPr>
          <p:cNvPr id="15" name="Text 10"/>
          <p:cNvSpPr/>
          <p:nvPr/>
        </p:nvSpPr>
        <p:spPr>
          <a:xfrm>
            <a:off x="851970" y="4588867"/>
            <a:ext cx="2345869" cy="1641177"/>
          </a:xfrm>
          <a:prstGeom prst="rect">
            <a:avLst/>
          </a:prstGeom>
          <a:noFill/>
          <a:ln/>
        </p:spPr>
        <p:txBody>
          <a:bodyPr wrap="square" lIns="0" tIns="0" rIns="0" bIns="0" rtlCol="0" anchor="t">
            <a:normAutofit/>
          </a:bodyPr>
          <a:lstStyle/>
          <a:p>
            <a:pPr algn="l" indent="0" marL="0">
              <a:lnSpc>
                <a:spcPct val="128000"/>
              </a:lnSpc>
              <a:buNone/>
            </a:pPr>
            <a:r>
              <a:rPr lang="en-US" sz="1200" dirty="0">
                <a:solidFill>
                  <a:srgbClr val="3B4E4E"/>
                </a:solidFill>
                <a:latin typeface="Overpass Light" pitchFamily="34" charset="0"/>
                <a:ea typeface="Overpass Light" pitchFamily="34" charset="-122"/>
                <a:cs typeface="Overpass Light" pitchFamily="34" charset="-120"/>
              </a:rPr>
              <a:t>The input is raw text — which becomes thousands of features (one per unique word). Standard numeric algorithms do not naturally handle this. Speed is critical: decisions must be made in milliseconds.</a:t>
            </a:r>
            <a:endParaRPr lang="en-US" sz="1200" dirty="0"/>
          </a:p>
        </p:txBody>
      </p:sp>
      <p:pic>
        <p:nvPicPr>
          <p:cNvPr id="16"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3354403" y="4191099"/>
            <a:ext cx="2555513" cy="2057995"/>
          </a:xfrm>
          <a:prstGeom prst="rect">
            <a:avLst/>
          </a:prstGeom>
        </p:spPr>
      </p:pic>
      <p:sp>
        <p:nvSpPr>
          <p:cNvPr id="17" name="Text 11"/>
          <p:cNvSpPr/>
          <p:nvPr/>
        </p:nvSpPr>
        <p:spPr>
          <a:xfrm>
            <a:off x="3563948" y="4210149"/>
            <a:ext cx="2345969" cy="238224"/>
          </a:xfrm>
          <a:prstGeom prst="rect">
            <a:avLst/>
          </a:prstGeom>
          <a:noFill/>
          <a:ln/>
        </p:spPr>
        <p:txBody>
          <a:bodyPr wrap="none" lIns="0" tIns="0" rIns="0" bIns="0" rtlCol="0" anchor="t"/>
          <a:lstStyle/>
          <a:p>
            <a:pPr algn="l" indent="0" marL="0">
              <a:lnSpc>
                <a:spcPct val="104000"/>
              </a:lnSpc>
              <a:buNone/>
            </a:pPr>
            <a:r>
              <a:rPr lang="en-US" sz="1500" b="1" dirty="0">
                <a:solidFill>
                  <a:srgbClr val="3B4E4E"/>
                </a:solidFill>
                <a:latin typeface="Syne Bold" pitchFamily="34" charset="0"/>
                <a:ea typeface="Syne Bold" pitchFamily="34" charset="-122"/>
                <a:cs typeface="Syne Bold" pitchFamily="34" charset="-120"/>
              </a:rPr>
              <a:t>Problem type</a:t>
            </a:r>
            <a:endParaRPr lang="en-US" sz="1500" dirty="0"/>
          </a:p>
        </p:txBody>
      </p:sp>
      <p:sp>
        <p:nvSpPr>
          <p:cNvPr id="18" name="Text 12"/>
          <p:cNvSpPr/>
          <p:nvPr/>
        </p:nvSpPr>
        <p:spPr>
          <a:xfrm>
            <a:off x="3563948" y="4588867"/>
            <a:ext cx="2345969" cy="468908"/>
          </a:xfrm>
          <a:prstGeom prst="rect">
            <a:avLst/>
          </a:prstGeom>
          <a:noFill/>
          <a:ln/>
        </p:spPr>
        <p:txBody>
          <a:bodyPr wrap="square" lIns="0" tIns="0" rIns="0" bIns="0" rtlCol="0" anchor="t">
            <a:normAutofit/>
          </a:bodyPr>
          <a:lstStyle/>
          <a:p>
            <a:pPr algn="l" indent="0" marL="0">
              <a:lnSpc>
                <a:spcPct val="128000"/>
              </a:lnSpc>
              <a:buNone/>
            </a:pPr>
            <a:r>
              <a:rPr lang="en-US" sz="1200" b="1" dirty="0">
                <a:solidFill>
                  <a:srgbClr val="3B4E4E"/>
                </a:solidFill>
                <a:latin typeface="Overpass Bold" pitchFamily="34" charset="0"/>
                <a:ea typeface="Overpass Bold" pitchFamily="34" charset="-122"/>
                <a:cs typeface="Overpass Bold" pitchFamily="34" charset="-120"/>
              </a:rPr>
              <a:t>Supervised text classification, speed-critical.</a:t>
            </a:r>
            <a:endParaRPr lang="en-US" sz="1200" dirty="0"/>
          </a:p>
        </p:txBody>
      </p:sp>
      <p:sp>
        <p:nvSpPr>
          <p:cNvPr id="19" name="Shape 13"/>
          <p:cNvSpPr/>
          <p:nvPr/>
        </p:nvSpPr>
        <p:spPr>
          <a:xfrm>
            <a:off x="6288129" y="2230041"/>
            <a:ext cx="5248441" cy="1032570"/>
          </a:xfrm>
          <a:prstGeom prst="roundRect">
            <a:avLst>
              <a:gd name="adj" fmla="val 6202"/>
            </a:avLst>
          </a:prstGeom>
          <a:solidFill>
            <a:srgbClr val="DDEEE6"/>
          </a:solidFill>
          <a:ln/>
        </p:spPr>
      </p:sp>
      <p:pic>
        <p:nvPicPr>
          <p:cNvPr id="20" name="Image 4" descr="preencoded.png">    </p:cNvPr>
          <p:cNvPicPr>
            <a:picLocks noChangeAspect="1"/>
          </p:cNvPicPr>
          <p:nvPr/>
        </p:nvPicPr>
        <p:blipFill>
          <a:blip r:embed="rId9"/>
          <a:stretch>
            <a:fillRect/>
          </a:stretch>
        </p:blipFill>
        <p:spPr>
          <a:xfrm>
            <a:off x="6440525" y="2427684"/>
            <a:ext cx="190495" cy="152400"/>
          </a:xfrm>
          <a:prstGeom prst="rect">
            <a:avLst/>
          </a:prstGeom>
        </p:spPr>
      </p:pic>
      <p:sp>
        <p:nvSpPr>
          <p:cNvPr id="21" name="Text 14"/>
          <p:cNvSpPr/>
          <p:nvPr/>
        </p:nvSpPr>
        <p:spPr>
          <a:xfrm>
            <a:off x="6783416" y="2394645"/>
            <a:ext cx="4600758" cy="703362"/>
          </a:xfrm>
          <a:prstGeom prst="rect">
            <a:avLst/>
          </a:prstGeom>
          <a:noFill/>
          <a:ln/>
        </p:spPr>
        <p:txBody>
          <a:bodyPr wrap="square" lIns="0" tIns="0" rIns="0" bIns="0" rtlCol="0" anchor="t">
            <a:normAutofit/>
          </a:bodyPr>
          <a:lstStyle/>
          <a:p>
            <a:pPr algn="l" indent="0" marL="0">
              <a:lnSpc>
                <a:spcPct val="128000"/>
              </a:lnSpc>
              <a:buNone/>
            </a:pPr>
            <a:r>
              <a:rPr lang="en-US" sz="1200" b="1" dirty="0">
                <a:solidFill>
                  <a:srgbClr val="000000"/>
                </a:solidFill>
                <a:latin typeface="Overpass Bold" pitchFamily="34" charset="0"/>
                <a:ea typeface="Overpass Bold" pitchFamily="34" charset="-122"/>
                <a:cs typeface="Overpass Bold" pitchFamily="34" charset="-120"/>
              </a:rPr>
              <a:t>Class discussion:</a:t>
            </a:r>
            <a:pPr algn="l" indent="0" marL="0">
              <a:lnSpc>
                <a:spcPct val="128000"/>
              </a:lnSpc>
              <a:buNone/>
            </a:pPr>
            <a:r>
              <a:rPr lang="en-US" sz="1200" dirty="0">
                <a:solidFill>
                  <a:srgbClr val="000000"/>
                </a:solidFill>
                <a:latin typeface="Overpass Light" pitchFamily="34" charset="0"/>
                <a:ea typeface="Overpass Light" pitchFamily="34" charset="-122"/>
                <a:cs typeface="Overpass Light" pitchFamily="34" charset="-120"/>
              </a:rPr>
              <a:t> Name three words or phrases that immediately make you suspect an email is spam. Now think — how could a spammer try to dodge a word-based filter?</a:t>
            </a:r>
            <a:endParaRPr lang="en-US" sz="1200" dirty="0"/>
          </a:p>
        </p:txBody>
      </p:sp>
      <p:sp>
        <p:nvSpPr>
          <p:cNvPr id="22" name="Text 15"/>
          <p:cNvSpPr/>
          <p:nvPr/>
        </p:nvSpPr>
        <p:spPr>
          <a:xfrm>
            <a:off x="6288129" y="3424605"/>
            <a:ext cx="5248441" cy="238224"/>
          </a:xfrm>
          <a:prstGeom prst="rect">
            <a:avLst/>
          </a:prstGeom>
          <a:noFill/>
          <a:ln/>
        </p:spPr>
        <p:txBody>
          <a:bodyPr wrap="none" lIns="0" tIns="0" rIns="0" bIns="0" rtlCol="0" anchor="t"/>
          <a:lstStyle/>
          <a:p>
            <a:pPr algn="l" indent="0" marL="0">
              <a:lnSpc>
                <a:spcPct val="104000"/>
              </a:lnSpc>
              <a:buNone/>
            </a:pPr>
            <a:r>
              <a:rPr lang="en-US" sz="1500" b="1" dirty="0">
                <a:solidFill>
                  <a:srgbClr val="233939"/>
                </a:solidFill>
                <a:latin typeface="Syne Bold" pitchFamily="34" charset="0"/>
                <a:ea typeface="Syne Bold" pitchFamily="34" charset="-122"/>
                <a:cs typeface="Syne Bold" pitchFamily="34" charset="-120"/>
              </a:rPr>
              <a:t>Algorithm to Start With: Naive Bayes</a:t>
            </a:r>
            <a:endParaRPr lang="en-US" sz="1500" dirty="0"/>
          </a:p>
        </p:txBody>
      </p:sp>
      <p:sp>
        <p:nvSpPr>
          <p:cNvPr id="23" name="Text 16"/>
          <p:cNvSpPr/>
          <p:nvPr/>
        </p:nvSpPr>
        <p:spPr>
          <a:xfrm>
            <a:off x="6288129" y="3799384"/>
            <a:ext cx="5248441" cy="703362"/>
          </a:xfrm>
          <a:prstGeom prst="rect">
            <a:avLst/>
          </a:prstGeom>
          <a:noFill/>
          <a:ln/>
        </p:spPr>
        <p:txBody>
          <a:bodyPr wrap="square" lIns="0" tIns="0" rIns="0" bIns="0" rtlCol="0" anchor="t">
            <a:normAutofit/>
          </a:bodyPr>
          <a:lstStyle/>
          <a:p>
            <a:pPr algn="l" indent="0" marL="0">
              <a:lnSpc>
                <a:spcPct val="128000"/>
              </a:lnSpc>
              <a:buNone/>
            </a:pPr>
            <a:r>
              <a:rPr lang="en-US" sz="1200" dirty="0">
                <a:solidFill>
                  <a:srgbClr val="3B4E4E"/>
                </a:solidFill>
                <a:latin typeface="Overpass Light" pitchFamily="34" charset="0"/>
                <a:ea typeface="Overpass Light" pitchFamily="34" charset="-122"/>
                <a:cs typeface="Overpass Light" pitchFamily="34" charset="-120"/>
              </a:rPr>
              <a:t>Naive Bayes is one of the oldest ML algorithms still in active use — and for good reason. On text data with limited training examples, it is remarkably effective and almost instantaneous to run.</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E6"/>
        </a:solidFill>
      </p:bgPr>
    </p:bg>
    <p:spTree>
      <p:nvGrpSpPr>
        <p:cNvPr id="1" name=""/>
        <p:cNvGrpSpPr/>
        <p:nvPr/>
      </p:nvGrpSpPr>
      <p:grpSpPr>
        <a:xfrm>
          <a:off x="0" y="0"/>
          <a:ext cx="0" cy="0"/>
          <a:chOff x="0" y="0"/>
          <a:chExt cx="0" cy="0"/>
        </a:xfrm>
      </p:grpSpPr>
      <p:sp>
        <p:nvSpPr>
          <p:cNvPr id="2" name="Text 0"/>
          <p:cNvSpPr/>
          <p:nvPr/>
        </p:nvSpPr>
        <p:spPr>
          <a:xfrm>
            <a:off x="661475" y="538576"/>
            <a:ext cx="10868745" cy="436066"/>
          </a:xfrm>
          <a:prstGeom prst="rect">
            <a:avLst/>
          </a:prstGeom>
          <a:noFill/>
          <a:ln/>
        </p:spPr>
        <p:txBody>
          <a:bodyPr wrap="none" lIns="0" tIns="0" rIns="0" bIns="0" rtlCol="0" anchor="t"/>
          <a:lstStyle/>
          <a:p>
            <a:pPr algn="l" indent="0" marL="0">
              <a:lnSpc>
                <a:spcPct val="104000"/>
              </a:lnSpc>
              <a:buNone/>
            </a:pPr>
            <a:r>
              <a:rPr lang="en-US" sz="2700" b="1" dirty="0">
                <a:solidFill>
                  <a:srgbClr val="233939"/>
                </a:solidFill>
                <a:latin typeface="Syne Bold" pitchFamily="34" charset="0"/>
                <a:ea typeface="Syne Bold" pitchFamily="34" charset="-122"/>
                <a:cs typeface="Syne Bold" pitchFamily="34" charset="-120"/>
              </a:rPr>
              <a:t>Algorithm: Naive Bayes</a:t>
            </a:r>
            <a:endParaRPr lang="en-US" sz="2700" dirty="0"/>
          </a:p>
        </p:txBody>
      </p:sp>
      <p:sp>
        <p:nvSpPr>
          <p:cNvPr id="3" name="Text 1"/>
          <p:cNvSpPr/>
          <p:nvPr/>
        </p:nvSpPr>
        <p:spPr>
          <a:xfrm>
            <a:off x="661475" y="1204813"/>
            <a:ext cx="10868745" cy="411758"/>
          </a:xfrm>
          <a:prstGeom prst="rect">
            <a:avLst/>
          </a:prstGeom>
          <a:noFill/>
          <a:ln/>
        </p:spPr>
        <p:txBody>
          <a:bodyPr wrap="square" lIns="0" tIns="0" rIns="0" bIns="0" rtlCol="0" anchor="t">
            <a:normAutofit/>
          </a:bodyPr>
          <a:lstStyle/>
          <a:p>
            <a:pPr algn="l" indent="0" marL="0">
              <a:lnSpc>
                <a:spcPct val="123000"/>
              </a:lnSpc>
              <a:buNone/>
            </a:pPr>
            <a:r>
              <a:rPr lang="en-US" sz="1050" dirty="0">
                <a:solidFill>
                  <a:srgbClr val="3B4E4E"/>
                </a:solidFill>
                <a:latin typeface="Overpass Light" pitchFamily="34" charset="0"/>
                <a:ea typeface="Overpass Light" pitchFamily="34" charset="-122"/>
                <a:cs typeface="Overpass Light" pitchFamily="34" charset="-120"/>
              </a:rPr>
              <a:t>Naive Bayes applies Bayes' theorem to estimate the probability that an email belongs to each category, based on the words it contains. It earns the label "naive" because it assumes each word's presence is independent of every other word — a simplification that is technically wrong but practically very effective.</a:t>
            </a:r>
            <a:endParaRPr lang="en-US" sz="1050" dirty="0"/>
          </a:p>
        </p:txBody>
      </p:sp>
      <p:sp>
        <p:nvSpPr>
          <p:cNvPr id="4" name="Text 2"/>
          <p:cNvSpPr/>
          <p:nvPr/>
        </p:nvSpPr>
        <p:spPr>
          <a:xfrm>
            <a:off x="661475" y="1866702"/>
            <a:ext cx="5264217" cy="217984"/>
          </a:xfrm>
          <a:prstGeom prst="rect">
            <a:avLst/>
          </a:prstGeom>
          <a:noFill/>
          <a:ln/>
        </p:spPr>
        <p:txBody>
          <a:bodyPr wrap="none" lIns="0" tIns="0" rIns="0" bIns="0" rtlCol="0" anchor="t"/>
          <a:lstStyle/>
          <a:p>
            <a:pPr algn="l" indent="0" marL="0">
              <a:lnSpc>
                <a:spcPct val="104000"/>
              </a:lnSpc>
              <a:buNone/>
            </a:pPr>
            <a:r>
              <a:rPr lang="en-US" sz="1350" b="1" dirty="0">
                <a:solidFill>
                  <a:srgbClr val="233939"/>
                </a:solidFill>
                <a:latin typeface="Syne Bold" pitchFamily="34" charset="0"/>
                <a:ea typeface="Syne Bold" pitchFamily="34" charset="-122"/>
                <a:cs typeface="Syne Bold" pitchFamily="34" charset="-120"/>
              </a:rPr>
              <a:t>How It Works</a:t>
            </a:r>
            <a:endParaRPr lang="en-US" sz="1350" dirty="0"/>
          </a:p>
        </p:txBody>
      </p:sp>
      <p:sp>
        <p:nvSpPr>
          <p:cNvPr id="5" name="Text 3"/>
          <p:cNvSpPr/>
          <p:nvPr/>
        </p:nvSpPr>
        <p:spPr>
          <a:xfrm>
            <a:off x="661475" y="2217142"/>
            <a:ext cx="279095" cy="174427"/>
          </a:xfrm>
          <a:prstGeom prst="rect">
            <a:avLst/>
          </a:prstGeom>
          <a:noFill/>
          <a:ln/>
        </p:spPr>
        <p:txBody>
          <a:bodyPr wrap="none" lIns="0" tIns="0" rIns="0" bIns="0" rtlCol="0" anchor="ctr"/>
          <a:lstStyle/>
          <a:p>
            <a:pPr algn="l" indent="0" marL="0">
              <a:lnSpc>
                <a:spcPct val="100000"/>
              </a:lnSpc>
              <a:buNone/>
            </a:pPr>
            <a:r>
              <a:rPr lang="en-US" sz="1050" dirty="0">
                <a:solidFill>
                  <a:srgbClr val="3B4E4E"/>
                </a:solidFill>
                <a:latin typeface="Syne" pitchFamily="34" charset="0"/>
                <a:ea typeface="Syne" pitchFamily="34" charset="-122"/>
                <a:cs typeface="Syne" pitchFamily="34" charset="-120"/>
              </a:rPr>
              <a:t>01</a:t>
            </a:r>
            <a:endParaRPr lang="en-US" sz="1050" dirty="0"/>
          </a:p>
        </p:txBody>
      </p:sp>
      <p:sp>
        <p:nvSpPr>
          <p:cNvPr id="6" name="Shape 4"/>
          <p:cNvSpPr/>
          <p:nvPr/>
        </p:nvSpPr>
        <p:spPr>
          <a:xfrm>
            <a:off x="661475" y="2435225"/>
            <a:ext cx="5264217" cy="19050"/>
          </a:xfrm>
          <a:prstGeom prst="rect">
            <a:avLst/>
          </a:prstGeom>
          <a:solidFill>
            <a:srgbClr val="224435"/>
          </a:solidFill>
          <a:ln/>
        </p:spPr>
      </p:sp>
      <p:sp>
        <p:nvSpPr>
          <p:cNvPr id="7" name="Text 5"/>
          <p:cNvSpPr/>
          <p:nvPr/>
        </p:nvSpPr>
        <p:spPr>
          <a:xfrm>
            <a:off x="661475" y="2543076"/>
            <a:ext cx="5264217" cy="217984"/>
          </a:xfrm>
          <a:prstGeom prst="rect">
            <a:avLst/>
          </a:prstGeom>
          <a:noFill/>
          <a:ln/>
        </p:spPr>
        <p:txBody>
          <a:bodyPr wrap="none" lIns="0" tIns="0" rIns="0" bIns="0" rtlCol="0" anchor="t"/>
          <a:lstStyle/>
          <a:p>
            <a:pPr algn="l" indent="0" marL="0">
              <a:lnSpc>
                <a:spcPct val="104000"/>
              </a:lnSpc>
              <a:buNone/>
            </a:pPr>
            <a:r>
              <a:rPr lang="en-US" sz="1350" b="1" dirty="0">
                <a:solidFill>
                  <a:srgbClr val="3B4E4E"/>
                </a:solidFill>
                <a:latin typeface="Syne Bold" pitchFamily="34" charset="0"/>
                <a:ea typeface="Syne Bold" pitchFamily="34" charset="-122"/>
                <a:cs typeface="Syne Bold" pitchFamily="34" charset="-120"/>
              </a:rPr>
              <a:t>Learn Word Frequencies</a:t>
            </a:r>
            <a:endParaRPr lang="en-US" sz="1350" dirty="0"/>
          </a:p>
        </p:txBody>
      </p:sp>
      <p:sp>
        <p:nvSpPr>
          <p:cNvPr id="8" name="Text 6"/>
          <p:cNvSpPr/>
          <p:nvPr/>
        </p:nvSpPr>
        <p:spPr>
          <a:xfrm>
            <a:off x="661475" y="2878733"/>
            <a:ext cx="5264217" cy="617637"/>
          </a:xfrm>
          <a:prstGeom prst="rect">
            <a:avLst/>
          </a:prstGeom>
          <a:noFill/>
          <a:ln/>
        </p:spPr>
        <p:txBody>
          <a:bodyPr wrap="square" lIns="0" tIns="0" rIns="0" bIns="0" rtlCol="0" anchor="t">
            <a:normAutofit/>
          </a:bodyPr>
          <a:lstStyle/>
          <a:p>
            <a:pPr algn="l" indent="0" marL="0">
              <a:lnSpc>
                <a:spcPct val="123000"/>
              </a:lnSpc>
              <a:buNone/>
            </a:pPr>
            <a:r>
              <a:rPr lang="en-US" sz="1050" dirty="0">
                <a:solidFill>
                  <a:srgbClr val="3B4E4E"/>
                </a:solidFill>
                <a:latin typeface="Overpass Light" pitchFamily="34" charset="0"/>
                <a:ea typeface="Overpass Light" pitchFamily="34" charset="-122"/>
                <a:cs typeface="Overpass Light" pitchFamily="34" charset="-120"/>
              </a:rPr>
              <a:t>From thousands of past emails, the model counts how often each word appears in spam versus genuine mail. "Free" appears in 40% of spam but only 2% of genuine mail. "Meeting" is the reverse.</a:t>
            </a:r>
            <a:endParaRPr lang="en-US" sz="1050" dirty="0"/>
          </a:p>
        </p:txBody>
      </p:sp>
      <p:sp>
        <p:nvSpPr>
          <p:cNvPr id="9" name="Text 7"/>
          <p:cNvSpPr/>
          <p:nvPr/>
        </p:nvSpPr>
        <p:spPr>
          <a:xfrm>
            <a:off x="661475" y="3718620"/>
            <a:ext cx="279095" cy="174427"/>
          </a:xfrm>
          <a:prstGeom prst="rect">
            <a:avLst/>
          </a:prstGeom>
          <a:noFill/>
          <a:ln/>
        </p:spPr>
        <p:txBody>
          <a:bodyPr wrap="none" lIns="0" tIns="0" rIns="0" bIns="0" rtlCol="0" anchor="ctr"/>
          <a:lstStyle/>
          <a:p>
            <a:pPr algn="l" indent="0" marL="0">
              <a:lnSpc>
                <a:spcPct val="100000"/>
              </a:lnSpc>
              <a:buNone/>
            </a:pPr>
            <a:r>
              <a:rPr lang="en-US" sz="1050" dirty="0">
                <a:solidFill>
                  <a:srgbClr val="3B4E4E"/>
                </a:solidFill>
                <a:latin typeface="Syne" pitchFamily="34" charset="0"/>
                <a:ea typeface="Syne" pitchFamily="34" charset="-122"/>
                <a:cs typeface="Syne" pitchFamily="34" charset="-120"/>
              </a:rPr>
              <a:t>02</a:t>
            </a:r>
            <a:endParaRPr lang="en-US" sz="1050" dirty="0"/>
          </a:p>
        </p:txBody>
      </p:sp>
      <p:sp>
        <p:nvSpPr>
          <p:cNvPr id="10" name="Shape 8"/>
          <p:cNvSpPr/>
          <p:nvPr/>
        </p:nvSpPr>
        <p:spPr>
          <a:xfrm>
            <a:off x="661475" y="3936702"/>
            <a:ext cx="5264217" cy="19050"/>
          </a:xfrm>
          <a:prstGeom prst="rect">
            <a:avLst/>
          </a:prstGeom>
          <a:solidFill>
            <a:srgbClr val="224435"/>
          </a:solidFill>
          <a:ln/>
        </p:spPr>
      </p:sp>
      <p:sp>
        <p:nvSpPr>
          <p:cNvPr id="11" name="Text 9"/>
          <p:cNvSpPr/>
          <p:nvPr/>
        </p:nvSpPr>
        <p:spPr>
          <a:xfrm>
            <a:off x="661475" y="4044553"/>
            <a:ext cx="5264217" cy="217984"/>
          </a:xfrm>
          <a:prstGeom prst="rect">
            <a:avLst/>
          </a:prstGeom>
          <a:noFill/>
          <a:ln/>
        </p:spPr>
        <p:txBody>
          <a:bodyPr wrap="none" lIns="0" tIns="0" rIns="0" bIns="0" rtlCol="0" anchor="t"/>
          <a:lstStyle/>
          <a:p>
            <a:pPr algn="l" indent="0" marL="0">
              <a:lnSpc>
                <a:spcPct val="104000"/>
              </a:lnSpc>
              <a:buNone/>
            </a:pPr>
            <a:r>
              <a:rPr lang="en-US" sz="1350" b="1" dirty="0">
                <a:solidFill>
                  <a:srgbClr val="3B4E4E"/>
                </a:solidFill>
                <a:latin typeface="Syne Bold" pitchFamily="34" charset="0"/>
                <a:ea typeface="Syne Bold" pitchFamily="34" charset="-122"/>
                <a:cs typeface="Syne Bold" pitchFamily="34" charset="-120"/>
              </a:rPr>
              <a:t>Combine Word Probabilities</a:t>
            </a:r>
            <a:endParaRPr lang="en-US" sz="1350" dirty="0"/>
          </a:p>
        </p:txBody>
      </p:sp>
      <p:sp>
        <p:nvSpPr>
          <p:cNvPr id="12" name="Text 10"/>
          <p:cNvSpPr/>
          <p:nvPr/>
        </p:nvSpPr>
        <p:spPr>
          <a:xfrm>
            <a:off x="661475" y="4380210"/>
            <a:ext cx="5264217" cy="411758"/>
          </a:xfrm>
          <a:prstGeom prst="rect">
            <a:avLst/>
          </a:prstGeom>
          <a:noFill/>
          <a:ln/>
        </p:spPr>
        <p:txBody>
          <a:bodyPr wrap="square" lIns="0" tIns="0" rIns="0" bIns="0" rtlCol="0" anchor="t">
            <a:normAutofit/>
          </a:bodyPr>
          <a:lstStyle/>
          <a:p>
            <a:pPr algn="l" indent="0" marL="0">
              <a:lnSpc>
                <a:spcPct val="123000"/>
              </a:lnSpc>
              <a:buNone/>
            </a:pPr>
            <a:r>
              <a:rPr lang="en-US" sz="1050" dirty="0">
                <a:solidFill>
                  <a:srgbClr val="3B4E4E"/>
                </a:solidFill>
                <a:latin typeface="Overpass Light" pitchFamily="34" charset="0"/>
                <a:ea typeface="Overpass Light" pitchFamily="34" charset="-122"/>
                <a:cs typeface="Overpass Light" pitchFamily="34" charset="-120"/>
              </a:rPr>
              <a:t>For a new email, it multiplies together the individual probabilities of every word it contains — for spam and for genuine — giving an overall probability for each category.</a:t>
            </a:r>
            <a:endParaRPr lang="en-US" sz="1050" dirty="0"/>
          </a:p>
        </p:txBody>
      </p:sp>
      <p:sp>
        <p:nvSpPr>
          <p:cNvPr id="13" name="Text 11"/>
          <p:cNvSpPr/>
          <p:nvPr/>
        </p:nvSpPr>
        <p:spPr>
          <a:xfrm>
            <a:off x="661475" y="5014218"/>
            <a:ext cx="279095" cy="174427"/>
          </a:xfrm>
          <a:prstGeom prst="rect">
            <a:avLst/>
          </a:prstGeom>
          <a:noFill/>
          <a:ln/>
        </p:spPr>
        <p:txBody>
          <a:bodyPr wrap="none" lIns="0" tIns="0" rIns="0" bIns="0" rtlCol="0" anchor="ctr"/>
          <a:lstStyle/>
          <a:p>
            <a:pPr algn="l" indent="0" marL="0">
              <a:lnSpc>
                <a:spcPct val="100000"/>
              </a:lnSpc>
              <a:buNone/>
            </a:pPr>
            <a:r>
              <a:rPr lang="en-US" sz="1050" dirty="0">
                <a:solidFill>
                  <a:srgbClr val="3B4E4E"/>
                </a:solidFill>
                <a:latin typeface="Syne" pitchFamily="34" charset="0"/>
                <a:ea typeface="Syne" pitchFamily="34" charset="-122"/>
                <a:cs typeface="Syne" pitchFamily="34" charset="-120"/>
              </a:rPr>
              <a:t>03</a:t>
            </a:r>
            <a:endParaRPr lang="en-US" sz="1050" dirty="0"/>
          </a:p>
        </p:txBody>
      </p:sp>
      <p:sp>
        <p:nvSpPr>
          <p:cNvPr id="14" name="Shape 12"/>
          <p:cNvSpPr/>
          <p:nvPr/>
        </p:nvSpPr>
        <p:spPr>
          <a:xfrm>
            <a:off x="661475" y="5232301"/>
            <a:ext cx="5264217" cy="19050"/>
          </a:xfrm>
          <a:prstGeom prst="rect">
            <a:avLst/>
          </a:prstGeom>
          <a:solidFill>
            <a:srgbClr val="224435"/>
          </a:solidFill>
          <a:ln/>
        </p:spPr>
      </p:sp>
      <p:sp>
        <p:nvSpPr>
          <p:cNvPr id="15" name="Text 13"/>
          <p:cNvSpPr/>
          <p:nvPr/>
        </p:nvSpPr>
        <p:spPr>
          <a:xfrm>
            <a:off x="661475" y="5340152"/>
            <a:ext cx="5264217" cy="217984"/>
          </a:xfrm>
          <a:prstGeom prst="rect">
            <a:avLst/>
          </a:prstGeom>
          <a:noFill/>
          <a:ln/>
        </p:spPr>
        <p:txBody>
          <a:bodyPr wrap="none" lIns="0" tIns="0" rIns="0" bIns="0" rtlCol="0" anchor="t"/>
          <a:lstStyle/>
          <a:p>
            <a:pPr algn="l" indent="0" marL="0">
              <a:lnSpc>
                <a:spcPct val="104000"/>
              </a:lnSpc>
              <a:buNone/>
            </a:pPr>
            <a:r>
              <a:rPr lang="en-US" sz="1350" b="1" dirty="0">
                <a:solidFill>
                  <a:srgbClr val="3B4E4E"/>
                </a:solidFill>
                <a:latin typeface="Syne Bold" pitchFamily="34" charset="0"/>
                <a:ea typeface="Syne Bold" pitchFamily="34" charset="-122"/>
                <a:cs typeface="Syne Bold" pitchFamily="34" charset="-120"/>
              </a:rPr>
              <a:t>Choose the Winning Category</a:t>
            </a:r>
            <a:endParaRPr lang="en-US" sz="1350" dirty="0"/>
          </a:p>
        </p:txBody>
      </p:sp>
      <p:sp>
        <p:nvSpPr>
          <p:cNvPr id="16" name="Text 14"/>
          <p:cNvSpPr/>
          <p:nvPr/>
        </p:nvSpPr>
        <p:spPr>
          <a:xfrm>
            <a:off x="661475" y="5675809"/>
            <a:ext cx="5264217" cy="411758"/>
          </a:xfrm>
          <a:prstGeom prst="rect">
            <a:avLst/>
          </a:prstGeom>
          <a:noFill/>
          <a:ln/>
        </p:spPr>
        <p:txBody>
          <a:bodyPr wrap="square" lIns="0" tIns="0" rIns="0" bIns="0" rtlCol="0" anchor="t">
            <a:normAutofit/>
          </a:bodyPr>
          <a:lstStyle/>
          <a:p>
            <a:pPr algn="l" indent="0" marL="0">
              <a:lnSpc>
                <a:spcPct val="123000"/>
              </a:lnSpc>
              <a:buNone/>
            </a:pPr>
            <a:r>
              <a:rPr lang="en-US" sz="1050" dirty="0">
                <a:solidFill>
                  <a:srgbClr val="3B4E4E"/>
                </a:solidFill>
                <a:latin typeface="Overpass Light" pitchFamily="34" charset="0"/>
                <a:ea typeface="Overpass Light" pitchFamily="34" charset="-122"/>
                <a:cs typeface="Overpass Light" pitchFamily="34" charset="-120"/>
              </a:rPr>
              <a:t>The category with the higher overall probability wins. The output is a label (spam / not spam) plus a confidence score.</a:t>
            </a:r>
            <a:endParaRPr lang="en-US" sz="1050" dirty="0"/>
          </a:p>
        </p:txBody>
      </p:sp>
      <p:pic>
        <p:nvPicPr>
          <p:cNvPr id="17"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272353" y="1881485"/>
            <a:ext cx="5264217" cy="1064518"/>
          </a:xfrm>
          <a:prstGeom prst="rect">
            <a:avLst/>
          </a:prstGeom>
        </p:spPr>
      </p:pic>
      <p:sp>
        <p:nvSpPr>
          <p:cNvPr id="18" name="Text 15"/>
          <p:cNvSpPr/>
          <p:nvPr/>
        </p:nvSpPr>
        <p:spPr>
          <a:xfrm>
            <a:off x="6507099" y="2040037"/>
            <a:ext cx="4870923" cy="217984"/>
          </a:xfrm>
          <a:prstGeom prst="rect">
            <a:avLst/>
          </a:prstGeom>
          <a:noFill/>
          <a:ln/>
        </p:spPr>
        <p:txBody>
          <a:bodyPr wrap="none" lIns="0" tIns="0" rIns="0" bIns="0" rtlCol="0" anchor="t"/>
          <a:lstStyle/>
          <a:p>
            <a:pPr algn="l" indent="0" marL="0">
              <a:lnSpc>
                <a:spcPct val="104000"/>
              </a:lnSpc>
              <a:buNone/>
            </a:pPr>
            <a:r>
              <a:rPr lang="en-US" sz="1350" b="1" dirty="0">
                <a:solidFill>
                  <a:srgbClr val="3B4E4E"/>
                </a:solidFill>
                <a:latin typeface="Syne Bold" pitchFamily="34" charset="0"/>
                <a:ea typeface="Syne Bold" pitchFamily="34" charset="-122"/>
                <a:cs typeface="Syne Bold" pitchFamily="34" charset="-120"/>
              </a:rPr>
              <a:t>✓ Works with Little Data</a:t>
            </a:r>
            <a:endParaRPr lang="en-US" sz="1350" dirty="0"/>
          </a:p>
        </p:txBody>
      </p:sp>
      <p:sp>
        <p:nvSpPr>
          <p:cNvPr id="19" name="Text 16"/>
          <p:cNvSpPr/>
          <p:nvPr/>
        </p:nvSpPr>
        <p:spPr>
          <a:xfrm>
            <a:off x="6507099" y="2375694"/>
            <a:ext cx="4870923" cy="411758"/>
          </a:xfrm>
          <a:prstGeom prst="rect">
            <a:avLst/>
          </a:prstGeom>
          <a:noFill/>
          <a:ln/>
        </p:spPr>
        <p:txBody>
          <a:bodyPr wrap="square" lIns="0" tIns="0" rIns="0" bIns="0" rtlCol="0" anchor="t">
            <a:normAutofit/>
          </a:bodyPr>
          <a:lstStyle/>
          <a:p>
            <a:pPr algn="l" indent="0" marL="0">
              <a:lnSpc>
                <a:spcPct val="123000"/>
              </a:lnSpc>
              <a:buNone/>
            </a:pPr>
            <a:r>
              <a:rPr lang="en-US" sz="1050" dirty="0">
                <a:solidFill>
                  <a:srgbClr val="3B4E4E"/>
                </a:solidFill>
                <a:latin typeface="Overpass Light" pitchFamily="34" charset="0"/>
                <a:ea typeface="Overpass Light" pitchFamily="34" charset="-122"/>
                <a:cs typeface="Overpass Light" pitchFamily="34" charset="-120"/>
              </a:rPr>
              <a:t>Even a few hundred labelled examples are enough to produce a useful spam filter.</a:t>
            </a:r>
            <a:endParaRPr lang="en-US" sz="1050" dirty="0"/>
          </a:p>
        </p:txBody>
      </p:sp>
      <p:pic>
        <p:nvPicPr>
          <p:cNvPr id="20"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272353" y="3063677"/>
            <a:ext cx="5264217" cy="858639"/>
          </a:xfrm>
          <a:prstGeom prst="rect">
            <a:avLst/>
          </a:prstGeom>
        </p:spPr>
      </p:pic>
      <p:sp>
        <p:nvSpPr>
          <p:cNvPr id="21" name="Text 17"/>
          <p:cNvSpPr/>
          <p:nvPr/>
        </p:nvSpPr>
        <p:spPr>
          <a:xfrm>
            <a:off x="6507099" y="3222228"/>
            <a:ext cx="4870923" cy="217984"/>
          </a:xfrm>
          <a:prstGeom prst="rect">
            <a:avLst/>
          </a:prstGeom>
          <a:noFill/>
          <a:ln/>
        </p:spPr>
        <p:txBody>
          <a:bodyPr wrap="none" lIns="0" tIns="0" rIns="0" bIns="0" rtlCol="0" anchor="t"/>
          <a:lstStyle/>
          <a:p>
            <a:pPr algn="l" indent="0" marL="0">
              <a:lnSpc>
                <a:spcPct val="104000"/>
              </a:lnSpc>
              <a:buNone/>
            </a:pPr>
            <a:r>
              <a:rPr lang="en-US" sz="1350" b="1" dirty="0">
                <a:solidFill>
                  <a:srgbClr val="3B4E4E"/>
                </a:solidFill>
                <a:latin typeface="Syne Bold" pitchFamily="34" charset="0"/>
                <a:ea typeface="Syne Bold" pitchFamily="34" charset="-122"/>
                <a:cs typeface="Syne Bold" pitchFamily="34" charset="-120"/>
              </a:rPr>
              <a:t>✓ Extremely Fast</a:t>
            </a:r>
            <a:endParaRPr lang="en-US" sz="1350" dirty="0"/>
          </a:p>
        </p:txBody>
      </p:sp>
      <p:sp>
        <p:nvSpPr>
          <p:cNvPr id="22" name="Text 18"/>
          <p:cNvSpPr/>
          <p:nvPr/>
        </p:nvSpPr>
        <p:spPr>
          <a:xfrm>
            <a:off x="6507099" y="3557885"/>
            <a:ext cx="4870923" cy="205879"/>
          </a:xfrm>
          <a:prstGeom prst="rect">
            <a:avLst/>
          </a:prstGeom>
          <a:noFill/>
          <a:ln/>
        </p:spPr>
        <p:txBody>
          <a:bodyPr wrap="none" lIns="0" tIns="0" rIns="0" bIns="0" rtlCol="0" anchor="t"/>
          <a:lstStyle/>
          <a:p>
            <a:pPr algn="l" indent="0" marL="0">
              <a:lnSpc>
                <a:spcPct val="123000"/>
              </a:lnSpc>
              <a:buNone/>
            </a:pPr>
            <a:r>
              <a:rPr lang="en-US" sz="1050" dirty="0">
                <a:solidFill>
                  <a:srgbClr val="3B4E4E"/>
                </a:solidFill>
                <a:latin typeface="Overpass Light" pitchFamily="34" charset="0"/>
                <a:ea typeface="Overpass Light" pitchFamily="34" charset="-122"/>
                <a:cs typeface="Overpass Light" pitchFamily="34" charset="-120"/>
              </a:rPr>
              <a:t>Classifies millions of emails per second. Trivial to scale.</a:t>
            </a:r>
            <a:endParaRPr lang="en-US" sz="1050" dirty="0"/>
          </a:p>
        </p:txBody>
      </p:sp>
      <p:pic>
        <p:nvPicPr>
          <p:cNvPr id="23"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272353" y="4039989"/>
            <a:ext cx="5264217" cy="1064518"/>
          </a:xfrm>
          <a:prstGeom prst="rect">
            <a:avLst/>
          </a:prstGeom>
        </p:spPr>
      </p:pic>
      <p:sp>
        <p:nvSpPr>
          <p:cNvPr id="24" name="Text 19"/>
          <p:cNvSpPr/>
          <p:nvPr/>
        </p:nvSpPr>
        <p:spPr>
          <a:xfrm>
            <a:off x="6507099" y="4198541"/>
            <a:ext cx="4870923" cy="217984"/>
          </a:xfrm>
          <a:prstGeom prst="rect">
            <a:avLst/>
          </a:prstGeom>
          <a:noFill/>
          <a:ln/>
        </p:spPr>
        <p:txBody>
          <a:bodyPr wrap="none" lIns="0" tIns="0" rIns="0" bIns="0" rtlCol="0" anchor="t"/>
          <a:lstStyle/>
          <a:p>
            <a:pPr algn="l" indent="0" marL="0">
              <a:lnSpc>
                <a:spcPct val="104000"/>
              </a:lnSpc>
              <a:buNone/>
            </a:pPr>
            <a:r>
              <a:rPr lang="en-US" sz="1350" b="1" dirty="0">
                <a:solidFill>
                  <a:srgbClr val="3B4E4E"/>
                </a:solidFill>
                <a:latin typeface="Syne Bold" pitchFamily="34" charset="0"/>
                <a:ea typeface="Syne Bold" pitchFamily="34" charset="-122"/>
                <a:cs typeface="Syne Bold" pitchFamily="34" charset="-120"/>
              </a:rPr>
              <a:t>✗ Ignores Word Order</a:t>
            </a:r>
            <a:endParaRPr lang="en-US" sz="1350" dirty="0"/>
          </a:p>
        </p:txBody>
      </p:sp>
      <p:sp>
        <p:nvSpPr>
          <p:cNvPr id="25" name="Text 20"/>
          <p:cNvSpPr/>
          <p:nvPr/>
        </p:nvSpPr>
        <p:spPr>
          <a:xfrm>
            <a:off x="6507099" y="4534198"/>
            <a:ext cx="4870923" cy="411758"/>
          </a:xfrm>
          <a:prstGeom prst="rect">
            <a:avLst/>
          </a:prstGeom>
          <a:noFill/>
          <a:ln/>
        </p:spPr>
        <p:txBody>
          <a:bodyPr wrap="square" lIns="0" tIns="0" rIns="0" bIns="0" rtlCol="0" anchor="t">
            <a:normAutofit/>
          </a:bodyPr>
          <a:lstStyle/>
          <a:p>
            <a:pPr algn="l" indent="0" marL="0">
              <a:lnSpc>
                <a:spcPct val="123000"/>
              </a:lnSpc>
              <a:buNone/>
            </a:pPr>
            <a:r>
              <a:rPr lang="en-US" sz="1050" dirty="0">
                <a:solidFill>
                  <a:srgbClr val="3B4E4E"/>
                </a:solidFill>
                <a:latin typeface="Overpass Light" pitchFamily="34" charset="0"/>
                <a:ea typeface="Overpass Light" pitchFamily="34" charset="-122"/>
                <a:cs typeface="Overpass Light" pitchFamily="34" charset="-120"/>
              </a:rPr>
              <a:t>"Not good" and "good, not bad" contain similar words but opposite meanings. Naive Bayes cannot tell them apart.</a:t>
            </a:r>
            <a:endParaRPr lang="en-US" sz="1050" dirty="0"/>
          </a:p>
        </p:txBody>
      </p:sp>
      <p:sp>
        <p:nvSpPr>
          <p:cNvPr id="26" name="Text 21"/>
          <p:cNvSpPr/>
          <p:nvPr/>
        </p:nvSpPr>
        <p:spPr>
          <a:xfrm>
            <a:off x="6272353" y="5236964"/>
            <a:ext cx="5264217" cy="217984"/>
          </a:xfrm>
          <a:prstGeom prst="rect">
            <a:avLst/>
          </a:prstGeom>
          <a:noFill/>
          <a:ln/>
        </p:spPr>
        <p:txBody>
          <a:bodyPr wrap="none" lIns="0" tIns="0" rIns="0" bIns="0" rtlCol="0" anchor="t"/>
          <a:lstStyle/>
          <a:p>
            <a:pPr algn="l" indent="0" marL="0">
              <a:lnSpc>
                <a:spcPct val="104000"/>
              </a:lnSpc>
              <a:buNone/>
            </a:pPr>
            <a:r>
              <a:rPr lang="en-US" sz="1350" b="1" dirty="0">
                <a:solidFill>
                  <a:srgbClr val="233939"/>
                </a:solidFill>
                <a:latin typeface="Syne Bold" pitchFamily="34" charset="0"/>
                <a:ea typeface="Syne Bold" pitchFamily="34" charset="-122"/>
                <a:cs typeface="Syne Bold" pitchFamily="34" charset="-120"/>
              </a:rPr>
              <a:t>Real-World Use</a:t>
            </a:r>
            <a:endParaRPr lang="en-US" sz="1350" dirty="0"/>
          </a:p>
        </p:txBody>
      </p:sp>
      <p:sp>
        <p:nvSpPr>
          <p:cNvPr id="27" name="Text 22"/>
          <p:cNvSpPr/>
          <p:nvPr/>
        </p:nvSpPr>
        <p:spPr>
          <a:xfrm>
            <a:off x="6272353" y="5572621"/>
            <a:ext cx="5264217" cy="617637"/>
          </a:xfrm>
          <a:prstGeom prst="rect">
            <a:avLst/>
          </a:prstGeom>
          <a:noFill/>
          <a:ln/>
        </p:spPr>
        <p:txBody>
          <a:bodyPr wrap="square" lIns="0" tIns="0" rIns="0" bIns="0" rtlCol="0" anchor="t">
            <a:normAutofit/>
          </a:bodyPr>
          <a:lstStyle/>
          <a:p>
            <a:pPr algn="l" indent="0" marL="0">
              <a:lnSpc>
                <a:spcPct val="123000"/>
              </a:lnSpc>
              <a:buNone/>
            </a:pPr>
            <a:r>
              <a:rPr lang="en-US" sz="1050" dirty="0">
                <a:solidFill>
                  <a:srgbClr val="3B4E4E"/>
                </a:solidFill>
                <a:latin typeface="Overpass Light" pitchFamily="34" charset="0"/>
                <a:ea typeface="Overpass Light" pitchFamily="34" charset="-122"/>
                <a:cs typeface="Overpass Light" pitchFamily="34" charset="-120"/>
              </a:rPr>
              <a:t>Early spam filters, including </a:t>
            </a:r>
            <a:pPr algn="l" indent="0" marL="0">
              <a:lnSpc>
                <a:spcPct val="123000"/>
              </a:lnSpc>
              <a:buNone/>
            </a:pPr>
            <a:r>
              <a:rPr lang="en-US" sz="1050" b="1" dirty="0">
                <a:solidFill>
                  <a:srgbClr val="3B4E4E"/>
                </a:solidFill>
                <a:latin typeface="Overpass Bold" pitchFamily="34" charset="0"/>
                <a:ea typeface="Overpass Bold" pitchFamily="34" charset="-122"/>
                <a:cs typeface="Overpass Bold" pitchFamily="34" charset="-120"/>
              </a:rPr>
              <a:t>SpamAssassin</a:t>
            </a:r>
            <a:pPr algn="l" indent="0" marL="0">
              <a:lnSpc>
                <a:spcPct val="123000"/>
              </a:lnSpc>
              <a:buNone/>
            </a:pPr>
            <a:r>
              <a:rPr lang="en-US" sz="1050" dirty="0">
                <a:solidFill>
                  <a:srgbClr val="3B4E4E"/>
                </a:solidFill>
                <a:latin typeface="Overpass Light" pitchFamily="34" charset="0"/>
                <a:ea typeface="Overpass Light" pitchFamily="34" charset="-122"/>
                <a:cs typeface="Overpass Light" pitchFamily="34" charset="-120"/>
              </a:rPr>
              <a:t>, pioneered this approach. Naive Bayes is still used today for routing customer support emails, classifying news articles by topic, and labelling social media posts.</a:t>
            </a:r>
            <a:endParaRPr lang="en-US" sz="10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E6"/>
        </a:solidFill>
      </p:bgPr>
    </p:bg>
    <p:spTree>
      <p:nvGrpSpPr>
        <p:cNvPr id="1" name=""/>
        <p:cNvGrpSpPr/>
        <p:nvPr/>
      </p:nvGrpSpPr>
      <p:grpSpPr>
        <a:xfrm>
          <a:off x="0" y="0"/>
          <a:ext cx="0" cy="0"/>
          <a:chOff x="0" y="0"/>
          <a:chExt cx="0" cy="0"/>
        </a:xfrm>
      </p:grpSpPr>
      <p:sp>
        <p:nvSpPr>
          <p:cNvPr id="2" name="Shape 0"/>
          <p:cNvSpPr/>
          <p:nvPr/>
        </p:nvSpPr>
        <p:spPr>
          <a:xfrm>
            <a:off x="661475" y="454819"/>
            <a:ext cx="629825" cy="125710"/>
          </a:xfrm>
          <a:prstGeom prst="roundRect">
            <a:avLst>
              <a:gd name="adj" fmla="val 22103"/>
            </a:avLst>
          </a:prstGeom>
          <a:solidFill>
            <a:srgbClr val="DDEEE6"/>
          </a:solidFill>
          <a:ln/>
        </p:spPr>
      </p:sp>
      <p:sp>
        <p:nvSpPr>
          <p:cNvPr id="3" name="Text 1"/>
          <p:cNvSpPr/>
          <p:nvPr/>
        </p:nvSpPr>
        <p:spPr>
          <a:xfrm>
            <a:off x="711083" y="479623"/>
            <a:ext cx="1140193" cy="76101"/>
          </a:xfrm>
          <a:prstGeom prst="rect">
            <a:avLst/>
          </a:prstGeom>
          <a:noFill/>
          <a:ln/>
        </p:spPr>
        <p:txBody>
          <a:bodyPr wrap="none" lIns="0" tIns="0" rIns="0" bIns="0" rtlCol="0" anchor="t"/>
          <a:lstStyle/>
          <a:p>
            <a:pPr algn="l" indent="0" marL="0">
              <a:lnSpc>
                <a:spcPct val="96000"/>
              </a:lnSpc>
              <a:buNone/>
            </a:pPr>
            <a:r>
              <a:rPr lang="en-US" sz="500" dirty="0">
                <a:solidFill>
                  <a:srgbClr val="3B4E4E"/>
                </a:solidFill>
                <a:latin typeface="Overpass Light" pitchFamily="34" charset="0"/>
                <a:ea typeface="Overpass Light" pitchFamily="34" charset="-122"/>
                <a:cs typeface="Overpass Light" pitchFamily="34" charset="-120"/>
              </a:rPr>
              <a:t>BUSINESS CASE 7</a:t>
            </a:r>
            <a:endParaRPr lang="en-US" sz="500" dirty="0"/>
          </a:p>
        </p:txBody>
      </p:sp>
      <p:sp>
        <p:nvSpPr>
          <p:cNvPr id="4" name="Text 2"/>
          <p:cNvSpPr/>
          <p:nvPr/>
        </p:nvSpPr>
        <p:spPr>
          <a:xfrm>
            <a:off x="661475" y="599067"/>
            <a:ext cx="10868745" cy="258465"/>
          </a:xfrm>
          <a:prstGeom prst="rect">
            <a:avLst/>
          </a:prstGeom>
          <a:noFill/>
          <a:ln/>
        </p:spPr>
        <p:txBody>
          <a:bodyPr wrap="none" lIns="0" tIns="0" rIns="0" bIns="0" rtlCol="0" anchor="t"/>
          <a:lstStyle/>
          <a:p>
            <a:pPr algn="l" indent="0" marL="0">
              <a:lnSpc>
                <a:spcPct val="104000"/>
              </a:lnSpc>
              <a:buNone/>
            </a:pPr>
            <a:r>
              <a:rPr lang="en-US" sz="1600" b="1" dirty="0">
                <a:solidFill>
                  <a:srgbClr val="233939"/>
                </a:solidFill>
                <a:latin typeface="Syne Bold" pitchFamily="34" charset="0"/>
                <a:ea typeface="Syne Bold" pitchFamily="34" charset="-122"/>
                <a:cs typeface="Syne Bold" pitchFamily="34" charset="-120"/>
              </a:rPr>
              <a:t>Is This Patient at Risk of Diabetes?</a:t>
            </a:r>
            <a:endParaRPr lang="en-US" sz="1600" dirty="0"/>
          </a:p>
        </p:txBody>
      </p:sp>
      <p:sp>
        <p:nvSpPr>
          <p:cNvPr id="5" name="Text 3"/>
          <p:cNvSpPr/>
          <p:nvPr/>
        </p:nvSpPr>
        <p:spPr>
          <a:xfrm>
            <a:off x="661475" y="961372"/>
            <a:ext cx="5333569" cy="129183"/>
          </a:xfrm>
          <a:prstGeom prst="rect">
            <a:avLst/>
          </a:prstGeom>
          <a:noFill/>
          <a:ln/>
        </p:spPr>
        <p:txBody>
          <a:bodyPr wrap="none" lIns="0" tIns="0" rIns="0" bIns="0" rtlCol="0" anchor="t"/>
          <a:lstStyle/>
          <a:p>
            <a:pPr algn="l" indent="0" marL="0">
              <a:lnSpc>
                <a:spcPct val="104000"/>
              </a:lnSpc>
              <a:buNone/>
            </a:pPr>
            <a:r>
              <a:rPr lang="en-US" sz="800" b="1" dirty="0">
                <a:solidFill>
                  <a:srgbClr val="233939"/>
                </a:solidFill>
                <a:latin typeface="Syne Bold" pitchFamily="34" charset="0"/>
                <a:ea typeface="Syne Bold" pitchFamily="34" charset="-122"/>
                <a:cs typeface="Syne Bold" pitchFamily="34" charset="-120"/>
              </a:rPr>
              <a:t>The Situation</a:t>
            </a:r>
            <a:endParaRPr lang="en-US" sz="800" dirty="0"/>
          </a:p>
        </p:txBody>
      </p:sp>
      <p:sp>
        <p:nvSpPr>
          <p:cNvPr id="6" name="Text 4"/>
          <p:cNvSpPr/>
          <p:nvPr/>
        </p:nvSpPr>
        <p:spPr>
          <a:xfrm>
            <a:off x="661475" y="1129209"/>
            <a:ext cx="5333569" cy="198239"/>
          </a:xfrm>
          <a:prstGeom prst="rect">
            <a:avLst/>
          </a:prstGeom>
          <a:noFill/>
          <a:ln/>
        </p:spPr>
        <p:txBody>
          <a:bodyPr wrap="square" lIns="0" tIns="0" rIns="0" bIns="0" rtlCol="0" anchor="t">
            <a:normAutofit/>
          </a:bodyPr>
          <a:lstStyle/>
          <a:p>
            <a:pPr algn="l" indent="0" marL="0">
              <a:lnSpc>
                <a:spcPct val="100000"/>
              </a:lnSpc>
              <a:buNone/>
            </a:pPr>
            <a:r>
              <a:rPr lang="en-US" sz="650" dirty="0">
                <a:solidFill>
                  <a:srgbClr val="3B4E4E"/>
                </a:solidFill>
                <a:latin typeface="Overpass Light" pitchFamily="34" charset="0"/>
                <a:ea typeface="Overpass Light" pitchFamily="34" charset="-122"/>
                <a:cs typeface="Overpass Light" pitchFamily="34" charset="-120"/>
              </a:rPr>
              <a:t>A diagnostic lab wants to automatically flag patients who may be diabetic based on routine blood test readings — glucose levels, BMI, insulin, blood pressure — so that a doctor can prioritise reviewing them.</a:t>
            </a:r>
            <a:endParaRPr lang="en-US" sz="650" dirty="0"/>
          </a:p>
        </p:txBody>
      </p:sp>
      <p:sp>
        <p:nvSpPr>
          <p:cNvPr id="7" name="Text 5"/>
          <p:cNvSpPr/>
          <p:nvPr/>
        </p:nvSpPr>
        <p:spPr>
          <a:xfrm>
            <a:off x="661475" y="1371344"/>
            <a:ext cx="5333569" cy="129183"/>
          </a:xfrm>
          <a:prstGeom prst="rect">
            <a:avLst/>
          </a:prstGeom>
          <a:noFill/>
          <a:ln/>
        </p:spPr>
        <p:txBody>
          <a:bodyPr wrap="none" lIns="0" tIns="0" rIns="0" bIns="0" rtlCol="0" anchor="t"/>
          <a:lstStyle/>
          <a:p>
            <a:pPr algn="l" indent="0" marL="0">
              <a:lnSpc>
                <a:spcPct val="104000"/>
              </a:lnSpc>
              <a:buNone/>
            </a:pPr>
            <a:r>
              <a:rPr lang="en-US" sz="800" b="1" dirty="0">
                <a:solidFill>
                  <a:srgbClr val="233939"/>
                </a:solidFill>
                <a:latin typeface="Syne Bold" pitchFamily="34" charset="0"/>
                <a:ea typeface="Syne Bold" pitchFamily="34" charset="-122"/>
                <a:cs typeface="Syne Bold" pitchFamily="34" charset="-120"/>
              </a:rPr>
              <a:t>Thinking It Through</a:t>
            </a:r>
            <a:endParaRPr lang="en-US" sz="800" dirty="0"/>
          </a:p>
        </p:txBody>
      </p:sp>
      <p:pic>
        <p:nvPicPr>
          <p:cNvPr id="8"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48775" y="1531640"/>
            <a:ext cx="2653638" cy="394097"/>
          </a:xfrm>
          <a:prstGeom prst="rect">
            <a:avLst/>
          </a:prstGeom>
        </p:spPr>
      </p:pic>
      <p:sp>
        <p:nvSpPr>
          <p:cNvPr id="9" name="Text 6"/>
          <p:cNvSpPr/>
          <p:nvPr/>
        </p:nvSpPr>
        <p:spPr>
          <a:xfrm>
            <a:off x="769521" y="1544340"/>
            <a:ext cx="2532892" cy="129183"/>
          </a:xfrm>
          <a:prstGeom prst="rect">
            <a:avLst/>
          </a:prstGeom>
          <a:noFill/>
          <a:ln/>
        </p:spPr>
        <p:txBody>
          <a:bodyPr wrap="none" lIns="0" tIns="0" rIns="0" bIns="0" rtlCol="0" anchor="t"/>
          <a:lstStyle/>
          <a:p>
            <a:pPr algn="l" indent="0" marL="0">
              <a:lnSpc>
                <a:spcPct val="104000"/>
              </a:lnSpc>
              <a:buNone/>
            </a:pPr>
            <a:r>
              <a:rPr lang="en-US" sz="800" b="1" dirty="0">
                <a:solidFill>
                  <a:srgbClr val="3B4E4E"/>
                </a:solidFill>
                <a:latin typeface="Syne Bold" pitchFamily="34" charset="0"/>
                <a:ea typeface="Syne Bold" pitchFamily="34" charset="-122"/>
                <a:cs typeface="Syne Bold" pitchFamily="34" charset="-120"/>
              </a:rPr>
              <a:t>Past data with correct answers?</a:t>
            </a:r>
            <a:endParaRPr lang="en-US" sz="800" dirty="0"/>
          </a:p>
        </p:txBody>
      </p:sp>
      <p:sp>
        <p:nvSpPr>
          <p:cNvPr id="10" name="Text 7"/>
          <p:cNvSpPr/>
          <p:nvPr/>
        </p:nvSpPr>
        <p:spPr>
          <a:xfrm>
            <a:off x="769521" y="1714798"/>
            <a:ext cx="2532892" cy="198239"/>
          </a:xfrm>
          <a:prstGeom prst="rect">
            <a:avLst/>
          </a:prstGeom>
          <a:noFill/>
          <a:ln/>
        </p:spPr>
        <p:txBody>
          <a:bodyPr wrap="square" lIns="0" tIns="0" rIns="0" bIns="0" rtlCol="0" anchor="t">
            <a:normAutofit/>
          </a:bodyPr>
          <a:lstStyle/>
          <a:p>
            <a:pPr algn="l" indent="0" marL="0">
              <a:lnSpc>
                <a:spcPct val="100000"/>
              </a:lnSpc>
              <a:buNone/>
            </a:pPr>
            <a:r>
              <a:rPr lang="en-US" sz="650" dirty="0">
                <a:solidFill>
                  <a:srgbClr val="3B4E4E"/>
                </a:solidFill>
                <a:latin typeface="Overpass Light" pitchFamily="34" charset="0"/>
                <a:ea typeface="Overpass Light" pitchFamily="34" charset="-122"/>
                <a:cs typeface="Overpass Light" pitchFamily="34" charset="-120"/>
              </a:rPr>
              <a:t>Yes — past patients with confirmed diagnosis labels: diabetic or not diabetic.</a:t>
            </a:r>
            <a:endParaRPr lang="en-US" sz="650" dirty="0"/>
          </a:p>
        </p:txBody>
      </p:sp>
      <p:pic>
        <p:nvPicPr>
          <p:cNvPr id="11"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341306" y="1531640"/>
            <a:ext cx="2653738" cy="394097"/>
          </a:xfrm>
          <a:prstGeom prst="rect">
            <a:avLst/>
          </a:prstGeom>
        </p:spPr>
      </p:pic>
      <p:sp>
        <p:nvSpPr>
          <p:cNvPr id="12" name="Text 8"/>
          <p:cNvSpPr/>
          <p:nvPr/>
        </p:nvSpPr>
        <p:spPr>
          <a:xfrm>
            <a:off x="3462052" y="1544340"/>
            <a:ext cx="2532991" cy="129183"/>
          </a:xfrm>
          <a:prstGeom prst="rect">
            <a:avLst/>
          </a:prstGeom>
          <a:noFill/>
          <a:ln/>
        </p:spPr>
        <p:txBody>
          <a:bodyPr wrap="none" lIns="0" tIns="0" rIns="0" bIns="0" rtlCol="0" anchor="t"/>
          <a:lstStyle/>
          <a:p>
            <a:pPr algn="l" indent="0" marL="0">
              <a:lnSpc>
                <a:spcPct val="104000"/>
              </a:lnSpc>
              <a:buNone/>
            </a:pPr>
            <a:r>
              <a:rPr lang="en-US" sz="800" b="1" dirty="0">
                <a:solidFill>
                  <a:srgbClr val="3B4E4E"/>
                </a:solidFill>
                <a:latin typeface="Syne Bold" pitchFamily="34" charset="0"/>
                <a:ea typeface="Syne Bold" pitchFamily="34" charset="-122"/>
                <a:cs typeface="Syne Bold" pitchFamily="34" charset="-120"/>
              </a:rPr>
              <a:t>Number or category?</a:t>
            </a:r>
            <a:endParaRPr lang="en-US" sz="800" dirty="0"/>
          </a:p>
        </p:txBody>
      </p:sp>
      <p:sp>
        <p:nvSpPr>
          <p:cNvPr id="13" name="Text 9"/>
          <p:cNvSpPr/>
          <p:nvPr/>
        </p:nvSpPr>
        <p:spPr>
          <a:xfrm>
            <a:off x="3462052" y="1714798"/>
            <a:ext cx="2532991" cy="99120"/>
          </a:xfrm>
          <a:prstGeom prst="rect">
            <a:avLst/>
          </a:prstGeom>
          <a:noFill/>
          <a:ln/>
        </p:spPr>
        <p:txBody>
          <a:bodyPr wrap="none" lIns="0" tIns="0" rIns="0" bIns="0" rtlCol="0" anchor="t"/>
          <a:lstStyle/>
          <a:p>
            <a:pPr algn="l" indent="0" marL="0">
              <a:lnSpc>
                <a:spcPct val="100000"/>
              </a:lnSpc>
              <a:buNone/>
            </a:pPr>
            <a:r>
              <a:rPr lang="en-US" sz="650" dirty="0">
                <a:solidFill>
                  <a:srgbClr val="3B4E4E"/>
                </a:solidFill>
                <a:latin typeface="Overpass Light" pitchFamily="34" charset="0"/>
                <a:ea typeface="Overpass Light" pitchFamily="34" charset="-122"/>
                <a:cs typeface="Overpass Light" pitchFamily="34" charset="-120"/>
              </a:rPr>
              <a:t>Category: at risk / not at risk.</a:t>
            </a:r>
            <a:endParaRPr lang="en-US" sz="650" dirty="0"/>
          </a:p>
        </p:txBody>
      </p:sp>
      <p:pic>
        <p:nvPicPr>
          <p:cNvPr id="14"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48775" y="1982986"/>
            <a:ext cx="2653638" cy="394097"/>
          </a:xfrm>
          <a:prstGeom prst="rect">
            <a:avLst/>
          </a:prstGeom>
        </p:spPr>
      </p:pic>
      <p:sp>
        <p:nvSpPr>
          <p:cNvPr id="15" name="Text 10"/>
          <p:cNvSpPr/>
          <p:nvPr/>
        </p:nvSpPr>
        <p:spPr>
          <a:xfrm>
            <a:off x="769521" y="1995686"/>
            <a:ext cx="2532892" cy="129183"/>
          </a:xfrm>
          <a:prstGeom prst="rect">
            <a:avLst/>
          </a:prstGeom>
          <a:noFill/>
          <a:ln/>
        </p:spPr>
        <p:txBody>
          <a:bodyPr wrap="none" lIns="0" tIns="0" rIns="0" bIns="0" rtlCol="0" anchor="t"/>
          <a:lstStyle/>
          <a:p>
            <a:pPr algn="l" indent="0" marL="0">
              <a:lnSpc>
                <a:spcPct val="104000"/>
              </a:lnSpc>
              <a:buNone/>
            </a:pPr>
            <a:r>
              <a:rPr lang="en-US" sz="800" b="1" dirty="0">
                <a:solidFill>
                  <a:srgbClr val="3B4E4E"/>
                </a:solidFill>
                <a:latin typeface="Syne Bold" pitchFamily="34" charset="0"/>
                <a:ea typeface="Syne Bold" pitchFamily="34" charset="-122"/>
                <a:cs typeface="Syne Bold" pitchFamily="34" charset="-120"/>
              </a:rPr>
              <a:t>Dataset size</a:t>
            </a:r>
            <a:endParaRPr lang="en-US" sz="800" dirty="0"/>
          </a:p>
        </p:txBody>
      </p:sp>
      <p:sp>
        <p:nvSpPr>
          <p:cNvPr id="16" name="Text 11"/>
          <p:cNvSpPr/>
          <p:nvPr/>
        </p:nvSpPr>
        <p:spPr>
          <a:xfrm>
            <a:off x="769521" y="2166144"/>
            <a:ext cx="2532892" cy="198239"/>
          </a:xfrm>
          <a:prstGeom prst="rect">
            <a:avLst/>
          </a:prstGeom>
          <a:noFill/>
          <a:ln/>
        </p:spPr>
        <p:txBody>
          <a:bodyPr wrap="square" lIns="0" tIns="0" rIns="0" bIns="0" rtlCol="0" anchor="t">
            <a:normAutofit/>
          </a:bodyPr>
          <a:lstStyle/>
          <a:p>
            <a:pPr algn="l" indent="0" marL="0">
              <a:lnSpc>
                <a:spcPct val="100000"/>
              </a:lnSpc>
              <a:buNone/>
            </a:pPr>
            <a:r>
              <a:rPr lang="en-US" sz="650" dirty="0">
                <a:solidFill>
                  <a:srgbClr val="3B4E4E"/>
                </a:solidFill>
                <a:latin typeface="Overpass Light" pitchFamily="34" charset="0"/>
                <a:ea typeface="Overpass Light" pitchFamily="34" charset="-122"/>
                <a:cs typeface="Overpass Light" pitchFamily="34" charset="-120"/>
              </a:rPr>
              <a:t>Small — a few thousand patients. Complex algorithms requiring massive data are overkill and will likely overfit.</a:t>
            </a:r>
            <a:endParaRPr lang="en-US" sz="650" dirty="0"/>
          </a:p>
        </p:txBody>
      </p:sp>
      <p:pic>
        <p:nvPicPr>
          <p:cNvPr id="17"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3341306" y="1982986"/>
            <a:ext cx="2653738" cy="394097"/>
          </a:xfrm>
          <a:prstGeom prst="rect">
            <a:avLst/>
          </a:prstGeom>
        </p:spPr>
      </p:pic>
      <p:sp>
        <p:nvSpPr>
          <p:cNvPr id="18" name="Text 12"/>
          <p:cNvSpPr/>
          <p:nvPr/>
        </p:nvSpPr>
        <p:spPr>
          <a:xfrm>
            <a:off x="3462052" y="1995686"/>
            <a:ext cx="2532991" cy="129183"/>
          </a:xfrm>
          <a:prstGeom prst="rect">
            <a:avLst/>
          </a:prstGeom>
          <a:noFill/>
          <a:ln/>
        </p:spPr>
        <p:txBody>
          <a:bodyPr wrap="none" lIns="0" tIns="0" rIns="0" bIns="0" rtlCol="0" anchor="t"/>
          <a:lstStyle/>
          <a:p>
            <a:pPr algn="l" indent="0" marL="0">
              <a:lnSpc>
                <a:spcPct val="104000"/>
              </a:lnSpc>
              <a:buNone/>
            </a:pPr>
            <a:r>
              <a:rPr lang="en-US" sz="800" b="1" dirty="0">
                <a:solidFill>
                  <a:srgbClr val="3B4E4E"/>
                </a:solidFill>
                <a:latin typeface="Syne Bold" pitchFamily="34" charset="0"/>
                <a:ea typeface="Syne Bold" pitchFamily="34" charset="-122"/>
                <a:cs typeface="Syne Bold" pitchFamily="34" charset="-120"/>
              </a:rPr>
              <a:t>Core intuition</a:t>
            </a:r>
            <a:endParaRPr lang="en-US" sz="800" dirty="0"/>
          </a:p>
        </p:txBody>
      </p:sp>
      <p:sp>
        <p:nvSpPr>
          <p:cNvPr id="19" name="Text 13"/>
          <p:cNvSpPr/>
          <p:nvPr/>
        </p:nvSpPr>
        <p:spPr>
          <a:xfrm>
            <a:off x="3462052" y="2166144"/>
            <a:ext cx="2532991" cy="198239"/>
          </a:xfrm>
          <a:prstGeom prst="rect">
            <a:avLst/>
          </a:prstGeom>
          <a:noFill/>
          <a:ln/>
        </p:spPr>
        <p:txBody>
          <a:bodyPr wrap="square" lIns="0" tIns="0" rIns="0" bIns="0" rtlCol="0" anchor="t">
            <a:normAutofit/>
          </a:bodyPr>
          <a:lstStyle/>
          <a:p>
            <a:pPr algn="l" indent="0" marL="0">
              <a:lnSpc>
                <a:spcPct val="100000"/>
              </a:lnSpc>
              <a:buNone/>
            </a:pPr>
            <a:r>
              <a:rPr lang="en-US" sz="650" dirty="0">
                <a:solidFill>
                  <a:srgbClr val="3B4E4E"/>
                </a:solidFill>
                <a:latin typeface="Overpass Light" pitchFamily="34" charset="0"/>
                <a:ea typeface="Overpass Light" pitchFamily="34" charset="-122"/>
                <a:cs typeface="Overpass Light" pitchFamily="34" charset="-120"/>
              </a:rPr>
              <a:t>Patients with very similar test readings tend to share the same diagnosis. Finding similar past patients is a natural fit.</a:t>
            </a:r>
            <a:endParaRPr lang="en-US" sz="650" dirty="0"/>
          </a:p>
        </p:txBody>
      </p:sp>
      <p:pic>
        <p:nvPicPr>
          <p:cNvPr id="20" name="Image 4" descr="preencoded.png">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648775" y="2434332"/>
            <a:ext cx="5346269" cy="294977"/>
          </a:xfrm>
          <a:prstGeom prst="rect">
            <a:avLst/>
          </a:prstGeom>
        </p:spPr>
      </p:pic>
      <p:sp>
        <p:nvSpPr>
          <p:cNvPr id="21" name="Text 14"/>
          <p:cNvSpPr/>
          <p:nvPr/>
        </p:nvSpPr>
        <p:spPr>
          <a:xfrm>
            <a:off x="769521" y="2447032"/>
            <a:ext cx="5225522" cy="129183"/>
          </a:xfrm>
          <a:prstGeom prst="rect">
            <a:avLst/>
          </a:prstGeom>
          <a:noFill/>
          <a:ln/>
        </p:spPr>
        <p:txBody>
          <a:bodyPr wrap="none" lIns="0" tIns="0" rIns="0" bIns="0" rtlCol="0" anchor="t"/>
          <a:lstStyle/>
          <a:p>
            <a:pPr algn="l" indent="0" marL="0">
              <a:lnSpc>
                <a:spcPct val="104000"/>
              </a:lnSpc>
              <a:buNone/>
            </a:pPr>
            <a:r>
              <a:rPr lang="en-US" sz="800" b="1" dirty="0">
                <a:solidFill>
                  <a:srgbClr val="3B4E4E"/>
                </a:solidFill>
                <a:latin typeface="Syne Bold" pitchFamily="34" charset="0"/>
                <a:ea typeface="Syne Bold" pitchFamily="34" charset="-122"/>
                <a:cs typeface="Syne Bold" pitchFamily="34" charset="-120"/>
              </a:rPr>
              <a:t>Problem type</a:t>
            </a:r>
            <a:endParaRPr lang="en-US" sz="800" dirty="0"/>
          </a:p>
        </p:txBody>
      </p:sp>
      <p:sp>
        <p:nvSpPr>
          <p:cNvPr id="22" name="Text 15"/>
          <p:cNvSpPr/>
          <p:nvPr/>
        </p:nvSpPr>
        <p:spPr>
          <a:xfrm>
            <a:off x="769521" y="2617490"/>
            <a:ext cx="5225522" cy="99120"/>
          </a:xfrm>
          <a:prstGeom prst="rect">
            <a:avLst/>
          </a:prstGeom>
          <a:noFill/>
          <a:ln/>
        </p:spPr>
        <p:txBody>
          <a:bodyPr wrap="none" lIns="0" tIns="0" rIns="0" bIns="0" rtlCol="0" anchor="t"/>
          <a:lstStyle/>
          <a:p>
            <a:pPr algn="l" indent="0" marL="0">
              <a:lnSpc>
                <a:spcPct val="100000"/>
              </a:lnSpc>
              <a:buNone/>
            </a:pPr>
            <a:r>
              <a:rPr lang="en-US" sz="650" b="1" dirty="0">
                <a:solidFill>
                  <a:srgbClr val="3B4E4E"/>
                </a:solidFill>
                <a:latin typeface="Overpass Bold" pitchFamily="34" charset="0"/>
                <a:ea typeface="Overpass Bold" pitchFamily="34" charset="-122"/>
                <a:cs typeface="Overpass Bold" pitchFamily="34" charset="-120"/>
              </a:rPr>
              <a:t>Supervised classification on a small dataset.</a:t>
            </a:r>
            <a:endParaRPr lang="en-US" sz="650" dirty="0"/>
          </a:p>
        </p:txBody>
      </p:sp>
      <p:pic>
        <p:nvPicPr>
          <p:cNvPr id="23" name="Image 5" descr="preencoded.png">    </p:cNvPr>
          <p:cNvPicPr>
            <a:picLocks noChangeAspect="1"/>
          </p:cNvPicPr>
          <p:nvPr/>
        </p:nvPicPr>
        <p:blipFill>
          <a:blip r:embed="rId11"/>
          <a:stretch>
            <a:fillRect/>
          </a:stretch>
        </p:blipFill>
        <p:spPr>
          <a:xfrm>
            <a:off x="6203001" y="963910"/>
            <a:ext cx="5333569" cy="5333702"/>
          </a:xfrm>
          <a:prstGeom prst="rect">
            <a:avLst/>
          </a:prstGeom>
        </p:spPr>
      </p:pic>
      <p:sp>
        <p:nvSpPr>
          <p:cNvPr id="24" name="Shape 16"/>
          <p:cNvSpPr/>
          <p:nvPr/>
        </p:nvSpPr>
        <p:spPr>
          <a:xfrm>
            <a:off x="6203001" y="6344047"/>
            <a:ext cx="5333569" cy="313928"/>
          </a:xfrm>
          <a:prstGeom prst="roundRect">
            <a:avLst>
              <a:gd name="adj" fmla="val 11064"/>
            </a:avLst>
          </a:prstGeom>
          <a:solidFill>
            <a:srgbClr val="DDEEE6"/>
          </a:solidFill>
          <a:ln/>
        </p:spPr>
      </p:sp>
      <p:pic>
        <p:nvPicPr>
          <p:cNvPr id="25" name="Image 6" descr="preencoded.png">    </p:cNvPr>
          <p:cNvPicPr>
            <a:picLocks noChangeAspect="1"/>
          </p:cNvPicPr>
          <p:nvPr/>
        </p:nvPicPr>
        <p:blipFill>
          <a:blip r:embed="rId12"/>
          <a:stretch>
            <a:fillRect/>
          </a:stretch>
        </p:blipFill>
        <p:spPr>
          <a:xfrm>
            <a:off x="6285648" y="6405959"/>
            <a:ext cx="103284" cy="82649"/>
          </a:xfrm>
          <a:prstGeom prst="rect">
            <a:avLst/>
          </a:prstGeom>
        </p:spPr>
      </p:pic>
      <p:sp>
        <p:nvSpPr>
          <p:cNvPr id="26" name="Text 17"/>
          <p:cNvSpPr/>
          <p:nvPr/>
        </p:nvSpPr>
        <p:spPr>
          <a:xfrm>
            <a:off x="6471580" y="6401891"/>
            <a:ext cx="4982343" cy="198239"/>
          </a:xfrm>
          <a:prstGeom prst="rect">
            <a:avLst/>
          </a:prstGeom>
          <a:noFill/>
          <a:ln/>
        </p:spPr>
        <p:txBody>
          <a:bodyPr wrap="square" lIns="0" tIns="0" rIns="0" bIns="0" rtlCol="0" anchor="t">
            <a:normAutofit/>
          </a:bodyPr>
          <a:lstStyle/>
          <a:p>
            <a:pPr algn="l" indent="0" marL="0">
              <a:lnSpc>
                <a:spcPct val="100000"/>
              </a:lnSpc>
              <a:buNone/>
            </a:pPr>
            <a:r>
              <a:rPr lang="en-US" sz="650" b="1" dirty="0">
                <a:solidFill>
                  <a:srgbClr val="000000"/>
                </a:solidFill>
                <a:latin typeface="Overpass Bold" pitchFamily="34" charset="0"/>
                <a:ea typeface="Overpass Bold" pitchFamily="34" charset="-122"/>
                <a:cs typeface="Overpass Bold" pitchFamily="34" charset="-120"/>
              </a:rPr>
              <a:t>Class discussion:</a:t>
            </a:r>
            <a:pPr algn="l" indent="0" marL="0">
              <a:lnSpc>
                <a:spcPct val="100000"/>
              </a:lnSpc>
              <a:buNone/>
            </a:pPr>
            <a:r>
              <a:rPr lang="en-US" sz="650" dirty="0">
                <a:solidFill>
                  <a:srgbClr val="000000"/>
                </a:solidFill>
                <a:latin typeface="Overpass Light" pitchFamily="34" charset="0"/>
                <a:ea typeface="Overpass Light" pitchFamily="34" charset="-122"/>
                <a:cs typeface="Overpass Light" pitchFamily="34" charset="-120"/>
              </a:rPr>
              <a:t> Which test readings would you compare between two patients to decide if they are "similar"? Does the scale of the measurement matter?</a:t>
            </a:r>
            <a:endParaRPr lang="en-US" sz="6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E6"/>
        </a:solidFill>
      </p:bgPr>
    </p:bg>
    <p:spTree>
      <p:nvGrpSpPr>
        <p:cNvPr id="1" name=""/>
        <p:cNvGrpSpPr/>
        <p:nvPr/>
      </p:nvGrpSpPr>
      <p:grpSpPr>
        <a:xfrm>
          <a:off x="0" y="0"/>
          <a:ext cx="0" cy="0"/>
          <a:chOff x="0" y="0"/>
          <a:chExt cx="0" cy="0"/>
        </a:xfrm>
      </p:grpSpPr>
      <p:sp>
        <p:nvSpPr>
          <p:cNvPr id="2" name="Text 0"/>
          <p:cNvSpPr/>
          <p:nvPr/>
        </p:nvSpPr>
        <p:spPr>
          <a:xfrm>
            <a:off x="661475" y="518736"/>
            <a:ext cx="10868745" cy="411857"/>
          </a:xfrm>
          <a:prstGeom prst="rect">
            <a:avLst/>
          </a:prstGeom>
          <a:noFill/>
          <a:ln/>
        </p:spPr>
        <p:txBody>
          <a:bodyPr wrap="none" lIns="0" tIns="0" rIns="0" bIns="0" rtlCol="0" anchor="t"/>
          <a:lstStyle/>
          <a:p>
            <a:pPr algn="l" indent="0" marL="0">
              <a:lnSpc>
                <a:spcPct val="104000"/>
              </a:lnSpc>
              <a:buNone/>
            </a:pPr>
            <a:r>
              <a:rPr lang="en-US" sz="2550" b="1" dirty="0">
                <a:solidFill>
                  <a:srgbClr val="233939"/>
                </a:solidFill>
                <a:latin typeface="Syne Bold" pitchFamily="34" charset="0"/>
                <a:ea typeface="Syne Bold" pitchFamily="34" charset="-122"/>
                <a:cs typeface="Syne Bold" pitchFamily="34" charset="-120"/>
              </a:rPr>
              <a:t>Algorithm: K-Nearest Neighbours (KNN)</a:t>
            </a:r>
            <a:endParaRPr lang="en-US" sz="2550" dirty="0"/>
          </a:p>
        </p:txBody>
      </p:sp>
      <p:sp>
        <p:nvSpPr>
          <p:cNvPr id="3" name="Text 1"/>
          <p:cNvSpPr/>
          <p:nvPr/>
        </p:nvSpPr>
        <p:spPr>
          <a:xfrm>
            <a:off x="661475" y="1135658"/>
            <a:ext cx="10868745" cy="378817"/>
          </a:xfrm>
          <a:prstGeom prst="rect">
            <a:avLst/>
          </a:prstGeom>
          <a:noFill/>
          <a:ln/>
        </p:spPr>
        <p:txBody>
          <a:bodyPr wrap="square" lIns="0" tIns="0" rIns="0" bIns="0" rtlCol="0" anchor="t">
            <a:normAutofit/>
          </a:bodyPr>
          <a:lstStyle/>
          <a:p>
            <a:pPr algn="l" indent="0" marL="0">
              <a:lnSpc>
                <a:spcPct val="120000"/>
              </a:lnSpc>
              <a:buNone/>
            </a:pPr>
            <a:r>
              <a:rPr lang="en-US" sz="1000" dirty="0">
                <a:solidFill>
                  <a:srgbClr val="3B4E4E"/>
                </a:solidFill>
                <a:latin typeface="Overpass Light" pitchFamily="34" charset="0"/>
                <a:ea typeface="Overpass Light" pitchFamily="34" charset="-122"/>
                <a:cs typeface="Overpass Light" pitchFamily="34" charset="-120"/>
              </a:rPr>
              <a:t>KNN is one of the most intuitive algorithms in all of machine learning. It makes no assumptions about the shape of the data and requires no training phase — it simply memorises the past and reasons by analogy.</a:t>
            </a:r>
            <a:endParaRPr lang="en-US" sz="1000" dirty="0"/>
          </a:p>
        </p:txBody>
      </p:sp>
      <p:sp>
        <p:nvSpPr>
          <p:cNvPr id="4" name="Text 2"/>
          <p:cNvSpPr/>
          <p:nvPr/>
        </p:nvSpPr>
        <p:spPr>
          <a:xfrm>
            <a:off x="661475" y="1740010"/>
            <a:ext cx="5273642" cy="205879"/>
          </a:xfrm>
          <a:prstGeom prst="rect">
            <a:avLst/>
          </a:prstGeom>
          <a:noFill/>
          <a:ln/>
        </p:spPr>
        <p:txBody>
          <a:bodyPr wrap="none" lIns="0" tIns="0" rIns="0" bIns="0" rtlCol="0" anchor="t"/>
          <a:lstStyle/>
          <a:p>
            <a:pPr algn="l" indent="0" marL="0">
              <a:lnSpc>
                <a:spcPct val="104000"/>
              </a:lnSpc>
              <a:buNone/>
            </a:pPr>
            <a:r>
              <a:rPr lang="en-US" sz="1250" b="1" dirty="0">
                <a:solidFill>
                  <a:srgbClr val="233939"/>
                </a:solidFill>
                <a:latin typeface="Syne Bold" pitchFamily="34" charset="0"/>
                <a:ea typeface="Syne Bold" pitchFamily="34" charset="-122"/>
                <a:cs typeface="Syne Bold" pitchFamily="34" charset="-120"/>
              </a:rPr>
              <a:t>How It Works</a:t>
            </a:r>
            <a:endParaRPr lang="en-US" sz="1250" dirty="0"/>
          </a:p>
        </p:txBody>
      </p:sp>
      <p:sp>
        <p:nvSpPr>
          <p:cNvPr id="5" name="Text 3"/>
          <p:cNvSpPr/>
          <p:nvPr/>
        </p:nvSpPr>
        <p:spPr>
          <a:xfrm>
            <a:off x="661475" y="2061468"/>
            <a:ext cx="263518" cy="164703"/>
          </a:xfrm>
          <a:prstGeom prst="rect">
            <a:avLst/>
          </a:prstGeom>
          <a:noFill/>
          <a:ln/>
        </p:spPr>
        <p:txBody>
          <a:bodyPr wrap="none" lIns="0" tIns="0" rIns="0" bIns="0" rtlCol="0" anchor="ctr"/>
          <a:lstStyle/>
          <a:p>
            <a:pPr algn="l" indent="0" marL="0">
              <a:lnSpc>
                <a:spcPct val="100000"/>
              </a:lnSpc>
              <a:buNone/>
            </a:pPr>
            <a:r>
              <a:rPr lang="en-US" sz="1000" dirty="0">
                <a:solidFill>
                  <a:srgbClr val="3B4E4E"/>
                </a:solidFill>
                <a:latin typeface="Syne" pitchFamily="34" charset="0"/>
                <a:ea typeface="Syne" pitchFamily="34" charset="-122"/>
                <a:cs typeface="Syne" pitchFamily="34" charset="-120"/>
              </a:rPr>
              <a:t>01</a:t>
            </a:r>
            <a:endParaRPr lang="en-US" sz="1000" dirty="0"/>
          </a:p>
        </p:txBody>
      </p:sp>
      <p:sp>
        <p:nvSpPr>
          <p:cNvPr id="6" name="Shape 4"/>
          <p:cNvSpPr/>
          <p:nvPr/>
        </p:nvSpPr>
        <p:spPr>
          <a:xfrm>
            <a:off x="661475" y="2266355"/>
            <a:ext cx="5273642" cy="19050"/>
          </a:xfrm>
          <a:prstGeom prst="rect">
            <a:avLst/>
          </a:prstGeom>
          <a:solidFill>
            <a:srgbClr val="224435"/>
          </a:solidFill>
          <a:ln/>
        </p:spPr>
      </p:sp>
      <p:sp>
        <p:nvSpPr>
          <p:cNvPr id="7" name="Text 5"/>
          <p:cNvSpPr/>
          <p:nvPr/>
        </p:nvSpPr>
        <p:spPr>
          <a:xfrm>
            <a:off x="661475" y="2370336"/>
            <a:ext cx="5273642" cy="205879"/>
          </a:xfrm>
          <a:prstGeom prst="rect">
            <a:avLst/>
          </a:prstGeom>
          <a:noFill/>
          <a:ln/>
        </p:spPr>
        <p:txBody>
          <a:bodyPr wrap="none" lIns="0" tIns="0" rIns="0" bIns="0" rtlCol="0" anchor="t"/>
          <a:lstStyle/>
          <a:p>
            <a:pPr algn="l" indent="0" marL="0">
              <a:lnSpc>
                <a:spcPct val="104000"/>
              </a:lnSpc>
              <a:buNone/>
            </a:pPr>
            <a:r>
              <a:rPr lang="en-US" sz="1250" b="1" dirty="0">
                <a:solidFill>
                  <a:srgbClr val="3B4E4E"/>
                </a:solidFill>
                <a:latin typeface="Syne Bold" pitchFamily="34" charset="0"/>
                <a:ea typeface="Syne Bold" pitchFamily="34" charset="-122"/>
                <a:cs typeface="Syne Bold" pitchFamily="34" charset="-120"/>
              </a:rPr>
              <a:t>Choose K</a:t>
            </a:r>
            <a:endParaRPr lang="en-US" sz="1250" dirty="0"/>
          </a:p>
        </p:txBody>
      </p:sp>
      <p:sp>
        <p:nvSpPr>
          <p:cNvPr id="8" name="Text 6"/>
          <p:cNvSpPr/>
          <p:nvPr/>
        </p:nvSpPr>
        <p:spPr>
          <a:xfrm>
            <a:off x="661475" y="2681188"/>
            <a:ext cx="5273642" cy="378817"/>
          </a:xfrm>
          <a:prstGeom prst="rect">
            <a:avLst/>
          </a:prstGeom>
          <a:noFill/>
          <a:ln/>
        </p:spPr>
        <p:txBody>
          <a:bodyPr wrap="square" lIns="0" tIns="0" rIns="0" bIns="0" rtlCol="0" anchor="t">
            <a:normAutofit/>
          </a:bodyPr>
          <a:lstStyle/>
          <a:p>
            <a:pPr algn="l" indent="0" marL="0">
              <a:lnSpc>
                <a:spcPct val="120000"/>
              </a:lnSpc>
              <a:buNone/>
            </a:pPr>
            <a:r>
              <a:rPr lang="en-US" sz="1000" dirty="0">
                <a:solidFill>
                  <a:srgbClr val="3B4E4E"/>
                </a:solidFill>
                <a:latin typeface="Overpass Light" pitchFamily="34" charset="0"/>
                <a:ea typeface="Overpass Light" pitchFamily="34" charset="-122"/>
                <a:cs typeface="Overpass Light" pitchFamily="34" charset="-120"/>
              </a:rPr>
              <a:t>Select a number K — for example, 5. This determines how many "neighbours" will vote on each new patient's classification.</a:t>
            </a:r>
            <a:endParaRPr lang="en-US" sz="1000" dirty="0"/>
          </a:p>
        </p:txBody>
      </p:sp>
      <p:sp>
        <p:nvSpPr>
          <p:cNvPr id="9" name="Text 7"/>
          <p:cNvSpPr/>
          <p:nvPr/>
        </p:nvSpPr>
        <p:spPr>
          <a:xfrm>
            <a:off x="661475" y="3263801"/>
            <a:ext cx="263518" cy="164703"/>
          </a:xfrm>
          <a:prstGeom prst="rect">
            <a:avLst/>
          </a:prstGeom>
          <a:noFill/>
          <a:ln/>
        </p:spPr>
        <p:txBody>
          <a:bodyPr wrap="none" lIns="0" tIns="0" rIns="0" bIns="0" rtlCol="0" anchor="ctr"/>
          <a:lstStyle/>
          <a:p>
            <a:pPr algn="l" indent="0" marL="0">
              <a:lnSpc>
                <a:spcPct val="100000"/>
              </a:lnSpc>
              <a:buNone/>
            </a:pPr>
            <a:r>
              <a:rPr lang="en-US" sz="1000" dirty="0">
                <a:solidFill>
                  <a:srgbClr val="3B4E4E"/>
                </a:solidFill>
                <a:latin typeface="Syne" pitchFamily="34" charset="0"/>
                <a:ea typeface="Syne" pitchFamily="34" charset="-122"/>
                <a:cs typeface="Syne" pitchFamily="34" charset="-120"/>
              </a:rPr>
              <a:t>02</a:t>
            </a:r>
            <a:endParaRPr lang="en-US" sz="1000" dirty="0"/>
          </a:p>
        </p:txBody>
      </p:sp>
      <p:sp>
        <p:nvSpPr>
          <p:cNvPr id="10" name="Shape 8"/>
          <p:cNvSpPr/>
          <p:nvPr/>
        </p:nvSpPr>
        <p:spPr>
          <a:xfrm>
            <a:off x="661475" y="3468687"/>
            <a:ext cx="5273642" cy="19050"/>
          </a:xfrm>
          <a:prstGeom prst="rect">
            <a:avLst/>
          </a:prstGeom>
          <a:solidFill>
            <a:srgbClr val="224435"/>
          </a:solidFill>
          <a:ln/>
        </p:spPr>
      </p:sp>
      <p:sp>
        <p:nvSpPr>
          <p:cNvPr id="11" name="Text 9"/>
          <p:cNvSpPr/>
          <p:nvPr/>
        </p:nvSpPr>
        <p:spPr>
          <a:xfrm>
            <a:off x="661475" y="3572669"/>
            <a:ext cx="5273642" cy="205879"/>
          </a:xfrm>
          <a:prstGeom prst="rect">
            <a:avLst/>
          </a:prstGeom>
          <a:noFill/>
          <a:ln/>
        </p:spPr>
        <p:txBody>
          <a:bodyPr wrap="none" lIns="0" tIns="0" rIns="0" bIns="0" rtlCol="0" anchor="t"/>
          <a:lstStyle/>
          <a:p>
            <a:pPr algn="l" indent="0" marL="0">
              <a:lnSpc>
                <a:spcPct val="104000"/>
              </a:lnSpc>
              <a:buNone/>
            </a:pPr>
            <a:r>
              <a:rPr lang="en-US" sz="1250" b="1" dirty="0">
                <a:solidFill>
                  <a:srgbClr val="3B4E4E"/>
                </a:solidFill>
                <a:latin typeface="Syne Bold" pitchFamily="34" charset="0"/>
                <a:ea typeface="Syne Bold" pitchFamily="34" charset="-122"/>
                <a:cs typeface="Syne Bold" pitchFamily="34" charset="-120"/>
              </a:rPr>
              <a:t>Find the Closest Past Patients</a:t>
            </a:r>
            <a:endParaRPr lang="en-US" sz="1250" dirty="0"/>
          </a:p>
        </p:txBody>
      </p:sp>
      <p:sp>
        <p:nvSpPr>
          <p:cNvPr id="12" name="Text 10"/>
          <p:cNvSpPr/>
          <p:nvPr/>
        </p:nvSpPr>
        <p:spPr>
          <a:xfrm>
            <a:off x="661475" y="3883521"/>
            <a:ext cx="5273642" cy="378817"/>
          </a:xfrm>
          <a:prstGeom prst="rect">
            <a:avLst/>
          </a:prstGeom>
          <a:noFill/>
          <a:ln/>
        </p:spPr>
        <p:txBody>
          <a:bodyPr wrap="square" lIns="0" tIns="0" rIns="0" bIns="0" rtlCol="0" anchor="t">
            <a:normAutofit/>
          </a:bodyPr>
          <a:lstStyle/>
          <a:p>
            <a:pPr algn="l" indent="0" marL="0">
              <a:lnSpc>
                <a:spcPct val="120000"/>
              </a:lnSpc>
              <a:buNone/>
            </a:pPr>
            <a:r>
              <a:rPr lang="en-US" sz="1000" dirty="0">
                <a:solidFill>
                  <a:srgbClr val="3B4E4E"/>
                </a:solidFill>
                <a:latin typeface="Overpass Light" pitchFamily="34" charset="0"/>
                <a:ea typeface="Overpass Light" pitchFamily="34" charset="-122"/>
                <a:cs typeface="Overpass Light" pitchFamily="34" charset="-120"/>
              </a:rPr>
              <a:t>For a new patient, measure the numeric distance between their readings and every past patient in the dataset. Select the 5 with the smallest distance.</a:t>
            </a:r>
            <a:endParaRPr lang="en-US" sz="1000" dirty="0"/>
          </a:p>
        </p:txBody>
      </p:sp>
      <p:sp>
        <p:nvSpPr>
          <p:cNvPr id="13" name="Text 11"/>
          <p:cNvSpPr/>
          <p:nvPr/>
        </p:nvSpPr>
        <p:spPr>
          <a:xfrm>
            <a:off x="661475" y="4466134"/>
            <a:ext cx="263518" cy="164703"/>
          </a:xfrm>
          <a:prstGeom prst="rect">
            <a:avLst/>
          </a:prstGeom>
          <a:noFill/>
          <a:ln/>
        </p:spPr>
        <p:txBody>
          <a:bodyPr wrap="none" lIns="0" tIns="0" rIns="0" bIns="0" rtlCol="0" anchor="ctr"/>
          <a:lstStyle/>
          <a:p>
            <a:pPr algn="l" indent="0" marL="0">
              <a:lnSpc>
                <a:spcPct val="100000"/>
              </a:lnSpc>
              <a:buNone/>
            </a:pPr>
            <a:r>
              <a:rPr lang="en-US" sz="1000" dirty="0">
                <a:solidFill>
                  <a:srgbClr val="3B4E4E"/>
                </a:solidFill>
                <a:latin typeface="Syne" pitchFamily="34" charset="0"/>
                <a:ea typeface="Syne" pitchFamily="34" charset="-122"/>
                <a:cs typeface="Syne" pitchFamily="34" charset="-120"/>
              </a:rPr>
              <a:t>03</a:t>
            </a:r>
            <a:endParaRPr lang="en-US" sz="1000" dirty="0"/>
          </a:p>
        </p:txBody>
      </p:sp>
      <p:sp>
        <p:nvSpPr>
          <p:cNvPr id="14" name="Shape 12"/>
          <p:cNvSpPr/>
          <p:nvPr/>
        </p:nvSpPr>
        <p:spPr>
          <a:xfrm>
            <a:off x="661475" y="4671020"/>
            <a:ext cx="5273642" cy="19050"/>
          </a:xfrm>
          <a:prstGeom prst="rect">
            <a:avLst/>
          </a:prstGeom>
          <a:solidFill>
            <a:srgbClr val="224435"/>
          </a:solidFill>
          <a:ln/>
        </p:spPr>
      </p:sp>
      <p:sp>
        <p:nvSpPr>
          <p:cNvPr id="15" name="Text 13"/>
          <p:cNvSpPr/>
          <p:nvPr/>
        </p:nvSpPr>
        <p:spPr>
          <a:xfrm>
            <a:off x="661475" y="4775002"/>
            <a:ext cx="5273642" cy="205879"/>
          </a:xfrm>
          <a:prstGeom prst="rect">
            <a:avLst/>
          </a:prstGeom>
          <a:noFill/>
          <a:ln/>
        </p:spPr>
        <p:txBody>
          <a:bodyPr wrap="none" lIns="0" tIns="0" rIns="0" bIns="0" rtlCol="0" anchor="t"/>
          <a:lstStyle/>
          <a:p>
            <a:pPr algn="l" indent="0" marL="0">
              <a:lnSpc>
                <a:spcPct val="104000"/>
              </a:lnSpc>
              <a:buNone/>
            </a:pPr>
            <a:r>
              <a:rPr lang="en-US" sz="1250" b="1" dirty="0">
                <a:solidFill>
                  <a:srgbClr val="3B4E4E"/>
                </a:solidFill>
                <a:latin typeface="Syne Bold" pitchFamily="34" charset="0"/>
                <a:ea typeface="Syne Bold" pitchFamily="34" charset="-122"/>
                <a:cs typeface="Syne Bold" pitchFamily="34" charset="-120"/>
              </a:rPr>
              <a:t>Majority Vote</a:t>
            </a:r>
            <a:endParaRPr lang="en-US" sz="1250" dirty="0"/>
          </a:p>
        </p:txBody>
      </p:sp>
      <p:sp>
        <p:nvSpPr>
          <p:cNvPr id="16" name="Text 14"/>
          <p:cNvSpPr/>
          <p:nvPr/>
        </p:nvSpPr>
        <p:spPr>
          <a:xfrm>
            <a:off x="661475" y="5085854"/>
            <a:ext cx="5273642" cy="378817"/>
          </a:xfrm>
          <a:prstGeom prst="rect">
            <a:avLst/>
          </a:prstGeom>
          <a:noFill/>
          <a:ln/>
        </p:spPr>
        <p:txBody>
          <a:bodyPr wrap="square" lIns="0" tIns="0" rIns="0" bIns="0" rtlCol="0" anchor="t">
            <a:normAutofit/>
          </a:bodyPr>
          <a:lstStyle/>
          <a:p>
            <a:pPr algn="l" indent="0" marL="0">
              <a:lnSpc>
                <a:spcPct val="120000"/>
              </a:lnSpc>
              <a:buNone/>
            </a:pPr>
            <a:r>
              <a:rPr lang="en-US" sz="1000" dirty="0">
                <a:solidFill>
                  <a:srgbClr val="3B4E4E"/>
                </a:solidFill>
                <a:latin typeface="Overpass Light" pitchFamily="34" charset="0"/>
                <a:ea typeface="Overpass Light" pitchFamily="34" charset="-122"/>
                <a:cs typeface="Overpass Light" pitchFamily="34" charset="-120"/>
              </a:rPr>
              <a:t>If 4 of those 5 neighbours were diabetic, the model predicts "diabetic" for the new patient. The category is determined by the majority label among the K neighbours.</a:t>
            </a:r>
            <a:endParaRPr lang="en-US" sz="1000" dirty="0"/>
          </a:p>
        </p:txBody>
      </p:sp>
      <p:sp>
        <p:nvSpPr>
          <p:cNvPr id="17" name="Text 15"/>
          <p:cNvSpPr/>
          <p:nvPr/>
        </p:nvSpPr>
        <p:spPr>
          <a:xfrm>
            <a:off x="661475" y="5681563"/>
            <a:ext cx="5273642" cy="568226"/>
          </a:xfrm>
          <a:prstGeom prst="rect">
            <a:avLst/>
          </a:prstGeom>
          <a:noFill/>
          <a:ln/>
        </p:spPr>
        <p:txBody>
          <a:bodyPr wrap="square" lIns="0" tIns="0" rIns="0" bIns="0" rtlCol="0" anchor="t">
            <a:normAutofit/>
          </a:bodyPr>
          <a:lstStyle/>
          <a:p>
            <a:pPr algn="l" indent="0" marL="0">
              <a:lnSpc>
                <a:spcPct val="120000"/>
              </a:lnSpc>
              <a:buNone/>
            </a:pPr>
            <a:r>
              <a:rPr lang="en-US" sz="1000" b="1" dirty="0">
                <a:solidFill>
                  <a:srgbClr val="3B4E4E"/>
                </a:solidFill>
                <a:latin typeface="Overpass Bold" pitchFamily="34" charset="0"/>
                <a:ea typeface="Overpass Bold" pitchFamily="34" charset="-122"/>
                <a:cs typeface="Overpass Bold" pitchFamily="34" charset="-120"/>
              </a:rPr>
              <a:t>Important:</a:t>
            </a:r>
            <a:pPr algn="l" indent="0" marL="0">
              <a:lnSpc>
                <a:spcPct val="120000"/>
              </a:lnSpc>
              <a:buNone/>
            </a:pPr>
            <a:r>
              <a:rPr lang="en-US" sz="1000" dirty="0">
                <a:solidFill>
                  <a:srgbClr val="3B4E4E"/>
                </a:solidFill>
                <a:latin typeface="Overpass Light" pitchFamily="34" charset="0"/>
                <a:ea typeface="Overpass Light" pitchFamily="34" charset="-122"/>
                <a:cs typeface="Overpass Light" pitchFamily="34" charset="-120"/>
              </a:rPr>
              <a:t> Because "distance" is used, all features must be on the same scale before running KNN. A feature measured in thousands (e.g. income) will dominate over one measured in units (e.g. number of children) unless you normalise first.</a:t>
            </a:r>
            <a:endParaRPr lang="en-US" sz="1000" dirty="0"/>
          </a:p>
        </p:txBody>
      </p:sp>
      <p:sp>
        <p:nvSpPr>
          <p:cNvPr id="18" name="Text 16"/>
          <p:cNvSpPr/>
          <p:nvPr/>
        </p:nvSpPr>
        <p:spPr>
          <a:xfrm>
            <a:off x="6262928" y="1740010"/>
            <a:ext cx="5273642" cy="205879"/>
          </a:xfrm>
          <a:prstGeom prst="rect">
            <a:avLst/>
          </a:prstGeom>
          <a:noFill/>
          <a:ln/>
        </p:spPr>
        <p:txBody>
          <a:bodyPr wrap="none" lIns="0" tIns="0" rIns="0" bIns="0" rtlCol="0" anchor="t"/>
          <a:lstStyle/>
          <a:p>
            <a:pPr algn="l" indent="0" marL="0">
              <a:lnSpc>
                <a:spcPct val="104000"/>
              </a:lnSpc>
              <a:buNone/>
            </a:pPr>
            <a:r>
              <a:rPr lang="en-US" sz="1250" b="1" dirty="0">
                <a:solidFill>
                  <a:srgbClr val="233939"/>
                </a:solidFill>
                <a:latin typeface="Syne Bold" pitchFamily="34" charset="0"/>
                <a:ea typeface="Syne Bold" pitchFamily="34" charset="-122"/>
                <a:cs typeface="Syne Bold" pitchFamily="34" charset="-120"/>
              </a:rPr>
              <a:t>Strengths and Limits</a:t>
            </a:r>
            <a:endParaRPr lang="en-US" sz="1250" dirty="0"/>
          </a:p>
        </p:txBody>
      </p:sp>
      <p:pic>
        <p:nvPicPr>
          <p:cNvPr id="19"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262928" y="2061468"/>
            <a:ext cx="2584286" cy="1370112"/>
          </a:xfrm>
          <a:prstGeom prst="rect">
            <a:avLst/>
          </a:prstGeom>
        </p:spPr>
      </p:pic>
      <p:sp>
        <p:nvSpPr>
          <p:cNvPr id="20" name="Text 17"/>
          <p:cNvSpPr/>
          <p:nvPr/>
        </p:nvSpPr>
        <p:spPr>
          <a:xfrm>
            <a:off x="6489935" y="2212280"/>
            <a:ext cx="2206471" cy="205879"/>
          </a:xfrm>
          <a:prstGeom prst="rect">
            <a:avLst/>
          </a:prstGeom>
          <a:noFill/>
          <a:ln/>
        </p:spPr>
        <p:txBody>
          <a:bodyPr wrap="none" lIns="0" tIns="0" rIns="0" bIns="0" rtlCol="0" anchor="t"/>
          <a:lstStyle/>
          <a:p>
            <a:pPr algn="l" indent="0" marL="0">
              <a:lnSpc>
                <a:spcPct val="104000"/>
              </a:lnSpc>
              <a:buNone/>
            </a:pPr>
            <a:r>
              <a:rPr lang="en-US" sz="1250" b="1" dirty="0">
                <a:solidFill>
                  <a:srgbClr val="3B4E4E"/>
                </a:solidFill>
                <a:latin typeface="Syne Bold" pitchFamily="34" charset="0"/>
                <a:ea typeface="Syne Bold" pitchFamily="34" charset="-122"/>
                <a:cs typeface="Syne Bold" pitchFamily="34" charset="-120"/>
              </a:rPr>
              <a:t>✓ No Training Step</a:t>
            </a:r>
            <a:endParaRPr lang="en-US" sz="1250" dirty="0"/>
          </a:p>
        </p:txBody>
      </p:sp>
      <p:sp>
        <p:nvSpPr>
          <p:cNvPr id="21" name="Text 18"/>
          <p:cNvSpPr/>
          <p:nvPr/>
        </p:nvSpPr>
        <p:spPr>
          <a:xfrm>
            <a:off x="6489935" y="2523133"/>
            <a:ext cx="2206471" cy="757634"/>
          </a:xfrm>
          <a:prstGeom prst="rect">
            <a:avLst/>
          </a:prstGeom>
          <a:noFill/>
          <a:ln/>
        </p:spPr>
        <p:txBody>
          <a:bodyPr wrap="square" lIns="0" tIns="0" rIns="0" bIns="0" rtlCol="0" anchor="t">
            <a:normAutofit/>
          </a:bodyPr>
          <a:lstStyle/>
          <a:p>
            <a:pPr algn="l" indent="0" marL="0">
              <a:lnSpc>
                <a:spcPct val="120000"/>
              </a:lnSpc>
              <a:buNone/>
            </a:pPr>
            <a:r>
              <a:rPr lang="en-US" sz="1000" dirty="0">
                <a:solidFill>
                  <a:srgbClr val="3B4E4E"/>
                </a:solidFill>
                <a:latin typeface="Overpass Light" pitchFamily="34" charset="0"/>
                <a:ea typeface="Overpass Light" pitchFamily="34" charset="-122"/>
                <a:cs typeface="Overpass Light" pitchFamily="34" charset="-120"/>
              </a:rPr>
              <a:t>The model simply stores all past records. Adding new labelled patients updates the model instantly — no retraining needed.</a:t>
            </a:r>
            <a:endParaRPr lang="en-US" sz="1000" dirty="0"/>
          </a:p>
        </p:txBody>
      </p:sp>
      <p:pic>
        <p:nvPicPr>
          <p:cNvPr id="22"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952185" y="2061468"/>
            <a:ext cx="2584385" cy="1370112"/>
          </a:xfrm>
          <a:prstGeom prst="rect">
            <a:avLst/>
          </a:prstGeom>
        </p:spPr>
      </p:pic>
      <p:sp>
        <p:nvSpPr>
          <p:cNvPr id="23" name="Text 19"/>
          <p:cNvSpPr/>
          <p:nvPr/>
        </p:nvSpPr>
        <p:spPr>
          <a:xfrm>
            <a:off x="9179191" y="2212280"/>
            <a:ext cx="2206570" cy="205879"/>
          </a:xfrm>
          <a:prstGeom prst="rect">
            <a:avLst/>
          </a:prstGeom>
          <a:noFill/>
          <a:ln/>
        </p:spPr>
        <p:txBody>
          <a:bodyPr wrap="none" lIns="0" tIns="0" rIns="0" bIns="0" rtlCol="0" anchor="t"/>
          <a:lstStyle/>
          <a:p>
            <a:pPr algn="l" indent="0" marL="0">
              <a:lnSpc>
                <a:spcPct val="104000"/>
              </a:lnSpc>
              <a:buNone/>
            </a:pPr>
            <a:r>
              <a:rPr lang="en-US" sz="1250" b="1" dirty="0">
                <a:solidFill>
                  <a:srgbClr val="3B4E4E"/>
                </a:solidFill>
                <a:latin typeface="Syne Bold" pitchFamily="34" charset="0"/>
                <a:ea typeface="Syne Bold" pitchFamily="34" charset="-122"/>
                <a:cs typeface="Syne Bold" pitchFamily="34" charset="-120"/>
              </a:rPr>
              <a:t>✓ Easy to Explain</a:t>
            </a:r>
            <a:endParaRPr lang="en-US" sz="1250" dirty="0"/>
          </a:p>
        </p:txBody>
      </p:sp>
      <p:sp>
        <p:nvSpPr>
          <p:cNvPr id="24" name="Text 20"/>
          <p:cNvSpPr/>
          <p:nvPr/>
        </p:nvSpPr>
        <p:spPr>
          <a:xfrm>
            <a:off x="9179191" y="2523133"/>
            <a:ext cx="2206570" cy="757634"/>
          </a:xfrm>
          <a:prstGeom prst="rect">
            <a:avLst/>
          </a:prstGeom>
          <a:noFill/>
          <a:ln/>
        </p:spPr>
        <p:txBody>
          <a:bodyPr wrap="square" lIns="0" tIns="0" rIns="0" bIns="0" rtlCol="0" anchor="t">
            <a:normAutofit/>
          </a:bodyPr>
          <a:lstStyle/>
          <a:p>
            <a:pPr algn="l" indent="0" marL="0">
              <a:lnSpc>
                <a:spcPct val="120000"/>
              </a:lnSpc>
              <a:buNone/>
            </a:pPr>
            <a:r>
              <a:rPr lang="en-US" sz="1000" dirty="0">
                <a:solidFill>
                  <a:srgbClr val="3B4E4E"/>
                </a:solidFill>
                <a:latin typeface="Overpass Light" pitchFamily="34" charset="0"/>
                <a:ea typeface="Overpass Light" pitchFamily="34" charset="-122"/>
                <a:cs typeface="Overpass Light" pitchFamily="34" charset="-120"/>
              </a:rPr>
              <a:t>"Your prediction is based on 5 past patients whose readings were closest to yours." Any doctor can understand this.</a:t>
            </a:r>
            <a:endParaRPr lang="en-US" sz="1000" dirty="0"/>
          </a:p>
        </p:txBody>
      </p:sp>
      <p:pic>
        <p:nvPicPr>
          <p:cNvPr id="25"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262928" y="3536553"/>
            <a:ext cx="2584286" cy="1386582"/>
          </a:xfrm>
          <a:prstGeom prst="rect">
            <a:avLst/>
          </a:prstGeom>
        </p:spPr>
      </p:pic>
      <p:sp>
        <p:nvSpPr>
          <p:cNvPr id="26" name="Text 21"/>
          <p:cNvSpPr/>
          <p:nvPr/>
        </p:nvSpPr>
        <p:spPr>
          <a:xfrm>
            <a:off x="6489935" y="3687366"/>
            <a:ext cx="2206471" cy="205879"/>
          </a:xfrm>
          <a:prstGeom prst="rect">
            <a:avLst/>
          </a:prstGeom>
          <a:noFill/>
          <a:ln/>
        </p:spPr>
        <p:txBody>
          <a:bodyPr wrap="none" lIns="0" tIns="0" rIns="0" bIns="0" rtlCol="0" anchor="t"/>
          <a:lstStyle/>
          <a:p>
            <a:pPr algn="l" indent="0" marL="0">
              <a:lnSpc>
                <a:spcPct val="104000"/>
              </a:lnSpc>
              <a:buNone/>
            </a:pPr>
            <a:r>
              <a:rPr lang="en-US" sz="1250" b="1" dirty="0">
                <a:solidFill>
                  <a:srgbClr val="3B4E4E"/>
                </a:solidFill>
                <a:latin typeface="Syne Bold" pitchFamily="34" charset="0"/>
                <a:ea typeface="Syne Bold" pitchFamily="34" charset="-122"/>
                <a:cs typeface="Syne Bold" pitchFamily="34" charset="-120"/>
              </a:rPr>
              <a:t>✗ Slow on Large Data</a:t>
            </a:r>
            <a:endParaRPr lang="en-US" sz="1250" dirty="0"/>
          </a:p>
        </p:txBody>
      </p:sp>
      <p:sp>
        <p:nvSpPr>
          <p:cNvPr id="27" name="Text 22"/>
          <p:cNvSpPr/>
          <p:nvPr/>
        </p:nvSpPr>
        <p:spPr>
          <a:xfrm>
            <a:off x="6489935" y="3998218"/>
            <a:ext cx="2206471" cy="757634"/>
          </a:xfrm>
          <a:prstGeom prst="rect">
            <a:avLst/>
          </a:prstGeom>
          <a:noFill/>
          <a:ln/>
        </p:spPr>
        <p:txBody>
          <a:bodyPr wrap="square" lIns="0" tIns="0" rIns="0" bIns="0" rtlCol="0" anchor="t">
            <a:normAutofit/>
          </a:bodyPr>
          <a:lstStyle/>
          <a:p>
            <a:pPr algn="l" indent="0" marL="0">
              <a:lnSpc>
                <a:spcPct val="120000"/>
              </a:lnSpc>
              <a:buNone/>
            </a:pPr>
            <a:r>
              <a:rPr lang="en-US" sz="1000" dirty="0">
                <a:solidFill>
                  <a:srgbClr val="3B4E4E"/>
                </a:solidFill>
                <a:latin typeface="Overpass Light" pitchFamily="34" charset="0"/>
                <a:ea typeface="Overpass Light" pitchFamily="34" charset="-122"/>
                <a:cs typeface="Overpass Light" pitchFamily="34" charset="-120"/>
              </a:rPr>
              <a:t>For every new patient, it must compare them to every past patient. With millions of records, this becomes computationally expensive.</a:t>
            </a:r>
            <a:endParaRPr lang="en-US" sz="1000" dirty="0"/>
          </a:p>
        </p:txBody>
      </p:sp>
      <p:pic>
        <p:nvPicPr>
          <p:cNvPr id="28"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8952185" y="3536553"/>
            <a:ext cx="2584385" cy="1386582"/>
          </a:xfrm>
          <a:prstGeom prst="rect">
            <a:avLst/>
          </a:prstGeom>
        </p:spPr>
      </p:pic>
      <p:sp>
        <p:nvSpPr>
          <p:cNvPr id="29" name="Text 23"/>
          <p:cNvSpPr/>
          <p:nvPr/>
        </p:nvSpPr>
        <p:spPr>
          <a:xfrm>
            <a:off x="9179191" y="3687366"/>
            <a:ext cx="2206570" cy="411758"/>
          </a:xfrm>
          <a:prstGeom prst="rect">
            <a:avLst/>
          </a:prstGeom>
          <a:noFill/>
          <a:ln/>
        </p:spPr>
        <p:txBody>
          <a:bodyPr wrap="square" lIns="0" tIns="0" rIns="0" bIns="0" rtlCol="0" anchor="t">
            <a:normAutofit/>
          </a:bodyPr>
          <a:lstStyle/>
          <a:p>
            <a:pPr algn="l" indent="0" marL="0">
              <a:lnSpc>
                <a:spcPct val="104000"/>
              </a:lnSpc>
              <a:buNone/>
            </a:pPr>
            <a:r>
              <a:rPr lang="en-US" sz="1250" b="1" dirty="0">
                <a:solidFill>
                  <a:srgbClr val="3B4E4E"/>
                </a:solidFill>
                <a:latin typeface="Syne Bold" pitchFamily="34" charset="0"/>
                <a:ea typeface="Syne Bold" pitchFamily="34" charset="-122"/>
                <a:cs typeface="Syne Bold" pitchFamily="34" charset="-120"/>
              </a:rPr>
              <a:t>✗ Requires Feature Scaling</a:t>
            </a:r>
            <a:endParaRPr lang="en-US" sz="1250" dirty="0"/>
          </a:p>
        </p:txBody>
      </p:sp>
      <p:sp>
        <p:nvSpPr>
          <p:cNvPr id="30" name="Text 24"/>
          <p:cNvSpPr/>
          <p:nvPr/>
        </p:nvSpPr>
        <p:spPr>
          <a:xfrm>
            <a:off x="9179191" y="4204097"/>
            <a:ext cx="2206570" cy="568226"/>
          </a:xfrm>
          <a:prstGeom prst="rect">
            <a:avLst/>
          </a:prstGeom>
          <a:noFill/>
          <a:ln/>
        </p:spPr>
        <p:txBody>
          <a:bodyPr wrap="square" lIns="0" tIns="0" rIns="0" bIns="0" rtlCol="0" anchor="t">
            <a:normAutofit/>
          </a:bodyPr>
          <a:lstStyle/>
          <a:p>
            <a:pPr algn="l" indent="0" marL="0">
              <a:lnSpc>
                <a:spcPct val="120000"/>
              </a:lnSpc>
              <a:buNone/>
            </a:pPr>
            <a:r>
              <a:rPr lang="en-US" sz="1000" dirty="0">
                <a:solidFill>
                  <a:srgbClr val="3B4E4E"/>
                </a:solidFill>
                <a:latin typeface="Overpass Light" pitchFamily="34" charset="0"/>
                <a:ea typeface="Overpass Light" pitchFamily="34" charset="-122"/>
                <a:cs typeface="Overpass Light" pitchFamily="34" charset="-120"/>
              </a:rPr>
              <a:t>Raw features at very different scales will produce misleading distances. Preprocessing is essential.</a:t>
            </a:r>
            <a:endParaRPr lang="en-US" sz="1000" dirty="0"/>
          </a:p>
        </p:txBody>
      </p:sp>
      <p:sp>
        <p:nvSpPr>
          <p:cNvPr id="31" name="Text 25"/>
          <p:cNvSpPr/>
          <p:nvPr/>
        </p:nvSpPr>
        <p:spPr>
          <a:xfrm>
            <a:off x="6262928" y="5043696"/>
            <a:ext cx="5273642" cy="205879"/>
          </a:xfrm>
          <a:prstGeom prst="rect">
            <a:avLst/>
          </a:prstGeom>
          <a:noFill/>
          <a:ln/>
        </p:spPr>
        <p:txBody>
          <a:bodyPr wrap="none" lIns="0" tIns="0" rIns="0" bIns="0" rtlCol="0" anchor="t"/>
          <a:lstStyle/>
          <a:p>
            <a:pPr algn="l" indent="0" marL="0">
              <a:lnSpc>
                <a:spcPct val="104000"/>
              </a:lnSpc>
              <a:buNone/>
            </a:pPr>
            <a:r>
              <a:rPr lang="en-US" sz="1250" b="1" dirty="0">
                <a:solidFill>
                  <a:srgbClr val="233939"/>
                </a:solidFill>
                <a:latin typeface="Syne Bold" pitchFamily="34" charset="0"/>
                <a:ea typeface="Syne Bold" pitchFamily="34" charset="-122"/>
                <a:cs typeface="Syne Bold" pitchFamily="34" charset="-120"/>
              </a:rPr>
              <a:t>Real-World Use</a:t>
            </a:r>
            <a:endParaRPr lang="en-US" sz="1250" dirty="0"/>
          </a:p>
        </p:txBody>
      </p:sp>
      <p:sp>
        <p:nvSpPr>
          <p:cNvPr id="32" name="Text 26"/>
          <p:cNvSpPr/>
          <p:nvPr/>
        </p:nvSpPr>
        <p:spPr>
          <a:xfrm>
            <a:off x="6262928" y="5352058"/>
            <a:ext cx="5273642" cy="378817"/>
          </a:xfrm>
          <a:prstGeom prst="rect">
            <a:avLst/>
          </a:prstGeom>
          <a:noFill/>
          <a:ln/>
        </p:spPr>
        <p:txBody>
          <a:bodyPr wrap="square" lIns="0" tIns="0" rIns="0" bIns="0" rtlCol="0" anchor="t">
            <a:normAutofit/>
          </a:bodyPr>
          <a:lstStyle/>
          <a:p>
            <a:pPr algn="l" indent="0" marL="0">
              <a:lnSpc>
                <a:spcPct val="120000"/>
              </a:lnSpc>
              <a:buNone/>
            </a:pPr>
            <a:r>
              <a:rPr lang="en-US" sz="1000" dirty="0">
                <a:solidFill>
                  <a:srgbClr val="3B4E4E"/>
                </a:solidFill>
                <a:latin typeface="Overpass Light" pitchFamily="34" charset="0"/>
                <a:ea typeface="Overpass Light" pitchFamily="34" charset="-122"/>
                <a:cs typeface="Overpass Light" pitchFamily="34" charset="-120"/>
              </a:rPr>
              <a:t>"Similar items" product suggestions, basic medical screening studies, and handwriting recognition baseline systems.</a:t>
            </a:r>
            <a:endParaRPr lang="en-US" sz="1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E6"/>
        </a:solidFill>
      </p:bgPr>
    </p:bg>
    <p:spTree>
      <p:nvGrpSpPr>
        <p:cNvPr id="1" name=""/>
        <p:cNvGrpSpPr/>
        <p:nvPr/>
      </p:nvGrpSpPr>
      <p:grpSpPr>
        <a:xfrm>
          <a:off x="0" y="0"/>
          <a:ext cx="0" cy="0"/>
          <a:chOff x="0" y="0"/>
          <a:chExt cx="0" cy="0"/>
        </a:xfrm>
      </p:grpSpPr>
      <p:sp>
        <p:nvSpPr>
          <p:cNvPr id="2" name="Shape 0"/>
          <p:cNvSpPr/>
          <p:nvPr/>
        </p:nvSpPr>
        <p:spPr>
          <a:xfrm>
            <a:off x="661475" y="516235"/>
            <a:ext cx="1197739" cy="235446"/>
          </a:xfrm>
          <a:prstGeom prst="roundRect">
            <a:avLst>
              <a:gd name="adj" fmla="val 22127"/>
            </a:avLst>
          </a:prstGeom>
          <a:solidFill>
            <a:srgbClr val="DDEEE6"/>
          </a:solidFill>
          <a:ln/>
        </p:spPr>
      </p:sp>
      <p:sp>
        <p:nvSpPr>
          <p:cNvPr id="3" name="Text 1"/>
          <p:cNvSpPr/>
          <p:nvPr/>
        </p:nvSpPr>
        <p:spPr>
          <a:xfrm>
            <a:off x="754441" y="562670"/>
            <a:ext cx="1621392" cy="142577"/>
          </a:xfrm>
          <a:prstGeom prst="rect">
            <a:avLst/>
          </a:prstGeom>
          <a:noFill/>
          <a:ln/>
        </p:spPr>
        <p:txBody>
          <a:bodyPr wrap="none" lIns="0" tIns="0" rIns="0" bIns="0" rtlCol="0" anchor="t"/>
          <a:lstStyle/>
          <a:p>
            <a:pPr algn="l" indent="0" marL="0">
              <a:lnSpc>
                <a:spcPct val="96000"/>
              </a:lnSpc>
              <a:buNone/>
            </a:pPr>
            <a:r>
              <a:rPr lang="en-US" sz="950" dirty="0">
                <a:solidFill>
                  <a:srgbClr val="3B4E4E"/>
                </a:solidFill>
                <a:latin typeface="Overpass Light" pitchFamily="34" charset="0"/>
                <a:ea typeface="Overpass Light" pitchFamily="34" charset="-122"/>
                <a:cs typeface="Overpass Light" pitchFamily="34" charset="-120"/>
              </a:rPr>
              <a:t>BUSINESS CASE 8</a:t>
            </a:r>
            <a:endParaRPr lang="en-US" sz="950" dirty="0"/>
          </a:p>
        </p:txBody>
      </p:sp>
      <p:sp>
        <p:nvSpPr>
          <p:cNvPr id="4" name="Text 2"/>
          <p:cNvSpPr/>
          <p:nvPr/>
        </p:nvSpPr>
        <p:spPr>
          <a:xfrm>
            <a:off x="661475" y="812509"/>
            <a:ext cx="10868745" cy="484485"/>
          </a:xfrm>
          <a:prstGeom prst="rect">
            <a:avLst/>
          </a:prstGeom>
          <a:noFill/>
          <a:ln/>
        </p:spPr>
        <p:txBody>
          <a:bodyPr wrap="none" lIns="0" tIns="0" rIns="0" bIns="0" rtlCol="0" anchor="t"/>
          <a:lstStyle/>
          <a:p>
            <a:pPr algn="l" indent="0" marL="0">
              <a:lnSpc>
                <a:spcPct val="104000"/>
              </a:lnSpc>
              <a:buNone/>
            </a:pPr>
            <a:r>
              <a:rPr lang="en-US" sz="3050" b="1" dirty="0">
                <a:solidFill>
                  <a:srgbClr val="233939"/>
                </a:solidFill>
                <a:latin typeface="Syne Bold" pitchFamily="34" charset="0"/>
                <a:ea typeface="Syne Bold" pitchFamily="34" charset="-122"/>
                <a:cs typeface="Syne Bold" pitchFamily="34" charset="-120"/>
              </a:rPr>
              <a:t>Sending Support Tickets to the Right Team</a:t>
            </a:r>
            <a:endParaRPr lang="en-US" sz="3050" dirty="0"/>
          </a:p>
        </p:txBody>
      </p:sp>
      <p:sp>
        <p:nvSpPr>
          <p:cNvPr id="5" name="Text 3"/>
          <p:cNvSpPr/>
          <p:nvPr/>
        </p:nvSpPr>
        <p:spPr>
          <a:xfrm>
            <a:off x="661475" y="1512292"/>
            <a:ext cx="10868745" cy="480616"/>
          </a:xfrm>
          <a:prstGeom prst="rect">
            <a:avLst/>
          </a:prstGeom>
          <a:noFill/>
          <a:ln/>
        </p:spPr>
        <p:txBody>
          <a:bodyPr wrap="square" lIns="0" tIns="0" rIns="0" bIns="0" rtlCol="0" anchor="t">
            <a:normAutofit/>
          </a:bodyPr>
          <a:lstStyle/>
          <a:p>
            <a:pPr algn="l" indent="0" marL="0">
              <a:lnSpc>
                <a:spcPct val="129000"/>
              </a:lnSpc>
              <a:buNone/>
            </a:pPr>
            <a:r>
              <a:rPr lang="en-US" sz="1200" dirty="0">
                <a:solidFill>
                  <a:srgbClr val="3B4E4E"/>
                </a:solidFill>
                <a:latin typeface="Overpass Light" pitchFamily="34" charset="0"/>
                <a:ea typeface="Overpass Light" pitchFamily="34" charset="-122"/>
                <a:cs typeface="Overpass Light" pitchFamily="34" charset="-120"/>
              </a:rPr>
              <a:t>A software company receives thousands of support tickets every day. Manually reading and routing each one to the Billing, Technical, or Account Management team is slow and error-prone. The company wants this done automatically.</a:t>
            </a:r>
            <a:endParaRPr lang="en-US" sz="1200" dirty="0"/>
          </a:p>
        </p:txBody>
      </p:sp>
      <p:sp>
        <p:nvSpPr>
          <p:cNvPr id="6" name="Text 4"/>
          <p:cNvSpPr/>
          <p:nvPr/>
        </p:nvSpPr>
        <p:spPr>
          <a:xfrm>
            <a:off x="661475" y="2304706"/>
            <a:ext cx="5245266" cy="242193"/>
          </a:xfrm>
          <a:prstGeom prst="rect">
            <a:avLst/>
          </a:prstGeom>
          <a:noFill/>
          <a:ln/>
        </p:spPr>
        <p:txBody>
          <a:bodyPr wrap="none" lIns="0" tIns="0" rIns="0" bIns="0" rtlCol="0" anchor="t"/>
          <a:lstStyle/>
          <a:p>
            <a:pPr algn="l" indent="0" marL="0">
              <a:lnSpc>
                <a:spcPct val="104000"/>
              </a:lnSpc>
              <a:buNone/>
            </a:pPr>
            <a:r>
              <a:rPr lang="en-US" sz="1500" b="1" dirty="0">
                <a:solidFill>
                  <a:srgbClr val="233939"/>
                </a:solidFill>
                <a:latin typeface="Syne Bold" pitchFamily="34" charset="0"/>
                <a:ea typeface="Syne Bold" pitchFamily="34" charset="-122"/>
                <a:cs typeface="Syne Bold" pitchFamily="34" charset="-120"/>
              </a:rPr>
              <a:t>Thinking It Through</a:t>
            </a:r>
            <a:endParaRPr lang="en-US" sz="1500" dirty="0"/>
          </a:p>
        </p:txBody>
      </p:sp>
      <p:pic>
        <p:nvPicPr>
          <p:cNvPr id="7"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42425" y="2688431"/>
            <a:ext cx="2550850" cy="1388765"/>
          </a:xfrm>
          <a:prstGeom prst="rect">
            <a:avLst/>
          </a:prstGeom>
        </p:spPr>
      </p:pic>
      <p:sp>
        <p:nvSpPr>
          <p:cNvPr id="8" name="Text 5"/>
          <p:cNvSpPr/>
          <p:nvPr/>
        </p:nvSpPr>
        <p:spPr>
          <a:xfrm>
            <a:off x="854550" y="2707481"/>
            <a:ext cx="2338726" cy="484386"/>
          </a:xfrm>
          <a:prstGeom prst="rect">
            <a:avLst/>
          </a:prstGeom>
          <a:noFill/>
          <a:ln/>
        </p:spPr>
        <p:txBody>
          <a:bodyPr wrap="square" lIns="0" tIns="0" rIns="0" bIns="0" rtlCol="0" anchor="t">
            <a:normAutofit/>
          </a:bodyPr>
          <a:lstStyle/>
          <a:p>
            <a:pPr algn="l" indent="0" marL="0">
              <a:lnSpc>
                <a:spcPct val="104000"/>
              </a:lnSpc>
              <a:buNone/>
            </a:pPr>
            <a:r>
              <a:rPr lang="en-US" sz="1500" b="1" dirty="0">
                <a:solidFill>
                  <a:srgbClr val="3B4E4E"/>
                </a:solidFill>
                <a:latin typeface="Syne Bold" pitchFamily="34" charset="0"/>
                <a:ea typeface="Syne Bold" pitchFamily="34" charset="-122"/>
                <a:cs typeface="Syne Bold" pitchFamily="34" charset="-120"/>
              </a:rPr>
              <a:t>Past data with correct answers?</a:t>
            </a:r>
            <a:endParaRPr lang="en-US" sz="1500" dirty="0"/>
          </a:p>
        </p:txBody>
      </p:sp>
      <p:sp>
        <p:nvSpPr>
          <p:cNvPr id="9" name="Text 6"/>
          <p:cNvSpPr/>
          <p:nvPr/>
        </p:nvSpPr>
        <p:spPr>
          <a:xfrm>
            <a:off x="854550" y="3337223"/>
            <a:ext cx="2338726" cy="720923"/>
          </a:xfrm>
          <a:prstGeom prst="rect">
            <a:avLst/>
          </a:prstGeom>
          <a:noFill/>
          <a:ln/>
        </p:spPr>
        <p:txBody>
          <a:bodyPr wrap="square" lIns="0" tIns="0" rIns="0" bIns="0" rtlCol="0" anchor="t">
            <a:normAutofit/>
          </a:bodyPr>
          <a:lstStyle/>
          <a:p>
            <a:pPr algn="l" indent="0" marL="0">
              <a:lnSpc>
                <a:spcPct val="129000"/>
              </a:lnSpc>
              <a:buNone/>
            </a:pPr>
            <a:r>
              <a:rPr lang="en-US" sz="1200" dirty="0">
                <a:solidFill>
                  <a:srgbClr val="3B4E4E"/>
                </a:solidFill>
                <a:latin typeface="Overpass Light" pitchFamily="34" charset="0"/>
                <a:ea typeface="Overpass Light" pitchFamily="34" charset="-122"/>
                <a:cs typeface="Overpass Light" pitchFamily="34" charset="-120"/>
              </a:rPr>
              <a:t>Yes — archived tickets, each stamped with the team that handled it.</a:t>
            </a:r>
            <a:endParaRPr lang="en-US" sz="1200" dirty="0"/>
          </a:p>
        </p:txBody>
      </p:sp>
      <p:pic>
        <p:nvPicPr>
          <p:cNvPr id="10"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355891" y="2688431"/>
            <a:ext cx="2550850" cy="1388765"/>
          </a:xfrm>
          <a:prstGeom prst="rect">
            <a:avLst/>
          </a:prstGeom>
        </p:spPr>
      </p:pic>
      <p:sp>
        <p:nvSpPr>
          <p:cNvPr id="11" name="Text 7"/>
          <p:cNvSpPr/>
          <p:nvPr/>
        </p:nvSpPr>
        <p:spPr>
          <a:xfrm>
            <a:off x="3568015" y="2707481"/>
            <a:ext cx="2338726" cy="242193"/>
          </a:xfrm>
          <a:prstGeom prst="rect">
            <a:avLst/>
          </a:prstGeom>
          <a:noFill/>
          <a:ln/>
        </p:spPr>
        <p:txBody>
          <a:bodyPr wrap="none" lIns="0" tIns="0" rIns="0" bIns="0" rtlCol="0" anchor="t"/>
          <a:lstStyle/>
          <a:p>
            <a:pPr algn="l" indent="0" marL="0">
              <a:lnSpc>
                <a:spcPct val="104000"/>
              </a:lnSpc>
              <a:buNone/>
            </a:pPr>
            <a:r>
              <a:rPr lang="en-US" sz="1500" b="1" dirty="0">
                <a:solidFill>
                  <a:srgbClr val="3B4E4E"/>
                </a:solidFill>
                <a:latin typeface="Syne Bold" pitchFamily="34" charset="0"/>
                <a:ea typeface="Syne Bold" pitchFamily="34" charset="-122"/>
                <a:cs typeface="Syne Bold" pitchFamily="34" charset="-120"/>
              </a:rPr>
              <a:t>Number or category?</a:t>
            </a:r>
            <a:endParaRPr lang="en-US" sz="1500" dirty="0"/>
          </a:p>
        </p:txBody>
      </p:sp>
      <p:sp>
        <p:nvSpPr>
          <p:cNvPr id="12" name="Text 8"/>
          <p:cNvSpPr/>
          <p:nvPr/>
        </p:nvSpPr>
        <p:spPr>
          <a:xfrm>
            <a:off x="3568015" y="3095030"/>
            <a:ext cx="2338726" cy="480616"/>
          </a:xfrm>
          <a:prstGeom prst="rect">
            <a:avLst/>
          </a:prstGeom>
          <a:noFill/>
          <a:ln/>
        </p:spPr>
        <p:txBody>
          <a:bodyPr wrap="square" lIns="0" tIns="0" rIns="0" bIns="0" rtlCol="0" anchor="t">
            <a:normAutofit/>
          </a:bodyPr>
          <a:lstStyle/>
          <a:p>
            <a:pPr algn="l" indent="0" marL="0">
              <a:lnSpc>
                <a:spcPct val="129000"/>
              </a:lnSpc>
              <a:buNone/>
            </a:pPr>
            <a:r>
              <a:rPr lang="en-US" sz="1200" dirty="0">
                <a:solidFill>
                  <a:srgbClr val="3B4E4E"/>
                </a:solidFill>
                <a:latin typeface="Overpass Light" pitchFamily="34" charset="0"/>
                <a:ea typeface="Overpass Light" pitchFamily="34" charset="-122"/>
                <a:cs typeface="Overpass Light" pitchFamily="34" charset="-120"/>
              </a:rPr>
              <a:t>Category with three options: Billing / Technical / Account.</a:t>
            </a:r>
            <a:endParaRPr lang="en-US" sz="1200" dirty="0"/>
          </a:p>
        </p:txBody>
      </p:sp>
      <p:pic>
        <p:nvPicPr>
          <p:cNvPr id="13"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42425" y="4329807"/>
            <a:ext cx="2550850" cy="1867495"/>
          </a:xfrm>
          <a:prstGeom prst="rect">
            <a:avLst/>
          </a:prstGeom>
        </p:spPr>
      </p:pic>
      <p:sp>
        <p:nvSpPr>
          <p:cNvPr id="14" name="Text 9"/>
          <p:cNvSpPr/>
          <p:nvPr/>
        </p:nvSpPr>
        <p:spPr>
          <a:xfrm>
            <a:off x="854550" y="4348857"/>
            <a:ext cx="2338726" cy="242193"/>
          </a:xfrm>
          <a:prstGeom prst="rect">
            <a:avLst/>
          </a:prstGeom>
          <a:noFill/>
          <a:ln/>
        </p:spPr>
        <p:txBody>
          <a:bodyPr wrap="none" lIns="0" tIns="0" rIns="0" bIns="0" rtlCol="0" anchor="t"/>
          <a:lstStyle/>
          <a:p>
            <a:pPr algn="l" indent="0" marL="0">
              <a:lnSpc>
                <a:spcPct val="104000"/>
              </a:lnSpc>
              <a:buNone/>
            </a:pPr>
            <a:r>
              <a:rPr lang="en-US" sz="1500" b="1" dirty="0">
                <a:solidFill>
                  <a:srgbClr val="3B4E4E"/>
                </a:solidFill>
                <a:latin typeface="Syne Bold" pitchFamily="34" charset="0"/>
                <a:ea typeface="Syne Bold" pitchFamily="34" charset="-122"/>
                <a:cs typeface="Syne Bold" pitchFamily="34" charset="-120"/>
              </a:rPr>
              <a:t>Special challenge</a:t>
            </a:r>
            <a:endParaRPr lang="en-US" sz="1500" dirty="0"/>
          </a:p>
        </p:txBody>
      </p:sp>
      <p:sp>
        <p:nvSpPr>
          <p:cNvPr id="15" name="Text 10"/>
          <p:cNvSpPr/>
          <p:nvPr/>
        </p:nvSpPr>
        <p:spPr>
          <a:xfrm>
            <a:off x="854550" y="4736405"/>
            <a:ext cx="2338726" cy="1441847"/>
          </a:xfrm>
          <a:prstGeom prst="rect">
            <a:avLst/>
          </a:prstGeom>
          <a:noFill/>
          <a:ln/>
        </p:spPr>
        <p:txBody>
          <a:bodyPr wrap="square" lIns="0" tIns="0" rIns="0" bIns="0" rtlCol="0" anchor="t">
            <a:normAutofit/>
          </a:bodyPr>
          <a:lstStyle/>
          <a:p>
            <a:pPr algn="l" indent="0" marL="0">
              <a:lnSpc>
                <a:spcPct val="129000"/>
              </a:lnSpc>
              <a:buNone/>
            </a:pPr>
            <a:r>
              <a:rPr lang="en-US" sz="1200" dirty="0">
                <a:solidFill>
                  <a:srgbClr val="3B4E4E"/>
                </a:solidFill>
                <a:latin typeface="Overpass Light" pitchFamily="34" charset="0"/>
                <a:ea typeface="Overpass Light" pitchFamily="34" charset="-122"/>
                <a:cs typeface="Overpass Light" pitchFamily="34" charset="-120"/>
              </a:rPr>
              <a:t>Input is unstructured text. When converted to a bag-of-words representation, each ticket becomes a vector with thousands of dimensions — one per unique word in the vocabulary.</a:t>
            </a:r>
            <a:endParaRPr lang="en-US" sz="1200" dirty="0"/>
          </a:p>
        </p:txBody>
      </p:sp>
      <p:pic>
        <p:nvPicPr>
          <p:cNvPr id="16"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3355891" y="4329807"/>
            <a:ext cx="2550850" cy="1867495"/>
          </a:xfrm>
          <a:prstGeom prst="rect">
            <a:avLst/>
          </a:prstGeom>
        </p:spPr>
      </p:pic>
      <p:sp>
        <p:nvSpPr>
          <p:cNvPr id="17" name="Text 11"/>
          <p:cNvSpPr/>
          <p:nvPr/>
        </p:nvSpPr>
        <p:spPr>
          <a:xfrm>
            <a:off x="3568015" y="4348857"/>
            <a:ext cx="2338726" cy="242193"/>
          </a:xfrm>
          <a:prstGeom prst="rect">
            <a:avLst/>
          </a:prstGeom>
          <a:noFill/>
          <a:ln/>
        </p:spPr>
        <p:txBody>
          <a:bodyPr wrap="none" lIns="0" tIns="0" rIns="0" bIns="0" rtlCol="0" anchor="t"/>
          <a:lstStyle/>
          <a:p>
            <a:pPr algn="l" indent="0" marL="0">
              <a:lnSpc>
                <a:spcPct val="104000"/>
              </a:lnSpc>
              <a:buNone/>
            </a:pPr>
            <a:r>
              <a:rPr lang="en-US" sz="1500" b="1" dirty="0">
                <a:solidFill>
                  <a:srgbClr val="3B4E4E"/>
                </a:solidFill>
                <a:latin typeface="Syne Bold" pitchFamily="34" charset="0"/>
                <a:ea typeface="Syne Bold" pitchFamily="34" charset="-122"/>
                <a:cs typeface="Syne Bold" pitchFamily="34" charset="-120"/>
              </a:rPr>
              <a:t>Problem type</a:t>
            </a:r>
            <a:endParaRPr lang="en-US" sz="1500" dirty="0"/>
          </a:p>
        </p:txBody>
      </p:sp>
      <p:sp>
        <p:nvSpPr>
          <p:cNvPr id="18" name="Text 12"/>
          <p:cNvSpPr/>
          <p:nvPr/>
        </p:nvSpPr>
        <p:spPr>
          <a:xfrm>
            <a:off x="3568015" y="4736405"/>
            <a:ext cx="2338726" cy="720923"/>
          </a:xfrm>
          <a:prstGeom prst="rect">
            <a:avLst/>
          </a:prstGeom>
          <a:noFill/>
          <a:ln/>
        </p:spPr>
        <p:txBody>
          <a:bodyPr wrap="square" lIns="0" tIns="0" rIns="0" bIns="0" rtlCol="0" anchor="t">
            <a:normAutofit/>
          </a:bodyPr>
          <a:lstStyle/>
          <a:p>
            <a:pPr algn="l" indent="0" marL="0">
              <a:lnSpc>
                <a:spcPct val="129000"/>
              </a:lnSpc>
              <a:buNone/>
            </a:pPr>
            <a:r>
              <a:rPr lang="en-US" sz="1200" b="1" dirty="0">
                <a:solidFill>
                  <a:srgbClr val="3B4E4E"/>
                </a:solidFill>
                <a:latin typeface="Overpass Bold" pitchFamily="34" charset="0"/>
                <a:ea typeface="Overpass Bold" pitchFamily="34" charset="-122"/>
                <a:cs typeface="Overpass Bold" pitchFamily="34" charset="-120"/>
              </a:rPr>
              <a:t>Supervised text classification with very high-dimensional input.</a:t>
            </a:r>
            <a:endParaRPr lang="en-US" sz="1200" dirty="0"/>
          </a:p>
        </p:txBody>
      </p:sp>
      <p:sp>
        <p:nvSpPr>
          <p:cNvPr id="19" name="Shape 13"/>
          <p:cNvSpPr/>
          <p:nvPr/>
        </p:nvSpPr>
        <p:spPr>
          <a:xfrm>
            <a:off x="6291304" y="2319933"/>
            <a:ext cx="5245266" cy="1300163"/>
          </a:xfrm>
          <a:prstGeom prst="roundRect">
            <a:avLst>
              <a:gd name="adj" fmla="val 5009"/>
            </a:avLst>
          </a:prstGeom>
          <a:solidFill>
            <a:srgbClr val="DDEEE6"/>
          </a:solidFill>
          <a:ln/>
        </p:spPr>
      </p:sp>
      <p:pic>
        <p:nvPicPr>
          <p:cNvPr id="20" name="Image 4" descr="preencoded.png">    </p:cNvPr>
          <p:cNvPicPr>
            <a:picLocks noChangeAspect="1"/>
          </p:cNvPicPr>
          <p:nvPr/>
        </p:nvPicPr>
        <p:blipFill>
          <a:blip r:embed="rId9"/>
          <a:stretch>
            <a:fillRect/>
          </a:stretch>
        </p:blipFill>
        <p:spPr>
          <a:xfrm>
            <a:off x="6446279" y="2527102"/>
            <a:ext cx="193769" cy="154980"/>
          </a:xfrm>
          <a:prstGeom prst="rect">
            <a:avLst/>
          </a:prstGeom>
        </p:spPr>
      </p:pic>
      <p:sp>
        <p:nvSpPr>
          <p:cNvPr id="21" name="Text 14"/>
          <p:cNvSpPr/>
          <p:nvPr/>
        </p:nvSpPr>
        <p:spPr>
          <a:xfrm>
            <a:off x="6795025" y="2489398"/>
            <a:ext cx="4586570" cy="961231"/>
          </a:xfrm>
          <a:prstGeom prst="rect">
            <a:avLst/>
          </a:prstGeom>
          <a:noFill/>
          <a:ln/>
        </p:spPr>
        <p:txBody>
          <a:bodyPr wrap="square" lIns="0" tIns="0" rIns="0" bIns="0" rtlCol="0" anchor="t">
            <a:normAutofit/>
          </a:bodyPr>
          <a:lstStyle/>
          <a:p>
            <a:pPr algn="l" indent="0" marL="0">
              <a:lnSpc>
                <a:spcPct val="129000"/>
              </a:lnSpc>
              <a:buNone/>
            </a:pPr>
            <a:r>
              <a:rPr lang="en-US" sz="1200" b="1" dirty="0">
                <a:solidFill>
                  <a:srgbClr val="000000"/>
                </a:solidFill>
                <a:latin typeface="Overpass Bold" pitchFamily="34" charset="0"/>
                <a:ea typeface="Overpass Bold" pitchFamily="34" charset="-122"/>
                <a:cs typeface="Overpass Bold" pitchFamily="34" charset="-120"/>
              </a:rPr>
              <a:t>Class discussion:</a:t>
            </a:r>
            <a:pPr algn="l" indent="0" marL="0">
              <a:lnSpc>
                <a:spcPct val="129000"/>
              </a:lnSpc>
              <a:buNone/>
            </a:pPr>
            <a:r>
              <a:rPr lang="en-US" sz="1200" dirty="0">
                <a:solidFill>
                  <a:srgbClr val="000000"/>
                </a:solidFill>
                <a:latin typeface="Overpass Light" pitchFamily="34" charset="0"/>
                <a:ea typeface="Overpass Light" pitchFamily="34" charset="-122"/>
                <a:cs typeface="Overpass Light" pitchFamily="34" charset="-120"/>
              </a:rPr>
              <a:t> A ticket reads: "I was charged twice and now I cannot log in to my account." Which team should receive it — Billing, Technical, or both? How would you handle tickets that belong to more than one category?</a:t>
            </a:r>
            <a:endParaRPr lang="en-US" sz="1200" dirty="0"/>
          </a:p>
        </p:txBody>
      </p:sp>
      <p:sp>
        <p:nvSpPr>
          <p:cNvPr id="22" name="Text 15"/>
          <p:cNvSpPr/>
          <p:nvPr/>
        </p:nvSpPr>
        <p:spPr>
          <a:xfrm>
            <a:off x="6291304" y="3786538"/>
            <a:ext cx="5245266" cy="484386"/>
          </a:xfrm>
          <a:prstGeom prst="rect">
            <a:avLst/>
          </a:prstGeom>
          <a:noFill/>
          <a:ln/>
        </p:spPr>
        <p:txBody>
          <a:bodyPr wrap="square" lIns="0" tIns="0" rIns="0" bIns="0" rtlCol="0" anchor="t">
            <a:normAutofit/>
          </a:bodyPr>
          <a:lstStyle/>
          <a:p>
            <a:pPr algn="l" indent="0" marL="0">
              <a:lnSpc>
                <a:spcPct val="104000"/>
              </a:lnSpc>
              <a:buNone/>
            </a:pPr>
            <a:r>
              <a:rPr lang="en-US" sz="1500" b="1" dirty="0">
                <a:solidFill>
                  <a:srgbClr val="233939"/>
                </a:solidFill>
                <a:latin typeface="Syne Bold" pitchFamily="34" charset="0"/>
                <a:ea typeface="Syne Bold" pitchFamily="34" charset="-122"/>
                <a:cs typeface="Syne Bold" pitchFamily="34" charset="-120"/>
              </a:rPr>
              <a:t>Algorithm to Start With: Support Vector Machine (SVM)</a:t>
            </a:r>
            <a:endParaRPr lang="en-US" sz="1500" dirty="0"/>
          </a:p>
        </p:txBody>
      </p:sp>
      <p:sp>
        <p:nvSpPr>
          <p:cNvPr id="23" name="Text 16"/>
          <p:cNvSpPr/>
          <p:nvPr/>
        </p:nvSpPr>
        <p:spPr>
          <a:xfrm>
            <a:off x="6291304" y="4413349"/>
            <a:ext cx="5245266" cy="720923"/>
          </a:xfrm>
          <a:prstGeom prst="rect">
            <a:avLst/>
          </a:prstGeom>
          <a:noFill/>
          <a:ln/>
        </p:spPr>
        <p:txBody>
          <a:bodyPr wrap="square" lIns="0" tIns="0" rIns="0" bIns="0" rtlCol="0" anchor="t">
            <a:normAutofit/>
          </a:bodyPr>
          <a:lstStyle/>
          <a:p>
            <a:pPr algn="l" indent="0" marL="0">
              <a:lnSpc>
                <a:spcPct val="129000"/>
              </a:lnSpc>
              <a:buNone/>
            </a:pPr>
            <a:r>
              <a:rPr lang="en-US" sz="1200" dirty="0">
                <a:solidFill>
                  <a:srgbClr val="3B4E4E"/>
                </a:solidFill>
                <a:latin typeface="Overpass Light" pitchFamily="34" charset="0"/>
                <a:ea typeface="Overpass Light" pitchFamily="34" charset="-122"/>
                <a:cs typeface="Overpass Light" pitchFamily="34" charset="-120"/>
              </a:rPr>
              <a:t>SVM is particularly well-suited to high-dimensional text data because it finds the widest possible decision boundary between categories — even in thousands of dimensions.</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E6"/>
        </a:solidFill>
      </p:bgPr>
    </p:bg>
    <p:spTree>
      <p:nvGrpSpPr>
        <p:cNvPr id="1" name=""/>
        <p:cNvGrpSpPr/>
        <p:nvPr/>
      </p:nvGrpSpPr>
      <p:grpSpPr>
        <a:xfrm>
          <a:off x="0" y="0"/>
          <a:ext cx="0" cy="0"/>
          <a:chOff x="0" y="0"/>
          <a:chExt cx="0" cy="0"/>
        </a:xfrm>
      </p:grpSpPr>
      <p:sp>
        <p:nvSpPr>
          <p:cNvPr id="2" name="Text 0"/>
          <p:cNvSpPr/>
          <p:nvPr/>
        </p:nvSpPr>
        <p:spPr>
          <a:xfrm>
            <a:off x="661475" y="501438"/>
            <a:ext cx="10868745" cy="419894"/>
          </a:xfrm>
          <a:prstGeom prst="rect">
            <a:avLst/>
          </a:prstGeom>
          <a:noFill/>
          <a:ln/>
        </p:spPr>
        <p:txBody>
          <a:bodyPr wrap="none" lIns="0" tIns="0" rIns="0" bIns="0" rtlCol="0" anchor="t"/>
          <a:lstStyle/>
          <a:p>
            <a:pPr algn="l" indent="0" marL="0">
              <a:lnSpc>
                <a:spcPct val="104000"/>
              </a:lnSpc>
              <a:buNone/>
            </a:pPr>
            <a:r>
              <a:rPr lang="en-US" sz="2600" b="1" dirty="0">
                <a:solidFill>
                  <a:srgbClr val="233939"/>
                </a:solidFill>
                <a:latin typeface="Syne Bold" pitchFamily="34" charset="0"/>
                <a:ea typeface="Syne Bold" pitchFamily="34" charset="-122"/>
                <a:cs typeface="Syne Bold" pitchFamily="34" charset="-120"/>
              </a:rPr>
              <a:t>Algorithm: Support Vector Machine (SVM)</a:t>
            </a:r>
            <a:endParaRPr lang="en-US" sz="2600" dirty="0"/>
          </a:p>
        </p:txBody>
      </p:sp>
      <p:sp>
        <p:nvSpPr>
          <p:cNvPr id="3" name="Text 1"/>
          <p:cNvSpPr/>
          <p:nvPr/>
        </p:nvSpPr>
        <p:spPr>
          <a:xfrm>
            <a:off x="661475" y="1136650"/>
            <a:ext cx="10868745" cy="389533"/>
          </a:xfrm>
          <a:prstGeom prst="rect">
            <a:avLst/>
          </a:prstGeom>
          <a:noFill/>
          <a:ln/>
        </p:spPr>
        <p:txBody>
          <a:bodyPr wrap="square" lIns="0" tIns="0" rIns="0" bIns="0" rtlCol="0" anchor="t">
            <a:normAutofit/>
          </a:bodyPr>
          <a:lstStyle/>
          <a:p>
            <a:pPr algn="l" indent="0" marL="0">
              <a:lnSpc>
                <a:spcPct val="121000"/>
              </a:lnSpc>
              <a:buNone/>
            </a:pPr>
            <a:r>
              <a:rPr lang="en-US" sz="1050" dirty="0">
                <a:solidFill>
                  <a:srgbClr val="3B4E4E"/>
                </a:solidFill>
                <a:latin typeface="Overpass Light" pitchFamily="34" charset="0"/>
                <a:ea typeface="Overpass Light" pitchFamily="34" charset="-122"/>
                <a:cs typeface="Overpass Light" pitchFamily="34" charset="-120"/>
              </a:rPr>
              <a:t>SVM approaches classification as a geometric problem: find the dividing line (or hyperplane) that separates two categories with the maximum possible gap between them. A wider gap means greater confidence and better generalisation to new data.</a:t>
            </a:r>
            <a:endParaRPr lang="en-US" sz="1050" dirty="0"/>
          </a:p>
        </p:txBody>
      </p:sp>
      <p:sp>
        <p:nvSpPr>
          <p:cNvPr id="4" name="Text 2"/>
          <p:cNvSpPr/>
          <p:nvPr/>
        </p:nvSpPr>
        <p:spPr>
          <a:xfrm>
            <a:off x="661475" y="1759638"/>
            <a:ext cx="5270467" cy="209947"/>
          </a:xfrm>
          <a:prstGeom prst="rect">
            <a:avLst/>
          </a:prstGeom>
          <a:noFill/>
          <a:ln/>
        </p:spPr>
        <p:txBody>
          <a:bodyPr wrap="none" lIns="0" tIns="0" rIns="0" bIns="0" rtlCol="0" anchor="t"/>
          <a:lstStyle/>
          <a:p>
            <a:pPr algn="l" indent="0" marL="0">
              <a:lnSpc>
                <a:spcPct val="104000"/>
              </a:lnSpc>
              <a:buNone/>
            </a:pPr>
            <a:r>
              <a:rPr lang="en-US" sz="1300" b="1" dirty="0">
                <a:solidFill>
                  <a:srgbClr val="233939"/>
                </a:solidFill>
                <a:latin typeface="Syne Bold" pitchFamily="34" charset="0"/>
                <a:ea typeface="Syne Bold" pitchFamily="34" charset="-122"/>
                <a:cs typeface="Syne Bold" pitchFamily="34" charset="-120"/>
              </a:rPr>
              <a:t>How It Works</a:t>
            </a:r>
            <a:endParaRPr lang="en-US" sz="1300" dirty="0"/>
          </a:p>
        </p:txBody>
      </p:sp>
      <p:sp>
        <p:nvSpPr>
          <p:cNvPr id="5" name="Text 3"/>
          <p:cNvSpPr/>
          <p:nvPr/>
        </p:nvSpPr>
        <p:spPr>
          <a:xfrm>
            <a:off x="661475" y="2077244"/>
            <a:ext cx="5270467" cy="389533"/>
          </a:xfrm>
          <a:prstGeom prst="rect">
            <a:avLst/>
          </a:prstGeom>
          <a:noFill/>
          <a:ln/>
        </p:spPr>
        <p:txBody>
          <a:bodyPr wrap="square" lIns="0" tIns="0" rIns="0" bIns="0" rtlCol="0" anchor="t">
            <a:normAutofit/>
          </a:bodyPr>
          <a:lstStyle/>
          <a:p>
            <a:pPr algn="l" indent="0" marL="0">
              <a:lnSpc>
                <a:spcPct val="121000"/>
              </a:lnSpc>
              <a:buNone/>
            </a:pPr>
            <a:r>
              <a:rPr lang="en-US" sz="1050" dirty="0">
                <a:solidFill>
                  <a:srgbClr val="3B4E4E"/>
                </a:solidFill>
                <a:latin typeface="Overpass Light" pitchFamily="34" charset="0"/>
                <a:ea typeface="Overpass Light" pitchFamily="34" charset="-122"/>
                <a:cs typeface="Overpass Light" pitchFamily="34" charset="-120"/>
              </a:rPr>
              <a:t>Each support ticket is represented as a point in a high-dimensional space — one dimension per word. SVM looks for the dividing hyperplane that:</a:t>
            </a:r>
            <a:endParaRPr lang="en-US" sz="1050" dirty="0"/>
          </a:p>
        </p:txBody>
      </p:sp>
      <p:sp>
        <p:nvSpPr>
          <p:cNvPr id="6" name="Text 4"/>
          <p:cNvSpPr/>
          <p:nvPr/>
        </p:nvSpPr>
        <p:spPr>
          <a:xfrm>
            <a:off x="661475" y="2565003"/>
            <a:ext cx="5270467" cy="622498"/>
          </a:xfrm>
          <a:prstGeom prst="rect">
            <a:avLst/>
          </a:prstGeom>
          <a:noFill/>
          <a:ln/>
        </p:spPr>
        <p:txBody>
          <a:bodyPr wrap="square" lIns="0" tIns="0" rIns="0" bIns="0" rtlCol="0" anchor="t">
            <a:normAutofit/>
          </a:bodyPr>
          <a:lstStyle/>
          <a:p>
            <a:pPr algn="l" marL="213360" indent="-213360">
              <a:lnSpc>
                <a:spcPct val="121000"/>
              </a:lnSpc>
              <a:buSzPct val="100000"/>
              <a:buChar char="•"/>
            </a:pPr>
            <a:r>
              <a:rPr lang="en-US" sz="1050" dirty="0">
                <a:solidFill>
                  <a:srgbClr val="3B4E4E"/>
                </a:solidFill>
                <a:latin typeface="Overpass Light" pitchFamily="34" charset="0"/>
                <a:ea typeface="Overpass Light" pitchFamily="34" charset="-122"/>
                <a:cs typeface="Overpass Light" pitchFamily="34" charset="-120"/>
              </a:rPr>
              <a:t>Correctly separates the two categories</a:t>
            </a:r>
            <a:endParaRPr lang="en-US" sz="1050" dirty="0"/>
          </a:p>
          <a:p>
            <a:pPr algn="l" marL="213360" indent="-213360">
              <a:lnSpc>
                <a:spcPct val="121000"/>
              </a:lnSpc>
              <a:buSzPct val="100000"/>
              <a:buChar char="•"/>
            </a:pPr>
            <a:r>
              <a:rPr lang="en-US" sz="1050" dirty="0">
                <a:solidFill>
                  <a:srgbClr val="3B4E4E"/>
                </a:solidFill>
                <a:latin typeface="Overpass Light" pitchFamily="34" charset="0"/>
                <a:ea typeface="Overpass Light" pitchFamily="34" charset="-122"/>
                <a:cs typeface="Overpass Light" pitchFamily="34" charset="-120"/>
              </a:rPr>
              <a:t>Maximises the distance (margin) from the boundary to the nearest points of each category</a:t>
            </a:r>
            <a:endParaRPr lang="en-US" sz="1050" dirty="0"/>
          </a:p>
        </p:txBody>
      </p:sp>
      <p:sp>
        <p:nvSpPr>
          <p:cNvPr id="7" name="Text 5"/>
          <p:cNvSpPr/>
          <p:nvPr/>
        </p:nvSpPr>
        <p:spPr>
          <a:xfrm>
            <a:off x="661475" y="3285728"/>
            <a:ext cx="5270467" cy="1072059"/>
          </a:xfrm>
          <a:prstGeom prst="rect">
            <a:avLst/>
          </a:prstGeom>
          <a:noFill/>
          <a:ln/>
        </p:spPr>
        <p:txBody>
          <a:bodyPr wrap="square" lIns="0" tIns="0" rIns="0" bIns="0" rtlCol="0" anchor="t">
            <a:normAutofit/>
          </a:bodyPr>
          <a:lstStyle/>
          <a:p>
            <a:pPr algn="l" indent="0" marL="0">
              <a:lnSpc>
                <a:spcPct val="121000"/>
              </a:lnSpc>
              <a:spcAft>
                <a:spcPts val="750"/>
              </a:spcAft>
              <a:buNone/>
            </a:pPr>
            <a:r>
              <a:rPr lang="en-US" sz="1050" dirty="0">
                <a:solidFill>
                  <a:srgbClr val="3B4E4E"/>
                </a:solidFill>
                <a:latin typeface="Overpass Light" pitchFamily="34" charset="0"/>
                <a:ea typeface="Overpass Light" pitchFamily="34" charset="-122"/>
                <a:cs typeface="Overpass Light" pitchFamily="34" charset="-120"/>
              </a:rPr>
              <a:t>Those nearest points are the </a:t>
            </a:r>
            <a:pPr algn="l" indent="0" marL="0">
              <a:lnSpc>
                <a:spcPct val="121000"/>
              </a:lnSpc>
              <a:spcAft>
                <a:spcPts val="750"/>
              </a:spcAft>
              <a:buNone/>
            </a:pPr>
            <a:r>
              <a:rPr lang="en-US" sz="1050" b="1" dirty="0">
                <a:solidFill>
                  <a:srgbClr val="3B4E4E"/>
                </a:solidFill>
                <a:latin typeface="Overpass Bold" pitchFamily="34" charset="0"/>
                <a:ea typeface="Overpass Bold" pitchFamily="34" charset="-122"/>
                <a:cs typeface="Overpass Bold" pitchFamily="34" charset="-120"/>
              </a:rPr>
              <a:t>support vectors</a:t>
            </a:r>
            <a:pPr algn="l" indent="0" marL="0">
              <a:lnSpc>
                <a:spcPct val="121000"/>
              </a:lnSpc>
              <a:spcAft>
                <a:spcPts val="750"/>
              </a:spcAft>
              <a:buNone/>
            </a:pPr>
            <a:r>
              <a:rPr lang="en-US" sz="1050" dirty="0">
                <a:solidFill>
                  <a:srgbClr val="3B4E4E"/>
                </a:solidFill>
                <a:latin typeface="Overpass Light" pitchFamily="34" charset="0"/>
                <a:ea typeface="Overpass Light" pitchFamily="34" charset="-122"/>
                <a:cs typeface="Overpass Light" pitchFamily="34" charset="-120"/>
              </a:rPr>
              <a:t> — the only records that actually determine where the boundary sits. All other records are irrelevant to the boundary's position.</a:t>
            </a:r>
            <a:endParaRPr lang="en-US" sz="1050" dirty="0"/>
          </a:p>
          <a:p>
            <a:pPr algn="l" indent="0" marL="0">
              <a:lnSpc>
                <a:spcPct val="121000"/>
              </a:lnSpc>
              <a:buNone/>
            </a:pPr>
            <a:r>
              <a:rPr lang="en-US" sz="1050" dirty="0">
                <a:solidFill>
                  <a:srgbClr val="3B4E4E"/>
                </a:solidFill>
                <a:latin typeface="Overpass Light" pitchFamily="34" charset="0"/>
                <a:ea typeface="Overpass Light" pitchFamily="34" charset="-122"/>
                <a:cs typeface="Overpass Light" pitchFamily="34" charset="-120"/>
              </a:rPr>
              <a:t>When a straight boundary cannot work — categories are interleaved — SVM applies a </a:t>
            </a:r>
            <a:pPr algn="l" indent="0" marL="0">
              <a:lnSpc>
                <a:spcPct val="121000"/>
              </a:lnSpc>
              <a:buNone/>
            </a:pPr>
            <a:r>
              <a:rPr lang="en-US" sz="1050" b="1" dirty="0">
                <a:solidFill>
                  <a:srgbClr val="3B4E4E"/>
                </a:solidFill>
                <a:latin typeface="Overpass Bold" pitchFamily="34" charset="0"/>
                <a:ea typeface="Overpass Bold" pitchFamily="34" charset="-122"/>
                <a:cs typeface="Overpass Bold" pitchFamily="34" charset="-120"/>
              </a:rPr>
              <a:t>kernel trick</a:t>
            </a:r>
            <a:pPr algn="l" indent="0" marL="0">
              <a:lnSpc>
                <a:spcPct val="121000"/>
              </a:lnSpc>
              <a:buNone/>
            </a:pPr>
            <a:r>
              <a:rPr lang="en-US" sz="1050" dirty="0">
                <a:solidFill>
                  <a:srgbClr val="3B4E4E"/>
                </a:solidFill>
                <a:latin typeface="Overpass Light" pitchFamily="34" charset="0"/>
                <a:ea typeface="Overpass Light" pitchFamily="34" charset="-122"/>
                <a:cs typeface="Overpass Light" pitchFamily="34" charset="-120"/>
              </a:rPr>
              <a:t> to map the data into a higher dimension where a straight boundary becomes possible. No extra data is needed; this is a mathematical transformation.</a:t>
            </a:r>
            <a:endParaRPr lang="en-US" sz="1050" dirty="0"/>
          </a:p>
        </p:txBody>
      </p:sp>
      <p:sp>
        <p:nvSpPr>
          <p:cNvPr id="8" name="Text 6"/>
          <p:cNvSpPr/>
          <p:nvPr/>
        </p:nvSpPr>
        <p:spPr>
          <a:xfrm>
            <a:off x="6266103" y="1759638"/>
            <a:ext cx="5270467" cy="209947"/>
          </a:xfrm>
          <a:prstGeom prst="rect">
            <a:avLst/>
          </a:prstGeom>
          <a:noFill/>
          <a:ln/>
        </p:spPr>
        <p:txBody>
          <a:bodyPr wrap="none" lIns="0" tIns="0" rIns="0" bIns="0" rtlCol="0" anchor="t"/>
          <a:lstStyle/>
          <a:p>
            <a:pPr algn="l" indent="0" marL="0">
              <a:lnSpc>
                <a:spcPct val="104000"/>
              </a:lnSpc>
              <a:buNone/>
            </a:pPr>
            <a:r>
              <a:rPr lang="en-US" sz="1300" b="1" dirty="0">
                <a:solidFill>
                  <a:srgbClr val="233939"/>
                </a:solidFill>
                <a:latin typeface="Syne Bold" pitchFamily="34" charset="0"/>
                <a:ea typeface="Syne Bold" pitchFamily="34" charset="-122"/>
                <a:cs typeface="Syne Bold" pitchFamily="34" charset="-120"/>
              </a:rPr>
              <a:t>Strengths and Limits</a:t>
            </a:r>
            <a:endParaRPr lang="en-US" sz="1300" dirty="0"/>
          </a:p>
        </p:txBody>
      </p:sp>
      <p:pic>
        <p:nvPicPr>
          <p:cNvPr id="9"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266103" y="2090936"/>
            <a:ext cx="2580615" cy="1614884"/>
          </a:xfrm>
          <a:prstGeom prst="rect">
            <a:avLst/>
          </a:prstGeom>
        </p:spPr>
      </p:pic>
      <p:sp>
        <p:nvSpPr>
          <p:cNvPr id="10" name="Text 7"/>
          <p:cNvSpPr/>
          <p:nvPr/>
        </p:nvSpPr>
        <p:spPr>
          <a:xfrm>
            <a:off x="6495689" y="2244328"/>
            <a:ext cx="2197640" cy="419894"/>
          </a:xfrm>
          <a:prstGeom prst="rect">
            <a:avLst/>
          </a:prstGeom>
          <a:noFill/>
          <a:ln/>
        </p:spPr>
        <p:txBody>
          <a:bodyPr wrap="square" lIns="0" tIns="0" rIns="0" bIns="0" rtlCol="0" anchor="t">
            <a:normAutofit/>
          </a:bodyPr>
          <a:lstStyle/>
          <a:p>
            <a:pPr algn="l" indent="0" marL="0">
              <a:lnSpc>
                <a:spcPct val="104000"/>
              </a:lnSpc>
              <a:buNone/>
            </a:pPr>
            <a:r>
              <a:rPr lang="en-US" sz="1300" b="1" dirty="0">
                <a:solidFill>
                  <a:srgbClr val="3B4E4E"/>
                </a:solidFill>
                <a:latin typeface="Syne Bold" pitchFamily="34" charset="0"/>
                <a:ea typeface="Syne Bold" pitchFamily="34" charset="-122"/>
                <a:cs typeface="Syne Bold" pitchFamily="34" charset="-120"/>
              </a:rPr>
              <a:t>✓ Excellent on Text Data</a:t>
            </a:r>
            <a:endParaRPr lang="en-US" sz="1300" dirty="0"/>
          </a:p>
        </p:txBody>
      </p:sp>
      <p:sp>
        <p:nvSpPr>
          <p:cNvPr id="11" name="Text 8"/>
          <p:cNvSpPr/>
          <p:nvPr/>
        </p:nvSpPr>
        <p:spPr>
          <a:xfrm>
            <a:off x="6495689" y="2773363"/>
            <a:ext cx="2197640" cy="779066"/>
          </a:xfrm>
          <a:prstGeom prst="rect">
            <a:avLst/>
          </a:prstGeom>
          <a:noFill/>
          <a:ln/>
        </p:spPr>
        <p:txBody>
          <a:bodyPr wrap="square" lIns="0" tIns="0" rIns="0" bIns="0" rtlCol="0" anchor="t">
            <a:normAutofit/>
          </a:bodyPr>
          <a:lstStyle/>
          <a:p>
            <a:pPr algn="l" indent="0" marL="0">
              <a:lnSpc>
                <a:spcPct val="121000"/>
              </a:lnSpc>
              <a:buNone/>
            </a:pPr>
            <a:r>
              <a:rPr lang="en-US" sz="1050" dirty="0">
                <a:solidFill>
                  <a:srgbClr val="3B4E4E"/>
                </a:solidFill>
                <a:latin typeface="Overpass Light" pitchFamily="34" charset="0"/>
                <a:ea typeface="Overpass Light" pitchFamily="34" charset="-122"/>
                <a:cs typeface="Overpass Light" pitchFamily="34" charset="-120"/>
              </a:rPr>
              <a:t>Performs very well in high-dimensional spaces where most algorithms struggle. Often the best off-the-shelf text classifier.</a:t>
            </a:r>
            <a:endParaRPr lang="en-US" sz="1050" dirty="0"/>
          </a:p>
        </p:txBody>
      </p:sp>
      <p:pic>
        <p:nvPicPr>
          <p:cNvPr id="12"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955856" y="2090936"/>
            <a:ext cx="2580714" cy="1614884"/>
          </a:xfrm>
          <a:prstGeom prst="rect">
            <a:avLst/>
          </a:prstGeom>
        </p:spPr>
      </p:pic>
      <p:sp>
        <p:nvSpPr>
          <p:cNvPr id="13" name="Text 9"/>
          <p:cNvSpPr/>
          <p:nvPr/>
        </p:nvSpPr>
        <p:spPr>
          <a:xfrm>
            <a:off x="9185442" y="2244328"/>
            <a:ext cx="2197740" cy="209947"/>
          </a:xfrm>
          <a:prstGeom prst="rect">
            <a:avLst/>
          </a:prstGeom>
          <a:noFill/>
          <a:ln/>
        </p:spPr>
        <p:txBody>
          <a:bodyPr wrap="none" lIns="0" tIns="0" rIns="0" bIns="0" rtlCol="0" anchor="t"/>
          <a:lstStyle/>
          <a:p>
            <a:pPr algn="l" indent="0" marL="0">
              <a:lnSpc>
                <a:spcPct val="104000"/>
              </a:lnSpc>
              <a:buNone/>
            </a:pPr>
            <a:r>
              <a:rPr lang="en-US" sz="1300" b="1" dirty="0">
                <a:solidFill>
                  <a:srgbClr val="3B4E4E"/>
                </a:solidFill>
                <a:latin typeface="Syne Bold" pitchFamily="34" charset="0"/>
                <a:ea typeface="Syne Bold" pitchFamily="34" charset="-122"/>
                <a:cs typeface="Syne Bold" pitchFamily="34" charset="-120"/>
              </a:rPr>
              <a:t>✓ Robust to Overfitting</a:t>
            </a:r>
            <a:endParaRPr lang="en-US" sz="1300" dirty="0"/>
          </a:p>
        </p:txBody>
      </p:sp>
      <p:sp>
        <p:nvSpPr>
          <p:cNvPr id="14" name="Text 10"/>
          <p:cNvSpPr/>
          <p:nvPr/>
        </p:nvSpPr>
        <p:spPr>
          <a:xfrm>
            <a:off x="9185442" y="2563416"/>
            <a:ext cx="2197740" cy="779066"/>
          </a:xfrm>
          <a:prstGeom prst="rect">
            <a:avLst/>
          </a:prstGeom>
          <a:noFill/>
          <a:ln/>
        </p:spPr>
        <p:txBody>
          <a:bodyPr wrap="square" lIns="0" tIns="0" rIns="0" bIns="0" rtlCol="0" anchor="t">
            <a:normAutofit/>
          </a:bodyPr>
          <a:lstStyle/>
          <a:p>
            <a:pPr algn="l" indent="0" marL="0">
              <a:lnSpc>
                <a:spcPct val="121000"/>
              </a:lnSpc>
              <a:buNone/>
            </a:pPr>
            <a:r>
              <a:rPr lang="en-US" sz="1050" dirty="0">
                <a:solidFill>
                  <a:srgbClr val="3B4E4E"/>
                </a:solidFill>
                <a:latin typeface="Overpass Light" pitchFamily="34" charset="0"/>
                <a:ea typeface="Overpass Light" pitchFamily="34" charset="-122"/>
                <a:cs typeface="Overpass Light" pitchFamily="34" charset="-120"/>
              </a:rPr>
              <a:t>The maximum-margin principle naturally resists memorising the training data, especially in high dimensions.</a:t>
            </a:r>
            <a:endParaRPr lang="en-US" sz="1050" dirty="0"/>
          </a:p>
        </p:txBody>
      </p:sp>
      <p:pic>
        <p:nvPicPr>
          <p:cNvPr id="15"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266103" y="3814961"/>
            <a:ext cx="2580615" cy="1614884"/>
          </a:xfrm>
          <a:prstGeom prst="rect">
            <a:avLst/>
          </a:prstGeom>
        </p:spPr>
      </p:pic>
      <p:sp>
        <p:nvSpPr>
          <p:cNvPr id="16" name="Text 11"/>
          <p:cNvSpPr/>
          <p:nvPr/>
        </p:nvSpPr>
        <p:spPr>
          <a:xfrm>
            <a:off x="6495689" y="3968353"/>
            <a:ext cx="2197640" cy="419894"/>
          </a:xfrm>
          <a:prstGeom prst="rect">
            <a:avLst/>
          </a:prstGeom>
          <a:noFill/>
          <a:ln/>
        </p:spPr>
        <p:txBody>
          <a:bodyPr wrap="square" lIns="0" tIns="0" rIns="0" bIns="0" rtlCol="0" anchor="t">
            <a:normAutofit/>
          </a:bodyPr>
          <a:lstStyle/>
          <a:p>
            <a:pPr algn="l" indent="0" marL="0">
              <a:lnSpc>
                <a:spcPct val="104000"/>
              </a:lnSpc>
              <a:buNone/>
            </a:pPr>
            <a:r>
              <a:rPr lang="en-US" sz="1300" b="1" dirty="0">
                <a:solidFill>
                  <a:srgbClr val="3B4E4E"/>
                </a:solidFill>
                <a:latin typeface="Syne Bold" pitchFamily="34" charset="0"/>
                <a:ea typeface="Syne Bold" pitchFamily="34" charset="-122"/>
                <a:cs typeface="Syne Bold" pitchFamily="34" charset="-120"/>
              </a:rPr>
              <a:t>✗ Slow on Very Large Data</a:t>
            </a:r>
            <a:endParaRPr lang="en-US" sz="1300" dirty="0"/>
          </a:p>
        </p:txBody>
      </p:sp>
      <p:sp>
        <p:nvSpPr>
          <p:cNvPr id="17" name="Text 12"/>
          <p:cNvSpPr/>
          <p:nvPr/>
        </p:nvSpPr>
        <p:spPr>
          <a:xfrm>
            <a:off x="6495689" y="4497388"/>
            <a:ext cx="2197640" cy="779066"/>
          </a:xfrm>
          <a:prstGeom prst="rect">
            <a:avLst/>
          </a:prstGeom>
          <a:noFill/>
          <a:ln/>
        </p:spPr>
        <p:txBody>
          <a:bodyPr wrap="square" lIns="0" tIns="0" rIns="0" bIns="0" rtlCol="0" anchor="t">
            <a:normAutofit/>
          </a:bodyPr>
          <a:lstStyle/>
          <a:p>
            <a:pPr algn="l" indent="0" marL="0">
              <a:lnSpc>
                <a:spcPct val="121000"/>
              </a:lnSpc>
              <a:buNone/>
            </a:pPr>
            <a:r>
              <a:rPr lang="en-US" sz="1050" dirty="0">
                <a:solidFill>
                  <a:srgbClr val="3B4E4E"/>
                </a:solidFill>
                <a:latin typeface="Overpass Light" pitchFamily="34" charset="0"/>
                <a:ea typeface="Overpass Light" pitchFamily="34" charset="-122"/>
                <a:cs typeface="Overpass Light" pitchFamily="34" charset="-120"/>
              </a:rPr>
              <a:t>Training time grows quickly with millions of rows. Deep learning methods are now preferred at very large scale.</a:t>
            </a:r>
            <a:endParaRPr lang="en-US" sz="1050" dirty="0"/>
          </a:p>
        </p:txBody>
      </p:sp>
      <p:pic>
        <p:nvPicPr>
          <p:cNvPr id="18"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8955856" y="3814961"/>
            <a:ext cx="2580714" cy="1614884"/>
          </a:xfrm>
          <a:prstGeom prst="rect">
            <a:avLst/>
          </a:prstGeom>
        </p:spPr>
      </p:pic>
      <p:sp>
        <p:nvSpPr>
          <p:cNvPr id="19" name="Text 13"/>
          <p:cNvSpPr/>
          <p:nvPr/>
        </p:nvSpPr>
        <p:spPr>
          <a:xfrm>
            <a:off x="9185442" y="3968353"/>
            <a:ext cx="2197740" cy="209947"/>
          </a:xfrm>
          <a:prstGeom prst="rect">
            <a:avLst/>
          </a:prstGeom>
          <a:noFill/>
          <a:ln/>
        </p:spPr>
        <p:txBody>
          <a:bodyPr wrap="none" lIns="0" tIns="0" rIns="0" bIns="0" rtlCol="0" anchor="t"/>
          <a:lstStyle/>
          <a:p>
            <a:pPr algn="l" indent="0" marL="0">
              <a:lnSpc>
                <a:spcPct val="104000"/>
              </a:lnSpc>
              <a:buNone/>
            </a:pPr>
            <a:r>
              <a:rPr lang="en-US" sz="1300" b="1" dirty="0">
                <a:solidFill>
                  <a:srgbClr val="3B4E4E"/>
                </a:solidFill>
                <a:latin typeface="Syne Bold" pitchFamily="34" charset="0"/>
                <a:ea typeface="Syne Bold" pitchFamily="34" charset="-122"/>
                <a:cs typeface="Syne Bold" pitchFamily="34" charset="-120"/>
              </a:rPr>
              <a:t>✗ Hard to Explain</a:t>
            </a:r>
            <a:endParaRPr lang="en-US" sz="1300" dirty="0"/>
          </a:p>
        </p:txBody>
      </p:sp>
      <p:sp>
        <p:nvSpPr>
          <p:cNvPr id="20" name="Text 14"/>
          <p:cNvSpPr/>
          <p:nvPr/>
        </p:nvSpPr>
        <p:spPr>
          <a:xfrm>
            <a:off x="9185442" y="4287441"/>
            <a:ext cx="2197740" cy="779066"/>
          </a:xfrm>
          <a:prstGeom prst="rect">
            <a:avLst/>
          </a:prstGeom>
          <a:noFill/>
          <a:ln/>
        </p:spPr>
        <p:txBody>
          <a:bodyPr wrap="square" lIns="0" tIns="0" rIns="0" bIns="0" rtlCol="0" anchor="t">
            <a:normAutofit/>
          </a:bodyPr>
          <a:lstStyle/>
          <a:p>
            <a:pPr algn="l" indent="0" marL="0">
              <a:lnSpc>
                <a:spcPct val="121000"/>
              </a:lnSpc>
              <a:buNone/>
            </a:pPr>
            <a:r>
              <a:rPr lang="en-US" sz="1050" dirty="0">
                <a:solidFill>
                  <a:srgbClr val="3B4E4E"/>
                </a:solidFill>
                <a:latin typeface="Overpass Light" pitchFamily="34" charset="0"/>
                <a:ea typeface="Overpass Light" pitchFamily="34" charset="-122"/>
                <a:cs typeface="Overpass Light" pitchFamily="34" charset="-120"/>
              </a:rPr>
              <a:t>The decision boundary is mathematical and difficult to express in plain language to a non-technical audience.</a:t>
            </a:r>
            <a:endParaRPr lang="en-US" sz="1050" dirty="0"/>
          </a:p>
        </p:txBody>
      </p:sp>
      <p:sp>
        <p:nvSpPr>
          <p:cNvPr id="21" name="Text 15"/>
          <p:cNvSpPr/>
          <p:nvPr/>
        </p:nvSpPr>
        <p:spPr>
          <a:xfrm>
            <a:off x="6266103" y="5554159"/>
            <a:ext cx="5270467" cy="209947"/>
          </a:xfrm>
          <a:prstGeom prst="rect">
            <a:avLst/>
          </a:prstGeom>
          <a:noFill/>
          <a:ln/>
        </p:spPr>
        <p:txBody>
          <a:bodyPr wrap="none" lIns="0" tIns="0" rIns="0" bIns="0" rtlCol="0" anchor="t"/>
          <a:lstStyle/>
          <a:p>
            <a:pPr algn="l" indent="0" marL="0">
              <a:lnSpc>
                <a:spcPct val="104000"/>
              </a:lnSpc>
              <a:buNone/>
            </a:pPr>
            <a:r>
              <a:rPr lang="en-US" sz="1300" b="1" dirty="0">
                <a:solidFill>
                  <a:srgbClr val="233939"/>
                </a:solidFill>
                <a:latin typeface="Syne Bold" pitchFamily="34" charset="0"/>
                <a:ea typeface="Syne Bold" pitchFamily="34" charset="-122"/>
                <a:cs typeface="Syne Bold" pitchFamily="34" charset="-120"/>
              </a:rPr>
              <a:t>Real-World Use</a:t>
            </a:r>
            <a:endParaRPr lang="en-US" sz="1300" dirty="0"/>
          </a:p>
        </p:txBody>
      </p:sp>
      <p:sp>
        <p:nvSpPr>
          <p:cNvPr id="22" name="Text 16"/>
          <p:cNvSpPr/>
          <p:nvPr/>
        </p:nvSpPr>
        <p:spPr>
          <a:xfrm>
            <a:off x="6266103" y="5871766"/>
            <a:ext cx="5270467" cy="389533"/>
          </a:xfrm>
          <a:prstGeom prst="rect">
            <a:avLst/>
          </a:prstGeom>
          <a:noFill/>
          <a:ln/>
        </p:spPr>
        <p:txBody>
          <a:bodyPr wrap="square" lIns="0" tIns="0" rIns="0" bIns="0" rtlCol="0" anchor="t">
            <a:normAutofit/>
          </a:bodyPr>
          <a:lstStyle/>
          <a:p>
            <a:pPr algn="l" indent="0" marL="0">
              <a:lnSpc>
                <a:spcPct val="121000"/>
              </a:lnSpc>
              <a:buNone/>
            </a:pPr>
            <a:r>
              <a:rPr lang="en-US" sz="1050" dirty="0">
                <a:solidFill>
                  <a:srgbClr val="3B4E4E"/>
                </a:solidFill>
                <a:latin typeface="Overpass Light" pitchFamily="34" charset="0"/>
                <a:ea typeface="Overpass Light" pitchFamily="34" charset="-122"/>
                <a:cs typeface="Overpass Light" pitchFamily="34" charset="-120"/>
              </a:rPr>
              <a:t>Text categorisation, handwritten digit recognition for postal codes (widely deployed in the 1990s), classifying biological samples and genomic sequences.</a:t>
            </a:r>
            <a:endParaRPr lang="en-US" sz="10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DE6"/>
        </a:solidFill>
      </p:bgPr>
    </p:bg>
    <p:spTree>
      <p:nvGrpSpPr>
        <p:cNvPr id="1" name=""/>
        <p:cNvGrpSpPr/>
        <p:nvPr/>
      </p:nvGrpSpPr>
      <p:grpSpPr>
        <a:xfrm>
          <a:off x="0" y="0"/>
          <a:ext cx="0" cy="0"/>
          <a:chOff x="0" y="0"/>
          <a:chExt cx="0" cy="0"/>
        </a:xfrm>
      </p:grpSpPr>
      <p:sp>
        <p:nvSpPr>
          <p:cNvPr id="2" name="Shape 0"/>
          <p:cNvSpPr/>
          <p:nvPr/>
        </p:nvSpPr>
        <p:spPr>
          <a:xfrm>
            <a:off x="661475" y="454819"/>
            <a:ext cx="697193" cy="137319"/>
          </a:xfrm>
          <a:prstGeom prst="roundRect">
            <a:avLst>
              <a:gd name="adj" fmla="val 22131"/>
            </a:avLst>
          </a:prstGeom>
          <a:solidFill>
            <a:srgbClr val="DDEEE6"/>
          </a:solidFill>
          <a:ln/>
        </p:spPr>
      </p:sp>
      <p:sp>
        <p:nvSpPr>
          <p:cNvPr id="3" name="Text 1"/>
          <p:cNvSpPr/>
          <p:nvPr/>
        </p:nvSpPr>
        <p:spPr>
          <a:xfrm>
            <a:off x="715647" y="481905"/>
            <a:ext cx="1198433" cy="83145"/>
          </a:xfrm>
          <a:prstGeom prst="rect">
            <a:avLst/>
          </a:prstGeom>
          <a:noFill/>
          <a:ln/>
        </p:spPr>
        <p:txBody>
          <a:bodyPr wrap="none" lIns="0" tIns="0" rIns="0" bIns="0" rtlCol="0" anchor="t"/>
          <a:lstStyle/>
          <a:p>
            <a:pPr algn="l" indent="0" marL="0">
              <a:lnSpc>
                <a:spcPct val="96000"/>
              </a:lnSpc>
              <a:buNone/>
            </a:pPr>
            <a:r>
              <a:rPr lang="en-US" sz="550" dirty="0">
                <a:solidFill>
                  <a:srgbClr val="3B4E4E"/>
                </a:solidFill>
                <a:latin typeface="Overpass Light" pitchFamily="34" charset="0"/>
                <a:ea typeface="Overpass Light" pitchFamily="34" charset="-122"/>
                <a:cs typeface="Overpass Light" pitchFamily="34" charset="-120"/>
              </a:rPr>
              <a:t>BUSINESS CASE 9</a:t>
            </a:r>
            <a:endParaRPr lang="en-US" sz="550" dirty="0"/>
          </a:p>
        </p:txBody>
      </p:sp>
      <p:sp>
        <p:nvSpPr>
          <p:cNvPr id="4" name="Text 2"/>
          <p:cNvSpPr/>
          <p:nvPr/>
        </p:nvSpPr>
        <p:spPr>
          <a:xfrm>
            <a:off x="661475" y="614242"/>
            <a:ext cx="10868745" cy="282575"/>
          </a:xfrm>
          <a:prstGeom prst="rect">
            <a:avLst/>
          </a:prstGeom>
          <a:noFill/>
          <a:ln/>
        </p:spPr>
        <p:txBody>
          <a:bodyPr wrap="none" lIns="0" tIns="0" rIns="0" bIns="0" rtlCol="0" anchor="t"/>
          <a:lstStyle/>
          <a:p>
            <a:pPr algn="l" indent="0" marL="0">
              <a:lnSpc>
                <a:spcPct val="104000"/>
              </a:lnSpc>
              <a:buNone/>
            </a:pPr>
            <a:r>
              <a:rPr lang="en-US" sz="1750" b="1" dirty="0">
                <a:solidFill>
                  <a:srgbClr val="233939"/>
                </a:solidFill>
                <a:latin typeface="Syne Bold" pitchFamily="34" charset="0"/>
                <a:ea typeface="Syne Bold" pitchFamily="34" charset="-122"/>
                <a:cs typeface="Syne Bold" pitchFamily="34" charset="-120"/>
              </a:rPr>
              <a:t>What Types of Customers Do We Have?</a:t>
            </a:r>
            <a:endParaRPr lang="en-US" sz="1750" dirty="0"/>
          </a:p>
        </p:txBody>
      </p:sp>
      <p:pic>
        <p:nvPicPr>
          <p:cNvPr id="5" name="Image 0" descr="preencoded.png">    </p:cNvPr>
          <p:cNvPicPr>
            <a:picLocks noChangeAspect="1"/>
          </p:cNvPicPr>
          <p:nvPr/>
        </p:nvPicPr>
        <p:blipFill>
          <a:blip r:embed="rId1"/>
          <a:stretch>
            <a:fillRect/>
          </a:stretch>
        </p:blipFill>
        <p:spPr>
          <a:xfrm>
            <a:off x="661475" y="1024136"/>
            <a:ext cx="5324044" cy="5324177"/>
          </a:xfrm>
          <a:prstGeom prst="rect">
            <a:avLst/>
          </a:prstGeom>
        </p:spPr>
      </p:pic>
      <p:sp>
        <p:nvSpPr>
          <p:cNvPr id="6" name="Text 3"/>
          <p:cNvSpPr/>
          <p:nvPr/>
        </p:nvSpPr>
        <p:spPr>
          <a:xfrm>
            <a:off x="6212526" y="1017984"/>
            <a:ext cx="5324044" cy="141387"/>
          </a:xfrm>
          <a:prstGeom prst="rect">
            <a:avLst/>
          </a:prstGeom>
          <a:noFill/>
          <a:ln/>
        </p:spPr>
        <p:txBody>
          <a:bodyPr wrap="none" lIns="0" tIns="0" rIns="0" bIns="0" rtlCol="0" anchor="t"/>
          <a:lstStyle/>
          <a:p>
            <a:pPr algn="l" indent="0" marL="0">
              <a:lnSpc>
                <a:spcPct val="104000"/>
              </a:lnSpc>
              <a:buNone/>
            </a:pPr>
            <a:r>
              <a:rPr lang="en-US" sz="850" b="1" dirty="0">
                <a:solidFill>
                  <a:srgbClr val="233939"/>
                </a:solidFill>
                <a:latin typeface="Syne Bold" pitchFamily="34" charset="0"/>
                <a:ea typeface="Syne Bold" pitchFamily="34" charset="-122"/>
                <a:cs typeface="Syne Bold" pitchFamily="34" charset="-120"/>
              </a:rPr>
              <a:t>The Situation</a:t>
            </a:r>
            <a:endParaRPr lang="en-US" sz="850" dirty="0"/>
          </a:p>
        </p:txBody>
      </p:sp>
      <p:sp>
        <p:nvSpPr>
          <p:cNvPr id="7" name="Text 4"/>
          <p:cNvSpPr/>
          <p:nvPr/>
        </p:nvSpPr>
        <p:spPr>
          <a:xfrm>
            <a:off x="6212526" y="1208782"/>
            <a:ext cx="5324044" cy="335756"/>
          </a:xfrm>
          <a:prstGeom prst="rect">
            <a:avLst/>
          </a:prstGeom>
          <a:noFill/>
          <a:ln/>
        </p:spPr>
        <p:txBody>
          <a:bodyPr wrap="square" lIns="0" tIns="0" rIns="0" bIns="0" rtlCol="0" anchor="t">
            <a:normAutofit/>
          </a:bodyPr>
          <a:lstStyle/>
          <a:p>
            <a:pPr algn="l" indent="0" marL="0">
              <a:lnSpc>
                <a:spcPct val="103000"/>
              </a:lnSpc>
              <a:buNone/>
            </a:pPr>
            <a:r>
              <a:rPr lang="en-US" sz="700" dirty="0">
                <a:solidFill>
                  <a:srgbClr val="3B4E4E"/>
                </a:solidFill>
                <a:latin typeface="Overpass Light" pitchFamily="34" charset="0"/>
                <a:ea typeface="Overpass Light" pitchFamily="34" charset="-122"/>
                <a:cs typeface="Overpass Light" pitchFamily="34" charset="-120"/>
              </a:rPr>
              <a:t>An online retailer wants to send different promotional offers to different kinds of customers — but has no predefined customer categories. No one has labelled customers as "loyal", "bargain hunter", or "at risk". The business wants to discover the natural groupings that exist in the data.</a:t>
            </a:r>
            <a:endParaRPr lang="en-US" sz="700" dirty="0"/>
          </a:p>
        </p:txBody>
      </p:sp>
      <p:sp>
        <p:nvSpPr>
          <p:cNvPr id="8" name="Text 5"/>
          <p:cNvSpPr/>
          <p:nvPr/>
        </p:nvSpPr>
        <p:spPr>
          <a:xfrm>
            <a:off x="6212526" y="1593949"/>
            <a:ext cx="5324044" cy="141387"/>
          </a:xfrm>
          <a:prstGeom prst="rect">
            <a:avLst/>
          </a:prstGeom>
          <a:noFill/>
          <a:ln/>
        </p:spPr>
        <p:txBody>
          <a:bodyPr wrap="none" lIns="0" tIns="0" rIns="0" bIns="0" rtlCol="0" anchor="t"/>
          <a:lstStyle/>
          <a:p>
            <a:pPr algn="l" indent="0" marL="0">
              <a:lnSpc>
                <a:spcPct val="104000"/>
              </a:lnSpc>
              <a:buNone/>
            </a:pPr>
            <a:r>
              <a:rPr lang="en-US" sz="850" b="1" dirty="0">
                <a:solidFill>
                  <a:srgbClr val="233939"/>
                </a:solidFill>
                <a:latin typeface="Syne Bold" pitchFamily="34" charset="0"/>
                <a:ea typeface="Syne Bold" pitchFamily="34" charset="-122"/>
                <a:cs typeface="Syne Bold" pitchFamily="34" charset="-120"/>
              </a:rPr>
              <a:t>Thinking It Through</a:t>
            </a:r>
            <a:endParaRPr lang="en-US" sz="850" dirty="0"/>
          </a:p>
        </p:txBody>
      </p:sp>
      <p:pic>
        <p:nvPicPr>
          <p:cNvPr id="9"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199826" y="1778198"/>
            <a:ext cx="2643816" cy="663873"/>
          </a:xfrm>
          <a:prstGeom prst="rect">
            <a:avLst/>
          </a:prstGeom>
        </p:spPr>
      </p:pic>
      <p:sp>
        <p:nvSpPr>
          <p:cNvPr id="10" name="Text 6"/>
          <p:cNvSpPr/>
          <p:nvPr/>
        </p:nvSpPr>
        <p:spPr>
          <a:xfrm>
            <a:off x="6328311" y="1790898"/>
            <a:ext cx="2515331" cy="141387"/>
          </a:xfrm>
          <a:prstGeom prst="rect">
            <a:avLst/>
          </a:prstGeom>
          <a:noFill/>
          <a:ln/>
        </p:spPr>
        <p:txBody>
          <a:bodyPr wrap="none" lIns="0" tIns="0" rIns="0" bIns="0" rtlCol="0" anchor="t"/>
          <a:lstStyle/>
          <a:p>
            <a:pPr algn="l" indent="0" marL="0">
              <a:lnSpc>
                <a:spcPct val="104000"/>
              </a:lnSpc>
              <a:buNone/>
            </a:pPr>
            <a:r>
              <a:rPr lang="en-US" sz="850" b="1" dirty="0">
                <a:solidFill>
                  <a:srgbClr val="3B4E4E"/>
                </a:solidFill>
                <a:latin typeface="Syne Bold" pitchFamily="34" charset="0"/>
                <a:ea typeface="Syne Bold" pitchFamily="34" charset="-122"/>
                <a:cs typeface="Syne Bold" pitchFamily="34" charset="-120"/>
              </a:rPr>
              <a:t>Past data with correct answers?</a:t>
            </a:r>
            <a:endParaRPr lang="en-US" sz="850" dirty="0"/>
          </a:p>
        </p:txBody>
      </p:sp>
      <p:sp>
        <p:nvSpPr>
          <p:cNvPr id="11" name="Text 7"/>
          <p:cNvSpPr/>
          <p:nvPr/>
        </p:nvSpPr>
        <p:spPr>
          <a:xfrm>
            <a:off x="6328311" y="1981696"/>
            <a:ext cx="2515331" cy="223838"/>
          </a:xfrm>
          <a:prstGeom prst="rect">
            <a:avLst/>
          </a:prstGeom>
          <a:noFill/>
          <a:ln/>
        </p:spPr>
        <p:txBody>
          <a:bodyPr wrap="square" lIns="0" tIns="0" rIns="0" bIns="0" rtlCol="0" anchor="t">
            <a:normAutofit/>
          </a:bodyPr>
          <a:lstStyle/>
          <a:p>
            <a:pPr algn="l" indent="0" marL="0">
              <a:lnSpc>
                <a:spcPct val="103000"/>
              </a:lnSpc>
              <a:buNone/>
            </a:pPr>
            <a:r>
              <a:rPr lang="en-US" sz="700" dirty="0">
                <a:solidFill>
                  <a:srgbClr val="3B4E4E"/>
                </a:solidFill>
                <a:latin typeface="Overpass Light" pitchFamily="34" charset="0"/>
                <a:ea typeface="Overpass Light" pitchFamily="34" charset="-122"/>
                <a:cs typeface="Overpass Light" pitchFamily="34" charset="-120"/>
              </a:rPr>
              <a:t>No — nobody has labelled the customers. This shifts us to unsupervised learning.</a:t>
            </a:r>
            <a:endParaRPr lang="en-US" sz="700" dirty="0"/>
          </a:p>
        </p:txBody>
      </p:sp>
      <p:pic>
        <p:nvPicPr>
          <p:cNvPr id="12" name="Image 2" descr="preencoded.png">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892754" y="1778198"/>
            <a:ext cx="2643816" cy="663873"/>
          </a:xfrm>
          <a:prstGeom prst="rect">
            <a:avLst/>
          </a:prstGeom>
        </p:spPr>
      </p:pic>
      <p:sp>
        <p:nvSpPr>
          <p:cNvPr id="13" name="Text 8"/>
          <p:cNvSpPr/>
          <p:nvPr/>
        </p:nvSpPr>
        <p:spPr>
          <a:xfrm>
            <a:off x="9021239" y="1790898"/>
            <a:ext cx="2515331" cy="141387"/>
          </a:xfrm>
          <a:prstGeom prst="rect">
            <a:avLst/>
          </a:prstGeom>
          <a:noFill/>
          <a:ln/>
        </p:spPr>
        <p:txBody>
          <a:bodyPr wrap="none" lIns="0" tIns="0" rIns="0" bIns="0" rtlCol="0" anchor="t"/>
          <a:lstStyle/>
          <a:p>
            <a:pPr algn="l" indent="0" marL="0">
              <a:lnSpc>
                <a:spcPct val="104000"/>
              </a:lnSpc>
              <a:buNone/>
            </a:pPr>
            <a:r>
              <a:rPr lang="en-US" sz="850" b="1" dirty="0">
                <a:solidFill>
                  <a:srgbClr val="3B4E4E"/>
                </a:solidFill>
                <a:latin typeface="Syne Bold" pitchFamily="34" charset="0"/>
                <a:ea typeface="Syne Bold" pitchFamily="34" charset="-122"/>
                <a:cs typeface="Syne Bold" pitchFamily="34" charset="-120"/>
              </a:rPr>
              <a:t>Goal</a:t>
            </a:r>
            <a:endParaRPr lang="en-US" sz="850" dirty="0"/>
          </a:p>
        </p:txBody>
      </p:sp>
      <p:sp>
        <p:nvSpPr>
          <p:cNvPr id="14" name="Text 9"/>
          <p:cNvSpPr/>
          <p:nvPr/>
        </p:nvSpPr>
        <p:spPr>
          <a:xfrm>
            <a:off x="9021239" y="1981696"/>
            <a:ext cx="2515331" cy="447675"/>
          </a:xfrm>
          <a:prstGeom prst="rect">
            <a:avLst/>
          </a:prstGeom>
          <a:noFill/>
          <a:ln/>
        </p:spPr>
        <p:txBody>
          <a:bodyPr wrap="square" lIns="0" tIns="0" rIns="0" bIns="0" rtlCol="0" anchor="t">
            <a:normAutofit/>
          </a:bodyPr>
          <a:lstStyle/>
          <a:p>
            <a:pPr algn="l" indent="0" marL="0">
              <a:lnSpc>
                <a:spcPct val="103000"/>
              </a:lnSpc>
              <a:buNone/>
            </a:pPr>
            <a:r>
              <a:rPr lang="en-US" sz="700" dirty="0">
                <a:solidFill>
                  <a:srgbClr val="3B4E4E"/>
                </a:solidFill>
                <a:latin typeface="Overpass Light" pitchFamily="34" charset="0"/>
                <a:ea typeface="Overpass Light" pitchFamily="34" charset="-122"/>
                <a:cs typeface="Overpass Light" pitchFamily="34" charset="-120"/>
              </a:rPr>
              <a:t>Find groups of customers who behave similarly, based on the RFM framework: Recency (how recently they bought), Frequency (how often), Monetary value (how much they spend).</a:t>
            </a:r>
            <a:endParaRPr lang="en-US" sz="700" dirty="0"/>
          </a:p>
        </p:txBody>
      </p:sp>
      <p:pic>
        <p:nvPicPr>
          <p:cNvPr id="15" name="Image 3" descr="preencoded.png">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199826" y="2515592"/>
            <a:ext cx="5336744" cy="328116"/>
          </a:xfrm>
          <a:prstGeom prst="rect">
            <a:avLst/>
          </a:prstGeom>
        </p:spPr>
      </p:pic>
      <p:sp>
        <p:nvSpPr>
          <p:cNvPr id="16" name="Text 10"/>
          <p:cNvSpPr/>
          <p:nvPr/>
        </p:nvSpPr>
        <p:spPr>
          <a:xfrm>
            <a:off x="6328311" y="2528292"/>
            <a:ext cx="5208259" cy="141387"/>
          </a:xfrm>
          <a:prstGeom prst="rect">
            <a:avLst/>
          </a:prstGeom>
          <a:noFill/>
          <a:ln/>
        </p:spPr>
        <p:txBody>
          <a:bodyPr wrap="none" lIns="0" tIns="0" rIns="0" bIns="0" rtlCol="0" anchor="t"/>
          <a:lstStyle/>
          <a:p>
            <a:pPr algn="l" indent="0" marL="0">
              <a:lnSpc>
                <a:spcPct val="104000"/>
              </a:lnSpc>
              <a:buNone/>
            </a:pPr>
            <a:r>
              <a:rPr lang="en-US" sz="850" b="1" dirty="0">
                <a:solidFill>
                  <a:srgbClr val="3B4E4E"/>
                </a:solidFill>
                <a:latin typeface="Syne Bold" pitchFamily="34" charset="0"/>
                <a:ea typeface="Syne Bold" pitchFamily="34" charset="-122"/>
                <a:cs typeface="Syne Bold" pitchFamily="34" charset="-120"/>
              </a:rPr>
              <a:t>Problem type</a:t>
            </a:r>
            <a:endParaRPr lang="en-US" sz="850" dirty="0"/>
          </a:p>
        </p:txBody>
      </p:sp>
      <p:sp>
        <p:nvSpPr>
          <p:cNvPr id="17" name="Text 11"/>
          <p:cNvSpPr/>
          <p:nvPr/>
        </p:nvSpPr>
        <p:spPr>
          <a:xfrm>
            <a:off x="6328311" y="2719090"/>
            <a:ext cx="5208259" cy="111919"/>
          </a:xfrm>
          <a:prstGeom prst="rect">
            <a:avLst/>
          </a:prstGeom>
          <a:noFill/>
          <a:ln/>
        </p:spPr>
        <p:txBody>
          <a:bodyPr wrap="none" lIns="0" tIns="0" rIns="0" bIns="0" rtlCol="0" anchor="t"/>
          <a:lstStyle/>
          <a:p>
            <a:pPr algn="l" indent="0" marL="0">
              <a:lnSpc>
                <a:spcPct val="103000"/>
              </a:lnSpc>
              <a:buNone/>
            </a:pPr>
            <a:r>
              <a:rPr lang="en-US" sz="700" b="1" dirty="0">
                <a:solidFill>
                  <a:srgbClr val="3B4E4E"/>
                </a:solidFill>
                <a:latin typeface="Overpass Bold" pitchFamily="34" charset="0"/>
                <a:ea typeface="Overpass Bold" pitchFamily="34" charset="-122"/>
                <a:cs typeface="Overpass Bold" pitchFamily="34" charset="-120"/>
              </a:rPr>
              <a:t>Clustering (unsupervised).</a:t>
            </a:r>
            <a:endParaRPr lang="en-US" sz="700" dirty="0"/>
          </a:p>
        </p:txBody>
      </p:sp>
      <p:sp>
        <p:nvSpPr>
          <p:cNvPr id="18" name="Shape 12"/>
          <p:cNvSpPr/>
          <p:nvPr/>
        </p:nvSpPr>
        <p:spPr>
          <a:xfrm>
            <a:off x="6212526" y="2886571"/>
            <a:ext cx="5324044" cy="357783"/>
          </a:xfrm>
          <a:prstGeom prst="roundRect">
            <a:avLst>
              <a:gd name="adj" fmla="val 10618"/>
            </a:avLst>
          </a:prstGeom>
          <a:solidFill>
            <a:srgbClr val="DDEEE6"/>
          </a:solidFill>
          <a:ln/>
        </p:spPr>
      </p:sp>
      <p:pic>
        <p:nvPicPr>
          <p:cNvPr id="19" name="Image 4" descr="preencoded.png">    </p:cNvPr>
          <p:cNvPicPr>
            <a:picLocks noChangeAspect="1"/>
          </p:cNvPicPr>
          <p:nvPr/>
        </p:nvPicPr>
        <p:blipFill>
          <a:blip r:embed="rId8"/>
          <a:stretch>
            <a:fillRect/>
          </a:stretch>
        </p:blipFill>
        <p:spPr>
          <a:xfrm>
            <a:off x="6302912" y="2958505"/>
            <a:ext cx="113007" cy="90388"/>
          </a:xfrm>
          <a:prstGeom prst="rect">
            <a:avLst/>
          </a:prstGeom>
        </p:spPr>
      </p:pic>
      <p:sp>
        <p:nvSpPr>
          <p:cNvPr id="20" name="Text 13"/>
          <p:cNvSpPr/>
          <p:nvPr/>
        </p:nvSpPr>
        <p:spPr>
          <a:xfrm>
            <a:off x="6506305" y="2953544"/>
            <a:ext cx="4939879" cy="223838"/>
          </a:xfrm>
          <a:prstGeom prst="rect">
            <a:avLst/>
          </a:prstGeom>
          <a:noFill/>
          <a:ln/>
        </p:spPr>
        <p:txBody>
          <a:bodyPr wrap="square" lIns="0" tIns="0" rIns="0" bIns="0" rtlCol="0" anchor="t">
            <a:normAutofit/>
          </a:bodyPr>
          <a:lstStyle/>
          <a:p>
            <a:pPr algn="l" indent="0" marL="0">
              <a:lnSpc>
                <a:spcPct val="103000"/>
              </a:lnSpc>
              <a:buNone/>
            </a:pPr>
            <a:r>
              <a:rPr lang="en-US" sz="700" b="1" dirty="0">
                <a:solidFill>
                  <a:srgbClr val="000000"/>
                </a:solidFill>
                <a:latin typeface="Overpass Bold" pitchFamily="34" charset="0"/>
                <a:ea typeface="Overpass Bold" pitchFamily="34" charset="-122"/>
                <a:cs typeface="Overpass Bold" pitchFamily="34" charset="-120"/>
              </a:rPr>
              <a:t>Class discussion:</a:t>
            </a:r>
            <a:pPr algn="l" indent="0" marL="0">
              <a:lnSpc>
                <a:spcPct val="103000"/>
              </a:lnSpc>
              <a:buNone/>
            </a:pPr>
            <a:r>
              <a:rPr lang="en-US" sz="700" dirty="0">
                <a:solidFill>
                  <a:srgbClr val="000000"/>
                </a:solidFill>
                <a:latin typeface="Overpass Light" pitchFamily="34" charset="0"/>
                <a:ea typeface="Overpass Light" pitchFamily="34" charset="-122"/>
                <a:cs typeface="Overpass Light" pitchFamily="34" charset="-120"/>
              </a:rPr>
              <a:t> What distinct customer groups would you expect to find in a shopping app — before running any algorithm? What names would you give them?</a:t>
            </a:r>
            <a:endParaRPr lang="en-US" sz="7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DE6"/>
        </a:solidFill>
      </p:bgPr>
    </p:bg>
    <p:spTree>
      <p:nvGrpSpPr>
        <p:cNvPr id="1" name=""/>
        <p:cNvGrpSpPr/>
        <p:nvPr/>
      </p:nvGrpSpPr>
      <p:grpSpPr>
        <a:xfrm>
          <a:off x="0" y="0"/>
          <a:ext cx="0" cy="0"/>
          <a:chOff x="0" y="0"/>
          <a:chExt cx="0" cy="0"/>
        </a:xfrm>
      </p:grpSpPr>
      <p:sp>
        <p:nvSpPr>
          <p:cNvPr id="2" name="Text 0"/>
          <p:cNvSpPr/>
          <p:nvPr/>
        </p:nvSpPr>
        <p:spPr>
          <a:xfrm>
            <a:off x="661475" y="470292"/>
            <a:ext cx="10868745" cy="371376"/>
          </a:xfrm>
          <a:prstGeom prst="rect">
            <a:avLst/>
          </a:prstGeom>
          <a:noFill/>
          <a:ln/>
        </p:spPr>
        <p:txBody>
          <a:bodyPr wrap="none" lIns="0" tIns="0" rIns="0" bIns="0" rtlCol="0" anchor="t"/>
          <a:lstStyle/>
          <a:p>
            <a:pPr algn="l" indent="0" marL="0">
              <a:lnSpc>
                <a:spcPct val="104000"/>
              </a:lnSpc>
              <a:buNone/>
            </a:pPr>
            <a:r>
              <a:rPr lang="en-US" sz="2300" b="1" dirty="0">
                <a:solidFill>
                  <a:srgbClr val="233939"/>
                </a:solidFill>
                <a:latin typeface="Syne Bold" pitchFamily="34" charset="0"/>
                <a:ea typeface="Syne Bold" pitchFamily="34" charset="-122"/>
                <a:cs typeface="Syne Bold" pitchFamily="34" charset="-120"/>
              </a:rPr>
              <a:t>Algorithm: K-Means Clustering</a:t>
            </a:r>
            <a:endParaRPr lang="en-US" sz="2300" dirty="0"/>
          </a:p>
        </p:txBody>
      </p:sp>
      <p:sp>
        <p:nvSpPr>
          <p:cNvPr id="3" name="Text 1"/>
          <p:cNvSpPr/>
          <p:nvPr/>
        </p:nvSpPr>
        <p:spPr>
          <a:xfrm>
            <a:off x="661475" y="1010146"/>
            <a:ext cx="11478330" cy="163413"/>
          </a:xfrm>
          <a:prstGeom prst="rect">
            <a:avLst/>
          </a:prstGeom>
          <a:noFill/>
          <a:ln/>
        </p:spPr>
        <p:txBody>
          <a:bodyPr wrap="none" lIns="0" tIns="0" rIns="0" bIns="0" rtlCol="0" anchor="t"/>
          <a:lstStyle/>
          <a:p>
            <a:pPr algn="l" indent="0" marL="0">
              <a:lnSpc>
                <a:spcPct val="115000"/>
              </a:lnSpc>
              <a:buNone/>
            </a:pPr>
            <a:r>
              <a:rPr lang="en-US" sz="900" dirty="0">
                <a:solidFill>
                  <a:srgbClr val="3B4E4E"/>
                </a:solidFill>
                <a:latin typeface="Overpass Light" pitchFamily="34" charset="0"/>
                <a:ea typeface="Overpass Light" pitchFamily="34" charset="-122"/>
                <a:cs typeface="Overpass Light" pitchFamily="34" charset="-120"/>
              </a:rPr>
              <a:t>K-Means is the most widely used clustering algorithm. It is fast, scalable, and produces clear, actionable segments that non-technical teams can immediately name and work with.</a:t>
            </a:r>
            <a:endParaRPr lang="en-US" sz="900" dirty="0"/>
          </a:p>
        </p:txBody>
      </p:sp>
      <p:sp>
        <p:nvSpPr>
          <p:cNvPr id="4" name="Text 2"/>
          <p:cNvSpPr/>
          <p:nvPr/>
        </p:nvSpPr>
        <p:spPr>
          <a:xfrm>
            <a:off x="661475" y="1359394"/>
            <a:ext cx="5289418" cy="185738"/>
          </a:xfrm>
          <a:prstGeom prst="rect">
            <a:avLst/>
          </a:prstGeom>
          <a:noFill/>
          <a:ln/>
        </p:spPr>
        <p:txBody>
          <a:bodyPr wrap="none" lIns="0" tIns="0" rIns="0" bIns="0" rtlCol="0" anchor="t"/>
          <a:lstStyle/>
          <a:p>
            <a:pPr algn="l" indent="0" marL="0">
              <a:lnSpc>
                <a:spcPct val="104000"/>
              </a:lnSpc>
              <a:buNone/>
            </a:pPr>
            <a:r>
              <a:rPr lang="en-US" sz="1150" b="1" dirty="0">
                <a:solidFill>
                  <a:srgbClr val="233939"/>
                </a:solidFill>
                <a:latin typeface="Syne Bold" pitchFamily="34" charset="0"/>
                <a:ea typeface="Syne Bold" pitchFamily="34" charset="-122"/>
                <a:cs typeface="Syne Bold" pitchFamily="34" charset="-120"/>
              </a:rPr>
              <a:t>How It Works</a:t>
            </a:r>
            <a:endParaRPr lang="en-US" sz="1150" dirty="0"/>
          </a:p>
        </p:txBody>
      </p:sp>
      <p:sp>
        <p:nvSpPr>
          <p:cNvPr id="5" name="Text 3"/>
          <p:cNvSpPr/>
          <p:nvPr/>
        </p:nvSpPr>
        <p:spPr>
          <a:xfrm>
            <a:off x="661475" y="1636812"/>
            <a:ext cx="237722" cy="148530"/>
          </a:xfrm>
          <a:prstGeom prst="rect">
            <a:avLst/>
          </a:prstGeom>
          <a:noFill/>
          <a:ln/>
        </p:spPr>
        <p:txBody>
          <a:bodyPr wrap="none" lIns="0" tIns="0" rIns="0" bIns="0" rtlCol="0" anchor="ctr"/>
          <a:lstStyle/>
          <a:p>
            <a:pPr algn="l" indent="0" marL="0">
              <a:lnSpc>
                <a:spcPct val="100000"/>
              </a:lnSpc>
              <a:buNone/>
            </a:pPr>
            <a:r>
              <a:rPr lang="en-US" sz="900" dirty="0">
                <a:solidFill>
                  <a:srgbClr val="3B4E4E"/>
                </a:solidFill>
                <a:latin typeface="Syne" pitchFamily="34" charset="0"/>
                <a:ea typeface="Syne" pitchFamily="34" charset="-122"/>
                <a:cs typeface="Syne" pitchFamily="34" charset="-120"/>
              </a:rPr>
              <a:t>01</a:t>
            </a:r>
            <a:endParaRPr lang="en-US" sz="900" dirty="0"/>
          </a:p>
        </p:txBody>
      </p:sp>
      <p:sp>
        <p:nvSpPr>
          <p:cNvPr id="6" name="Shape 4"/>
          <p:cNvSpPr/>
          <p:nvPr/>
        </p:nvSpPr>
        <p:spPr>
          <a:xfrm>
            <a:off x="661475" y="1826022"/>
            <a:ext cx="5289418" cy="12700"/>
          </a:xfrm>
          <a:prstGeom prst="rect">
            <a:avLst/>
          </a:prstGeom>
          <a:solidFill>
            <a:srgbClr val="224435"/>
          </a:solidFill>
          <a:ln/>
        </p:spPr>
      </p:sp>
      <p:sp>
        <p:nvSpPr>
          <p:cNvPr id="7" name="Text 5"/>
          <p:cNvSpPr/>
          <p:nvPr/>
        </p:nvSpPr>
        <p:spPr>
          <a:xfrm>
            <a:off x="661475" y="1910854"/>
            <a:ext cx="5289418" cy="185738"/>
          </a:xfrm>
          <a:prstGeom prst="rect">
            <a:avLst/>
          </a:prstGeom>
          <a:noFill/>
          <a:ln/>
        </p:spPr>
        <p:txBody>
          <a:bodyPr wrap="none" lIns="0" tIns="0" rIns="0" bIns="0" rtlCol="0" anchor="t"/>
          <a:lstStyle/>
          <a:p>
            <a:pPr algn="l" indent="0" marL="0">
              <a:lnSpc>
                <a:spcPct val="104000"/>
              </a:lnSpc>
              <a:buNone/>
            </a:pPr>
            <a:r>
              <a:rPr lang="en-US" sz="1150" b="1" dirty="0">
                <a:solidFill>
                  <a:srgbClr val="3B4E4E"/>
                </a:solidFill>
                <a:latin typeface="Syne Bold" pitchFamily="34" charset="0"/>
                <a:ea typeface="Syne Bold" pitchFamily="34" charset="-122"/>
                <a:cs typeface="Syne Bold" pitchFamily="34" charset="-120"/>
              </a:rPr>
              <a:t>Choose K</a:t>
            </a:r>
            <a:endParaRPr lang="en-US" sz="1150" dirty="0"/>
          </a:p>
        </p:txBody>
      </p:sp>
      <p:sp>
        <p:nvSpPr>
          <p:cNvPr id="8" name="Text 6"/>
          <p:cNvSpPr/>
          <p:nvPr/>
        </p:nvSpPr>
        <p:spPr>
          <a:xfrm>
            <a:off x="661475" y="2182019"/>
            <a:ext cx="5289418" cy="326827"/>
          </a:xfrm>
          <a:prstGeom prst="rect">
            <a:avLst/>
          </a:prstGeom>
          <a:noFill/>
          <a:ln/>
        </p:spPr>
        <p:txBody>
          <a:bodyPr wrap="square" lIns="0" tIns="0" rIns="0" bIns="0" rtlCol="0" anchor="t">
            <a:normAutofit/>
          </a:bodyPr>
          <a:lstStyle/>
          <a:p>
            <a:pPr algn="l" indent="0" marL="0">
              <a:lnSpc>
                <a:spcPct val="115000"/>
              </a:lnSpc>
              <a:buNone/>
            </a:pPr>
            <a:r>
              <a:rPr lang="en-US" sz="900" dirty="0">
                <a:solidFill>
                  <a:srgbClr val="3B4E4E"/>
                </a:solidFill>
                <a:latin typeface="Overpass Light" pitchFamily="34" charset="0"/>
                <a:ea typeface="Overpass Light" pitchFamily="34" charset="-122"/>
                <a:cs typeface="Overpass Light" pitchFamily="34" charset="-120"/>
              </a:rPr>
              <a:t>Decide on the number of groups — for example, 4 customer segments. Choosing K well is a skill in itself; techniques like the "elbow method" help.</a:t>
            </a:r>
            <a:endParaRPr lang="en-US" sz="900" dirty="0"/>
          </a:p>
        </p:txBody>
      </p:sp>
      <p:sp>
        <p:nvSpPr>
          <p:cNvPr id="9" name="Text 7"/>
          <p:cNvSpPr/>
          <p:nvPr/>
        </p:nvSpPr>
        <p:spPr>
          <a:xfrm>
            <a:off x="661475" y="2683371"/>
            <a:ext cx="237722" cy="148530"/>
          </a:xfrm>
          <a:prstGeom prst="rect">
            <a:avLst/>
          </a:prstGeom>
          <a:noFill/>
          <a:ln/>
        </p:spPr>
        <p:txBody>
          <a:bodyPr wrap="none" lIns="0" tIns="0" rIns="0" bIns="0" rtlCol="0" anchor="ctr"/>
          <a:lstStyle/>
          <a:p>
            <a:pPr algn="l" indent="0" marL="0">
              <a:lnSpc>
                <a:spcPct val="100000"/>
              </a:lnSpc>
              <a:buNone/>
            </a:pPr>
            <a:r>
              <a:rPr lang="en-US" sz="900" dirty="0">
                <a:solidFill>
                  <a:srgbClr val="3B4E4E"/>
                </a:solidFill>
                <a:latin typeface="Syne" pitchFamily="34" charset="0"/>
                <a:ea typeface="Syne" pitchFamily="34" charset="-122"/>
                <a:cs typeface="Syne" pitchFamily="34" charset="-120"/>
              </a:rPr>
              <a:t>02</a:t>
            </a:r>
            <a:endParaRPr lang="en-US" sz="900" dirty="0"/>
          </a:p>
        </p:txBody>
      </p:sp>
      <p:sp>
        <p:nvSpPr>
          <p:cNvPr id="10" name="Shape 8"/>
          <p:cNvSpPr/>
          <p:nvPr/>
        </p:nvSpPr>
        <p:spPr>
          <a:xfrm>
            <a:off x="661475" y="2872581"/>
            <a:ext cx="5289418" cy="12700"/>
          </a:xfrm>
          <a:prstGeom prst="rect">
            <a:avLst/>
          </a:prstGeom>
          <a:solidFill>
            <a:srgbClr val="224435"/>
          </a:solidFill>
          <a:ln/>
        </p:spPr>
      </p:sp>
      <p:sp>
        <p:nvSpPr>
          <p:cNvPr id="11" name="Text 9"/>
          <p:cNvSpPr/>
          <p:nvPr/>
        </p:nvSpPr>
        <p:spPr>
          <a:xfrm>
            <a:off x="661475" y="2957413"/>
            <a:ext cx="5289418" cy="185738"/>
          </a:xfrm>
          <a:prstGeom prst="rect">
            <a:avLst/>
          </a:prstGeom>
          <a:noFill/>
          <a:ln/>
        </p:spPr>
        <p:txBody>
          <a:bodyPr wrap="none" lIns="0" tIns="0" rIns="0" bIns="0" rtlCol="0" anchor="t"/>
          <a:lstStyle/>
          <a:p>
            <a:pPr algn="l" indent="0" marL="0">
              <a:lnSpc>
                <a:spcPct val="104000"/>
              </a:lnSpc>
              <a:buNone/>
            </a:pPr>
            <a:r>
              <a:rPr lang="en-US" sz="1150" b="1" dirty="0">
                <a:solidFill>
                  <a:srgbClr val="3B4E4E"/>
                </a:solidFill>
                <a:latin typeface="Syne Bold" pitchFamily="34" charset="0"/>
                <a:ea typeface="Syne Bold" pitchFamily="34" charset="-122"/>
                <a:cs typeface="Syne Bold" pitchFamily="34" charset="-120"/>
              </a:rPr>
              <a:t>Place Centre Points</a:t>
            </a:r>
            <a:endParaRPr lang="en-US" sz="1150" dirty="0"/>
          </a:p>
        </p:txBody>
      </p:sp>
      <p:sp>
        <p:nvSpPr>
          <p:cNvPr id="12" name="Text 10"/>
          <p:cNvSpPr/>
          <p:nvPr/>
        </p:nvSpPr>
        <p:spPr>
          <a:xfrm>
            <a:off x="661475" y="3228578"/>
            <a:ext cx="5289418" cy="163413"/>
          </a:xfrm>
          <a:prstGeom prst="rect">
            <a:avLst/>
          </a:prstGeom>
          <a:noFill/>
          <a:ln/>
        </p:spPr>
        <p:txBody>
          <a:bodyPr wrap="none" lIns="0" tIns="0" rIns="0" bIns="0" rtlCol="0" anchor="t"/>
          <a:lstStyle/>
          <a:p>
            <a:pPr algn="l" indent="0" marL="0">
              <a:lnSpc>
                <a:spcPct val="115000"/>
              </a:lnSpc>
              <a:buNone/>
            </a:pPr>
            <a:r>
              <a:rPr lang="en-US" sz="900" dirty="0">
                <a:solidFill>
                  <a:srgbClr val="3B4E4E"/>
                </a:solidFill>
                <a:latin typeface="Overpass Light" pitchFamily="34" charset="0"/>
                <a:ea typeface="Overpass Light" pitchFamily="34" charset="-122"/>
                <a:cs typeface="Overpass Light" pitchFamily="34" charset="-120"/>
              </a:rPr>
              <a:t>Randomly position 4 "centroid" points in the feature space.</a:t>
            </a:r>
            <a:endParaRPr lang="en-US" sz="900" dirty="0"/>
          </a:p>
        </p:txBody>
      </p:sp>
      <p:sp>
        <p:nvSpPr>
          <p:cNvPr id="13" name="Text 11"/>
          <p:cNvSpPr/>
          <p:nvPr/>
        </p:nvSpPr>
        <p:spPr>
          <a:xfrm>
            <a:off x="661475" y="3566517"/>
            <a:ext cx="237722" cy="148530"/>
          </a:xfrm>
          <a:prstGeom prst="rect">
            <a:avLst/>
          </a:prstGeom>
          <a:noFill/>
          <a:ln/>
        </p:spPr>
        <p:txBody>
          <a:bodyPr wrap="none" lIns="0" tIns="0" rIns="0" bIns="0" rtlCol="0" anchor="ctr"/>
          <a:lstStyle/>
          <a:p>
            <a:pPr algn="l" indent="0" marL="0">
              <a:lnSpc>
                <a:spcPct val="100000"/>
              </a:lnSpc>
              <a:buNone/>
            </a:pPr>
            <a:r>
              <a:rPr lang="en-US" sz="900" dirty="0">
                <a:solidFill>
                  <a:srgbClr val="3B4E4E"/>
                </a:solidFill>
                <a:latin typeface="Syne" pitchFamily="34" charset="0"/>
                <a:ea typeface="Syne" pitchFamily="34" charset="-122"/>
                <a:cs typeface="Syne" pitchFamily="34" charset="-120"/>
              </a:rPr>
              <a:t>03</a:t>
            </a:r>
            <a:endParaRPr lang="en-US" sz="900" dirty="0"/>
          </a:p>
        </p:txBody>
      </p:sp>
      <p:sp>
        <p:nvSpPr>
          <p:cNvPr id="14" name="Shape 12"/>
          <p:cNvSpPr/>
          <p:nvPr/>
        </p:nvSpPr>
        <p:spPr>
          <a:xfrm>
            <a:off x="661475" y="3755727"/>
            <a:ext cx="5289418" cy="12700"/>
          </a:xfrm>
          <a:prstGeom prst="rect">
            <a:avLst/>
          </a:prstGeom>
          <a:solidFill>
            <a:srgbClr val="224435"/>
          </a:solidFill>
          <a:ln/>
        </p:spPr>
      </p:sp>
      <p:sp>
        <p:nvSpPr>
          <p:cNvPr id="15" name="Text 13"/>
          <p:cNvSpPr/>
          <p:nvPr/>
        </p:nvSpPr>
        <p:spPr>
          <a:xfrm>
            <a:off x="661475" y="3840559"/>
            <a:ext cx="5289418" cy="185738"/>
          </a:xfrm>
          <a:prstGeom prst="rect">
            <a:avLst/>
          </a:prstGeom>
          <a:noFill/>
          <a:ln/>
        </p:spPr>
        <p:txBody>
          <a:bodyPr wrap="none" lIns="0" tIns="0" rIns="0" bIns="0" rtlCol="0" anchor="t"/>
          <a:lstStyle/>
          <a:p>
            <a:pPr algn="l" indent="0" marL="0">
              <a:lnSpc>
                <a:spcPct val="104000"/>
              </a:lnSpc>
              <a:buNone/>
            </a:pPr>
            <a:r>
              <a:rPr lang="en-US" sz="1150" b="1" dirty="0">
                <a:solidFill>
                  <a:srgbClr val="3B4E4E"/>
                </a:solidFill>
                <a:latin typeface="Syne Bold" pitchFamily="34" charset="0"/>
                <a:ea typeface="Syne Bold" pitchFamily="34" charset="-122"/>
                <a:cs typeface="Syne Bold" pitchFamily="34" charset="-120"/>
              </a:rPr>
              <a:t>Assign Every Customer</a:t>
            </a:r>
            <a:endParaRPr lang="en-US" sz="1150" dirty="0"/>
          </a:p>
        </p:txBody>
      </p:sp>
      <p:sp>
        <p:nvSpPr>
          <p:cNvPr id="16" name="Text 14"/>
          <p:cNvSpPr/>
          <p:nvPr/>
        </p:nvSpPr>
        <p:spPr>
          <a:xfrm>
            <a:off x="661475" y="4111724"/>
            <a:ext cx="5289418" cy="326827"/>
          </a:xfrm>
          <a:prstGeom prst="rect">
            <a:avLst/>
          </a:prstGeom>
          <a:noFill/>
          <a:ln/>
        </p:spPr>
        <p:txBody>
          <a:bodyPr wrap="square" lIns="0" tIns="0" rIns="0" bIns="0" rtlCol="0" anchor="t">
            <a:normAutofit/>
          </a:bodyPr>
          <a:lstStyle/>
          <a:p>
            <a:pPr algn="l" indent="0" marL="0">
              <a:lnSpc>
                <a:spcPct val="115000"/>
              </a:lnSpc>
              <a:buNone/>
            </a:pPr>
            <a:r>
              <a:rPr lang="en-US" sz="900" dirty="0">
                <a:solidFill>
                  <a:srgbClr val="3B4E4E"/>
                </a:solidFill>
                <a:latin typeface="Overpass Light" pitchFamily="34" charset="0"/>
                <a:ea typeface="Overpass Light" pitchFamily="34" charset="-122"/>
                <a:cs typeface="Overpass Light" pitchFamily="34" charset="-120"/>
              </a:rPr>
              <a:t>Each customer is assigned to the nearest centroid, based on the distance between their feature values and the centroid's position.</a:t>
            </a:r>
            <a:endParaRPr lang="en-US" sz="900" dirty="0"/>
          </a:p>
        </p:txBody>
      </p:sp>
      <p:sp>
        <p:nvSpPr>
          <p:cNvPr id="17" name="Text 15"/>
          <p:cNvSpPr/>
          <p:nvPr/>
        </p:nvSpPr>
        <p:spPr>
          <a:xfrm>
            <a:off x="661475" y="4613077"/>
            <a:ext cx="237722" cy="148530"/>
          </a:xfrm>
          <a:prstGeom prst="rect">
            <a:avLst/>
          </a:prstGeom>
          <a:noFill/>
          <a:ln/>
        </p:spPr>
        <p:txBody>
          <a:bodyPr wrap="none" lIns="0" tIns="0" rIns="0" bIns="0" rtlCol="0" anchor="ctr"/>
          <a:lstStyle/>
          <a:p>
            <a:pPr algn="l" indent="0" marL="0">
              <a:lnSpc>
                <a:spcPct val="100000"/>
              </a:lnSpc>
              <a:buNone/>
            </a:pPr>
            <a:r>
              <a:rPr lang="en-US" sz="900" dirty="0">
                <a:solidFill>
                  <a:srgbClr val="3B4E4E"/>
                </a:solidFill>
                <a:latin typeface="Syne" pitchFamily="34" charset="0"/>
                <a:ea typeface="Syne" pitchFamily="34" charset="-122"/>
                <a:cs typeface="Syne" pitchFamily="34" charset="-120"/>
              </a:rPr>
              <a:t>04</a:t>
            </a:r>
            <a:endParaRPr lang="en-US" sz="900" dirty="0"/>
          </a:p>
        </p:txBody>
      </p:sp>
      <p:sp>
        <p:nvSpPr>
          <p:cNvPr id="18" name="Shape 16"/>
          <p:cNvSpPr/>
          <p:nvPr/>
        </p:nvSpPr>
        <p:spPr>
          <a:xfrm>
            <a:off x="661475" y="4802287"/>
            <a:ext cx="5289418" cy="12700"/>
          </a:xfrm>
          <a:prstGeom prst="rect">
            <a:avLst/>
          </a:prstGeom>
          <a:solidFill>
            <a:srgbClr val="224435"/>
          </a:solidFill>
          <a:ln/>
        </p:spPr>
      </p:sp>
      <p:sp>
        <p:nvSpPr>
          <p:cNvPr id="19" name="Text 17"/>
          <p:cNvSpPr/>
          <p:nvPr/>
        </p:nvSpPr>
        <p:spPr>
          <a:xfrm>
            <a:off x="661475" y="4887119"/>
            <a:ext cx="5289418" cy="185738"/>
          </a:xfrm>
          <a:prstGeom prst="rect">
            <a:avLst/>
          </a:prstGeom>
          <a:noFill/>
          <a:ln/>
        </p:spPr>
        <p:txBody>
          <a:bodyPr wrap="none" lIns="0" tIns="0" rIns="0" bIns="0" rtlCol="0" anchor="t"/>
          <a:lstStyle/>
          <a:p>
            <a:pPr algn="l" indent="0" marL="0">
              <a:lnSpc>
                <a:spcPct val="104000"/>
              </a:lnSpc>
              <a:buNone/>
            </a:pPr>
            <a:r>
              <a:rPr lang="en-US" sz="1150" b="1" dirty="0">
                <a:solidFill>
                  <a:srgbClr val="3B4E4E"/>
                </a:solidFill>
                <a:latin typeface="Syne Bold" pitchFamily="34" charset="0"/>
                <a:ea typeface="Syne Bold" pitchFamily="34" charset="-122"/>
                <a:cs typeface="Syne Bold" pitchFamily="34" charset="-120"/>
              </a:rPr>
              <a:t>Update Centroids</a:t>
            </a:r>
            <a:endParaRPr lang="en-US" sz="1150" dirty="0"/>
          </a:p>
        </p:txBody>
      </p:sp>
      <p:sp>
        <p:nvSpPr>
          <p:cNvPr id="20" name="Text 18"/>
          <p:cNvSpPr/>
          <p:nvPr/>
        </p:nvSpPr>
        <p:spPr>
          <a:xfrm>
            <a:off x="661475" y="5158284"/>
            <a:ext cx="5289418" cy="163413"/>
          </a:xfrm>
          <a:prstGeom prst="rect">
            <a:avLst/>
          </a:prstGeom>
          <a:noFill/>
          <a:ln/>
        </p:spPr>
        <p:txBody>
          <a:bodyPr wrap="none" lIns="0" tIns="0" rIns="0" bIns="0" rtlCol="0" anchor="t"/>
          <a:lstStyle/>
          <a:p>
            <a:pPr algn="l" indent="0" marL="0">
              <a:lnSpc>
                <a:spcPct val="115000"/>
              </a:lnSpc>
              <a:buNone/>
            </a:pPr>
            <a:r>
              <a:rPr lang="en-US" sz="900" dirty="0">
                <a:solidFill>
                  <a:srgbClr val="3B4E4E"/>
                </a:solidFill>
                <a:latin typeface="Overpass Light" pitchFamily="34" charset="0"/>
                <a:ea typeface="Overpass Light" pitchFamily="34" charset="-122"/>
                <a:cs typeface="Overpass Light" pitchFamily="34" charset="-120"/>
              </a:rPr>
              <a:t>Each centroid moves to the average position of all the customers currently assigned to it.</a:t>
            </a:r>
            <a:endParaRPr lang="en-US" sz="900" dirty="0"/>
          </a:p>
        </p:txBody>
      </p:sp>
      <p:sp>
        <p:nvSpPr>
          <p:cNvPr id="21" name="Text 19"/>
          <p:cNvSpPr/>
          <p:nvPr/>
        </p:nvSpPr>
        <p:spPr>
          <a:xfrm>
            <a:off x="661475" y="5496223"/>
            <a:ext cx="237722" cy="148530"/>
          </a:xfrm>
          <a:prstGeom prst="rect">
            <a:avLst/>
          </a:prstGeom>
          <a:noFill/>
          <a:ln/>
        </p:spPr>
        <p:txBody>
          <a:bodyPr wrap="none" lIns="0" tIns="0" rIns="0" bIns="0" rtlCol="0" anchor="ctr"/>
          <a:lstStyle/>
          <a:p>
            <a:pPr algn="l" indent="0" marL="0">
              <a:lnSpc>
                <a:spcPct val="100000"/>
              </a:lnSpc>
              <a:buNone/>
            </a:pPr>
            <a:r>
              <a:rPr lang="en-US" sz="900" dirty="0">
                <a:solidFill>
                  <a:srgbClr val="3B4E4E"/>
                </a:solidFill>
                <a:latin typeface="Syne" pitchFamily="34" charset="0"/>
                <a:ea typeface="Syne" pitchFamily="34" charset="-122"/>
                <a:cs typeface="Syne" pitchFamily="34" charset="-120"/>
              </a:rPr>
              <a:t>05</a:t>
            </a:r>
            <a:endParaRPr lang="en-US" sz="900" dirty="0"/>
          </a:p>
        </p:txBody>
      </p:sp>
      <p:sp>
        <p:nvSpPr>
          <p:cNvPr id="22" name="Shape 20"/>
          <p:cNvSpPr/>
          <p:nvPr/>
        </p:nvSpPr>
        <p:spPr>
          <a:xfrm>
            <a:off x="661475" y="5685433"/>
            <a:ext cx="5289418" cy="12700"/>
          </a:xfrm>
          <a:prstGeom prst="rect">
            <a:avLst/>
          </a:prstGeom>
          <a:solidFill>
            <a:srgbClr val="224435"/>
          </a:solidFill>
          <a:ln/>
        </p:spPr>
      </p:sp>
      <p:sp>
        <p:nvSpPr>
          <p:cNvPr id="23" name="Text 21"/>
          <p:cNvSpPr/>
          <p:nvPr/>
        </p:nvSpPr>
        <p:spPr>
          <a:xfrm>
            <a:off x="661475" y="5770265"/>
            <a:ext cx="5289418" cy="185738"/>
          </a:xfrm>
          <a:prstGeom prst="rect">
            <a:avLst/>
          </a:prstGeom>
          <a:noFill/>
          <a:ln/>
        </p:spPr>
        <p:txBody>
          <a:bodyPr wrap="none" lIns="0" tIns="0" rIns="0" bIns="0" rtlCol="0" anchor="t"/>
          <a:lstStyle/>
          <a:p>
            <a:pPr algn="l" indent="0" marL="0">
              <a:lnSpc>
                <a:spcPct val="104000"/>
              </a:lnSpc>
              <a:buNone/>
            </a:pPr>
            <a:r>
              <a:rPr lang="en-US" sz="1150" b="1" dirty="0">
                <a:solidFill>
                  <a:srgbClr val="3B4E4E"/>
                </a:solidFill>
                <a:latin typeface="Syne Bold" pitchFamily="34" charset="0"/>
                <a:ea typeface="Syne Bold" pitchFamily="34" charset="-122"/>
                <a:cs typeface="Syne Bold" pitchFamily="34" charset="-120"/>
              </a:rPr>
              <a:t>Repeat Until Stable</a:t>
            </a:r>
            <a:endParaRPr lang="en-US" sz="1150" dirty="0"/>
          </a:p>
        </p:txBody>
      </p:sp>
      <p:sp>
        <p:nvSpPr>
          <p:cNvPr id="24" name="Text 22"/>
          <p:cNvSpPr/>
          <p:nvPr/>
        </p:nvSpPr>
        <p:spPr>
          <a:xfrm>
            <a:off x="661475" y="6041430"/>
            <a:ext cx="5289418" cy="163413"/>
          </a:xfrm>
          <a:prstGeom prst="rect">
            <a:avLst/>
          </a:prstGeom>
          <a:noFill/>
          <a:ln/>
        </p:spPr>
        <p:txBody>
          <a:bodyPr wrap="none" lIns="0" tIns="0" rIns="0" bIns="0" rtlCol="0" anchor="t"/>
          <a:lstStyle/>
          <a:p>
            <a:pPr algn="l" indent="0" marL="0">
              <a:lnSpc>
                <a:spcPct val="115000"/>
              </a:lnSpc>
              <a:buNone/>
            </a:pPr>
            <a:r>
              <a:rPr lang="en-US" sz="900" dirty="0">
                <a:solidFill>
                  <a:srgbClr val="3B4E4E"/>
                </a:solidFill>
                <a:latin typeface="Overpass Light" pitchFamily="34" charset="0"/>
                <a:ea typeface="Overpass Light" pitchFamily="34" charset="-122"/>
                <a:cs typeface="Overpass Light" pitchFamily="34" charset="-120"/>
              </a:rPr>
              <a:t>Steps 3 and 4 repeat until assignments stop changing — typically within 10 to 50 iterations.</a:t>
            </a:r>
            <a:endParaRPr lang="en-US" sz="900" dirty="0"/>
          </a:p>
        </p:txBody>
      </p:sp>
      <p:sp>
        <p:nvSpPr>
          <p:cNvPr id="25" name="Text 23"/>
          <p:cNvSpPr/>
          <p:nvPr/>
        </p:nvSpPr>
        <p:spPr>
          <a:xfrm>
            <a:off x="6247152" y="1359394"/>
            <a:ext cx="5289418" cy="185738"/>
          </a:xfrm>
          <a:prstGeom prst="rect">
            <a:avLst/>
          </a:prstGeom>
          <a:noFill/>
          <a:ln/>
        </p:spPr>
        <p:txBody>
          <a:bodyPr wrap="none" lIns="0" tIns="0" rIns="0" bIns="0" rtlCol="0" anchor="t"/>
          <a:lstStyle/>
          <a:p>
            <a:pPr algn="l" indent="0" marL="0">
              <a:lnSpc>
                <a:spcPct val="104000"/>
              </a:lnSpc>
              <a:buNone/>
            </a:pPr>
            <a:r>
              <a:rPr lang="en-US" sz="1150" b="1" dirty="0">
                <a:solidFill>
                  <a:srgbClr val="233939"/>
                </a:solidFill>
                <a:latin typeface="Syne Bold" pitchFamily="34" charset="0"/>
                <a:ea typeface="Syne Bold" pitchFamily="34" charset="-122"/>
                <a:cs typeface="Syne Bold" pitchFamily="34" charset="-120"/>
              </a:rPr>
              <a:t>What to Expect as Output</a:t>
            </a:r>
            <a:endParaRPr lang="en-US" sz="1150" dirty="0"/>
          </a:p>
        </p:txBody>
      </p:sp>
      <p:sp>
        <p:nvSpPr>
          <p:cNvPr id="26" name="Text 24"/>
          <p:cNvSpPr/>
          <p:nvPr/>
        </p:nvSpPr>
        <p:spPr>
          <a:xfrm>
            <a:off x="6247152" y="1626195"/>
            <a:ext cx="5289418" cy="326827"/>
          </a:xfrm>
          <a:prstGeom prst="rect">
            <a:avLst/>
          </a:prstGeom>
          <a:noFill/>
          <a:ln/>
        </p:spPr>
        <p:txBody>
          <a:bodyPr wrap="square" lIns="0" tIns="0" rIns="0" bIns="0" rtlCol="0" anchor="t">
            <a:normAutofit/>
          </a:bodyPr>
          <a:lstStyle/>
          <a:p>
            <a:pPr algn="l" indent="0" marL="0">
              <a:lnSpc>
                <a:spcPct val="115000"/>
              </a:lnSpc>
              <a:buNone/>
            </a:pPr>
            <a:r>
              <a:rPr lang="en-US" sz="900" dirty="0">
                <a:solidFill>
                  <a:srgbClr val="3B4E4E"/>
                </a:solidFill>
                <a:latin typeface="Overpass Light" pitchFamily="34" charset="0"/>
                <a:ea typeface="Overpass Light" pitchFamily="34" charset="-122"/>
                <a:cs typeface="Overpass Light" pitchFamily="34" charset="-120"/>
              </a:rPr>
              <a:t>A segment number (1 to 4) for every customer. The data team then analyses each segment and gives it a business-meaningful name:</a:t>
            </a:r>
            <a:endParaRPr lang="en-US" sz="900" dirty="0"/>
          </a:p>
        </p:txBody>
      </p:sp>
      <p:sp>
        <p:nvSpPr>
          <p:cNvPr id="27" name="Shape 25"/>
          <p:cNvSpPr/>
          <p:nvPr/>
        </p:nvSpPr>
        <p:spPr>
          <a:xfrm>
            <a:off x="6247152" y="2049066"/>
            <a:ext cx="2601947" cy="848420"/>
          </a:xfrm>
          <a:prstGeom prst="roundRect">
            <a:avLst>
              <a:gd name="adj" fmla="val 5885"/>
            </a:avLst>
          </a:prstGeom>
          <a:solidFill>
            <a:srgbClr val="DDEEE6"/>
          </a:solidFill>
          <a:ln w="6350">
            <a:solidFill>
              <a:srgbClr val="C3D4CC"/>
            </a:solidFill>
            <a:prstDash val="solid"/>
          </a:ln>
        </p:spPr>
      </p:sp>
      <p:sp>
        <p:nvSpPr>
          <p:cNvPr id="28" name="Text 26"/>
          <p:cNvSpPr/>
          <p:nvPr/>
        </p:nvSpPr>
        <p:spPr>
          <a:xfrm>
            <a:off x="6372363" y="2174280"/>
            <a:ext cx="2351525" cy="185738"/>
          </a:xfrm>
          <a:prstGeom prst="rect">
            <a:avLst/>
          </a:prstGeom>
          <a:noFill/>
          <a:ln/>
        </p:spPr>
        <p:txBody>
          <a:bodyPr wrap="none" lIns="0" tIns="0" rIns="0" bIns="0" rtlCol="0" anchor="t"/>
          <a:lstStyle/>
          <a:p>
            <a:pPr algn="l" indent="0" marL="0">
              <a:lnSpc>
                <a:spcPct val="104000"/>
              </a:lnSpc>
              <a:buNone/>
            </a:pPr>
            <a:r>
              <a:rPr lang="en-US" sz="1150" b="1" dirty="0">
                <a:solidFill>
                  <a:srgbClr val="3B4E4E"/>
                </a:solidFill>
                <a:latin typeface="Syne Bold" pitchFamily="34" charset="0"/>
                <a:ea typeface="Syne Bold" pitchFamily="34" charset="-122"/>
                <a:cs typeface="Syne Bold" pitchFamily="34" charset="-120"/>
              </a:rPr>
              <a:t>Segment 1</a:t>
            </a:r>
            <a:endParaRPr lang="en-US" sz="1150" dirty="0"/>
          </a:p>
        </p:txBody>
      </p:sp>
      <p:sp>
        <p:nvSpPr>
          <p:cNvPr id="29" name="Text 27"/>
          <p:cNvSpPr/>
          <p:nvPr/>
        </p:nvSpPr>
        <p:spPr>
          <a:xfrm>
            <a:off x="6372363" y="2445445"/>
            <a:ext cx="2351525" cy="163413"/>
          </a:xfrm>
          <a:prstGeom prst="rect">
            <a:avLst/>
          </a:prstGeom>
          <a:noFill/>
          <a:ln/>
        </p:spPr>
        <p:txBody>
          <a:bodyPr wrap="none" lIns="0" tIns="0" rIns="0" bIns="0" rtlCol="0" anchor="t"/>
          <a:lstStyle/>
          <a:p>
            <a:pPr algn="l" indent="0" marL="0">
              <a:lnSpc>
                <a:spcPct val="115000"/>
              </a:lnSpc>
              <a:buNone/>
            </a:pPr>
            <a:r>
              <a:rPr lang="en-US" sz="900" dirty="0">
                <a:solidFill>
                  <a:srgbClr val="3B4E4E"/>
                </a:solidFill>
                <a:latin typeface="Overpass Light" pitchFamily="34" charset="0"/>
                <a:ea typeface="Overpass Light" pitchFamily="34" charset="-122"/>
                <a:cs typeface="Overpass Light" pitchFamily="34" charset="-120"/>
              </a:rPr>
              <a:t>Frequent high spenders → "VIP Loyalists"</a:t>
            </a:r>
            <a:endParaRPr lang="en-US" sz="900" dirty="0"/>
          </a:p>
        </p:txBody>
      </p:sp>
      <p:sp>
        <p:nvSpPr>
          <p:cNvPr id="30" name="Shape 28"/>
          <p:cNvSpPr/>
          <p:nvPr/>
        </p:nvSpPr>
        <p:spPr>
          <a:xfrm>
            <a:off x="8934524" y="2049066"/>
            <a:ext cx="2602046" cy="848420"/>
          </a:xfrm>
          <a:prstGeom prst="roundRect">
            <a:avLst>
              <a:gd name="adj" fmla="val 5885"/>
            </a:avLst>
          </a:prstGeom>
          <a:solidFill>
            <a:srgbClr val="DDEEE6"/>
          </a:solidFill>
          <a:ln w="6350">
            <a:solidFill>
              <a:srgbClr val="C3D4CC"/>
            </a:solidFill>
            <a:prstDash val="solid"/>
          </a:ln>
        </p:spPr>
      </p:sp>
      <p:sp>
        <p:nvSpPr>
          <p:cNvPr id="31" name="Text 29"/>
          <p:cNvSpPr/>
          <p:nvPr/>
        </p:nvSpPr>
        <p:spPr>
          <a:xfrm>
            <a:off x="9059735" y="2174280"/>
            <a:ext cx="2351624" cy="185738"/>
          </a:xfrm>
          <a:prstGeom prst="rect">
            <a:avLst/>
          </a:prstGeom>
          <a:noFill/>
          <a:ln/>
        </p:spPr>
        <p:txBody>
          <a:bodyPr wrap="none" lIns="0" tIns="0" rIns="0" bIns="0" rtlCol="0" anchor="t"/>
          <a:lstStyle/>
          <a:p>
            <a:pPr algn="l" indent="0" marL="0">
              <a:lnSpc>
                <a:spcPct val="104000"/>
              </a:lnSpc>
              <a:buNone/>
            </a:pPr>
            <a:r>
              <a:rPr lang="en-US" sz="1150" b="1" dirty="0">
                <a:solidFill>
                  <a:srgbClr val="3B4E4E"/>
                </a:solidFill>
                <a:latin typeface="Syne Bold" pitchFamily="34" charset="0"/>
                <a:ea typeface="Syne Bold" pitchFamily="34" charset="-122"/>
                <a:cs typeface="Syne Bold" pitchFamily="34" charset="-120"/>
              </a:rPr>
              <a:t>Segment 2</a:t>
            </a:r>
            <a:endParaRPr lang="en-US" sz="1150" dirty="0"/>
          </a:p>
        </p:txBody>
      </p:sp>
      <p:sp>
        <p:nvSpPr>
          <p:cNvPr id="32" name="Text 30"/>
          <p:cNvSpPr/>
          <p:nvPr/>
        </p:nvSpPr>
        <p:spPr>
          <a:xfrm>
            <a:off x="9059735" y="2445445"/>
            <a:ext cx="2351624" cy="326827"/>
          </a:xfrm>
          <a:prstGeom prst="rect">
            <a:avLst/>
          </a:prstGeom>
          <a:noFill/>
          <a:ln/>
        </p:spPr>
        <p:txBody>
          <a:bodyPr wrap="square" lIns="0" tIns="0" rIns="0" bIns="0" rtlCol="0" anchor="t">
            <a:normAutofit/>
          </a:bodyPr>
          <a:lstStyle/>
          <a:p>
            <a:pPr algn="l" indent="0" marL="0">
              <a:lnSpc>
                <a:spcPct val="115000"/>
              </a:lnSpc>
              <a:buNone/>
            </a:pPr>
            <a:r>
              <a:rPr lang="en-US" sz="900" dirty="0">
                <a:solidFill>
                  <a:srgbClr val="3B4E4E"/>
                </a:solidFill>
                <a:latin typeface="Overpass Light" pitchFamily="34" charset="0"/>
                <a:ea typeface="Overpass Light" pitchFamily="34" charset="-122"/>
                <a:cs typeface="Overpass Light" pitchFamily="34" charset="-120"/>
              </a:rPr>
              <a:t>Bought once, long ago → "Dormant Customers"</a:t>
            </a:r>
            <a:endParaRPr lang="en-US" sz="900" dirty="0"/>
          </a:p>
        </p:txBody>
      </p:sp>
      <p:sp>
        <p:nvSpPr>
          <p:cNvPr id="33" name="Shape 31"/>
          <p:cNvSpPr/>
          <p:nvPr/>
        </p:nvSpPr>
        <p:spPr>
          <a:xfrm>
            <a:off x="6247152" y="2982913"/>
            <a:ext cx="2601947" cy="848420"/>
          </a:xfrm>
          <a:prstGeom prst="roundRect">
            <a:avLst>
              <a:gd name="adj" fmla="val 5885"/>
            </a:avLst>
          </a:prstGeom>
          <a:solidFill>
            <a:srgbClr val="DDEEE6"/>
          </a:solidFill>
          <a:ln w="6350">
            <a:solidFill>
              <a:srgbClr val="C3D4CC"/>
            </a:solidFill>
            <a:prstDash val="solid"/>
          </a:ln>
        </p:spPr>
      </p:sp>
      <p:sp>
        <p:nvSpPr>
          <p:cNvPr id="34" name="Text 32"/>
          <p:cNvSpPr/>
          <p:nvPr/>
        </p:nvSpPr>
        <p:spPr>
          <a:xfrm>
            <a:off x="6372363" y="3108127"/>
            <a:ext cx="2351525" cy="185738"/>
          </a:xfrm>
          <a:prstGeom prst="rect">
            <a:avLst/>
          </a:prstGeom>
          <a:noFill/>
          <a:ln/>
        </p:spPr>
        <p:txBody>
          <a:bodyPr wrap="none" lIns="0" tIns="0" rIns="0" bIns="0" rtlCol="0" anchor="t"/>
          <a:lstStyle/>
          <a:p>
            <a:pPr algn="l" indent="0" marL="0">
              <a:lnSpc>
                <a:spcPct val="104000"/>
              </a:lnSpc>
              <a:buNone/>
            </a:pPr>
            <a:r>
              <a:rPr lang="en-US" sz="1150" b="1" dirty="0">
                <a:solidFill>
                  <a:srgbClr val="3B4E4E"/>
                </a:solidFill>
                <a:latin typeface="Syne Bold" pitchFamily="34" charset="0"/>
                <a:ea typeface="Syne Bold" pitchFamily="34" charset="-122"/>
                <a:cs typeface="Syne Bold" pitchFamily="34" charset="-120"/>
              </a:rPr>
              <a:t>Segment 3</a:t>
            </a:r>
            <a:endParaRPr lang="en-US" sz="1150" dirty="0"/>
          </a:p>
        </p:txBody>
      </p:sp>
      <p:sp>
        <p:nvSpPr>
          <p:cNvPr id="35" name="Text 33"/>
          <p:cNvSpPr/>
          <p:nvPr/>
        </p:nvSpPr>
        <p:spPr>
          <a:xfrm>
            <a:off x="6372363" y="3379291"/>
            <a:ext cx="2351525" cy="326827"/>
          </a:xfrm>
          <a:prstGeom prst="rect">
            <a:avLst/>
          </a:prstGeom>
          <a:noFill/>
          <a:ln/>
        </p:spPr>
        <p:txBody>
          <a:bodyPr wrap="square" lIns="0" tIns="0" rIns="0" bIns="0" rtlCol="0" anchor="t">
            <a:normAutofit/>
          </a:bodyPr>
          <a:lstStyle/>
          <a:p>
            <a:pPr algn="l" indent="0" marL="0">
              <a:lnSpc>
                <a:spcPct val="115000"/>
              </a:lnSpc>
              <a:buNone/>
            </a:pPr>
            <a:r>
              <a:rPr lang="en-US" sz="900" dirty="0">
                <a:solidFill>
                  <a:srgbClr val="3B4E4E"/>
                </a:solidFill>
                <a:latin typeface="Overpass Light" pitchFamily="34" charset="0"/>
                <a:ea typeface="Overpass Light" pitchFamily="34" charset="-122"/>
                <a:cs typeface="Overpass Light" pitchFamily="34" charset="-120"/>
              </a:rPr>
              <a:t>Buys often but low value → "Bargain Hunters"</a:t>
            </a:r>
            <a:endParaRPr lang="en-US" sz="900" dirty="0"/>
          </a:p>
        </p:txBody>
      </p:sp>
      <p:sp>
        <p:nvSpPr>
          <p:cNvPr id="36" name="Shape 34"/>
          <p:cNvSpPr/>
          <p:nvPr/>
        </p:nvSpPr>
        <p:spPr>
          <a:xfrm>
            <a:off x="8934524" y="2982913"/>
            <a:ext cx="2602046" cy="848420"/>
          </a:xfrm>
          <a:prstGeom prst="roundRect">
            <a:avLst>
              <a:gd name="adj" fmla="val 5885"/>
            </a:avLst>
          </a:prstGeom>
          <a:solidFill>
            <a:srgbClr val="DDEEE6"/>
          </a:solidFill>
          <a:ln w="6350">
            <a:solidFill>
              <a:srgbClr val="C3D4CC"/>
            </a:solidFill>
            <a:prstDash val="solid"/>
          </a:ln>
        </p:spPr>
      </p:sp>
      <p:sp>
        <p:nvSpPr>
          <p:cNvPr id="37" name="Text 35"/>
          <p:cNvSpPr/>
          <p:nvPr/>
        </p:nvSpPr>
        <p:spPr>
          <a:xfrm>
            <a:off x="9059735" y="3108127"/>
            <a:ext cx="2351624" cy="185738"/>
          </a:xfrm>
          <a:prstGeom prst="rect">
            <a:avLst/>
          </a:prstGeom>
          <a:noFill/>
          <a:ln/>
        </p:spPr>
        <p:txBody>
          <a:bodyPr wrap="none" lIns="0" tIns="0" rIns="0" bIns="0" rtlCol="0" anchor="t"/>
          <a:lstStyle/>
          <a:p>
            <a:pPr algn="l" indent="0" marL="0">
              <a:lnSpc>
                <a:spcPct val="104000"/>
              </a:lnSpc>
              <a:buNone/>
            </a:pPr>
            <a:r>
              <a:rPr lang="en-US" sz="1150" b="1" dirty="0">
                <a:solidFill>
                  <a:srgbClr val="3B4E4E"/>
                </a:solidFill>
                <a:latin typeface="Syne Bold" pitchFamily="34" charset="0"/>
                <a:ea typeface="Syne Bold" pitchFamily="34" charset="-122"/>
                <a:cs typeface="Syne Bold" pitchFamily="34" charset="-120"/>
              </a:rPr>
              <a:t>Segment 4</a:t>
            </a:r>
            <a:endParaRPr lang="en-US" sz="1150" dirty="0"/>
          </a:p>
        </p:txBody>
      </p:sp>
      <p:sp>
        <p:nvSpPr>
          <p:cNvPr id="38" name="Text 36"/>
          <p:cNvSpPr/>
          <p:nvPr/>
        </p:nvSpPr>
        <p:spPr>
          <a:xfrm>
            <a:off x="9059735" y="3379291"/>
            <a:ext cx="2351624" cy="163413"/>
          </a:xfrm>
          <a:prstGeom prst="rect">
            <a:avLst/>
          </a:prstGeom>
          <a:noFill/>
          <a:ln/>
        </p:spPr>
        <p:txBody>
          <a:bodyPr wrap="none" lIns="0" tIns="0" rIns="0" bIns="0" rtlCol="0" anchor="t"/>
          <a:lstStyle/>
          <a:p>
            <a:pPr algn="l" indent="0" marL="0">
              <a:lnSpc>
                <a:spcPct val="115000"/>
              </a:lnSpc>
              <a:buNone/>
            </a:pPr>
            <a:r>
              <a:rPr lang="en-US" sz="900" dirty="0">
                <a:solidFill>
                  <a:srgbClr val="3B4E4E"/>
                </a:solidFill>
                <a:latin typeface="Overpass Light" pitchFamily="34" charset="0"/>
                <a:ea typeface="Overpass Light" pitchFamily="34" charset="-122"/>
                <a:cs typeface="Overpass Light" pitchFamily="34" charset="-120"/>
              </a:rPr>
              <a:t>Recent first-timers → "New Prospects"</a:t>
            </a:r>
            <a:endParaRPr lang="en-US" sz="900" dirty="0"/>
          </a:p>
        </p:txBody>
      </p:sp>
      <p:pic>
        <p:nvPicPr>
          <p:cNvPr id="39"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247152" y="3927376"/>
            <a:ext cx="2601947" cy="1024533"/>
          </a:xfrm>
          <a:prstGeom prst="rect">
            <a:avLst/>
          </a:prstGeom>
        </p:spPr>
      </p:pic>
      <p:sp>
        <p:nvSpPr>
          <p:cNvPr id="40" name="Text 37"/>
          <p:cNvSpPr/>
          <p:nvPr/>
        </p:nvSpPr>
        <p:spPr>
          <a:xfrm>
            <a:off x="6429512" y="4058940"/>
            <a:ext cx="2288026" cy="185738"/>
          </a:xfrm>
          <a:prstGeom prst="rect">
            <a:avLst/>
          </a:prstGeom>
          <a:noFill/>
          <a:ln/>
        </p:spPr>
        <p:txBody>
          <a:bodyPr wrap="none" lIns="0" tIns="0" rIns="0" bIns="0" rtlCol="0" anchor="t"/>
          <a:lstStyle/>
          <a:p>
            <a:pPr algn="l" indent="0" marL="0">
              <a:lnSpc>
                <a:spcPct val="104000"/>
              </a:lnSpc>
              <a:buNone/>
            </a:pPr>
            <a:r>
              <a:rPr lang="en-US" sz="1150" b="1" dirty="0">
                <a:solidFill>
                  <a:srgbClr val="3B4E4E"/>
                </a:solidFill>
                <a:latin typeface="Syne Bold" pitchFamily="34" charset="0"/>
                <a:ea typeface="Syne Bold" pitchFamily="34" charset="-122"/>
                <a:cs typeface="Syne Bold" pitchFamily="34" charset="-120"/>
              </a:rPr>
              <a:t>✓ Fast and Scalable</a:t>
            </a:r>
            <a:endParaRPr lang="en-US" sz="1150" dirty="0"/>
          </a:p>
        </p:txBody>
      </p:sp>
      <p:sp>
        <p:nvSpPr>
          <p:cNvPr id="41" name="Text 38"/>
          <p:cNvSpPr/>
          <p:nvPr/>
        </p:nvSpPr>
        <p:spPr>
          <a:xfrm>
            <a:off x="6429512" y="4330105"/>
            <a:ext cx="2288026" cy="326827"/>
          </a:xfrm>
          <a:prstGeom prst="rect">
            <a:avLst/>
          </a:prstGeom>
          <a:noFill/>
          <a:ln/>
        </p:spPr>
        <p:txBody>
          <a:bodyPr wrap="square" lIns="0" tIns="0" rIns="0" bIns="0" rtlCol="0" anchor="t">
            <a:normAutofit/>
          </a:bodyPr>
          <a:lstStyle/>
          <a:p>
            <a:pPr algn="l" indent="0" marL="0">
              <a:lnSpc>
                <a:spcPct val="115000"/>
              </a:lnSpc>
              <a:buNone/>
            </a:pPr>
            <a:r>
              <a:rPr lang="en-US" sz="900" dirty="0">
                <a:solidFill>
                  <a:srgbClr val="3B4E4E"/>
                </a:solidFill>
                <a:latin typeface="Overpass Light" pitchFamily="34" charset="0"/>
                <a:ea typeface="Overpass Light" pitchFamily="34" charset="-122"/>
                <a:cs typeface="Overpass Light" pitchFamily="34" charset="-120"/>
              </a:rPr>
              <a:t>Works on millions of customers. Easy to re-run as new purchase data arrives.</a:t>
            </a:r>
            <a:endParaRPr lang="en-US" sz="900" dirty="0"/>
          </a:p>
        </p:txBody>
      </p:sp>
      <p:pic>
        <p:nvPicPr>
          <p:cNvPr id="42"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934524" y="3927376"/>
            <a:ext cx="2602046" cy="1024533"/>
          </a:xfrm>
          <a:prstGeom prst="rect">
            <a:avLst/>
          </a:prstGeom>
        </p:spPr>
      </p:pic>
      <p:sp>
        <p:nvSpPr>
          <p:cNvPr id="43" name="Text 39"/>
          <p:cNvSpPr/>
          <p:nvPr/>
        </p:nvSpPr>
        <p:spPr>
          <a:xfrm>
            <a:off x="9116884" y="4058940"/>
            <a:ext cx="2288126" cy="185738"/>
          </a:xfrm>
          <a:prstGeom prst="rect">
            <a:avLst/>
          </a:prstGeom>
          <a:noFill/>
          <a:ln/>
        </p:spPr>
        <p:txBody>
          <a:bodyPr wrap="none" lIns="0" tIns="0" rIns="0" bIns="0" rtlCol="0" anchor="t"/>
          <a:lstStyle/>
          <a:p>
            <a:pPr algn="l" indent="0" marL="0">
              <a:lnSpc>
                <a:spcPct val="104000"/>
              </a:lnSpc>
              <a:buNone/>
            </a:pPr>
            <a:r>
              <a:rPr lang="en-US" sz="1150" b="1" dirty="0">
                <a:solidFill>
                  <a:srgbClr val="3B4E4E"/>
                </a:solidFill>
                <a:latin typeface="Syne Bold" pitchFamily="34" charset="0"/>
                <a:ea typeface="Syne Bold" pitchFamily="34" charset="-122"/>
                <a:cs typeface="Syne Bold" pitchFamily="34" charset="-120"/>
              </a:rPr>
              <a:t>✗ Must Choose K</a:t>
            </a:r>
            <a:endParaRPr lang="en-US" sz="1150" dirty="0"/>
          </a:p>
        </p:txBody>
      </p:sp>
      <p:sp>
        <p:nvSpPr>
          <p:cNvPr id="44" name="Text 40"/>
          <p:cNvSpPr/>
          <p:nvPr/>
        </p:nvSpPr>
        <p:spPr>
          <a:xfrm>
            <a:off x="9116884" y="4330105"/>
            <a:ext cx="2288126" cy="490240"/>
          </a:xfrm>
          <a:prstGeom prst="rect">
            <a:avLst/>
          </a:prstGeom>
          <a:noFill/>
          <a:ln/>
        </p:spPr>
        <p:txBody>
          <a:bodyPr wrap="square" lIns="0" tIns="0" rIns="0" bIns="0" rtlCol="0" anchor="t">
            <a:normAutofit/>
          </a:bodyPr>
          <a:lstStyle/>
          <a:p>
            <a:pPr algn="l" indent="0" marL="0">
              <a:lnSpc>
                <a:spcPct val="115000"/>
              </a:lnSpc>
              <a:buNone/>
            </a:pPr>
            <a:r>
              <a:rPr lang="en-US" sz="900" dirty="0">
                <a:solidFill>
                  <a:srgbClr val="3B4E4E"/>
                </a:solidFill>
                <a:latin typeface="Overpass Light" pitchFamily="34" charset="0"/>
                <a:ea typeface="Overpass Light" pitchFamily="34" charset="-122"/>
                <a:cs typeface="Overpass Light" pitchFamily="34" charset="-120"/>
              </a:rPr>
              <a:t>The wrong K produces misleading segments. Also assumes roughly spherical, equal-sized groups.</a:t>
            </a:r>
            <a:endParaRPr lang="en-US" sz="900" dirty="0"/>
          </a:p>
        </p:txBody>
      </p:sp>
      <p:sp>
        <p:nvSpPr>
          <p:cNvPr id="45" name="Text 41"/>
          <p:cNvSpPr/>
          <p:nvPr/>
        </p:nvSpPr>
        <p:spPr>
          <a:xfrm>
            <a:off x="6247152" y="5052316"/>
            <a:ext cx="5289418" cy="185738"/>
          </a:xfrm>
          <a:prstGeom prst="rect">
            <a:avLst/>
          </a:prstGeom>
          <a:noFill/>
          <a:ln/>
        </p:spPr>
        <p:txBody>
          <a:bodyPr wrap="none" lIns="0" tIns="0" rIns="0" bIns="0" rtlCol="0" anchor="t"/>
          <a:lstStyle/>
          <a:p>
            <a:pPr algn="l" indent="0" marL="0">
              <a:lnSpc>
                <a:spcPct val="104000"/>
              </a:lnSpc>
              <a:buNone/>
            </a:pPr>
            <a:r>
              <a:rPr lang="en-US" sz="1150" b="1" dirty="0">
                <a:solidFill>
                  <a:srgbClr val="233939"/>
                </a:solidFill>
                <a:latin typeface="Syne Bold" pitchFamily="34" charset="0"/>
                <a:ea typeface="Syne Bold" pitchFamily="34" charset="-122"/>
                <a:cs typeface="Syne Bold" pitchFamily="34" charset="-120"/>
              </a:rPr>
              <a:t>Real-World Use</a:t>
            </a:r>
            <a:endParaRPr lang="en-US" sz="1150" dirty="0"/>
          </a:p>
        </p:txBody>
      </p:sp>
      <p:sp>
        <p:nvSpPr>
          <p:cNvPr id="46" name="Text 42"/>
          <p:cNvSpPr/>
          <p:nvPr/>
        </p:nvSpPr>
        <p:spPr>
          <a:xfrm>
            <a:off x="6247152" y="5319117"/>
            <a:ext cx="5289418" cy="326827"/>
          </a:xfrm>
          <a:prstGeom prst="rect">
            <a:avLst/>
          </a:prstGeom>
          <a:noFill/>
          <a:ln/>
        </p:spPr>
        <p:txBody>
          <a:bodyPr wrap="square" lIns="0" tIns="0" rIns="0" bIns="0" rtlCol="0" anchor="t">
            <a:normAutofit/>
          </a:bodyPr>
          <a:lstStyle/>
          <a:p>
            <a:pPr algn="l" indent="0" marL="0">
              <a:lnSpc>
                <a:spcPct val="115000"/>
              </a:lnSpc>
              <a:buNone/>
            </a:pPr>
            <a:r>
              <a:rPr lang="en-US" sz="900" dirty="0">
                <a:solidFill>
                  <a:srgbClr val="3B4E4E"/>
                </a:solidFill>
                <a:latin typeface="Overpass Light" pitchFamily="34" charset="0"/>
                <a:ea typeface="Overpass Light" pitchFamily="34" charset="-122"/>
                <a:cs typeface="Overpass Light" pitchFamily="34" charset="-120"/>
              </a:rPr>
              <a:t>Customer segmentation across retail, telecom, and banking; grouping delivery locations into efficient zones for logistics routing.</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DE6"/>
        </a:solidFill>
      </p:bgPr>
    </p:bg>
    <p:spTree>
      <p:nvGrpSpPr>
        <p:cNvPr id="1" name=""/>
        <p:cNvGrpSpPr/>
        <p:nvPr/>
      </p:nvGrpSpPr>
      <p:grpSpPr>
        <a:xfrm>
          <a:off x="0" y="0"/>
          <a:ext cx="0" cy="0"/>
          <a:chOff x="0" y="0"/>
          <a:chExt cx="0" cy="0"/>
        </a:xfrm>
      </p:grpSpPr>
      <p:sp>
        <p:nvSpPr>
          <p:cNvPr id="2" name="Shape 0"/>
          <p:cNvSpPr/>
          <p:nvPr/>
        </p:nvSpPr>
        <p:spPr>
          <a:xfrm>
            <a:off x="661475" y="490934"/>
            <a:ext cx="1329200" cy="251420"/>
          </a:xfrm>
          <a:prstGeom prst="roundRect">
            <a:avLst>
              <a:gd name="adj" fmla="val 22103"/>
            </a:avLst>
          </a:prstGeom>
          <a:solidFill>
            <a:srgbClr val="DDEEE6"/>
          </a:solidFill>
          <a:ln/>
        </p:spPr>
      </p:sp>
      <p:sp>
        <p:nvSpPr>
          <p:cNvPr id="3" name="Text 1"/>
          <p:cNvSpPr/>
          <p:nvPr/>
        </p:nvSpPr>
        <p:spPr>
          <a:xfrm>
            <a:off x="760691" y="540544"/>
            <a:ext cx="1740353" cy="152202"/>
          </a:xfrm>
          <a:prstGeom prst="rect">
            <a:avLst/>
          </a:prstGeom>
          <a:noFill/>
          <a:ln/>
        </p:spPr>
        <p:txBody>
          <a:bodyPr wrap="none" lIns="0" tIns="0" rIns="0" bIns="0" rtlCol="0" anchor="t"/>
          <a:lstStyle/>
          <a:p>
            <a:pPr algn="l" indent="0" marL="0">
              <a:lnSpc>
                <a:spcPct val="96000"/>
              </a:lnSpc>
              <a:buNone/>
            </a:pPr>
            <a:r>
              <a:rPr lang="en-US" sz="1000" dirty="0">
                <a:solidFill>
                  <a:srgbClr val="3B4E4E"/>
                </a:solidFill>
                <a:latin typeface="Overpass Light" pitchFamily="34" charset="0"/>
                <a:ea typeface="Overpass Light" pitchFamily="34" charset="-122"/>
                <a:cs typeface="Overpass Light" pitchFamily="34" charset="-120"/>
              </a:rPr>
              <a:t>BUSINESS CASE 10</a:t>
            </a:r>
            <a:endParaRPr lang="en-US" sz="1000" dirty="0"/>
          </a:p>
        </p:txBody>
      </p:sp>
      <p:sp>
        <p:nvSpPr>
          <p:cNvPr id="4" name="Text 2"/>
          <p:cNvSpPr/>
          <p:nvPr/>
        </p:nvSpPr>
        <p:spPr>
          <a:xfrm>
            <a:off x="661475" y="812569"/>
            <a:ext cx="10868745" cy="1033463"/>
          </a:xfrm>
          <a:prstGeom prst="rect">
            <a:avLst/>
          </a:prstGeom>
          <a:noFill/>
          <a:ln/>
        </p:spPr>
        <p:txBody>
          <a:bodyPr wrap="square" lIns="0" tIns="0" rIns="0" bIns="0" rtlCol="0" anchor="t">
            <a:normAutofit/>
          </a:bodyPr>
          <a:lstStyle/>
          <a:p>
            <a:pPr algn="l" indent="0" marL="0">
              <a:lnSpc>
                <a:spcPct val="104000"/>
              </a:lnSpc>
              <a:buNone/>
            </a:pPr>
            <a:r>
              <a:rPr lang="en-US" sz="3250" b="1" dirty="0">
                <a:solidFill>
                  <a:srgbClr val="233939"/>
                </a:solidFill>
                <a:latin typeface="Syne Bold" pitchFamily="34" charset="0"/>
                <a:ea typeface="Syne Bold" pitchFamily="34" charset="-122"/>
                <a:cs typeface="Syne Bold" pitchFamily="34" charset="-120"/>
              </a:rPr>
              <a:t>Grouping Stores When We Don't Know How Many Groups</a:t>
            </a:r>
            <a:endParaRPr lang="en-US" sz="3250" dirty="0"/>
          </a:p>
        </p:txBody>
      </p:sp>
      <p:sp>
        <p:nvSpPr>
          <p:cNvPr id="5" name="Text 3"/>
          <p:cNvSpPr/>
          <p:nvPr/>
        </p:nvSpPr>
        <p:spPr>
          <a:xfrm>
            <a:off x="661475" y="2089944"/>
            <a:ext cx="10868745" cy="529233"/>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3B4E4E"/>
                </a:solidFill>
                <a:latin typeface="Overpass Light" pitchFamily="34" charset="0"/>
                <a:ea typeface="Overpass Light" pitchFamily="34" charset="-122"/>
                <a:cs typeface="Overpass Light" pitchFamily="34" charset="-120"/>
              </a:rPr>
              <a:t>A supermarket chain wants to group its 200 stores by sales pattern — but management has no prior view on how many meaningful groups should exist. They want to explore the data at multiple levels of detail before committing to a final segmentation.</a:t>
            </a:r>
            <a:endParaRPr lang="en-US" sz="1300" dirty="0"/>
          </a:p>
        </p:txBody>
      </p:sp>
      <p:sp>
        <p:nvSpPr>
          <p:cNvPr id="6" name="Text 4"/>
          <p:cNvSpPr/>
          <p:nvPr/>
        </p:nvSpPr>
        <p:spPr>
          <a:xfrm>
            <a:off x="661475" y="2972578"/>
            <a:ext cx="5232666" cy="258465"/>
          </a:xfrm>
          <a:prstGeom prst="rect">
            <a:avLst/>
          </a:prstGeom>
          <a:noFill/>
          <a:ln/>
        </p:spPr>
        <p:txBody>
          <a:bodyPr wrap="none" lIns="0" tIns="0" rIns="0" bIns="0" rtlCol="0" anchor="t"/>
          <a:lstStyle/>
          <a:p>
            <a:pPr algn="l" indent="0" marL="0">
              <a:lnSpc>
                <a:spcPct val="104000"/>
              </a:lnSpc>
              <a:buNone/>
            </a:pPr>
            <a:r>
              <a:rPr lang="en-US" sz="1600" b="1" dirty="0">
                <a:solidFill>
                  <a:srgbClr val="233939"/>
                </a:solidFill>
                <a:latin typeface="Syne Bold" pitchFamily="34" charset="0"/>
                <a:ea typeface="Syne Bold" pitchFamily="34" charset="-122"/>
                <a:cs typeface="Syne Bold" pitchFamily="34" charset="-120"/>
              </a:rPr>
              <a:t>Thinking It Through</a:t>
            </a:r>
            <a:endParaRPr lang="en-US" sz="1600" dirty="0"/>
          </a:p>
        </p:txBody>
      </p:sp>
      <p:pic>
        <p:nvPicPr>
          <p:cNvPr id="7"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42425" y="3395960"/>
            <a:ext cx="2531999" cy="1784945"/>
          </a:xfrm>
          <a:prstGeom prst="rect">
            <a:avLst/>
          </a:prstGeom>
        </p:spPr>
      </p:pic>
      <p:sp>
        <p:nvSpPr>
          <p:cNvPr id="8" name="Text 5"/>
          <p:cNvSpPr/>
          <p:nvPr/>
        </p:nvSpPr>
        <p:spPr>
          <a:xfrm>
            <a:off x="864868" y="3415010"/>
            <a:ext cx="2309556" cy="516930"/>
          </a:xfrm>
          <a:prstGeom prst="rect">
            <a:avLst/>
          </a:prstGeom>
          <a:noFill/>
          <a:ln/>
        </p:spPr>
        <p:txBody>
          <a:bodyPr wrap="square" lIns="0" tIns="0" rIns="0" bIns="0" rtlCol="0" anchor="t">
            <a:normAutofit/>
          </a:bodyPr>
          <a:lstStyle/>
          <a:p>
            <a:pPr algn="l" indent="0" marL="0">
              <a:lnSpc>
                <a:spcPct val="104000"/>
              </a:lnSpc>
              <a:buNone/>
            </a:pPr>
            <a:r>
              <a:rPr lang="en-US" sz="1600" b="1" dirty="0">
                <a:solidFill>
                  <a:srgbClr val="3B4E4E"/>
                </a:solidFill>
                <a:latin typeface="Syne Bold" pitchFamily="34" charset="0"/>
                <a:ea typeface="Syne Bold" pitchFamily="34" charset="-122"/>
                <a:cs typeface="Syne Bold" pitchFamily="34" charset="-120"/>
              </a:rPr>
              <a:t>Past data with correct answers?</a:t>
            </a:r>
            <a:endParaRPr lang="en-US" sz="1600" dirty="0"/>
          </a:p>
        </p:txBody>
      </p:sp>
      <p:sp>
        <p:nvSpPr>
          <p:cNvPr id="9" name="Text 6"/>
          <p:cNvSpPr/>
          <p:nvPr/>
        </p:nvSpPr>
        <p:spPr>
          <a:xfrm>
            <a:off x="864868" y="4097238"/>
            <a:ext cx="2309556" cy="793849"/>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3B4E4E"/>
                </a:solidFill>
                <a:latin typeface="Overpass Light" pitchFamily="34" charset="0"/>
                <a:ea typeface="Overpass Light" pitchFamily="34" charset="-122"/>
                <a:cs typeface="Overpass Light" pitchFamily="34" charset="-120"/>
              </a:rPr>
              <a:t>No — unsupervised. No store has been pre-labelled with a group.</a:t>
            </a:r>
            <a:endParaRPr lang="en-US" sz="1300" dirty="0"/>
          </a:p>
        </p:txBody>
      </p:sp>
      <p:pic>
        <p:nvPicPr>
          <p:cNvPr id="10"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362042" y="3395960"/>
            <a:ext cx="2532098" cy="1784945"/>
          </a:xfrm>
          <a:prstGeom prst="rect">
            <a:avLst/>
          </a:prstGeom>
        </p:spPr>
      </p:pic>
      <p:sp>
        <p:nvSpPr>
          <p:cNvPr id="11" name="Text 7"/>
          <p:cNvSpPr/>
          <p:nvPr/>
        </p:nvSpPr>
        <p:spPr>
          <a:xfrm>
            <a:off x="3584485" y="3415010"/>
            <a:ext cx="2309656" cy="258465"/>
          </a:xfrm>
          <a:prstGeom prst="rect">
            <a:avLst/>
          </a:prstGeom>
          <a:noFill/>
          <a:ln/>
        </p:spPr>
        <p:txBody>
          <a:bodyPr wrap="none" lIns="0" tIns="0" rIns="0" bIns="0" rtlCol="0" anchor="t"/>
          <a:lstStyle/>
          <a:p>
            <a:pPr algn="l" indent="0" marL="0">
              <a:lnSpc>
                <a:spcPct val="104000"/>
              </a:lnSpc>
              <a:buNone/>
            </a:pPr>
            <a:r>
              <a:rPr lang="en-US" sz="1600" b="1" dirty="0">
                <a:solidFill>
                  <a:srgbClr val="3B4E4E"/>
                </a:solidFill>
                <a:latin typeface="Syne Bold" pitchFamily="34" charset="0"/>
                <a:ea typeface="Syne Bold" pitchFamily="34" charset="-122"/>
                <a:cs typeface="Syne Bold" pitchFamily="34" charset="-120"/>
              </a:rPr>
              <a:t>Special requirement</a:t>
            </a:r>
            <a:endParaRPr lang="en-US" sz="1600" dirty="0"/>
          </a:p>
        </p:txBody>
      </p:sp>
      <p:sp>
        <p:nvSpPr>
          <p:cNvPr id="12" name="Text 8"/>
          <p:cNvSpPr/>
          <p:nvPr/>
        </p:nvSpPr>
        <p:spPr>
          <a:xfrm>
            <a:off x="3584485" y="3838773"/>
            <a:ext cx="2309656" cy="1323082"/>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3B4E4E"/>
                </a:solidFill>
                <a:latin typeface="Overpass Light" pitchFamily="34" charset="0"/>
                <a:ea typeface="Overpass Light" pitchFamily="34" charset="-122"/>
                <a:cs typeface="Overpass Light" pitchFamily="34" charset="-120"/>
              </a:rPr>
              <a:t>Management wants to see how stores relate at </a:t>
            </a:r>
            <a:pPr algn="l" indent="0" marL="0">
              <a:lnSpc>
                <a:spcPct val="133000"/>
              </a:lnSpc>
              <a:buNone/>
            </a:pPr>
            <a:r>
              <a:rPr lang="en-US" sz="1300" i="1" dirty="0">
                <a:solidFill>
                  <a:srgbClr val="3B4E4E"/>
                </a:solidFill>
                <a:latin typeface="Overpass Light" pitchFamily="34" charset="0"/>
                <a:ea typeface="Overpass Light" pitchFamily="34" charset="-122"/>
                <a:cs typeface="Overpass Light" pitchFamily="34" charset="-120"/>
              </a:rPr>
              <a:t>different levels</a:t>
            </a:r>
            <a:pPr algn="l" indent="0" marL="0">
              <a:lnSpc>
                <a:spcPct val="133000"/>
              </a:lnSpc>
              <a:buNone/>
            </a:pPr>
            <a:r>
              <a:rPr lang="en-US" sz="1300" dirty="0">
                <a:solidFill>
                  <a:srgbClr val="3B4E4E"/>
                </a:solidFill>
                <a:latin typeface="Overpass Light" pitchFamily="34" charset="0"/>
                <a:ea typeface="Overpass Light" pitchFamily="34" charset="-122"/>
                <a:cs typeface="Overpass Light" pitchFamily="34" charset="-120"/>
              </a:rPr>
              <a:t> — both broad macro-groups and detailed sub-groups — before deciding where to cut.</a:t>
            </a:r>
            <a:endParaRPr lang="en-US" sz="1300" dirty="0"/>
          </a:p>
        </p:txBody>
      </p:sp>
      <p:pic>
        <p:nvPicPr>
          <p:cNvPr id="13"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42425" y="5473502"/>
            <a:ext cx="5251715" cy="726480"/>
          </a:xfrm>
          <a:prstGeom prst="rect">
            <a:avLst/>
          </a:prstGeom>
        </p:spPr>
      </p:pic>
      <p:sp>
        <p:nvSpPr>
          <p:cNvPr id="14" name="Text 9"/>
          <p:cNvSpPr/>
          <p:nvPr/>
        </p:nvSpPr>
        <p:spPr>
          <a:xfrm>
            <a:off x="864868" y="5492552"/>
            <a:ext cx="5029273" cy="258465"/>
          </a:xfrm>
          <a:prstGeom prst="rect">
            <a:avLst/>
          </a:prstGeom>
          <a:noFill/>
          <a:ln/>
        </p:spPr>
        <p:txBody>
          <a:bodyPr wrap="none" lIns="0" tIns="0" rIns="0" bIns="0" rtlCol="0" anchor="t"/>
          <a:lstStyle/>
          <a:p>
            <a:pPr algn="l" indent="0" marL="0">
              <a:lnSpc>
                <a:spcPct val="104000"/>
              </a:lnSpc>
              <a:buNone/>
            </a:pPr>
            <a:r>
              <a:rPr lang="en-US" sz="1600" b="1" dirty="0">
                <a:solidFill>
                  <a:srgbClr val="3B4E4E"/>
                </a:solidFill>
                <a:latin typeface="Syne Bold" pitchFamily="34" charset="0"/>
                <a:ea typeface="Syne Bold" pitchFamily="34" charset="-122"/>
                <a:cs typeface="Syne Bold" pitchFamily="34" charset="-120"/>
              </a:rPr>
              <a:t>Problem type</a:t>
            </a:r>
            <a:endParaRPr lang="en-US" sz="1600" dirty="0"/>
          </a:p>
        </p:txBody>
      </p:sp>
      <p:sp>
        <p:nvSpPr>
          <p:cNvPr id="15" name="Text 10"/>
          <p:cNvSpPr/>
          <p:nvPr/>
        </p:nvSpPr>
        <p:spPr>
          <a:xfrm>
            <a:off x="864868" y="5916315"/>
            <a:ext cx="5029273" cy="264616"/>
          </a:xfrm>
          <a:prstGeom prst="rect">
            <a:avLst/>
          </a:prstGeom>
          <a:noFill/>
          <a:ln/>
        </p:spPr>
        <p:txBody>
          <a:bodyPr wrap="none" lIns="0" tIns="0" rIns="0" bIns="0" rtlCol="0" anchor="t"/>
          <a:lstStyle/>
          <a:p>
            <a:pPr algn="l" indent="0" marL="0">
              <a:lnSpc>
                <a:spcPct val="133000"/>
              </a:lnSpc>
              <a:buNone/>
            </a:pPr>
            <a:r>
              <a:rPr lang="en-US" sz="1300" b="1" dirty="0">
                <a:solidFill>
                  <a:srgbClr val="3B4E4E"/>
                </a:solidFill>
                <a:latin typeface="Overpass Bold" pitchFamily="34" charset="0"/>
                <a:ea typeface="Overpass Bold" pitchFamily="34" charset="-122"/>
                <a:cs typeface="Overpass Bold" pitchFamily="34" charset="-120"/>
              </a:rPr>
              <a:t>Clustering with a hierarchy — K is unknown.</a:t>
            </a:r>
            <a:endParaRPr lang="en-US" sz="1300" dirty="0"/>
          </a:p>
        </p:txBody>
      </p:sp>
      <p:sp>
        <p:nvSpPr>
          <p:cNvPr id="16" name="Shape 11"/>
          <p:cNvSpPr/>
          <p:nvPr/>
        </p:nvSpPr>
        <p:spPr>
          <a:xfrm>
            <a:off x="6303904" y="2991247"/>
            <a:ext cx="5232666" cy="1174055"/>
          </a:xfrm>
          <a:prstGeom prst="roundRect">
            <a:avLst>
              <a:gd name="adj" fmla="val 5917"/>
            </a:avLst>
          </a:prstGeom>
          <a:solidFill>
            <a:srgbClr val="DDEEE6"/>
          </a:solidFill>
          <a:ln/>
        </p:spPr>
      </p:sp>
      <p:pic>
        <p:nvPicPr>
          <p:cNvPr id="17" name="Image 3" descr="preencoded.png">    </p:cNvPr>
          <p:cNvPicPr>
            <a:picLocks noChangeAspect="1"/>
          </p:cNvPicPr>
          <p:nvPr/>
        </p:nvPicPr>
        <p:blipFill>
          <a:blip r:embed="rId7"/>
          <a:stretch>
            <a:fillRect/>
          </a:stretch>
        </p:blipFill>
        <p:spPr>
          <a:xfrm>
            <a:off x="6469198" y="3224609"/>
            <a:ext cx="206667" cy="165298"/>
          </a:xfrm>
          <a:prstGeom prst="rect">
            <a:avLst/>
          </a:prstGeom>
        </p:spPr>
      </p:pic>
      <p:sp>
        <p:nvSpPr>
          <p:cNvPr id="18" name="Text 12"/>
          <p:cNvSpPr/>
          <p:nvPr/>
        </p:nvSpPr>
        <p:spPr>
          <a:xfrm>
            <a:off x="6841160" y="3181350"/>
            <a:ext cx="4530116" cy="793849"/>
          </a:xfrm>
          <a:prstGeom prst="rect">
            <a:avLst/>
          </a:prstGeom>
          <a:noFill/>
          <a:ln/>
        </p:spPr>
        <p:txBody>
          <a:bodyPr wrap="square" lIns="0" tIns="0" rIns="0" bIns="0" rtlCol="0" anchor="t">
            <a:normAutofit/>
          </a:bodyPr>
          <a:lstStyle/>
          <a:p>
            <a:pPr algn="l" indent="0" marL="0">
              <a:lnSpc>
                <a:spcPct val="133000"/>
              </a:lnSpc>
              <a:buNone/>
            </a:pPr>
            <a:r>
              <a:rPr lang="en-US" sz="1300" b="1" dirty="0">
                <a:solidFill>
                  <a:srgbClr val="000000"/>
                </a:solidFill>
                <a:latin typeface="Overpass Bold" pitchFamily="34" charset="0"/>
                <a:ea typeface="Overpass Bold" pitchFamily="34" charset="-122"/>
                <a:cs typeface="Overpass Bold" pitchFamily="34" charset="-120"/>
              </a:rPr>
              <a:t>Class discussion:</a:t>
            </a:r>
            <a:pPr algn="l" indent="0" marL="0">
              <a:lnSpc>
                <a:spcPct val="133000"/>
              </a:lnSpc>
              <a:buNone/>
            </a:pPr>
            <a:r>
              <a:rPr lang="en-US" sz="1300" dirty="0">
                <a:solidFill>
                  <a:srgbClr val="000000"/>
                </a:solidFill>
                <a:latin typeface="Overpass Light" pitchFamily="34" charset="0"/>
                <a:ea typeface="Overpass Light" pitchFamily="34" charset="-122"/>
                <a:cs typeface="Overpass Light" pitchFamily="34" charset="-120"/>
              </a:rPr>
              <a:t> Why might two stores in completely different cities sell in a similar pattern? Think about demographics, store size, and neighbourhood type.</a:t>
            </a:r>
            <a:endParaRPr lang="en-US" sz="1300" dirty="0"/>
          </a:p>
        </p:txBody>
      </p:sp>
      <p:sp>
        <p:nvSpPr>
          <p:cNvPr id="19" name="Text 13"/>
          <p:cNvSpPr/>
          <p:nvPr/>
        </p:nvSpPr>
        <p:spPr>
          <a:xfrm>
            <a:off x="6303904" y="4353405"/>
            <a:ext cx="5232666" cy="516930"/>
          </a:xfrm>
          <a:prstGeom prst="rect">
            <a:avLst/>
          </a:prstGeom>
          <a:noFill/>
          <a:ln/>
        </p:spPr>
        <p:txBody>
          <a:bodyPr wrap="square" lIns="0" tIns="0" rIns="0" bIns="0" rtlCol="0" anchor="t">
            <a:normAutofit/>
          </a:bodyPr>
          <a:lstStyle/>
          <a:p>
            <a:pPr algn="l" indent="0" marL="0">
              <a:lnSpc>
                <a:spcPct val="104000"/>
              </a:lnSpc>
              <a:buNone/>
            </a:pPr>
            <a:r>
              <a:rPr lang="en-US" sz="1600" b="1" dirty="0">
                <a:solidFill>
                  <a:srgbClr val="233939"/>
                </a:solidFill>
                <a:latin typeface="Syne Bold" pitchFamily="34" charset="0"/>
                <a:ea typeface="Syne Bold" pitchFamily="34" charset="-122"/>
                <a:cs typeface="Syne Bold" pitchFamily="34" charset="-120"/>
              </a:rPr>
              <a:t>Algorithm to Start With: Hierarchical Clustering</a:t>
            </a:r>
            <a:endParaRPr lang="en-US" sz="1600" dirty="0"/>
          </a:p>
        </p:txBody>
      </p:sp>
      <p:sp>
        <p:nvSpPr>
          <p:cNvPr id="20" name="Text 14"/>
          <p:cNvSpPr/>
          <p:nvPr/>
        </p:nvSpPr>
        <p:spPr>
          <a:xfrm>
            <a:off x="6303904" y="5033566"/>
            <a:ext cx="5232666" cy="793849"/>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3B4E4E"/>
                </a:solidFill>
                <a:latin typeface="Overpass Light" pitchFamily="34" charset="0"/>
                <a:ea typeface="Overpass Light" pitchFamily="34" charset="-122"/>
                <a:cs typeface="Overpass Light" pitchFamily="34" charset="-120"/>
              </a:rPr>
              <a:t>Unlike K-Means, hierarchical clustering does not require you to specify K in advance. It builds a full tree of relationships that you can "cut" at any level.</a:t>
            </a:r>
            <a:endParaRPr lang="en-US" sz="13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DE6"/>
        </a:solidFill>
      </p:bgPr>
    </p:bg>
    <p:spTree>
      <p:nvGrpSpPr>
        <p:cNvPr id="1" name=""/>
        <p:cNvGrpSpPr/>
        <p:nvPr/>
      </p:nvGrpSpPr>
      <p:grpSpPr>
        <a:xfrm>
          <a:off x="0" y="0"/>
          <a:ext cx="0" cy="0"/>
          <a:chOff x="0" y="0"/>
          <a:chExt cx="0" cy="0"/>
        </a:xfrm>
      </p:grpSpPr>
      <p:sp>
        <p:nvSpPr>
          <p:cNvPr id="2" name="Text 0"/>
          <p:cNvSpPr/>
          <p:nvPr/>
        </p:nvSpPr>
        <p:spPr>
          <a:xfrm>
            <a:off x="661475" y="523697"/>
            <a:ext cx="10868745" cy="411857"/>
          </a:xfrm>
          <a:prstGeom prst="rect">
            <a:avLst/>
          </a:prstGeom>
          <a:noFill/>
          <a:ln/>
        </p:spPr>
        <p:txBody>
          <a:bodyPr wrap="none" lIns="0" tIns="0" rIns="0" bIns="0" rtlCol="0" anchor="t"/>
          <a:lstStyle/>
          <a:p>
            <a:pPr algn="l" indent="0" marL="0">
              <a:lnSpc>
                <a:spcPct val="104000"/>
              </a:lnSpc>
              <a:buNone/>
            </a:pPr>
            <a:r>
              <a:rPr lang="en-US" sz="2550" b="1" dirty="0">
                <a:solidFill>
                  <a:srgbClr val="233939"/>
                </a:solidFill>
                <a:latin typeface="Syne Bold" pitchFamily="34" charset="0"/>
                <a:ea typeface="Syne Bold" pitchFamily="34" charset="-122"/>
                <a:cs typeface="Syne Bold" pitchFamily="34" charset="-120"/>
              </a:rPr>
              <a:t>Algorithm: Hierarchical Clustering</a:t>
            </a:r>
            <a:endParaRPr lang="en-US" sz="2550" dirty="0"/>
          </a:p>
        </p:txBody>
      </p:sp>
      <p:sp>
        <p:nvSpPr>
          <p:cNvPr id="3" name="Text 1"/>
          <p:cNvSpPr/>
          <p:nvPr/>
        </p:nvSpPr>
        <p:spPr>
          <a:xfrm>
            <a:off x="661475" y="1140619"/>
            <a:ext cx="10868745" cy="378817"/>
          </a:xfrm>
          <a:prstGeom prst="rect">
            <a:avLst/>
          </a:prstGeom>
          <a:noFill/>
          <a:ln/>
        </p:spPr>
        <p:txBody>
          <a:bodyPr wrap="square" lIns="0" tIns="0" rIns="0" bIns="0" rtlCol="0" anchor="t">
            <a:normAutofit/>
          </a:bodyPr>
          <a:lstStyle/>
          <a:p>
            <a:pPr algn="l" indent="0" marL="0">
              <a:lnSpc>
                <a:spcPct val="120000"/>
              </a:lnSpc>
              <a:buNone/>
            </a:pPr>
            <a:r>
              <a:rPr lang="en-US" sz="1000" dirty="0">
                <a:solidFill>
                  <a:srgbClr val="3B4E4E"/>
                </a:solidFill>
                <a:latin typeface="Overpass Light" pitchFamily="34" charset="0"/>
                <a:ea typeface="Overpass Light" pitchFamily="34" charset="-122"/>
                <a:cs typeface="Overpass Light" pitchFamily="34" charset="-120"/>
              </a:rPr>
              <a:t>Hierarchical clustering builds a complete map of how every store relates to every other store, from the most similar pair all the way up to a single global group. The result is a tree diagram called a </a:t>
            </a:r>
            <a:pPr algn="l" indent="0" marL="0">
              <a:lnSpc>
                <a:spcPct val="120000"/>
              </a:lnSpc>
              <a:buNone/>
            </a:pPr>
            <a:r>
              <a:rPr lang="en-US" sz="1000" b="1" dirty="0">
                <a:solidFill>
                  <a:srgbClr val="3B4E4E"/>
                </a:solidFill>
                <a:latin typeface="Overpass Bold" pitchFamily="34" charset="0"/>
                <a:ea typeface="Overpass Bold" pitchFamily="34" charset="-122"/>
                <a:cs typeface="Overpass Bold" pitchFamily="34" charset="-120"/>
              </a:rPr>
              <a:t>dendrogram</a:t>
            </a:r>
            <a:pPr algn="l" indent="0" marL="0">
              <a:lnSpc>
                <a:spcPct val="120000"/>
              </a:lnSpc>
              <a:buNone/>
            </a:pPr>
            <a:r>
              <a:rPr lang="en-US" sz="1000" dirty="0">
                <a:solidFill>
                  <a:srgbClr val="3B4E4E"/>
                </a:solidFill>
                <a:latin typeface="Overpass Light" pitchFamily="34" charset="0"/>
                <a:ea typeface="Overpass Light" pitchFamily="34" charset="-122"/>
                <a:cs typeface="Overpass Light" pitchFamily="34" charset="-120"/>
              </a:rPr>
              <a:t> — one of the most visually informative outputs in all of unsupervised learning.</a:t>
            </a:r>
            <a:endParaRPr lang="en-US" sz="1000" dirty="0"/>
          </a:p>
        </p:txBody>
      </p:sp>
      <p:sp>
        <p:nvSpPr>
          <p:cNvPr id="4" name="Text 2"/>
          <p:cNvSpPr/>
          <p:nvPr/>
        </p:nvSpPr>
        <p:spPr>
          <a:xfrm>
            <a:off x="661475" y="1744970"/>
            <a:ext cx="5273642" cy="205879"/>
          </a:xfrm>
          <a:prstGeom prst="rect">
            <a:avLst/>
          </a:prstGeom>
          <a:noFill/>
          <a:ln/>
        </p:spPr>
        <p:txBody>
          <a:bodyPr wrap="none" lIns="0" tIns="0" rIns="0" bIns="0" rtlCol="0" anchor="t"/>
          <a:lstStyle/>
          <a:p>
            <a:pPr algn="l" indent="0" marL="0">
              <a:lnSpc>
                <a:spcPct val="104000"/>
              </a:lnSpc>
              <a:buNone/>
            </a:pPr>
            <a:r>
              <a:rPr lang="en-US" sz="1250" b="1" dirty="0">
                <a:solidFill>
                  <a:srgbClr val="233939"/>
                </a:solidFill>
                <a:latin typeface="Syne Bold" pitchFamily="34" charset="0"/>
                <a:ea typeface="Syne Bold" pitchFamily="34" charset="-122"/>
                <a:cs typeface="Syne Bold" pitchFamily="34" charset="-120"/>
              </a:rPr>
              <a:t>How It Works (Agglomerative / Bottom-Up)</a:t>
            </a:r>
            <a:endParaRPr lang="en-US" sz="1250" dirty="0"/>
          </a:p>
        </p:txBody>
      </p:sp>
      <p:sp>
        <p:nvSpPr>
          <p:cNvPr id="5" name="Shape 3"/>
          <p:cNvSpPr/>
          <p:nvPr/>
        </p:nvSpPr>
        <p:spPr>
          <a:xfrm>
            <a:off x="661475" y="2066429"/>
            <a:ext cx="131759" cy="790773"/>
          </a:xfrm>
          <a:prstGeom prst="roundRect">
            <a:avLst>
              <a:gd name="adj" fmla="val 42012"/>
            </a:avLst>
          </a:prstGeom>
          <a:solidFill>
            <a:srgbClr val="DDEEE6"/>
          </a:solidFill>
          <a:ln w="6350">
            <a:solidFill>
              <a:srgbClr val="C3D4CC"/>
            </a:solidFill>
            <a:prstDash val="solid"/>
          </a:ln>
        </p:spPr>
      </p:sp>
      <p:sp>
        <p:nvSpPr>
          <p:cNvPr id="6" name="Text 4"/>
          <p:cNvSpPr/>
          <p:nvPr/>
        </p:nvSpPr>
        <p:spPr>
          <a:xfrm>
            <a:off x="898205" y="2198191"/>
            <a:ext cx="5036912" cy="205879"/>
          </a:xfrm>
          <a:prstGeom prst="rect">
            <a:avLst/>
          </a:prstGeom>
          <a:noFill/>
          <a:ln/>
        </p:spPr>
        <p:txBody>
          <a:bodyPr wrap="none" lIns="0" tIns="0" rIns="0" bIns="0" rtlCol="0" anchor="t"/>
          <a:lstStyle/>
          <a:p>
            <a:pPr algn="l" indent="0" marL="0">
              <a:lnSpc>
                <a:spcPct val="104000"/>
              </a:lnSpc>
              <a:buNone/>
            </a:pPr>
            <a:r>
              <a:rPr lang="en-US" sz="1250" b="1" dirty="0">
                <a:solidFill>
                  <a:srgbClr val="3B4E4E"/>
                </a:solidFill>
                <a:latin typeface="Syne Bold" pitchFamily="34" charset="0"/>
                <a:ea typeface="Syne Bold" pitchFamily="34" charset="-122"/>
                <a:cs typeface="Syne Bold" pitchFamily="34" charset="-120"/>
              </a:rPr>
              <a:t>Start: Every Store Is Its Own Group</a:t>
            </a:r>
            <a:endParaRPr lang="en-US" sz="1250" dirty="0"/>
          </a:p>
        </p:txBody>
      </p:sp>
      <p:sp>
        <p:nvSpPr>
          <p:cNvPr id="7" name="Text 5"/>
          <p:cNvSpPr/>
          <p:nvPr/>
        </p:nvSpPr>
        <p:spPr>
          <a:xfrm>
            <a:off x="898205" y="2509044"/>
            <a:ext cx="5036912" cy="189409"/>
          </a:xfrm>
          <a:prstGeom prst="rect">
            <a:avLst/>
          </a:prstGeom>
          <a:noFill/>
          <a:ln/>
        </p:spPr>
        <p:txBody>
          <a:bodyPr wrap="none" lIns="0" tIns="0" rIns="0" bIns="0" rtlCol="0" anchor="t"/>
          <a:lstStyle/>
          <a:p>
            <a:pPr algn="l" indent="0" marL="0">
              <a:lnSpc>
                <a:spcPct val="120000"/>
              </a:lnSpc>
              <a:buNone/>
            </a:pPr>
            <a:r>
              <a:rPr lang="en-US" sz="1000" dirty="0">
                <a:solidFill>
                  <a:srgbClr val="3B4E4E"/>
                </a:solidFill>
                <a:latin typeface="Overpass Light" pitchFamily="34" charset="0"/>
                <a:ea typeface="Overpass Light" pitchFamily="34" charset="-122"/>
                <a:cs typeface="Overpass Light" pitchFamily="34" charset="-120"/>
              </a:rPr>
              <a:t>With 200 stores, you begin with 200 singleton clusters.</a:t>
            </a:r>
            <a:endParaRPr lang="en-US" sz="1000" dirty="0"/>
          </a:p>
        </p:txBody>
      </p:sp>
      <p:sp>
        <p:nvSpPr>
          <p:cNvPr id="8" name="Shape 6"/>
          <p:cNvSpPr/>
          <p:nvPr/>
        </p:nvSpPr>
        <p:spPr>
          <a:xfrm>
            <a:off x="859114" y="2962176"/>
            <a:ext cx="131759" cy="953195"/>
          </a:xfrm>
          <a:prstGeom prst="roundRect">
            <a:avLst>
              <a:gd name="adj" fmla="val 42012"/>
            </a:avLst>
          </a:prstGeom>
          <a:solidFill>
            <a:srgbClr val="DDEEE6"/>
          </a:solidFill>
          <a:ln w="6350">
            <a:solidFill>
              <a:srgbClr val="C3D4CC"/>
            </a:solidFill>
            <a:prstDash val="solid"/>
          </a:ln>
        </p:spPr>
      </p:sp>
      <p:sp>
        <p:nvSpPr>
          <p:cNvPr id="9" name="Text 7"/>
          <p:cNvSpPr/>
          <p:nvPr/>
        </p:nvSpPr>
        <p:spPr>
          <a:xfrm>
            <a:off x="1095844" y="3093938"/>
            <a:ext cx="4839273" cy="205879"/>
          </a:xfrm>
          <a:prstGeom prst="rect">
            <a:avLst/>
          </a:prstGeom>
          <a:noFill/>
          <a:ln/>
        </p:spPr>
        <p:txBody>
          <a:bodyPr wrap="none" lIns="0" tIns="0" rIns="0" bIns="0" rtlCol="0" anchor="t"/>
          <a:lstStyle/>
          <a:p>
            <a:pPr algn="l" indent="0" marL="0">
              <a:lnSpc>
                <a:spcPct val="104000"/>
              </a:lnSpc>
              <a:buNone/>
            </a:pPr>
            <a:r>
              <a:rPr lang="en-US" sz="1250" b="1" dirty="0">
                <a:solidFill>
                  <a:srgbClr val="3B4E4E"/>
                </a:solidFill>
                <a:latin typeface="Syne Bold" pitchFamily="34" charset="0"/>
                <a:ea typeface="Syne Bold" pitchFamily="34" charset="-122"/>
                <a:cs typeface="Syne Bold" pitchFamily="34" charset="-120"/>
              </a:rPr>
              <a:t>Merge the Closest Pair</a:t>
            </a:r>
            <a:endParaRPr lang="en-US" sz="1250" dirty="0"/>
          </a:p>
        </p:txBody>
      </p:sp>
      <p:sp>
        <p:nvSpPr>
          <p:cNvPr id="10" name="Text 8"/>
          <p:cNvSpPr/>
          <p:nvPr/>
        </p:nvSpPr>
        <p:spPr>
          <a:xfrm>
            <a:off x="1095844" y="3404791"/>
            <a:ext cx="4839273" cy="378817"/>
          </a:xfrm>
          <a:prstGeom prst="rect">
            <a:avLst/>
          </a:prstGeom>
          <a:noFill/>
          <a:ln/>
        </p:spPr>
        <p:txBody>
          <a:bodyPr wrap="square" lIns="0" tIns="0" rIns="0" bIns="0" rtlCol="0" anchor="t">
            <a:normAutofit/>
          </a:bodyPr>
          <a:lstStyle/>
          <a:p>
            <a:pPr algn="l" indent="0" marL="0">
              <a:lnSpc>
                <a:spcPct val="120000"/>
              </a:lnSpc>
              <a:buNone/>
            </a:pPr>
            <a:r>
              <a:rPr lang="en-US" sz="1000" dirty="0">
                <a:solidFill>
                  <a:srgbClr val="3B4E4E"/>
                </a:solidFill>
                <a:latin typeface="Overpass Light" pitchFamily="34" charset="0"/>
                <a:ea typeface="Overpass Light" pitchFamily="34" charset="-122"/>
                <a:cs typeface="Overpass Light" pitchFamily="34" charset="-120"/>
              </a:rPr>
              <a:t>Find the two most similar stores (or groups) and merge them into one. Now you have 199 clusters.</a:t>
            </a:r>
            <a:endParaRPr lang="en-US" sz="1000" dirty="0"/>
          </a:p>
        </p:txBody>
      </p:sp>
      <p:sp>
        <p:nvSpPr>
          <p:cNvPr id="11" name="Shape 9"/>
          <p:cNvSpPr/>
          <p:nvPr/>
        </p:nvSpPr>
        <p:spPr>
          <a:xfrm>
            <a:off x="1056852" y="4020344"/>
            <a:ext cx="131759" cy="953195"/>
          </a:xfrm>
          <a:prstGeom prst="roundRect">
            <a:avLst>
              <a:gd name="adj" fmla="val 42012"/>
            </a:avLst>
          </a:prstGeom>
          <a:solidFill>
            <a:srgbClr val="DDEEE6"/>
          </a:solidFill>
          <a:ln w="6350">
            <a:solidFill>
              <a:srgbClr val="C3D4CC"/>
            </a:solidFill>
            <a:prstDash val="solid"/>
          </a:ln>
        </p:spPr>
      </p:sp>
      <p:sp>
        <p:nvSpPr>
          <p:cNvPr id="12" name="Text 10"/>
          <p:cNvSpPr/>
          <p:nvPr/>
        </p:nvSpPr>
        <p:spPr>
          <a:xfrm>
            <a:off x="1293582" y="4152106"/>
            <a:ext cx="4641535" cy="205879"/>
          </a:xfrm>
          <a:prstGeom prst="rect">
            <a:avLst/>
          </a:prstGeom>
          <a:noFill/>
          <a:ln/>
        </p:spPr>
        <p:txBody>
          <a:bodyPr wrap="none" lIns="0" tIns="0" rIns="0" bIns="0" rtlCol="0" anchor="t"/>
          <a:lstStyle/>
          <a:p>
            <a:pPr algn="l" indent="0" marL="0">
              <a:lnSpc>
                <a:spcPct val="104000"/>
              </a:lnSpc>
              <a:buNone/>
            </a:pPr>
            <a:r>
              <a:rPr lang="en-US" sz="1250" b="1" dirty="0">
                <a:solidFill>
                  <a:srgbClr val="3B4E4E"/>
                </a:solidFill>
                <a:latin typeface="Syne Bold" pitchFamily="34" charset="0"/>
                <a:ea typeface="Syne Bold" pitchFamily="34" charset="-122"/>
                <a:cs typeface="Syne Bold" pitchFamily="34" charset="-120"/>
              </a:rPr>
              <a:t>Repeat</a:t>
            </a:r>
            <a:endParaRPr lang="en-US" sz="1250" dirty="0"/>
          </a:p>
        </p:txBody>
      </p:sp>
      <p:sp>
        <p:nvSpPr>
          <p:cNvPr id="13" name="Text 11"/>
          <p:cNvSpPr/>
          <p:nvPr/>
        </p:nvSpPr>
        <p:spPr>
          <a:xfrm>
            <a:off x="1293582" y="4462959"/>
            <a:ext cx="4641535" cy="378817"/>
          </a:xfrm>
          <a:prstGeom prst="rect">
            <a:avLst/>
          </a:prstGeom>
          <a:noFill/>
          <a:ln/>
        </p:spPr>
        <p:txBody>
          <a:bodyPr wrap="square" lIns="0" tIns="0" rIns="0" bIns="0" rtlCol="0" anchor="t">
            <a:normAutofit/>
          </a:bodyPr>
          <a:lstStyle/>
          <a:p>
            <a:pPr algn="l" indent="0" marL="0">
              <a:lnSpc>
                <a:spcPct val="120000"/>
              </a:lnSpc>
              <a:buNone/>
            </a:pPr>
            <a:r>
              <a:rPr lang="en-US" sz="1000" dirty="0">
                <a:solidFill>
                  <a:srgbClr val="3B4E4E"/>
                </a:solidFill>
                <a:latin typeface="Overpass Light" pitchFamily="34" charset="0"/>
                <a:ea typeface="Overpass Light" pitchFamily="34" charset="-122"/>
                <a:cs typeface="Overpass Light" pitchFamily="34" charset="-120"/>
              </a:rPr>
              <a:t>Continue merging the closest remaining pair at each step. The process runs until all stores are in one cluster.</a:t>
            </a:r>
            <a:endParaRPr lang="en-US" sz="1000" dirty="0"/>
          </a:p>
        </p:txBody>
      </p:sp>
      <p:sp>
        <p:nvSpPr>
          <p:cNvPr id="14" name="Shape 12"/>
          <p:cNvSpPr/>
          <p:nvPr/>
        </p:nvSpPr>
        <p:spPr>
          <a:xfrm>
            <a:off x="1254490" y="5078512"/>
            <a:ext cx="131759" cy="1142603"/>
          </a:xfrm>
          <a:prstGeom prst="roundRect">
            <a:avLst>
              <a:gd name="adj" fmla="val 42012"/>
            </a:avLst>
          </a:prstGeom>
          <a:solidFill>
            <a:srgbClr val="DDEEE6"/>
          </a:solidFill>
          <a:ln w="6350">
            <a:solidFill>
              <a:srgbClr val="C3D4CC"/>
            </a:solidFill>
            <a:prstDash val="solid"/>
          </a:ln>
        </p:spPr>
      </p:sp>
      <p:sp>
        <p:nvSpPr>
          <p:cNvPr id="15" name="Text 13"/>
          <p:cNvSpPr/>
          <p:nvPr/>
        </p:nvSpPr>
        <p:spPr>
          <a:xfrm>
            <a:off x="1491221" y="5210274"/>
            <a:ext cx="4443897" cy="205879"/>
          </a:xfrm>
          <a:prstGeom prst="rect">
            <a:avLst/>
          </a:prstGeom>
          <a:noFill/>
          <a:ln/>
        </p:spPr>
        <p:txBody>
          <a:bodyPr wrap="none" lIns="0" tIns="0" rIns="0" bIns="0" rtlCol="0" anchor="t"/>
          <a:lstStyle/>
          <a:p>
            <a:pPr algn="l" indent="0" marL="0">
              <a:lnSpc>
                <a:spcPct val="104000"/>
              </a:lnSpc>
              <a:buNone/>
            </a:pPr>
            <a:r>
              <a:rPr lang="en-US" sz="1250" b="1" dirty="0">
                <a:solidFill>
                  <a:srgbClr val="3B4E4E"/>
                </a:solidFill>
                <a:latin typeface="Syne Bold" pitchFamily="34" charset="0"/>
                <a:ea typeface="Syne Bold" pitchFamily="34" charset="-122"/>
                <a:cs typeface="Syne Bold" pitchFamily="34" charset="-120"/>
              </a:rPr>
              <a:t>Cut the Dendrogram</a:t>
            </a:r>
            <a:endParaRPr lang="en-US" sz="1250" dirty="0"/>
          </a:p>
        </p:txBody>
      </p:sp>
      <p:sp>
        <p:nvSpPr>
          <p:cNvPr id="16" name="Text 14"/>
          <p:cNvSpPr/>
          <p:nvPr/>
        </p:nvSpPr>
        <p:spPr>
          <a:xfrm>
            <a:off x="1491221" y="5521127"/>
            <a:ext cx="4443897" cy="568226"/>
          </a:xfrm>
          <a:prstGeom prst="rect">
            <a:avLst/>
          </a:prstGeom>
          <a:noFill/>
          <a:ln/>
        </p:spPr>
        <p:txBody>
          <a:bodyPr wrap="square" lIns="0" tIns="0" rIns="0" bIns="0" rtlCol="0" anchor="t">
            <a:normAutofit/>
          </a:bodyPr>
          <a:lstStyle/>
          <a:p>
            <a:pPr algn="l" indent="0" marL="0">
              <a:lnSpc>
                <a:spcPct val="120000"/>
              </a:lnSpc>
              <a:buNone/>
            </a:pPr>
            <a:r>
              <a:rPr lang="en-US" sz="1000" dirty="0">
                <a:solidFill>
                  <a:srgbClr val="3B4E4E"/>
                </a:solidFill>
                <a:latin typeface="Overpass Light" pitchFamily="34" charset="0"/>
                <a:ea typeface="Overpass Light" pitchFamily="34" charset="-122"/>
                <a:cs typeface="Overpass Light" pitchFamily="34" charset="-120"/>
              </a:rPr>
              <a:t>The full hierarchy is drawn as a tree. You cut it at the level that produces a useful and interpretable number of groups — 3 broad regions, or 8 store archetypes, as the business needs.</a:t>
            </a:r>
            <a:endParaRPr lang="en-US" sz="1000" dirty="0"/>
          </a:p>
        </p:txBody>
      </p:sp>
      <p:sp>
        <p:nvSpPr>
          <p:cNvPr id="17" name="Text 15"/>
          <p:cNvSpPr/>
          <p:nvPr/>
        </p:nvSpPr>
        <p:spPr>
          <a:xfrm>
            <a:off x="6262928" y="1744970"/>
            <a:ext cx="5273642" cy="205879"/>
          </a:xfrm>
          <a:prstGeom prst="rect">
            <a:avLst/>
          </a:prstGeom>
          <a:noFill/>
          <a:ln/>
        </p:spPr>
        <p:txBody>
          <a:bodyPr wrap="none" lIns="0" tIns="0" rIns="0" bIns="0" rtlCol="0" anchor="t"/>
          <a:lstStyle/>
          <a:p>
            <a:pPr algn="l" indent="0" marL="0">
              <a:lnSpc>
                <a:spcPct val="104000"/>
              </a:lnSpc>
              <a:buNone/>
            </a:pPr>
            <a:r>
              <a:rPr lang="en-US" sz="1250" b="1" dirty="0">
                <a:solidFill>
                  <a:srgbClr val="233939"/>
                </a:solidFill>
                <a:latin typeface="Syne Bold" pitchFamily="34" charset="0"/>
                <a:ea typeface="Syne Bold" pitchFamily="34" charset="-122"/>
                <a:cs typeface="Syne Bold" pitchFamily="34" charset="-120"/>
              </a:rPr>
              <a:t>Strengths and Limits</a:t>
            </a:r>
            <a:endParaRPr lang="en-US" sz="1250" dirty="0"/>
          </a:p>
        </p:txBody>
      </p:sp>
      <p:pic>
        <p:nvPicPr>
          <p:cNvPr id="18"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262928" y="2066429"/>
            <a:ext cx="5273642" cy="991295"/>
          </a:xfrm>
          <a:prstGeom prst="rect">
            <a:avLst/>
          </a:prstGeom>
        </p:spPr>
      </p:pic>
      <p:sp>
        <p:nvSpPr>
          <p:cNvPr id="19" name="Text 16"/>
          <p:cNvSpPr/>
          <p:nvPr/>
        </p:nvSpPr>
        <p:spPr>
          <a:xfrm>
            <a:off x="6489935" y="2217241"/>
            <a:ext cx="4895827" cy="205879"/>
          </a:xfrm>
          <a:prstGeom prst="rect">
            <a:avLst/>
          </a:prstGeom>
          <a:noFill/>
          <a:ln/>
        </p:spPr>
        <p:txBody>
          <a:bodyPr wrap="none" lIns="0" tIns="0" rIns="0" bIns="0" rtlCol="0" anchor="t"/>
          <a:lstStyle/>
          <a:p>
            <a:pPr algn="l" indent="0" marL="0">
              <a:lnSpc>
                <a:spcPct val="104000"/>
              </a:lnSpc>
              <a:buNone/>
            </a:pPr>
            <a:r>
              <a:rPr lang="en-US" sz="1250" b="1" dirty="0">
                <a:solidFill>
                  <a:srgbClr val="3B4E4E"/>
                </a:solidFill>
                <a:latin typeface="Syne Bold" pitchFamily="34" charset="0"/>
                <a:ea typeface="Syne Bold" pitchFamily="34" charset="-122"/>
                <a:cs typeface="Syne Bold" pitchFamily="34" charset="-120"/>
              </a:rPr>
              <a:t>✓ No Need to Pre-specify K</a:t>
            </a:r>
            <a:endParaRPr lang="en-US" sz="1250" dirty="0"/>
          </a:p>
        </p:txBody>
      </p:sp>
      <p:sp>
        <p:nvSpPr>
          <p:cNvPr id="20" name="Text 17"/>
          <p:cNvSpPr/>
          <p:nvPr/>
        </p:nvSpPr>
        <p:spPr>
          <a:xfrm>
            <a:off x="6489935" y="2528094"/>
            <a:ext cx="4895827" cy="378817"/>
          </a:xfrm>
          <a:prstGeom prst="rect">
            <a:avLst/>
          </a:prstGeom>
          <a:noFill/>
          <a:ln/>
        </p:spPr>
        <p:txBody>
          <a:bodyPr wrap="square" lIns="0" tIns="0" rIns="0" bIns="0" rtlCol="0" anchor="t">
            <a:normAutofit/>
          </a:bodyPr>
          <a:lstStyle/>
          <a:p>
            <a:pPr algn="l" indent="0" marL="0">
              <a:lnSpc>
                <a:spcPct val="120000"/>
              </a:lnSpc>
              <a:buNone/>
            </a:pPr>
            <a:r>
              <a:rPr lang="en-US" sz="1000" dirty="0">
                <a:solidFill>
                  <a:srgbClr val="3B4E4E"/>
                </a:solidFill>
                <a:latin typeface="Overpass Light" pitchFamily="34" charset="0"/>
                <a:ea typeface="Overpass Light" pitchFamily="34" charset="-122"/>
                <a:cs typeface="Overpass Light" pitchFamily="34" charset="-120"/>
              </a:rPr>
              <a:t>The full hierarchy is computed once. You explore the dendrogram and choose the cut that makes business sense — without rerunning the algorithm.</a:t>
            </a:r>
            <a:endParaRPr lang="en-US" sz="1000" dirty="0"/>
          </a:p>
        </p:txBody>
      </p:sp>
      <p:pic>
        <p:nvPicPr>
          <p:cNvPr id="21"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262928" y="3162697"/>
            <a:ext cx="5273642" cy="991295"/>
          </a:xfrm>
          <a:prstGeom prst="rect">
            <a:avLst/>
          </a:prstGeom>
        </p:spPr>
      </p:pic>
      <p:sp>
        <p:nvSpPr>
          <p:cNvPr id="22" name="Text 18"/>
          <p:cNvSpPr/>
          <p:nvPr/>
        </p:nvSpPr>
        <p:spPr>
          <a:xfrm>
            <a:off x="6489935" y="3313509"/>
            <a:ext cx="4895827" cy="205879"/>
          </a:xfrm>
          <a:prstGeom prst="rect">
            <a:avLst/>
          </a:prstGeom>
          <a:noFill/>
          <a:ln/>
        </p:spPr>
        <p:txBody>
          <a:bodyPr wrap="none" lIns="0" tIns="0" rIns="0" bIns="0" rtlCol="0" anchor="t"/>
          <a:lstStyle/>
          <a:p>
            <a:pPr algn="l" indent="0" marL="0">
              <a:lnSpc>
                <a:spcPct val="104000"/>
              </a:lnSpc>
              <a:buNone/>
            </a:pPr>
            <a:r>
              <a:rPr lang="en-US" sz="1250" b="1" dirty="0">
                <a:solidFill>
                  <a:srgbClr val="3B4E4E"/>
                </a:solidFill>
                <a:latin typeface="Syne Bold" pitchFamily="34" charset="0"/>
                <a:ea typeface="Syne Bold" pitchFamily="34" charset="-122"/>
                <a:cs typeface="Syne Bold" pitchFamily="34" charset="-120"/>
              </a:rPr>
              <a:t>✓ Shows Relationships at All Levels</a:t>
            </a:r>
            <a:endParaRPr lang="en-US" sz="1250" dirty="0"/>
          </a:p>
        </p:txBody>
      </p:sp>
      <p:sp>
        <p:nvSpPr>
          <p:cNvPr id="23" name="Text 19"/>
          <p:cNvSpPr/>
          <p:nvPr/>
        </p:nvSpPr>
        <p:spPr>
          <a:xfrm>
            <a:off x="6489935" y="3624362"/>
            <a:ext cx="4895827" cy="378817"/>
          </a:xfrm>
          <a:prstGeom prst="rect">
            <a:avLst/>
          </a:prstGeom>
          <a:noFill/>
          <a:ln/>
        </p:spPr>
        <p:txBody>
          <a:bodyPr wrap="square" lIns="0" tIns="0" rIns="0" bIns="0" rtlCol="0" anchor="t">
            <a:normAutofit/>
          </a:bodyPr>
          <a:lstStyle/>
          <a:p>
            <a:pPr algn="l" indent="0" marL="0">
              <a:lnSpc>
                <a:spcPct val="120000"/>
              </a:lnSpc>
              <a:buNone/>
            </a:pPr>
            <a:r>
              <a:rPr lang="en-US" sz="1000" dirty="0">
                <a:solidFill>
                  <a:srgbClr val="3B4E4E"/>
                </a:solidFill>
                <a:latin typeface="Overpass Light" pitchFamily="34" charset="0"/>
                <a:ea typeface="Overpass Light" pitchFamily="34" charset="-122"/>
                <a:cs typeface="Overpass Light" pitchFamily="34" charset="-120"/>
              </a:rPr>
              <a:t>You can see which stores are most similar to each other, not just which group they belong to — valuable for explaining results to management.</a:t>
            </a:r>
            <a:endParaRPr lang="en-US" sz="1000" dirty="0"/>
          </a:p>
        </p:txBody>
      </p:sp>
      <p:pic>
        <p:nvPicPr>
          <p:cNvPr id="24"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262928" y="4258965"/>
            <a:ext cx="5273642" cy="991295"/>
          </a:xfrm>
          <a:prstGeom prst="rect">
            <a:avLst/>
          </a:prstGeom>
        </p:spPr>
      </p:pic>
      <p:sp>
        <p:nvSpPr>
          <p:cNvPr id="25" name="Text 20"/>
          <p:cNvSpPr/>
          <p:nvPr/>
        </p:nvSpPr>
        <p:spPr>
          <a:xfrm>
            <a:off x="6489935" y="4409777"/>
            <a:ext cx="4895827" cy="205879"/>
          </a:xfrm>
          <a:prstGeom prst="rect">
            <a:avLst/>
          </a:prstGeom>
          <a:noFill/>
          <a:ln/>
        </p:spPr>
        <p:txBody>
          <a:bodyPr wrap="none" lIns="0" tIns="0" rIns="0" bIns="0" rtlCol="0" anchor="t"/>
          <a:lstStyle/>
          <a:p>
            <a:pPr algn="l" indent="0" marL="0">
              <a:lnSpc>
                <a:spcPct val="104000"/>
              </a:lnSpc>
              <a:buNone/>
            </a:pPr>
            <a:r>
              <a:rPr lang="en-US" sz="1250" b="1" dirty="0">
                <a:solidFill>
                  <a:srgbClr val="3B4E4E"/>
                </a:solidFill>
                <a:latin typeface="Syne Bold" pitchFamily="34" charset="0"/>
                <a:ea typeface="Syne Bold" pitchFamily="34" charset="-122"/>
                <a:cs typeface="Syne Bold" pitchFamily="34" charset="-120"/>
              </a:rPr>
              <a:t>✗ Slow on Large Datasets</a:t>
            </a:r>
            <a:endParaRPr lang="en-US" sz="1250" dirty="0"/>
          </a:p>
        </p:txBody>
      </p:sp>
      <p:sp>
        <p:nvSpPr>
          <p:cNvPr id="26" name="Text 21"/>
          <p:cNvSpPr/>
          <p:nvPr/>
        </p:nvSpPr>
        <p:spPr>
          <a:xfrm>
            <a:off x="6489935" y="4720630"/>
            <a:ext cx="4895827" cy="378817"/>
          </a:xfrm>
          <a:prstGeom prst="rect">
            <a:avLst/>
          </a:prstGeom>
          <a:noFill/>
          <a:ln/>
        </p:spPr>
        <p:txBody>
          <a:bodyPr wrap="square" lIns="0" tIns="0" rIns="0" bIns="0" rtlCol="0" anchor="t">
            <a:normAutofit/>
          </a:bodyPr>
          <a:lstStyle/>
          <a:p>
            <a:pPr algn="l" indent="0" marL="0">
              <a:lnSpc>
                <a:spcPct val="120000"/>
              </a:lnSpc>
              <a:buNone/>
            </a:pPr>
            <a:r>
              <a:rPr lang="en-US" sz="1000" dirty="0">
                <a:solidFill>
                  <a:srgbClr val="3B4E4E"/>
                </a:solidFill>
                <a:latin typeface="Overpass Light" pitchFamily="34" charset="0"/>
                <a:ea typeface="Overpass Light" pitchFamily="34" charset="-122"/>
                <a:cs typeface="Overpass Light" pitchFamily="34" charset="-120"/>
              </a:rPr>
              <a:t>Comparing every pair of items becomes computationally expensive as the number of records grows into the tens of thousands.</a:t>
            </a:r>
            <a:endParaRPr lang="en-US" sz="1000" dirty="0"/>
          </a:p>
        </p:txBody>
      </p:sp>
      <p:sp>
        <p:nvSpPr>
          <p:cNvPr id="27" name="Text 22"/>
          <p:cNvSpPr/>
          <p:nvPr/>
        </p:nvSpPr>
        <p:spPr>
          <a:xfrm>
            <a:off x="6262928" y="5370820"/>
            <a:ext cx="5273642" cy="205879"/>
          </a:xfrm>
          <a:prstGeom prst="rect">
            <a:avLst/>
          </a:prstGeom>
          <a:noFill/>
          <a:ln/>
        </p:spPr>
        <p:txBody>
          <a:bodyPr wrap="none" lIns="0" tIns="0" rIns="0" bIns="0" rtlCol="0" anchor="t"/>
          <a:lstStyle/>
          <a:p>
            <a:pPr algn="l" indent="0" marL="0">
              <a:lnSpc>
                <a:spcPct val="104000"/>
              </a:lnSpc>
              <a:buNone/>
            </a:pPr>
            <a:r>
              <a:rPr lang="en-US" sz="1250" b="1" dirty="0">
                <a:solidFill>
                  <a:srgbClr val="233939"/>
                </a:solidFill>
                <a:latin typeface="Syne Bold" pitchFamily="34" charset="0"/>
                <a:ea typeface="Syne Bold" pitchFamily="34" charset="-122"/>
                <a:cs typeface="Syne Bold" pitchFamily="34" charset="-120"/>
              </a:rPr>
              <a:t>Real-World Use</a:t>
            </a:r>
            <a:endParaRPr lang="en-US" sz="1250" dirty="0"/>
          </a:p>
        </p:txBody>
      </p:sp>
      <p:sp>
        <p:nvSpPr>
          <p:cNvPr id="28" name="Text 23"/>
          <p:cNvSpPr/>
          <p:nvPr/>
        </p:nvSpPr>
        <p:spPr>
          <a:xfrm>
            <a:off x="6262928" y="5679182"/>
            <a:ext cx="5273642" cy="378817"/>
          </a:xfrm>
          <a:prstGeom prst="rect">
            <a:avLst/>
          </a:prstGeom>
          <a:noFill/>
          <a:ln/>
        </p:spPr>
        <p:txBody>
          <a:bodyPr wrap="square" lIns="0" tIns="0" rIns="0" bIns="0" rtlCol="0" anchor="t">
            <a:normAutofit/>
          </a:bodyPr>
          <a:lstStyle/>
          <a:p>
            <a:pPr algn="l" indent="0" marL="0">
              <a:lnSpc>
                <a:spcPct val="120000"/>
              </a:lnSpc>
              <a:buNone/>
            </a:pPr>
            <a:r>
              <a:rPr lang="en-US" sz="1000" dirty="0">
                <a:solidFill>
                  <a:srgbClr val="3B4E4E"/>
                </a:solidFill>
                <a:latin typeface="Overpass Light" pitchFamily="34" charset="0"/>
                <a:ea typeface="Overpass Light" pitchFamily="34" charset="-122"/>
                <a:cs typeface="Overpass Light" pitchFamily="34" charset="-120"/>
              </a:rPr>
              <a:t>Grouping genes with similar expression patterns in biology research; grouping news articles or legal documents by topic; store and product grouping for retail planning.</a:t>
            </a:r>
            <a:endParaRPr lang="en-US" sz="10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DE6"/>
        </a:solidFill>
      </p:bgPr>
    </p:bg>
    <p:spTree>
      <p:nvGrpSpPr>
        <p:cNvPr id="1" name=""/>
        <p:cNvGrpSpPr/>
        <p:nvPr/>
      </p:nvGrpSpPr>
      <p:grpSpPr>
        <a:xfrm>
          <a:off x="0" y="0"/>
          <a:ext cx="0" cy="0"/>
          <a:chOff x="0" y="0"/>
          <a:chExt cx="0" cy="0"/>
        </a:xfrm>
      </p:grpSpPr>
      <p:sp>
        <p:nvSpPr>
          <p:cNvPr id="2" name="Shape 0"/>
          <p:cNvSpPr/>
          <p:nvPr/>
        </p:nvSpPr>
        <p:spPr>
          <a:xfrm>
            <a:off x="661475" y="454819"/>
            <a:ext cx="706221" cy="137319"/>
          </a:xfrm>
          <a:prstGeom prst="roundRect">
            <a:avLst>
              <a:gd name="adj" fmla="val 22131"/>
            </a:avLst>
          </a:prstGeom>
          <a:solidFill>
            <a:srgbClr val="DDEEE6"/>
          </a:solidFill>
          <a:ln/>
        </p:spPr>
      </p:sp>
      <p:sp>
        <p:nvSpPr>
          <p:cNvPr id="3" name="Text 1"/>
          <p:cNvSpPr/>
          <p:nvPr/>
        </p:nvSpPr>
        <p:spPr>
          <a:xfrm>
            <a:off x="715647" y="481905"/>
            <a:ext cx="1207462" cy="83145"/>
          </a:xfrm>
          <a:prstGeom prst="rect">
            <a:avLst/>
          </a:prstGeom>
          <a:noFill/>
          <a:ln/>
        </p:spPr>
        <p:txBody>
          <a:bodyPr wrap="none" lIns="0" tIns="0" rIns="0" bIns="0" rtlCol="0" anchor="t"/>
          <a:lstStyle/>
          <a:p>
            <a:pPr algn="l" indent="0" marL="0">
              <a:lnSpc>
                <a:spcPct val="96000"/>
              </a:lnSpc>
              <a:buNone/>
            </a:pPr>
            <a:r>
              <a:rPr lang="en-US" sz="550" dirty="0">
                <a:solidFill>
                  <a:srgbClr val="3B4E4E"/>
                </a:solidFill>
                <a:latin typeface="Overpass Light" pitchFamily="34" charset="0"/>
                <a:ea typeface="Overpass Light" pitchFamily="34" charset="-122"/>
                <a:cs typeface="Overpass Light" pitchFamily="34" charset="-120"/>
              </a:rPr>
              <a:t>BUSINESS CASE 11</a:t>
            </a:r>
            <a:endParaRPr lang="en-US" sz="550" dirty="0"/>
          </a:p>
        </p:txBody>
      </p:sp>
      <p:sp>
        <p:nvSpPr>
          <p:cNvPr id="4" name="Text 2"/>
          <p:cNvSpPr/>
          <p:nvPr/>
        </p:nvSpPr>
        <p:spPr>
          <a:xfrm>
            <a:off x="661475" y="614242"/>
            <a:ext cx="10868745" cy="282575"/>
          </a:xfrm>
          <a:prstGeom prst="rect">
            <a:avLst/>
          </a:prstGeom>
          <a:noFill/>
          <a:ln/>
        </p:spPr>
        <p:txBody>
          <a:bodyPr wrap="none" lIns="0" tIns="0" rIns="0" bIns="0" rtlCol="0" anchor="t"/>
          <a:lstStyle/>
          <a:p>
            <a:pPr algn="l" indent="0" marL="0">
              <a:lnSpc>
                <a:spcPct val="104000"/>
              </a:lnSpc>
              <a:buNone/>
            </a:pPr>
            <a:r>
              <a:rPr lang="en-US" sz="1750" b="1" dirty="0">
                <a:solidFill>
                  <a:srgbClr val="233939"/>
                </a:solidFill>
                <a:latin typeface="Syne Bold" pitchFamily="34" charset="0"/>
                <a:ea typeface="Syne Bold" pitchFamily="34" charset="-122"/>
                <a:cs typeface="Syne Bold" pitchFamily="34" charset="-120"/>
              </a:rPr>
              <a:t>Spotting a Machine Before It Fails</a:t>
            </a:r>
            <a:endParaRPr lang="en-US" sz="1750" dirty="0"/>
          </a:p>
        </p:txBody>
      </p:sp>
      <p:pic>
        <p:nvPicPr>
          <p:cNvPr id="5" name="Image 0" descr="preencoded.png">    </p:cNvPr>
          <p:cNvPicPr>
            <a:picLocks noChangeAspect="1"/>
          </p:cNvPicPr>
          <p:nvPr/>
        </p:nvPicPr>
        <p:blipFill>
          <a:blip r:embed="rId1"/>
          <a:stretch>
            <a:fillRect/>
          </a:stretch>
        </p:blipFill>
        <p:spPr>
          <a:xfrm>
            <a:off x="661475" y="1024136"/>
            <a:ext cx="5324044" cy="5324177"/>
          </a:xfrm>
          <a:prstGeom prst="rect">
            <a:avLst/>
          </a:prstGeom>
        </p:spPr>
      </p:pic>
      <p:sp>
        <p:nvSpPr>
          <p:cNvPr id="6" name="Text 3"/>
          <p:cNvSpPr/>
          <p:nvPr/>
        </p:nvSpPr>
        <p:spPr>
          <a:xfrm>
            <a:off x="6212526" y="1017984"/>
            <a:ext cx="5324044" cy="141387"/>
          </a:xfrm>
          <a:prstGeom prst="rect">
            <a:avLst/>
          </a:prstGeom>
          <a:noFill/>
          <a:ln/>
        </p:spPr>
        <p:txBody>
          <a:bodyPr wrap="none" lIns="0" tIns="0" rIns="0" bIns="0" rtlCol="0" anchor="t"/>
          <a:lstStyle/>
          <a:p>
            <a:pPr algn="l" indent="0" marL="0">
              <a:lnSpc>
                <a:spcPct val="104000"/>
              </a:lnSpc>
              <a:buNone/>
            </a:pPr>
            <a:r>
              <a:rPr lang="en-US" sz="850" b="1" dirty="0">
                <a:solidFill>
                  <a:srgbClr val="233939"/>
                </a:solidFill>
                <a:latin typeface="Syne Bold" pitchFamily="34" charset="0"/>
                <a:ea typeface="Syne Bold" pitchFamily="34" charset="-122"/>
                <a:cs typeface="Syne Bold" pitchFamily="34" charset="-120"/>
              </a:rPr>
              <a:t>The Situation</a:t>
            </a:r>
            <a:endParaRPr lang="en-US" sz="850" dirty="0"/>
          </a:p>
        </p:txBody>
      </p:sp>
      <p:sp>
        <p:nvSpPr>
          <p:cNvPr id="7" name="Text 4"/>
          <p:cNvSpPr/>
          <p:nvPr/>
        </p:nvSpPr>
        <p:spPr>
          <a:xfrm>
            <a:off x="6212526" y="1208782"/>
            <a:ext cx="5324044" cy="223838"/>
          </a:xfrm>
          <a:prstGeom prst="rect">
            <a:avLst/>
          </a:prstGeom>
          <a:noFill/>
          <a:ln/>
        </p:spPr>
        <p:txBody>
          <a:bodyPr wrap="square" lIns="0" tIns="0" rIns="0" bIns="0" rtlCol="0" anchor="t">
            <a:normAutofit/>
          </a:bodyPr>
          <a:lstStyle/>
          <a:p>
            <a:pPr algn="l" indent="0" marL="0">
              <a:lnSpc>
                <a:spcPct val="103000"/>
              </a:lnSpc>
              <a:buNone/>
            </a:pPr>
            <a:r>
              <a:rPr lang="en-US" sz="700" dirty="0">
                <a:solidFill>
                  <a:srgbClr val="3B4E4E"/>
                </a:solidFill>
                <a:latin typeface="Overpass Light" pitchFamily="34" charset="0"/>
                <a:ea typeface="Overpass Light" pitchFamily="34" charset="-122"/>
                <a:cs typeface="Overpass Light" pitchFamily="34" charset="-120"/>
              </a:rPr>
              <a:t>A factory has sensors on every machine recording temperature, vibration, and pressure every second. It wants an automated alert when sensor readings look unusual — before the machine breaks down, causing costly downtime.</a:t>
            </a:r>
            <a:endParaRPr lang="en-US" sz="700" dirty="0"/>
          </a:p>
        </p:txBody>
      </p:sp>
      <p:sp>
        <p:nvSpPr>
          <p:cNvPr id="8" name="Text 5"/>
          <p:cNvSpPr/>
          <p:nvPr/>
        </p:nvSpPr>
        <p:spPr>
          <a:xfrm>
            <a:off x="6212526" y="1482030"/>
            <a:ext cx="5324044" cy="141387"/>
          </a:xfrm>
          <a:prstGeom prst="rect">
            <a:avLst/>
          </a:prstGeom>
          <a:noFill/>
          <a:ln/>
        </p:spPr>
        <p:txBody>
          <a:bodyPr wrap="none" lIns="0" tIns="0" rIns="0" bIns="0" rtlCol="0" anchor="t"/>
          <a:lstStyle/>
          <a:p>
            <a:pPr algn="l" indent="0" marL="0">
              <a:lnSpc>
                <a:spcPct val="104000"/>
              </a:lnSpc>
              <a:buNone/>
            </a:pPr>
            <a:r>
              <a:rPr lang="en-US" sz="850" b="1" dirty="0">
                <a:solidFill>
                  <a:srgbClr val="233939"/>
                </a:solidFill>
                <a:latin typeface="Syne Bold" pitchFamily="34" charset="0"/>
                <a:ea typeface="Syne Bold" pitchFamily="34" charset="-122"/>
                <a:cs typeface="Syne Bold" pitchFamily="34" charset="-120"/>
              </a:rPr>
              <a:t>Thinking It Through</a:t>
            </a:r>
            <a:endParaRPr lang="en-US" sz="850" dirty="0"/>
          </a:p>
        </p:txBody>
      </p:sp>
      <p:pic>
        <p:nvPicPr>
          <p:cNvPr id="9"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199826" y="1666280"/>
            <a:ext cx="2643816" cy="551954"/>
          </a:xfrm>
          <a:prstGeom prst="rect">
            <a:avLst/>
          </a:prstGeom>
        </p:spPr>
      </p:pic>
      <p:sp>
        <p:nvSpPr>
          <p:cNvPr id="10" name="Text 6"/>
          <p:cNvSpPr/>
          <p:nvPr/>
        </p:nvSpPr>
        <p:spPr>
          <a:xfrm>
            <a:off x="6328311" y="1678980"/>
            <a:ext cx="2515331" cy="141387"/>
          </a:xfrm>
          <a:prstGeom prst="rect">
            <a:avLst/>
          </a:prstGeom>
          <a:noFill/>
          <a:ln/>
        </p:spPr>
        <p:txBody>
          <a:bodyPr wrap="none" lIns="0" tIns="0" rIns="0" bIns="0" rtlCol="0" anchor="t"/>
          <a:lstStyle/>
          <a:p>
            <a:pPr algn="l" indent="0" marL="0">
              <a:lnSpc>
                <a:spcPct val="104000"/>
              </a:lnSpc>
              <a:buNone/>
            </a:pPr>
            <a:r>
              <a:rPr lang="en-US" sz="850" b="1" dirty="0">
                <a:solidFill>
                  <a:srgbClr val="3B4E4E"/>
                </a:solidFill>
                <a:latin typeface="Syne Bold" pitchFamily="34" charset="0"/>
                <a:ea typeface="Syne Bold" pitchFamily="34" charset="-122"/>
                <a:cs typeface="Syne Bold" pitchFamily="34" charset="-120"/>
              </a:rPr>
              <a:t>Past data with correct answers?</a:t>
            </a:r>
            <a:endParaRPr lang="en-US" sz="850" dirty="0"/>
          </a:p>
        </p:txBody>
      </p:sp>
      <p:sp>
        <p:nvSpPr>
          <p:cNvPr id="11" name="Text 7"/>
          <p:cNvSpPr/>
          <p:nvPr/>
        </p:nvSpPr>
        <p:spPr>
          <a:xfrm>
            <a:off x="6328311" y="1869777"/>
            <a:ext cx="2515331" cy="223838"/>
          </a:xfrm>
          <a:prstGeom prst="rect">
            <a:avLst/>
          </a:prstGeom>
          <a:noFill/>
          <a:ln/>
        </p:spPr>
        <p:txBody>
          <a:bodyPr wrap="square" lIns="0" tIns="0" rIns="0" bIns="0" rtlCol="0" anchor="t">
            <a:normAutofit/>
          </a:bodyPr>
          <a:lstStyle/>
          <a:p>
            <a:pPr algn="l" indent="0" marL="0">
              <a:lnSpc>
                <a:spcPct val="103000"/>
              </a:lnSpc>
              <a:buNone/>
            </a:pPr>
            <a:r>
              <a:rPr lang="en-US" sz="700" dirty="0">
                <a:solidFill>
                  <a:srgbClr val="3B4E4E"/>
                </a:solidFill>
                <a:latin typeface="Overpass Light" pitchFamily="34" charset="0"/>
                <a:ea typeface="Overpass Light" pitchFamily="34" charset="-122"/>
                <a:cs typeface="Overpass Light" pitchFamily="34" charset="-120"/>
              </a:rPr>
              <a:t>Mostly no. Machine failures are rare events and have rarely been systematically labelled in historical records.</a:t>
            </a:r>
            <a:endParaRPr lang="en-US" sz="700" dirty="0"/>
          </a:p>
        </p:txBody>
      </p:sp>
      <p:pic>
        <p:nvPicPr>
          <p:cNvPr id="12" name="Image 2" descr="preencoded.png">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892754" y="1666280"/>
            <a:ext cx="2643816" cy="551954"/>
          </a:xfrm>
          <a:prstGeom prst="rect">
            <a:avLst/>
          </a:prstGeom>
        </p:spPr>
      </p:pic>
      <p:sp>
        <p:nvSpPr>
          <p:cNvPr id="13" name="Text 8"/>
          <p:cNvSpPr/>
          <p:nvPr/>
        </p:nvSpPr>
        <p:spPr>
          <a:xfrm>
            <a:off x="9021239" y="1678980"/>
            <a:ext cx="2515331" cy="141387"/>
          </a:xfrm>
          <a:prstGeom prst="rect">
            <a:avLst/>
          </a:prstGeom>
          <a:noFill/>
          <a:ln/>
        </p:spPr>
        <p:txBody>
          <a:bodyPr wrap="none" lIns="0" tIns="0" rIns="0" bIns="0" rtlCol="0" anchor="t"/>
          <a:lstStyle/>
          <a:p>
            <a:pPr algn="l" indent="0" marL="0">
              <a:lnSpc>
                <a:spcPct val="104000"/>
              </a:lnSpc>
              <a:buNone/>
            </a:pPr>
            <a:r>
              <a:rPr lang="en-US" sz="850" b="1" dirty="0">
                <a:solidFill>
                  <a:srgbClr val="3B4E4E"/>
                </a:solidFill>
                <a:latin typeface="Syne Bold" pitchFamily="34" charset="0"/>
                <a:ea typeface="Syne Bold" pitchFamily="34" charset="-122"/>
                <a:cs typeface="Syne Bold" pitchFamily="34" charset="-120"/>
              </a:rPr>
              <a:t>Goal</a:t>
            </a:r>
            <a:endParaRPr lang="en-US" sz="850" dirty="0"/>
          </a:p>
        </p:txBody>
      </p:sp>
      <p:sp>
        <p:nvSpPr>
          <p:cNvPr id="14" name="Text 9"/>
          <p:cNvSpPr/>
          <p:nvPr/>
        </p:nvSpPr>
        <p:spPr>
          <a:xfrm>
            <a:off x="9021239" y="1869777"/>
            <a:ext cx="2515331" cy="335756"/>
          </a:xfrm>
          <a:prstGeom prst="rect">
            <a:avLst/>
          </a:prstGeom>
          <a:noFill/>
          <a:ln/>
        </p:spPr>
        <p:txBody>
          <a:bodyPr wrap="square" lIns="0" tIns="0" rIns="0" bIns="0" rtlCol="0" anchor="t">
            <a:normAutofit/>
          </a:bodyPr>
          <a:lstStyle/>
          <a:p>
            <a:pPr algn="l" indent="0" marL="0">
              <a:lnSpc>
                <a:spcPct val="103000"/>
              </a:lnSpc>
              <a:buNone/>
            </a:pPr>
            <a:r>
              <a:rPr lang="en-US" sz="700" dirty="0">
                <a:solidFill>
                  <a:srgbClr val="3B4E4E"/>
                </a:solidFill>
                <a:latin typeface="Overpass Light" pitchFamily="34" charset="0"/>
                <a:ea typeface="Overpass Light" pitchFamily="34" charset="-122"/>
                <a:cs typeface="Overpass Light" pitchFamily="34" charset="-120"/>
              </a:rPr>
              <a:t>Find readings that look different from what the machine normally produces — without knowing in advance what "different" looks like.</a:t>
            </a:r>
            <a:endParaRPr lang="en-US" sz="700" dirty="0"/>
          </a:p>
        </p:txBody>
      </p:sp>
      <p:pic>
        <p:nvPicPr>
          <p:cNvPr id="15" name="Image 3" descr="preencoded.png">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199826" y="2291755"/>
            <a:ext cx="5336744" cy="328116"/>
          </a:xfrm>
          <a:prstGeom prst="rect">
            <a:avLst/>
          </a:prstGeom>
        </p:spPr>
      </p:pic>
      <p:sp>
        <p:nvSpPr>
          <p:cNvPr id="16" name="Text 10"/>
          <p:cNvSpPr/>
          <p:nvPr/>
        </p:nvSpPr>
        <p:spPr>
          <a:xfrm>
            <a:off x="6328311" y="2304455"/>
            <a:ext cx="5208259" cy="141387"/>
          </a:xfrm>
          <a:prstGeom prst="rect">
            <a:avLst/>
          </a:prstGeom>
          <a:noFill/>
          <a:ln/>
        </p:spPr>
        <p:txBody>
          <a:bodyPr wrap="none" lIns="0" tIns="0" rIns="0" bIns="0" rtlCol="0" anchor="t"/>
          <a:lstStyle/>
          <a:p>
            <a:pPr algn="l" indent="0" marL="0">
              <a:lnSpc>
                <a:spcPct val="104000"/>
              </a:lnSpc>
              <a:buNone/>
            </a:pPr>
            <a:r>
              <a:rPr lang="en-US" sz="850" b="1" dirty="0">
                <a:solidFill>
                  <a:srgbClr val="3B4E4E"/>
                </a:solidFill>
                <a:latin typeface="Syne Bold" pitchFamily="34" charset="0"/>
                <a:ea typeface="Syne Bold" pitchFamily="34" charset="-122"/>
                <a:cs typeface="Syne Bold" pitchFamily="34" charset="-120"/>
              </a:rPr>
              <a:t>Problem type</a:t>
            </a:r>
            <a:endParaRPr lang="en-US" sz="850" dirty="0"/>
          </a:p>
        </p:txBody>
      </p:sp>
      <p:sp>
        <p:nvSpPr>
          <p:cNvPr id="17" name="Text 11"/>
          <p:cNvSpPr/>
          <p:nvPr/>
        </p:nvSpPr>
        <p:spPr>
          <a:xfrm>
            <a:off x="6328311" y="2495252"/>
            <a:ext cx="5208259" cy="111919"/>
          </a:xfrm>
          <a:prstGeom prst="rect">
            <a:avLst/>
          </a:prstGeom>
          <a:noFill/>
          <a:ln/>
        </p:spPr>
        <p:txBody>
          <a:bodyPr wrap="none" lIns="0" tIns="0" rIns="0" bIns="0" rtlCol="0" anchor="t"/>
          <a:lstStyle/>
          <a:p>
            <a:pPr algn="l" indent="0" marL="0">
              <a:lnSpc>
                <a:spcPct val="103000"/>
              </a:lnSpc>
              <a:buNone/>
            </a:pPr>
            <a:r>
              <a:rPr lang="en-US" sz="700" b="1" dirty="0">
                <a:solidFill>
                  <a:srgbClr val="3B4E4E"/>
                </a:solidFill>
                <a:latin typeface="Overpass Bold" pitchFamily="34" charset="0"/>
                <a:ea typeface="Overpass Bold" pitchFamily="34" charset="-122"/>
                <a:cs typeface="Overpass Bold" pitchFamily="34" charset="-120"/>
              </a:rPr>
              <a:t>Anomaly detection (unsupervised).</a:t>
            </a:r>
            <a:endParaRPr lang="en-US" sz="700" dirty="0"/>
          </a:p>
        </p:txBody>
      </p:sp>
      <p:sp>
        <p:nvSpPr>
          <p:cNvPr id="18" name="Shape 12"/>
          <p:cNvSpPr/>
          <p:nvPr/>
        </p:nvSpPr>
        <p:spPr>
          <a:xfrm>
            <a:off x="6212526" y="2662734"/>
            <a:ext cx="5324044" cy="357783"/>
          </a:xfrm>
          <a:prstGeom prst="roundRect">
            <a:avLst>
              <a:gd name="adj" fmla="val 10618"/>
            </a:avLst>
          </a:prstGeom>
          <a:solidFill>
            <a:srgbClr val="DDEEE6"/>
          </a:solidFill>
          <a:ln/>
        </p:spPr>
      </p:sp>
      <p:pic>
        <p:nvPicPr>
          <p:cNvPr id="19" name="Image 4" descr="preencoded.png">    </p:cNvPr>
          <p:cNvPicPr>
            <a:picLocks noChangeAspect="1"/>
          </p:cNvPicPr>
          <p:nvPr/>
        </p:nvPicPr>
        <p:blipFill>
          <a:blip r:embed="rId8"/>
          <a:stretch>
            <a:fillRect/>
          </a:stretch>
        </p:blipFill>
        <p:spPr>
          <a:xfrm>
            <a:off x="6302912" y="2734667"/>
            <a:ext cx="113007" cy="90388"/>
          </a:xfrm>
          <a:prstGeom prst="rect">
            <a:avLst/>
          </a:prstGeom>
        </p:spPr>
      </p:pic>
      <p:sp>
        <p:nvSpPr>
          <p:cNvPr id="20" name="Text 13"/>
          <p:cNvSpPr/>
          <p:nvPr/>
        </p:nvSpPr>
        <p:spPr>
          <a:xfrm>
            <a:off x="6506305" y="2729706"/>
            <a:ext cx="4939879" cy="223838"/>
          </a:xfrm>
          <a:prstGeom prst="rect">
            <a:avLst/>
          </a:prstGeom>
          <a:noFill/>
          <a:ln/>
        </p:spPr>
        <p:txBody>
          <a:bodyPr wrap="square" lIns="0" tIns="0" rIns="0" bIns="0" rtlCol="0" anchor="t">
            <a:normAutofit/>
          </a:bodyPr>
          <a:lstStyle/>
          <a:p>
            <a:pPr algn="l" indent="0" marL="0">
              <a:lnSpc>
                <a:spcPct val="103000"/>
              </a:lnSpc>
              <a:buNone/>
            </a:pPr>
            <a:r>
              <a:rPr lang="en-US" sz="700" b="1" dirty="0">
                <a:solidFill>
                  <a:srgbClr val="000000"/>
                </a:solidFill>
                <a:latin typeface="Overpass Bold" pitchFamily="34" charset="0"/>
                <a:ea typeface="Overpass Bold" pitchFamily="34" charset="-122"/>
                <a:cs typeface="Overpass Bold" pitchFamily="34" charset="-120"/>
              </a:rPr>
              <a:t>Class discussion:</a:t>
            </a:r>
            <a:pPr algn="l" indent="0" marL="0">
              <a:lnSpc>
                <a:spcPct val="103000"/>
              </a:lnSpc>
              <a:buNone/>
            </a:pPr>
            <a:r>
              <a:rPr lang="en-US" sz="700" dirty="0">
                <a:solidFill>
                  <a:srgbClr val="000000"/>
                </a:solidFill>
                <a:latin typeface="Overpass Light" pitchFamily="34" charset="0"/>
                <a:ea typeface="Overpass Light" pitchFamily="34" charset="-122"/>
                <a:cs typeface="Overpass Light" pitchFamily="34" charset="-120"/>
              </a:rPr>
              <a:t> Why can't we simply set a fixed rule like "alert if temperature is above 90°C"? Think about what varies between machines, seasons, and operating conditions.</a:t>
            </a:r>
            <a:endParaRPr lang="en-US" sz="7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DE6"/>
        </a:solidFill>
      </p:bgPr>
    </p:bg>
    <p:spTree>
      <p:nvGrpSpPr>
        <p:cNvPr id="1" name=""/>
        <p:cNvGrpSpPr/>
        <p:nvPr/>
      </p:nvGrpSpPr>
      <p:grpSpPr>
        <a:xfrm>
          <a:off x="0" y="0"/>
          <a:ext cx="0" cy="0"/>
          <a:chOff x="0" y="0"/>
          <a:chExt cx="0" cy="0"/>
        </a:xfrm>
      </p:grpSpPr>
      <p:sp>
        <p:nvSpPr>
          <p:cNvPr id="2" name="Text 0"/>
          <p:cNvSpPr/>
          <p:nvPr/>
        </p:nvSpPr>
        <p:spPr>
          <a:xfrm>
            <a:off x="661475" y="503694"/>
            <a:ext cx="10868745" cy="379512"/>
          </a:xfrm>
          <a:prstGeom prst="rect">
            <a:avLst/>
          </a:prstGeom>
          <a:noFill/>
          <a:ln/>
        </p:spPr>
        <p:txBody>
          <a:bodyPr wrap="none" lIns="0" tIns="0" rIns="0" bIns="0" rtlCol="0" anchor="t"/>
          <a:lstStyle/>
          <a:p>
            <a:pPr algn="l" indent="0" marL="0">
              <a:lnSpc>
                <a:spcPct val="104000"/>
              </a:lnSpc>
              <a:buNone/>
            </a:pPr>
            <a:r>
              <a:rPr lang="en-US" sz="2350" b="1" dirty="0">
                <a:solidFill>
                  <a:srgbClr val="233939"/>
                </a:solidFill>
                <a:latin typeface="Syne Bold" pitchFamily="34" charset="0"/>
                <a:ea typeface="Syne Bold" pitchFamily="34" charset="-122"/>
                <a:cs typeface="Syne Bold" pitchFamily="34" charset="-120"/>
              </a:rPr>
              <a:t>Algorithm: Isolation Forest</a:t>
            </a:r>
            <a:endParaRPr lang="en-US" sz="2350" dirty="0"/>
          </a:p>
        </p:txBody>
      </p:sp>
      <p:sp>
        <p:nvSpPr>
          <p:cNvPr id="3" name="Text 1"/>
          <p:cNvSpPr/>
          <p:nvPr/>
        </p:nvSpPr>
        <p:spPr>
          <a:xfrm>
            <a:off x="661475" y="1058069"/>
            <a:ext cx="10868745" cy="336947"/>
          </a:xfrm>
          <a:prstGeom prst="rect">
            <a:avLst/>
          </a:prstGeom>
          <a:noFill/>
          <a:ln/>
        </p:spPr>
        <p:txBody>
          <a:bodyPr wrap="square" lIns="0" tIns="0" rIns="0" bIns="0" rtlCol="0" anchor="t">
            <a:normAutofit/>
          </a:bodyPr>
          <a:lstStyle/>
          <a:p>
            <a:pPr algn="l" indent="0" marL="0">
              <a:lnSpc>
                <a:spcPct val="116000"/>
              </a:lnSpc>
              <a:buNone/>
            </a:pPr>
            <a:r>
              <a:rPr lang="en-US" sz="950" dirty="0">
                <a:solidFill>
                  <a:srgbClr val="3B4E4E"/>
                </a:solidFill>
                <a:latin typeface="Overpass Light" pitchFamily="34" charset="0"/>
                <a:ea typeface="Overpass Light" pitchFamily="34" charset="-122"/>
                <a:cs typeface="Overpass Light" pitchFamily="34" charset="-120"/>
              </a:rPr>
              <a:t>Isolation Forest takes a counterintuitive approach to anomaly detection: rather than defining what "normal" looks like and flagging everything else, it directly measures how easy it is to isolate each record from the rest of the data. Anomalies isolate easily; normal records do not.</a:t>
            </a:r>
            <a:endParaRPr lang="en-US" sz="950" dirty="0"/>
          </a:p>
        </p:txBody>
      </p:sp>
      <p:sp>
        <p:nvSpPr>
          <p:cNvPr id="4" name="Text 2"/>
          <p:cNvSpPr/>
          <p:nvPr/>
        </p:nvSpPr>
        <p:spPr>
          <a:xfrm>
            <a:off x="661475" y="1584702"/>
            <a:ext cx="5286243" cy="189706"/>
          </a:xfrm>
          <a:prstGeom prst="rect">
            <a:avLst/>
          </a:prstGeom>
          <a:noFill/>
          <a:ln/>
        </p:spPr>
        <p:txBody>
          <a:bodyPr wrap="none" lIns="0" tIns="0" rIns="0" bIns="0" rtlCol="0" anchor="t"/>
          <a:lstStyle/>
          <a:p>
            <a:pPr algn="l" indent="0" marL="0">
              <a:lnSpc>
                <a:spcPct val="104000"/>
              </a:lnSpc>
              <a:buNone/>
            </a:pPr>
            <a:r>
              <a:rPr lang="en-US" sz="1150" b="1" dirty="0">
                <a:solidFill>
                  <a:srgbClr val="233939"/>
                </a:solidFill>
                <a:latin typeface="Syne Bold" pitchFamily="34" charset="0"/>
                <a:ea typeface="Syne Bold" pitchFamily="34" charset="-122"/>
                <a:cs typeface="Syne Bold" pitchFamily="34" charset="-120"/>
              </a:rPr>
              <a:t>How It Works</a:t>
            </a:r>
            <a:endParaRPr lang="en-US" sz="1150" dirty="0"/>
          </a:p>
        </p:txBody>
      </p:sp>
      <p:sp>
        <p:nvSpPr>
          <p:cNvPr id="5" name="Text 3"/>
          <p:cNvSpPr/>
          <p:nvPr/>
        </p:nvSpPr>
        <p:spPr>
          <a:xfrm>
            <a:off x="661475" y="1874540"/>
            <a:ext cx="242881" cy="151805"/>
          </a:xfrm>
          <a:prstGeom prst="rect">
            <a:avLst/>
          </a:prstGeom>
          <a:noFill/>
          <a:ln/>
        </p:spPr>
        <p:txBody>
          <a:bodyPr wrap="none" lIns="0" tIns="0" rIns="0" bIns="0" rtlCol="0" anchor="ctr"/>
          <a:lstStyle/>
          <a:p>
            <a:pPr algn="l" indent="0" marL="0">
              <a:lnSpc>
                <a:spcPct val="100000"/>
              </a:lnSpc>
              <a:buNone/>
            </a:pPr>
            <a:r>
              <a:rPr lang="en-US" sz="950" dirty="0">
                <a:solidFill>
                  <a:srgbClr val="3B4E4E"/>
                </a:solidFill>
                <a:latin typeface="Syne" pitchFamily="34" charset="0"/>
                <a:ea typeface="Syne" pitchFamily="34" charset="-122"/>
                <a:cs typeface="Syne" pitchFamily="34" charset="-120"/>
              </a:rPr>
              <a:t>01</a:t>
            </a:r>
            <a:endParaRPr lang="en-US" sz="950" dirty="0"/>
          </a:p>
        </p:txBody>
      </p:sp>
      <p:sp>
        <p:nvSpPr>
          <p:cNvPr id="6" name="Shape 4"/>
          <p:cNvSpPr/>
          <p:nvPr/>
        </p:nvSpPr>
        <p:spPr>
          <a:xfrm>
            <a:off x="661475" y="2068215"/>
            <a:ext cx="5286243" cy="12700"/>
          </a:xfrm>
          <a:prstGeom prst="rect">
            <a:avLst/>
          </a:prstGeom>
          <a:solidFill>
            <a:srgbClr val="224435"/>
          </a:solidFill>
          <a:ln/>
        </p:spPr>
      </p:sp>
      <p:sp>
        <p:nvSpPr>
          <p:cNvPr id="7" name="Text 5"/>
          <p:cNvSpPr/>
          <p:nvPr/>
        </p:nvSpPr>
        <p:spPr>
          <a:xfrm>
            <a:off x="661475" y="2154337"/>
            <a:ext cx="5286243" cy="189706"/>
          </a:xfrm>
          <a:prstGeom prst="rect">
            <a:avLst/>
          </a:prstGeom>
          <a:noFill/>
          <a:ln/>
        </p:spPr>
        <p:txBody>
          <a:bodyPr wrap="none" lIns="0" tIns="0" rIns="0" bIns="0" rtlCol="0" anchor="t"/>
          <a:lstStyle/>
          <a:p>
            <a:pPr algn="l" indent="0" marL="0">
              <a:lnSpc>
                <a:spcPct val="104000"/>
              </a:lnSpc>
              <a:buNone/>
            </a:pPr>
            <a:r>
              <a:rPr lang="en-US" sz="1150" b="1" dirty="0">
                <a:solidFill>
                  <a:srgbClr val="3B4E4E"/>
                </a:solidFill>
                <a:latin typeface="Syne Bold" pitchFamily="34" charset="0"/>
                <a:ea typeface="Syne Bold" pitchFamily="34" charset="-122"/>
                <a:cs typeface="Syne Bold" pitchFamily="34" charset="-120"/>
              </a:rPr>
              <a:t>Random Splitting</a:t>
            </a:r>
            <a:endParaRPr lang="en-US" sz="1150" dirty="0"/>
          </a:p>
        </p:txBody>
      </p:sp>
      <p:sp>
        <p:nvSpPr>
          <p:cNvPr id="8" name="Text 6"/>
          <p:cNvSpPr/>
          <p:nvPr/>
        </p:nvSpPr>
        <p:spPr>
          <a:xfrm>
            <a:off x="661475" y="2433241"/>
            <a:ext cx="5286243" cy="336947"/>
          </a:xfrm>
          <a:prstGeom prst="rect">
            <a:avLst/>
          </a:prstGeom>
          <a:noFill/>
          <a:ln/>
        </p:spPr>
        <p:txBody>
          <a:bodyPr wrap="square" lIns="0" tIns="0" rIns="0" bIns="0" rtlCol="0" anchor="t">
            <a:normAutofit/>
          </a:bodyPr>
          <a:lstStyle/>
          <a:p>
            <a:pPr algn="l" indent="0" marL="0">
              <a:lnSpc>
                <a:spcPct val="116000"/>
              </a:lnSpc>
              <a:buNone/>
            </a:pPr>
            <a:r>
              <a:rPr lang="en-US" sz="950" dirty="0">
                <a:solidFill>
                  <a:srgbClr val="3B4E4E"/>
                </a:solidFill>
                <a:latin typeface="Overpass Light" pitchFamily="34" charset="0"/>
                <a:ea typeface="Overpass Light" pitchFamily="34" charset="-122"/>
                <a:cs typeface="Overpass Light" pitchFamily="34" charset="-120"/>
              </a:rPr>
              <a:t>The algorithm randomly picks a feature and a random split value, dividing the data into two halves. It repeats this many times, building a forest of random trees.</a:t>
            </a:r>
            <a:endParaRPr lang="en-US" sz="950" dirty="0"/>
          </a:p>
        </p:txBody>
      </p:sp>
      <p:sp>
        <p:nvSpPr>
          <p:cNvPr id="9" name="Text 7"/>
          <p:cNvSpPr/>
          <p:nvPr/>
        </p:nvSpPr>
        <p:spPr>
          <a:xfrm>
            <a:off x="661475" y="2950468"/>
            <a:ext cx="242881" cy="151805"/>
          </a:xfrm>
          <a:prstGeom prst="rect">
            <a:avLst/>
          </a:prstGeom>
          <a:noFill/>
          <a:ln/>
        </p:spPr>
        <p:txBody>
          <a:bodyPr wrap="none" lIns="0" tIns="0" rIns="0" bIns="0" rtlCol="0" anchor="ctr"/>
          <a:lstStyle/>
          <a:p>
            <a:pPr algn="l" indent="0" marL="0">
              <a:lnSpc>
                <a:spcPct val="100000"/>
              </a:lnSpc>
              <a:buNone/>
            </a:pPr>
            <a:r>
              <a:rPr lang="en-US" sz="950" dirty="0">
                <a:solidFill>
                  <a:srgbClr val="3B4E4E"/>
                </a:solidFill>
                <a:latin typeface="Syne" pitchFamily="34" charset="0"/>
                <a:ea typeface="Syne" pitchFamily="34" charset="-122"/>
                <a:cs typeface="Syne" pitchFamily="34" charset="-120"/>
              </a:rPr>
              <a:t>02</a:t>
            </a:r>
            <a:endParaRPr lang="en-US" sz="950" dirty="0"/>
          </a:p>
        </p:txBody>
      </p:sp>
      <p:sp>
        <p:nvSpPr>
          <p:cNvPr id="10" name="Shape 8"/>
          <p:cNvSpPr/>
          <p:nvPr/>
        </p:nvSpPr>
        <p:spPr>
          <a:xfrm>
            <a:off x="661475" y="3144143"/>
            <a:ext cx="5286243" cy="12700"/>
          </a:xfrm>
          <a:prstGeom prst="rect">
            <a:avLst/>
          </a:prstGeom>
          <a:solidFill>
            <a:srgbClr val="224435"/>
          </a:solidFill>
          <a:ln/>
        </p:spPr>
      </p:sp>
      <p:sp>
        <p:nvSpPr>
          <p:cNvPr id="11" name="Text 9"/>
          <p:cNvSpPr/>
          <p:nvPr/>
        </p:nvSpPr>
        <p:spPr>
          <a:xfrm>
            <a:off x="661475" y="3230265"/>
            <a:ext cx="5286243" cy="189706"/>
          </a:xfrm>
          <a:prstGeom prst="rect">
            <a:avLst/>
          </a:prstGeom>
          <a:noFill/>
          <a:ln/>
        </p:spPr>
        <p:txBody>
          <a:bodyPr wrap="none" lIns="0" tIns="0" rIns="0" bIns="0" rtlCol="0" anchor="t"/>
          <a:lstStyle/>
          <a:p>
            <a:pPr algn="l" indent="0" marL="0">
              <a:lnSpc>
                <a:spcPct val="104000"/>
              </a:lnSpc>
              <a:buNone/>
            </a:pPr>
            <a:r>
              <a:rPr lang="en-US" sz="1150" b="1" dirty="0">
                <a:solidFill>
                  <a:srgbClr val="3B4E4E"/>
                </a:solidFill>
                <a:latin typeface="Syne Bold" pitchFamily="34" charset="0"/>
                <a:ea typeface="Syne Bold" pitchFamily="34" charset="-122"/>
                <a:cs typeface="Syne Bold" pitchFamily="34" charset="-120"/>
              </a:rPr>
              <a:t>Count the Splits Needed</a:t>
            </a:r>
            <a:endParaRPr lang="en-US" sz="1150" dirty="0"/>
          </a:p>
        </p:txBody>
      </p:sp>
      <p:sp>
        <p:nvSpPr>
          <p:cNvPr id="12" name="Text 10"/>
          <p:cNvSpPr/>
          <p:nvPr/>
        </p:nvSpPr>
        <p:spPr>
          <a:xfrm>
            <a:off x="661475" y="3509169"/>
            <a:ext cx="5286243" cy="505420"/>
          </a:xfrm>
          <a:prstGeom prst="rect">
            <a:avLst/>
          </a:prstGeom>
          <a:noFill/>
          <a:ln/>
        </p:spPr>
        <p:txBody>
          <a:bodyPr wrap="square" lIns="0" tIns="0" rIns="0" bIns="0" rtlCol="0" anchor="t">
            <a:normAutofit/>
          </a:bodyPr>
          <a:lstStyle/>
          <a:p>
            <a:pPr algn="l" indent="0" marL="0">
              <a:lnSpc>
                <a:spcPct val="116000"/>
              </a:lnSpc>
              <a:buNone/>
            </a:pPr>
            <a:r>
              <a:rPr lang="en-US" sz="950" dirty="0">
                <a:solidFill>
                  <a:srgbClr val="3B4E4E"/>
                </a:solidFill>
                <a:latin typeface="Overpass Light" pitchFamily="34" charset="0"/>
                <a:ea typeface="Overpass Light" pitchFamily="34" charset="-122"/>
                <a:cs typeface="Overpass Light" pitchFamily="34" charset="-120"/>
              </a:rPr>
              <a:t>For each record, it counts how many splits are needed before the record is isolated in its own partition. An anomalous reading gets isolated after very few splits — because few other records have similar values.</a:t>
            </a:r>
            <a:endParaRPr lang="en-US" sz="950" dirty="0"/>
          </a:p>
        </p:txBody>
      </p:sp>
      <p:sp>
        <p:nvSpPr>
          <p:cNvPr id="13" name="Text 11"/>
          <p:cNvSpPr/>
          <p:nvPr/>
        </p:nvSpPr>
        <p:spPr>
          <a:xfrm>
            <a:off x="661475" y="4194870"/>
            <a:ext cx="242881" cy="151805"/>
          </a:xfrm>
          <a:prstGeom prst="rect">
            <a:avLst/>
          </a:prstGeom>
          <a:noFill/>
          <a:ln/>
        </p:spPr>
        <p:txBody>
          <a:bodyPr wrap="none" lIns="0" tIns="0" rIns="0" bIns="0" rtlCol="0" anchor="ctr"/>
          <a:lstStyle/>
          <a:p>
            <a:pPr algn="l" indent="0" marL="0">
              <a:lnSpc>
                <a:spcPct val="100000"/>
              </a:lnSpc>
              <a:buNone/>
            </a:pPr>
            <a:r>
              <a:rPr lang="en-US" sz="950" dirty="0">
                <a:solidFill>
                  <a:srgbClr val="3B4E4E"/>
                </a:solidFill>
                <a:latin typeface="Syne" pitchFamily="34" charset="0"/>
                <a:ea typeface="Syne" pitchFamily="34" charset="-122"/>
                <a:cs typeface="Syne" pitchFamily="34" charset="-120"/>
              </a:rPr>
              <a:t>03</a:t>
            </a:r>
            <a:endParaRPr lang="en-US" sz="950" dirty="0"/>
          </a:p>
        </p:txBody>
      </p:sp>
      <p:sp>
        <p:nvSpPr>
          <p:cNvPr id="14" name="Shape 12"/>
          <p:cNvSpPr/>
          <p:nvPr/>
        </p:nvSpPr>
        <p:spPr>
          <a:xfrm>
            <a:off x="661475" y="4388545"/>
            <a:ext cx="5286243" cy="12700"/>
          </a:xfrm>
          <a:prstGeom prst="rect">
            <a:avLst/>
          </a:prstGeom>
          <a:solidFill>
            <a:srgbClr val="224435"/>
          </a:solidFill>
          <a:ln/>
        </p:spPr>
      </p:sp>
      <p:sp>
        <p:nvSpPr>
          <p:cNvPr id="15" name="Text 13"/>
          <p:cNvSpPr/>
          <p:nvPr/>
        </p:nvSpPr>
        <p:spPr>
          <a:xfrm>
            <a:off x="661475" y="4474666"/>
            <a:ext cx="5286243" cy="189706"/>
          </a:xfrm>
          <a:prstGeom prst="rect">
            <a:avLst/>
          </a:prstGeom>
          <a:noFill/>
          <a:ln/>
        </p:spPr>
        <p:txBody>
          <a:bodyPr wrap="none" lIns="0" tIns="0" rIns="0" bIns="0" rtlCol="0" anchor="t"/>
          <a:lstStyle/>
          <a:p>
            <a:pPr algn="l" indent="0" marL="0">
              <a:lnSpc>
                <a:spcPct val="104000"/>
              </a:lnSpc>
              <a:buNone/>
            </a:pPr>
            <a:r>
              <a:rPr lang="en-US" sz="1150" b="1" dirty="0">
                <a:solidFill>
                  <a:srgbClr val="3B4E4E"/>
                </a:solidFill>
                <a:latin typeface="Syne Bold" pitchFamily="34" charset="0"/>
                <a:ea typeface="Syne Bold" pitchFamily="34" charset="-122"/>
                <a:cs typeface="Syne Bold" pitchFamily="34" charset="-120"/>
              </a:rPr>
              <a:t>Compute the Anomaly Score</a:t>
            </a:r>
            <a:endParaRPr lang="en-US" sz="1150" dirty="0"/>
          </a:p>
        </p:txBody>
      </p:sp>
      <p:sp>
        <p:nvSpPr>
          <p:cNvPr id="16" name="Text 14"/>
          <p:cNvSpPr/>
          <p:nvPr/>
        </p:nvSpPr>
        <p:spPr>
          <a:xfrm>
            <a:off x="661475" y="4753570"/>
            <a:ext cx="5286243" cy="336947"/>
          </a:xfrm>
          <a:prstGeom prst="rect">
            <a:avLst/>
          </a:prstGeom>
          <a:noFill/>
          <a:ln/>
        </p:spPr>
        <p:txBody>
          <a:bodyPr wrap="square" lIns="0" tIns="0" rIns="0" bIns="0" rtlCol="0" anchor="t">
            <a:normAutofit/>
          </a:bodyPr>
          <a:lstStyle/>
          <a:p>
            <a:pPr algn="l" indent="0" marL="0">
              <a:lnSpc>
                <a:spcPct val="116000"/>
              </a:lnSpc>
              <a:buNone/>
            </a:pPr>
            <a:r>
              <a:rPr lang="en-US" sz="950" dirty="0">
                <a:solidFill>
                  <a:srgbClr val="3B4E4E"/>
                </a:solidFill>
                <a:latin typeface="Overpass Light" pitchFamily="34" charset="0"/>
                <a:ea typeface="Overpass Light" pitchFamily="34" charset="-122"/>
                <a:cs typeface="Overpass Light" pitchFamily="34" charset="-120"/>
              </a:rPr>
              <a:t>Records that consistently require fewer splits receive a higher anomaly score. Normal records need many splits to isolate and receive a low score.</a:t>
            </a:r>
            <a:endParaRPr lang="en-US" sz="950" dirty="0"/>
          </a:p>
        </p:txBody>
      </p:sp>
      <p:sp>
        <p:nvSpPr>
          <p:cNvPr id="17" name="Text 15"/>
          <p:cNvSpPr/>
          <p:nvPr/>
        </p:nvSpPr>
        <p:spPr>
          <a:xfrm>
            <a:off x="661475" y="5270798"/>
            <a:ext cx="242881" cy="151805"/>
          </a:xfrm>
          <a:prstGeom prst="rect">
            <a:avLst/>
          </a:prstGeom>
          <a:noFill/>
          <a:ln/>
        </p:spPr>
        <p:txBody>
          <a:bodyPr wrap="none" lIns="0" tIns="0" rIns="0" bIns="0" rtlCol="0" anchor="ctr"/>
          <a:lstStyle/>
          <a:p>
            <a:pPr algn="l" indent="0" marL="0">
              <a:lnSpc>
                <a:spcPct val="100000"/>
              </a:lnSpc>
              <a:buNone/>
            </a:pPr>
            <a:r>
              <a:rPr lang="en-US" sz="950" dirty="0">
                <a:solidFill>
                  <a:srgbClr val="3B4E4E"/>
                </a:solidFill>
                <a:latin typeface="Syne" pitchFamily="34" charset="0"/>
                <a:ea typeface="Syne" pitchFamily="34" charset="-122"/>
                <a:cs typeface="Syne" pitchFamily="34" charset="-120"/>
              </a:rPr>
              <a:t>04</a:t>
            </a:r>
            <a:endParaRPr lang="en-US" sz="950" dirty="0"/>
          </a:p>
        </p:txBody>
      </p:sp>
      <p:sp>
        <p:nvSpPr>
          <p:cNvPr id="18" name="Shape 16"/>
          <p:cNvSpPr/>
          <p:nvPr/>
        </p:nvSpPr>
        <p:spPr>
          <a:xfrm>
            <a:off x="661475" y="5464473"/>
            <a:ext cx="5286243" cy="12700"/>
          </a:xfrm>
          <a:prstGeom prst="rect">
            <a:avLst/>
          </a:prstGeom>
          <a:solidFill>
            <a:srgbClr val="224435"/>
          </a:solidFill>
          <a:ln/>
        </p:spPr>
      </p:sp>
      <p:sp>
        <p:nvSpPr>
          <p:cNvPr id="19" name="Text 17"/>
          <p:cNvSpPr/>
          <p:nvPr/>
        </p:nvSpPr>
        <p:spPr>
          <a:xfrm>
            <a:off x="661475" y="5550595"/>
            <a:ext cx="5286243" cy="189706"/>
          </a:xfrm>
          <a:prstGeom prst="rect">
            <a:avLst/>
          </a:prstGeom>
          <a:noFill/>
          <a:ln/>
        </p:spPr>
        <p:txBody>
          <a:bodyPr wrap="none" lIns="0" tIns="0" rIns="0" bIns="0" rtlCol="0" anchor="t"/>
          <a:lstStyle/>
          <a:p>
            <a:pPr algn="l" indent="0" marL="0">
              <a:lnSpc>
                <a:spcPct val="104000"/>
              </a:lnSpc>
              <a:buNone/>
            </a:pPr>
            <a:r>
              <a:rPr lang="en-US" sz="1150" b="1" dirty="0">
                <a:solidFill>
                  <a:srgbClr val="3B4E4E"/>
                </a:solidFill>
                <a:latin typeface="Syne Bold" pitchFamily="34" charset="0"/>
                <a:ea typeface="Syne Bold" pitchFamily="34" charset="-122"/>
                <a:cs typeface="Syne Bold" pitchFamily="34" charset="-120"/>
              </a:rPr>
              <a:t>Set the Alert Threshold</a:t>
            </a:r>
            <a:endParaRPr lang="en-US" sz="1150" dirty="0"/>
          </a:p>
        </p:txBody>
      </p:sp>
      <p:sp>
        <p:nvSpPr>
          <p:cNvPr id="20" name="Text 18"/>
          <p:cNvSpPr/>
          <p:nvPr/>
        </p:nvSpPr>
        <p:spPr>
          <a:xfrm>
            <a:off x="661475" y="5829498"/>
            <a:ext cx="5286243" cy="336947"/>
          </a:xfrm>
          <a:prstGeom prst="rect">
            <a:avLst/>
          </a:prstGeom>
          <a:noFill/>
          <a:ln/>
        </p:spPr>
        <p:txBody>
          <a:bodyPr wrap="square" lIns="0" tIns="0" rIns="0" bIns="0" rtlCol="0" anchor="t">
            <a:normAutofit/>
          </a:bodyPr>
          <a:lstStyle/>
          <a:p>
            <a:pPr algn="l" indent="0" marL="0">
              <a:lnSpc>
                <a:spcPct val="116000"/>
              </a:lnSpc>
              <a:buNone/>
            </a:pPr>
            <a:r>
              <a:rPr lang="en-US" sz="950" dirty="0">
                <a:solidFill>
                  <a:srgbClr val="3B4E4E"/>
                </a:solidFill>
                <a:latin typeface="Overpass Light" pitchFamily="34" charset="0"/>
                <a:ea typeface="Overpass Light" pitchFamily="34" charset="-122"/>
                <a:cs typeface="Overpass Light" pitchFamily="34" charset="-120"/>
              </a:rPr>
              <a:t>You choose the score above which to trigger an alert. This threshold can be calibrated based on the acceptable false alarm rate.</a:t>
            </a:r>
            <a:endParaRPr lang="en-US" sz="950" dirty="0"/>
          </a:p>
        </p:txBody>
      </p:sp>
      <p:sp>
        <p:nvSpPr>
          <p:cNvPr id="21" name="Text 19"/>
          <p:cNvSpPr/>
          <p:nvPr/>
        </p:nvSpPr>
        <p:spPr>
          <a:xfrm>
            <a:off x="6250327" y="1584702"/>
            <a:ext cx="5286243" cy="189706"/>
          </a:xfrm>
          <a:prstGeom prst="rect">
            <a:avLst/>
          </a:prstGeom>
          <a:noFill/>
          <a:ln/>
        </p:spPr>
        <p:txBody>
          <a:bodyPr wrap="none" lIns="0" tIns="0" rIns="0" bIns="0" rtlCol="0" anchor="t"/>
          <a:lstStyle/>
          <a:p>
            <a:pPr algn="l" indent="0" marL="0">
              <a:lnSpc>
                <a:spcPct val="104000"/>
              </a:lnSpc>
              <a:buNone/>
            </a:pPr>
            <a:r>
              <a:rPr lang="en-US" sz="1150" b="1" dirty="0">
                <a:solidFill>
                  <a:srgbClr val="233939"/>
                </a:solidFill>
                <a:latin typeface="Syne Bold" pitchFamily="34" charset="0"/>
                <a:ea typeface="Syne Bold" pitchFamily="34" charset="-122"/>
                <a:cs typeface="Syne Bold" pitchFamily="34" charset="-120"/>
              </a:rPr>
              <a:t>Strengths and Limits</a:t>
            </a:r>
            <a:endParaRPr lang="en-US" sz="1150" dirty="0"/>
          </a:p>
        </p:txBody>
      </p:sp>
      <p:pic>
        <p:nvPicPr>
          <p:cNvPr id="22"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250327" y="1874540"/>
            <a:ext cx="5286243" cy="884138"/>
          </a:xfrm>
          <a:prstGeom prst="rect">
            <a:avLst/>
          </a:prstGeom>
        </p:spPr>
      </p:pic>
      <p:sp>
        <p:nvSpPr>
          <p:cNvPr id="23" name="Text 20"/>
          <p:cNvSpPr/>
          <p:nvPr/>
        </p:nvSpPr>
        <p:spPr>
          <a:xfrm>
            <a:off x="6435266" y="2008684"/>
            <a:ext cx="4967163" cy="189706"/>
          </a:xfrm>
          <a:prstGeom prst="rect">
            <a:avLst/>
          </a:prstGeom>
          <a:noFill/>
          <a:ln/>
        </p:spPr>
        <p:txBody>
          <a:bodyPr wrap="none" lIns="0" tIns="0" rIns="0" bIns="0" rtlCol="0" anchor="t"/>
          <a:lstStyle/>
          <a:p>
            <a:pPr algn="l" indent="0" marL="0">
              <a:lnSpc>
                <a:spcPct val="104000"/>
              </a:lnSpc>
              <a:buNone/>
            </a:pPr>
            <a:r>
              <a:rPr lang="en-US" sz="1150" b="1" dirty="0">
                <a:solidFill>
                  <a:srgbClr val="3B4E4E"/>
                </a:solidFill>
                <a:latin typeface="Syne Bold" pitchFamily="34" charset="0"/>
                <a:ea typeface="Syne Bold" pitchFamily="34" charset="-122"/>
                <a:cs typeface="Syne Bold" pitchFamily="34" charset="-120"/>
              </a:rPr>
              <a:t>✓ No Labels Needed</a:t>
            </a:r>
            <a:endParaRPr lang="en-US" sz="1150" dirty="0"/>
          </a:p>
        </p:txBody>
      </p:sp>
      <p:sp>
        <p:nvSpPr>
          <p:cNvPr id="24" name="Text 21"/>
          <p:cNvSpPr/>
          <p:nvPr/>
        </p:nvSpPr>
        <p:spPr>
          <a:xfrm>
            <a:off x="6435266" y="2287588"/>
            <a:ext cx="4967163" cy="336947"/>
          </a:xfrm>
          <a:prstGeom prst="rect">
            <a:avLst/>
          </a:prstGeom>
          <a:noFill/>
          <a:ln/>
        </p:spPr>
        <p:txBody>
          <a:bodyPr wrap="square" lIns="0" tIns="0" rIns="0" bIns="0" rtlCol="0" anchor="t">
            <a:normAutofit/>
          </a:bodyPr>
          <a:lstStyle/>
          <a:p>
            <a:pPr algn="l" indent="0" marL="0">
              <a:lnSpc>
                <a:spcPct val="116000"/>
              </a:lnSpc>
              <a:buNone/>
            </a:pPr>
            <a:r>
              <a:rPr lang="en-US" sz="950" dirty="0">
                <a:solidFill>
                  <a:srgbClr val="3B4E4E"/>
                </a:solidFill>
                <a:latin typeface="Overpass Light" pitchFamily="34" charset="0"/>
                <a:ea typeface="Overpass Light" pitchFamily="34" charset="-122"/>
                <a:cs typeface="Overpass Light" pitchFamily="34" charset="-120"/>
              </a:rPr>
              <a:t>Works entirely unsupervised — ideal when failure events are rare and have never been systematically recorded.</a:t>
            </a:r>
            <a:endParaRPr lang="en-US" sz="950" dirty="0"/>
          </a:p>
        </p:txBody>
      </p:sp>
      <p:pic>
        <p:nvPicPr>
          <p:cNvPr id="25"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250327" y="2847876"/>
            <a:ext cx="5286243" cy="884138"/>
          </a:xfrm>
          <a:prstGeom prst="rect">
            <a:avLst/>
          </a:prstGeom>
        </p:spPr>
      </p:pic>
      <p:sp>
        <p:nvSpPr>
          <p:cNvPr id="26" name="Text 22"/>
          <p:cNvSpPr/>
          <p:nvPr/>
        </p:nvSpPr>
        <p:spPr>
          <a:xfrm>
            <a:off x="6435266" y="2982020"/>
            <a:ext cx="4967163" cy="189706"/>
          </a:xfrm>
          <a:prstGeom prst="rect">
            <a:avLst/>
          </a:prstGeom>
          <a:noFill/>
          <a:ln/>
        </p:spPr>
        <p:txBody>
          <a:bodyPr wrap="none" lIns="0" tIns="0" rIns="0" bIns="0" rtlCol="0" anchor="t"/>
          <a:lstStyle/>
          <a:p>
            <a:pPr algn="l" indent="0" marL="0">
              <a:lnSpc>
                <a:spcPct val="104000"/>
              </a:lnSpc>
              <a:buNone/>
            </a:pPr>
            <a:r>
              <a:rPr lang="en-US" sz="1150" b="1" dirty="0">
                <a:solidFill>
                  <a:srgbClr val="3B4E4E"/>
                </a:solidFill>
                <a:latin typeface="Syne Bold" pitchFamily="34" charset="0"/>
                <a:ea typeface="Syne Bold" pitchFamily="34" charset="-122"/>
                <a:cs typeface="Syne Bold" pitchFamily="34" charset="-120"/>
              </a:rPr>
              <a:t>✓ Fast on Large Data</a:t>
            </a:r>
            <a:endParaRPr lang="en-US" sz="1150" dirty="0"/>
          </a:p>
        </p:txBody>
      </p:sp>
      <p:sp>
        <p:nvSpPr>
          <p:cNvPr id="27" name="Text 23"/>
          <p:cNvSpPr/>
          <p:nvPr/>
        </p:nvSpPr>
        <p:spPr>
          <a:xfrm>
            <a:off x="6435266" y="3260923"/>
            <a:ext cx="4967163" cy="336947"/>
          </a:xfrm>
          <a:prstGeom prst="rect">
            <a:avLst/>
          </a:prstGeom>
          <a:noFill/>
          <a:ln/>
        </p:spPr>
        <p:txBody>
          <a:bodyPr wrap="square" lIns="0" tIns="0" rIns="0" bIns="0" rtlCol="0" anchor="t">
            <a:normAutofit/>
          </a:bodyPr>
          <a:lstStyle/>
          <a:p>
            <a:pPr algn="l" indent="0" marL="0">
              <a:lnSpc>
                <a:spcPct val="116000"/>
              </a:lnSpc>
              <a:buNone/>
            </a:pPr>
            <a:r>
              <a:rPr lang="en-US" sz="950" dirty="0">
                <a:solidFill>
                  <a:srgbClr val="3B4E4E"/>
                </a:solidFill>
                <a:latin typeface="Overpass Light" pitchFamily="34" charset="0"/>
                <a:ea typeface="Overpass Light" pitchFamily="34" charset="-122"/>
                <a:cs typeface="Overpass Light" pitchFamily="34" charset="-120"/>
              </a:rPr>
              <a:t>Scales well to millions of sensor readings per day. Suitable for real-time streaming applications.</a:t>
            </a:r>
            <a:endParaRPr lang="en-US" sz="950" dirty="0"/>
          </a:p>
        </p:txBody>
      </p:sp>
      <p:pic>
        <p:nvPicPr>
          <p:cNvPr id="28"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250327" y="3821212"/>
            <a:ext cx="5286243" cy="884138"/>
          </a:xfrm>
          <a:prstGeom prst="rect">
            <a:avLst/>
          </a:prstGeom>
        </p:spPr>
      </p:pic>
      <p:sp>
        <p:nvSpPr>
          <p:cNvPr id="29" name="Text 24"/>
          <p:cNvSpPr/>
          <p:nvPr/>
        </p:nvSpPr>
        <p:spPr>
          <a:xfrm>
            <a:off x="6435266" y="3955355"/>
            <a:ext cx="4967163" cy="189706"/>
          </a:xfrm>
          <a:prstGeom prst="rect">
            <a:avLst/>
          </a:prstGeom>
          <a:noFill/>
          <a:ln/>
        </p:spPr>
        <p:txBody>
          <a:bodyPr wrap="none" lIns="0" tIns="0" rIns="0" bIns="0" rtlCol="0" anchor="t"/>
          <a:lstStyle/>
          <a:p>
            <a:pPr algn="l" indent="0" marL="0">
              <a:lnSpc>
                <a:spcPct val="104000"/>
              </a:lnSpc>
              <a:buNone/>
            </a:pPr>
            <a:r>
              <a:rPr lang="en-US" sz="1150" b="1" dirty="0">
                <a:solidFill>
                  <a:srgbClr val="3B4E4E"/>
                </a:solidFill>
                <a:latin typeface="Syne Bold" pitchFamily="34" charset="0"/>
                <a:ea typeface="Syne Bold" pitchFamily="34" charset="-122"/>
                <a:cs typeface="Syne Bold" pitchFamily="34" charset="-120"/>
              </a:rPr>
              <a:t>✗ No Explanation</a:t>
            </a:r>
            <a:endParaRPr lang="en-US" sz="1150" dirty="0"/>
          </a:p>
        </p:txBody>
      </p:sp>
      <p:sp>
        <p:nvSpPr>
          <p:cNvPr id="30" name="Text 25"/>
          <p:cNvSpPr/>
          <p:nvPr/>
        </p:nvSpPr>
        <p:spPr>
          <a:xfrm>
            <a:off x="6435266" y="4234259"/>
            <a:ext cx="4967163" cy="336947"/>
          </a:xfrm>
          <a:prstGeom prst="rect">
            <a:avLst/>
          </a:prstGeom>
          <a:noFill/>
          <a:ln/>
        </p:spPr>
        <p:txBody>
          <a:bodyPr wrap="square" lIns="0" tIns="0" rIns="0" bIns="0" rtlCol="0" anchor="t">
            <a:normAutofit/>
          </a:bodyPr>
          <a:lstStyle/>
          <a:p>
            <a:pPr algn="l" indent="0" marL="0">
              <a:lnSpc>
                <a:spcPct val="116000"/>
              </a:lnSpc>
              <a:buNone/>
            </a:pPr>
            <a:r>
              <a:rPr lang="en-US" sz="950" dirty="0">
                <a:solidFill>
                  <a:srgbClr val="3B4E4E"/>
                </a:solidFill>
                <a:latin typeface="Overpass Light" pitchFamily="34" charset="0"/>
                <a:ea typeface="Overpass Light" pitchFamily="34" charset="-122"/>
                <a:cs typeface="Overpass Light" pitchFamily="34" charset="-120"/>
              </a:rPr>
              <a:t>The score tells you something is unusual but not which specific sensor reading or combination of readings caused the alert. Additional analysis is needed.</a:t>
            </a:r>
            <a:endParaRPr lang="en-US" sz="950" dirty="0"/>
          </a:p>
        </p:txBody>
      </p:sp>
      <p:sp>
        <p:nvSpPr>
          <p:cNvPr id="31" name="Text 26"/>
          <p:cNvSpPr/>
          <p:nvPr/>
        </p:nvSpPr>
        <p:spPr>
          <a:xfrm>
            <a:off x="6250327" y="4805839"/>
            <a:ext cx="5286243" cy="189706"/>
          </a:xfrm>
          <a:prstGeom prst="rect">
            <a:avLst/>
          </a:prstGeom>
          <a:noFill/>
          <a:ln/>
        </p:spPr>
        <p:txBody>
          <a:bodyPr wrap="none" lIns="0" tIns="0" rIns="0" bIns="0" rtlCol="0" anchor="t"/>
          <a:lstStyle/>
          <a:p>
            <a:pPr algn="l" indent="0" marL="0">
              <a:lnSpc>
                <a:spcPct val="104000"/>
              </a:lnSpc>
              <a:buNone/>
            </a:pPr>
            <a:r>
              <a:rPr lang="en-US" sz="1150" b="1" dirty="0">
                <a:solidFill>
                  <a:srgbClr val="233939"/>
                </a:solidFill>
                <a:latin typeface="Syne Bold" pitchFamily="34" charset="0"/>
                <a:ea typeface="Syne Bold" pitchFamily="34" charset="-122"/>
                <a:cs typeface="Syne Bold" pitchFamily="34" charset="-120"/>
              </a:rPr>
              <a:t>Real-World Use</a:t>
            </a:r>
            <a:endParaRPr lang="en-US" sz="1150" dirty="0"/>
          </a:p>
        </p:txBody>
      </p:sp>
      <p:sp>
        <p:nvSpPr>
          <p:cNvPr id="32" name="Text 27"/>
          <p:cNvSpPr/>
          <p:nvPr/>
        </p:nvSpPr>
        <p:spPr>
          <a:xfrm>
            <a:off x="6250327" y="5084564"/>
            <a:ext cx="5286243" cy="336947"/>
          </a:xfrm>
          <a:prstGeom prst="rect">
            <a:avLst/>
          </a:prstGeom>
          <a:noFill/>
          <a:ln/>
        </p:spPr>
        <p:txBody>
          <a:bodyPr wrap="square" lIns="0" tIns="0" rIns="0" bIns="0" rtlCol="0" anchor="t">
            <a:normAutofit/>
          </a:bodyPr>
          <a:lstStyle/>
          <a:p>
            <a:pPr algn="l" indent="0" marL="0">
              <a:lnSpc>
                <a:spcPct val="116000"/>
              </a:lnSpc>
              <a:buNone/>
            </a:pPr>
            <a:r>
              <a:rPr lang="en-US" sz="950" dirty="0">
                <a:solidFill>
                  <a:srgbClr val="3B4E4E"/>
                </a:solidFill>
                <a:latin typeface="Overpass Light" pitchFamily="34" charset="0"/>
                <a:ea typeface="Overpass Light" pitchFamily="34" charset="-122"/>
                <a:cs typeface="Overpass Light" pitchFamily="34" charset="-120"/>
              </a:rPr>
              <a:t>Predictive maintenance in manufacturing (automotive, aerospace, energy); unusual financial transaction detection; network intrusion and cybersecurity monitoring.</a:t>
            </a:r>
            <a:endParaRPr lang="en-US" sz="9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DE6"/>
        </a:solidFill>
      </p:bgPr>
    </p:bg>
    <p:spTree>
      <p:nvGrpSpPr>
        <p:cNvPr id="1" name=""/>
        <p:cNvGrpSpPr/>
        <p:nvPr/>
      </p:nvGrpSpPr>
      <p:grpSpPr>
        <a:xfrm>
          <a:off x="0" y="0"/>
          <a:ext cx="0" cy="0"/>
          <a:chOff x="0" y="0"/>
          <a:chExt cx="0" cy="0"/>
        </a:xfrm>
      </p:grpSpPr>
      <p:sp>
        <p:nvSpPr>
          <p:cNvPr id="2" name="Shape 0"/>
          <p:cNvSpPr/>
          <p:nvPr/>
        </p:nvSpPr>
        <p:spPr>
          <a:xfrm>
            <a:off x="661475" y="601166"/>
            <a:ext cx="1118862" cy="211832"/>
          </a:xfrm>
          <a:prstGeom prst="roundRect">
            <a:avLst>
              <a:gd name="adj" fmla="val 22135"/>
            </a:avLst>
          </a:prstGeom>
          <a:solidFill>
            <a:srgbClr val="DDEEE6"/>
          </a:solidFill>
          <a:ln/>
        </p:spPr>
      </p:sp>
      <p:sp>
        <p:nvSpPr>
          <p:cNvPr id="3" name="Text 1"/>
          <p:cNvSpPr/>
          <p:nvPr/>
        </p:nvSpPr>
        <p:spPr>
          <a:xfrm>
            <a:off x="745114" y="642938"/>
            <a:ext cx="1561168" cy="128290"/>
          </a:xfrm>
          <a:prstGeom prst="rect">
            <a:avLst/>
          </a:prstGeom>
          <a:noFill/>
          <a:ln/>
        </p:spPr>
        <p:txBody>
          <a:bodyPr wrap="none" lIns="0" tIns="0" rIns="0" bIns="0" rtlCol="0" anchor="t"/>
          <a:lstStyle/>
          <a:p>
            <a:pPr algn="l" indent="0" marL="0">
              <a:lnSpc>
                <a:spcPct val="96000"/>
              </a:lnSpc>
              <a:buNone/>
            </a:pPr>
            <a:r>
              <a:rPr lang="en-US" sz="850" dirty="0">
                <a:solidFill>
                  <a:srgbClr val="3B4E4E"/>
                </a:solidFill>
                <a:latin typeface="Overpass Light" pitchFamily="34" charset="0"/>
                <a:ea typeface="Overpass Light" pitchFamily="34" charset="-122"/>
                <a:cs typeface="Overpass Light" pitchFamily="34" charset="-120"/>
              </a:rPr>
              <a:t>BUSINESS CASE 12</a:t>
            </a:r>
            <a:endParaRPr lang="en-US" sz="850" dirty="0"/>
          </a:p>
        </p:txBody>
      </p:sp>
      <p:sp>
        <p:nvSpPr>
          <p:cNvPr id="4" name="Text 2"/>
          <p:cNvSpPr/>
          <p:nvPr/>
        </p:nvSpPr>
        <p:spPr>
          <a:xfrm>
            <a:off x="661475" y="865303"/>
            <a:ext cx="10868745" cy="436066"/>
          </a:xfrm>
          <a:prstGeom prst="rect">
            <a:avLst/>
          </a:prstGeom>
          <a:noFill/>
          <a:ln/>
        </p:spPr>
        <p:txBody>
          <a:bodyPr wrap="none" lIns="0" tIns="0" rIns="0" bIns="0" rtlCol="0" anchor="t"/>
          <a:lstStyle/>
          <a:p>
            <a:pPr algn="l" indent="0" marL="0">
              <a:lnSpc>
                <a:spcPct val="104000"/>
              </a:lnSpc>
              <a:buNone/>
            </a:pPr>
            <a:r>
              <a:rPr lang="en-US" sz="2700" b="1" dirty="0">
                <a:solidFill>
                  <a:srgbClr val="233939"/>
                </a:solidFill>
                <a:latin typeface="Syne Bold" pitchFamily="34" charset="0"/>
                <a:ea typeface="Syne Bold" pitchFamily="34" charset="-122"/>
                <a:cs typeface="Syne Bold" pitchFamily="34" charset="-120"/>
              </a:rPr>
              <a:t>Which Products Are Bought Together?</a:t>
            </a:r>
            <a:endParaRPr lang="en-US" sz="2700" dirty="0"/>
          </a:p>
        </p:txBody>
      </p:sp>
      <p:sp>
        <p:nvSpPr>
          <p:cNvPr id="5" name="Text 3"/>
          <p:cNvSpPr/>
          <p:nvPr/>
        </p:nvSpPr>
        <p:spPr>
          <a:xfrm>
            <a:off x="661475" y="1472704"/>
            <a:ext cx="10868745" cy="411758"/>
          </a:xfrm>
          <a:prstGeom prst="rect">
            <a:avLst/>
          </a:prstGeom>
          <a:noFill/>
          <a:ln/>
        </p:spPr>
        <p:txBody>
          <a:bodyPr wrap="square" lIns="0" tIns="0" rIns="0" bIns="0" rtlCol="0" anchor="t">
            <a:normAutofit/>
          </a:bodyPr>
          <a:lstStyle/>
          <a:p>
            <a:pPr algn="l" indent="0" marL="0">
              <a:lnSpc>
                <a:spcPct val="123000"/>
              </a:lnSpc>
              <a:buNone/>
            </a:pPr>
            <a:r>
              <a:rPr lang="en-US" sz="1050" dirty="0">
                <a:solidFill>
                  <a:srgbClr val="3B4E4E"/>
                </a:solidFill>
                <a:latin typeface="Overpass Light" pitchFamily="34" charset="0"/>
                <a:ea typeface="Overpass Light" pitchFamily="34" charset="-122"/>
                <a:cs typeface="Overpass Light" pitchFamily="34" charset="-120"/>
              </a:rPr>
              <a:t>A supermarket wants to discover which products customers naturally buy on the same shopping trip — to optimise shelf placement, cross-promotions, and bundled offers. No prediction is needed; the goal is to uncover hidden purchasing patterns.</a:t>
            </a:r>
            <a:endParaRPr lang="en-US" sz="1050" dirty="0"/>
          </a:p>
        </p:txBody>
      </p:sp>
      <p:sp>
        <p:nvSpPr>
          <p:cNvPr id="6" name="Text 4"/>
          <p:cNvSpPr/>
          <p:nvPr/>
        </p:nvSpPr>
        <p:spPr>
          <a:xfrm>
            <a:off x="661475" y="2134592"/>
            <a:ext cx="5264217" cy="217984"/>
          </a:xfrm>
          <a:prstGeom prst="rect">
            <a:avLst/>
          </a:prstGeom>
          <a:noFill/>
          <a:ln/>
        </p:spPr>
        <p:txBody>
          <a:bodyPr wrap="none" lIns="0" tIns="0" rIns="0" bIns="0" rtlCol="0" anchor="t"/>
          <a:lstStyle/>
          <a:p>
            <a:pPr algn="l" indent="0" marL="0">
              <a:lnSpc>
                <a:spcPct val="104000"/>
              </a:lnSpc>
              <a:buNone/>
            </a:pPr>
            <a:r>
              <a:rPr lang="en-US" sz="1350" b="1" dirty="0">
                <a:solidFill>
                  <a:srgbClr val="233939"/>
                </a:solidFill>
                <a:latin typeface="Syne Bold" pitchFamily="34" charset="0"/>
                <a:ea typeface="Syne Bold" pitchFamily="34" charset="-122"/>
                <a:cs typeface="Syne Bold" pitchFamily="34" charset="-120"/>
              </a:rPr>
              <a:t>Thinking It Through</a:t>
            </a:r>
            <a:endParaRPr lang="en-US" sz="1350" dirty="0"/>
          </a:p>
        </p:txBody>
      </p:sp>
      <p:pic>
        <p:nvPicPr>
          <p:cNvPr id="7"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42425" y="2465983"/>
            <a:ext cx="2577539" cy="1209377"/>
          </a:xfrm>
          <a:prstGeom prst="rect">
            <a:avLst/>
          </a:prstGeom>
        </p:spPr>
      </p:pic>
      <p:sp>
        <p:nvSpPr>
          <p:cNvPr id="8" name="Text 5"/>
          <p:cNvSpPr/>
          <p:nvPr/>
        </p:nvSpPr>
        <p:spPr>
          <a:xfrm>
            <a:off x="839072" y="2485033"/>
            <a:ext cx="2380893" cy="435967"/>
          </a:xfrm>
          <a:prstGeom prst="rect">
            <a:avLst/>
          </a:prstGeom>
          <a:noFill/>
          <a:ln/>
        </p:spPr>
        <p:txBody>
          <a:bodyPr wrap="square" lIns="0" tIns="0" rIns="0" bIns="0" rtlCol="0" anchor="t">
            <a:normAutofit/>
          </a:bodyPr>
          <a:lstStyle/>
          <a:p>
            <a:pPr algn="l" indent="0" marL="0">
              <a:lnSpc>
                <a:spcPct val="104000"/>
              </a:lnSpc>
              <a:buNone/>
            </a:pPr>
            <a:r>
              <a:rPr lang="en-US" sz="1350" b="1" dirty="0">
                <a:solidFill>
                  <a:srgbClr val="3B4E4E"/>
                </a:solidFill>
                <a:latin typeface="Syne Bold" pitchFamily="34" charset="0"/>
                <a:ea typeface="Syne Bold" pitchFamily="34" charset="-122"/>
                <a:cs typeface="Syne Bold" pitchFamily="34" charset="-120"/>
              </a:rPr>
              <a:t>Past data with correct answers?</a:t>
            </a:r>
            <a:endParaRPr lang="en-US" sz="1350" dirty="0"/>
          </a:p>
        </p:txBody>
      </p:sp>
      <p:sp>
        <p:nvSpPr>
          <p:cNvPr id="9" name="Text 6"/>
          <p:cNvSpPr/>
          <p:nvPr/>
        </p:nvSpPr>
        <p:spPr>
          <a:xfrm>
            <a:off x="839072" y="3038673"/>
            <a:ext cx="2380893" cy="617637"/>
          </a:xfrm>
          <a:prstGeom prst="rect">
            <a:avLst/>
          </a:prstGeom>
          <a:noFill/>
          <a:ln/>
        </p:spPr>
        <p:txBody>
          <a:bodyPr wrap="square" lIns="0" tIns="0" rIns="0" bIns="0" rtlCol="0" anchor="t">
            <a:normAutofit/>
          </a:bodyPr>
          <a:lstStyle/>
          <a:p>
            <a:pPr algn="l" indent="0" marL="0">
              <a:lnSpc>
                <a:spcPct val="123000"/>
              </a:lnSpc>
              <a:buNone/>
            </a:pPr>
            <a:r>
              <a:rPr lang="en-US" sz="1050" dirty="0">
                <a:solidFill>
                  <a:srgbClr val="3B4E4E"/>
                </a:solidFill>
                <a:latin typeface="Overpass Light" pitchFamily="34" charset="0"/>
                <a:ea typeface="Overpass Light" pitchFamily="34" charset="-122"/>
                <a:cs typeface="Overpass Light" pitchFamily="34" charset="-120"/>
              </a:rPr>
              <a:t>No target to predict — this is pattern discovery in millions of transaction receipts.</a:t>
            </a:r>
            <a:endParaRPr lang="en-US" sz="1050" dirty="0"/>
          </a:p>
        </p:txBody>
      </p:sp>
      <p:pic>
        <p:nvPicPr>
          <p:cNvPr id="10"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348053" y="2465983"/>
            <a:ext cx="2577639" cy="1209377"/>
          </a:xfrm>
          <a:prstGeom prst="rect">
            <a:avLst/>
          </a:prstGeom>
        </p:spPr>
      </p:pic>
      <p:sp>
        <p:nvSpPr>
          <p:cNvPr id="11" name="Text 7"/>
          <p:cNvSpPr/>
          <p:nvPr/>
        </p:nvSpPr>
        <p:spPr>
          <a:xfrm>
            <a:off x="3544700" y="2485033"/>
            <a:ext cx="2380992" cy="217984"/>
          </a:xfrm>
          <a:prstGeom prst="rect">
            <a:avLst/>
          </a:prstGeom>
          <a:noFill/>
          <a:ln/>
        </p:spPr>
        <p:txBody>
          <a:bodyPr wrap="none" lIns="0" tIns="0" rIns="0" bIns="0" rtlCol="0" anchor="t"/>
          <a:lstStyle/>
          <a:p>
            <a:pPr algn="l" indent="0" marL="0">
              <a:lnSpc>
                <a:spcPct val="104000"/>
              </a:lnSpc>
              <a:buNone/>
            </a:pPr>
            <a:r>
              <a:rPr lang="en-US" sz="1350" b="1" dirty="0">
                <a:solidFill>
                  <a:srgbClr val="3B4E4E"/>
                </a:solidFill>
                <a:latin typeface="Syne Bold" pitchFamily="34" charset="0"/>
                <a:ea typeface="Syne Bold" pitchFamily="34" charset="-122"/>
                <a:cs typeface="Syne Bold" pitchFamily="34" charset="-120"/>
              </a:rPr>
              <a:t>Goal</a:t>
            </a:r>
            <a:endParaRPr lang="en-US" sz="1350" dirty="0"/>
          </a:p>
        </p:txBody>
      </p:sp>
      <p:sp>
        <p:nvSpPr>
          <p:cNvPr id="12" name="Text 8"/>
          <p:cNvSpPr/>
          <p:nvPr/>
        </p:nvSpPr>
        <p:spPr>
          <a:xfrm>
            <a:off x="3544700" y="2820690"/>
            <a:ext cx="2380992" cy="617637"/>
          </a:xfrm>
          <a:prstGeom prst="rect">
            <a:avLst/>
          </a:prstGeom>
          <a:noFill/>
          <a:ln/>
        </p:spPr>
        <p:txBody>
          <a:bodyPr wrap="square" lIns="0" tIns="0" rIns="0" bIns="0" rtlCol="0" anchor="t">
            <a:normAutofit/>
          </a:bodyPr>
          <a:lstStyle/>
          <a:p>
            <a:pPr algn="l" indent="0" marL="0">
              <a:lnSpc>
                <a:spcPct val="123000"/>
              </a:lnSpc>
              <a:buNone/>
            </a:pPr>
            <a:r>
              <a:rPr lang="en-US" sz="1050" dirty="0">
                <a:solidFill>
                  <a:srgbClr val="3B4E4E"/>
                </a:solidFill>
                <a:latin typeface="Overpass Light" pitchFamily="34" charset="0"/>
                <a:ea typeface="Overpass Light" pitchFamily="34" charset="-122"/>
                <a:cs typeface="Overpass Light" pitchFamily="34" charset="-120"/>
              </a:rPr>
              <a:t>Find combinations of items that appear on the same receipt more often than chance would predict.</a:t>
            </a:r>
            <a:endParaRPr lang="en-US" sz="1050" dirty="0"/>
          </a:p>
        </p:txBody>
      </p:sp>
      <p:pic>
        <p:nvPicPr>
          <p:cNvPr id="13"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42425" y="3872706"/>
            <a:ext cx="5283266" cy="579636"/>
          </a:xfrm>
          <a:prstGeom prst="rect">
            <a:avLst/>
          </a:prstGeom>
        </p:spPr>
      </p:pic>
      <p:sp>
        <p:nvSpPr>
          <p:cNvPr id="14" name="Text 9"/>
          <p:cNvSpPr/>
          <p:nvPr/>
        </p:nvSpPr>
        <p:spPr>
          <a:xfrm>
            <a:off x="839072" y="3891756"/>
            <a:ext cx="5086620" cy="217984"/>
          </a:xfrm>
          <a:prstGeom prst="rect">
            <a:avLst/>
          </a:prstGeom>
          <a:noFill/>
          <a:ln/>
        </p:spPr>
        <p:txBody>
          <a:bodyPr wrap="none" lIns="0" tIns="0" rIns="0" bIns="0" rtlCol="0" anchor="t"/>
          <a:lstStyle/>
          <a:p>
            <a:pPr algn="l" indent="0" marL="0">
              <a:lnSpc>
                <a:spcPct val="104000"/>
              </a:lnSpc>
              <a:buNone/>
            </a:pPr>
            <a:r>
              <a:rPr lang="en-US" sz="1350" b="1" dirty="0">
                <a:solidFill>
                  <a:srgbClr val="3B4E4E"/>
                </a:solidFill>
                <a:latin typeface="Syne Bold" pitchFamily="34" charset="0"/>
                <a:ea typeface="Syne Bold" pitchFamily="34" charset="-122"/>
                <a:cs typeface="Syne Bold" pitchFamily="34" charset="-120"/>
              </a:rPr>
              <a:t>Problem type</a:t>
            </a:r>
            <a:endParaRPr lang="en-US" sz="1350" dirty="0"/>
          </a:p>
        </p:txBody>
      </p:sp>
      <p:sp>
        <p:nvSpPr>
          <p:cNvPr id="15" name="Text 10"/>
          <p:cNvSpPr/>
          <p:nvPr/>
        </p:nvSpPr>
        <p:spPr>
          <a:xfrm>
            <a:off x="839072" y="4227413"/>
            <a:ext cx="5086620" cy="205879"/>
          </a:xfrm>
          <a:prstGeom prst="rect">
            <a:avLst/>
          </a:prstGeom>
          <a:noFill/>
          <a:ln/>
        </p:spPr>
        <p:txBody>
          <a:bodyPr wrap="none" lIns="0" tIns="0" rIns="0" bIns="0" rtlCol="0" anchor="t"/>
          <a:lstStyle/>
          <a:p>
            <a:pPr algn="l" indent="0" marL="0">
              <a:lnSpc>
                <a:spcPct val="123000"/>
              </a:lnSpc>
              <a:buNone/>
            </a:pPr>
            <a:r>
              <a:rPr lang="en-US" sz="1050" b="1" dirty="0">
                <a:solidFill>
                  <a:srgbClr val="3B4E4E"/>
                </a:solidFill>
                <a:latin typeface="Overpass Bold" pitchFamily="34" charset="0"/>
                <a:ea typeface="Overpass Bold" pitchFamily="34" charset="-122"/>
                <a:cs typeface="Overpass Bold" pitchFamily="34" charset="-120"/>
              </a:rPr>
              <a:t>Association rule mining (unsupervised).</a:t>
            </a:r>
            <a:endParaRPr lang="en-US" sz="1050" dirty="0"/>
          </a:p>
        </p:txBody>
      </p:sp>
      <p:sp>
        <p:nvSpPr>
          <p:cNvPr id="16" name="Text 11"/>
          <p:cNvSpPr/>
          <p:nvPr/>
        </p:nvSpPr>
        <p:spPr>
          <a:xfrm>
            <a:off x="6272353" y="2134592"/>
            <a:ext cx="5264217" cy="217984"/>
          </a:xfrm>
          <a:prstGeom prst="rect">
            <a:avLst/>
          </a:prstGeom>
          <a:noFill/>
          <a:ln/>
        </p:spPr>
        <p:txBody>
          <a:bodyPr wrap="none" lIns="0" tIns="0" rIns="0" bIns="0" rtlCol="0" anchor="t"/>
          <a:lstStyle/>
          <a:p>
            <a:pPr algn="l" indent="0" marL="0">
              <a:lnSpc>
                <a:spcPct val="104000"/>
              </a:lnSpc>
              <a:buNone/>
            </a:pPr>
            <a:r>
              <a:rPr lang="en-US" sz="1350" b="1" dirty="0">
                <a:solidFill>
                  <a:srgbClr val="233939"/>
                </a:solidFill>
                <a:latin typeface="Syne Bold" pitchFamily="34" charset="0"/>
                <a:ea typeface="Syne Bold" pitchFamily="34" charset="-122"/>
                <a:cs typeface="Syne Bold" pitchFamily="34" charset="-120"/>
              </a:rPr>
              <a:t>Three Key Measures</a:t>
            </a:r>
            <a:endParaRPr lang="en-US" sz="1350" dirty="0"/>
          </a:p>
        </p:txBody>
      </p:sp>
      <p:sp>
        <p:nvSpPr>
          <p:cNvPr id="17" name="Shape 12"/>
          <p:cNvSpPr/>
          <p:nvPr/>
        </p:nvSpPr>
        <p:spPr>
          <a:xfrm>
            <a:off x="6272353" y="2485033"/>
            <a:ext cx="2573273" cy="1450876"/>
          </a:xfrm>
          <a:prstGeom prst="roundRect">
            <a:avLst>
              <a:gd name="adj" fmla="val 4040"/>
            </a:avLst>
          </a:prstGeom>
          <a:solidFill>
            <a:srgbClr val="DDEEE6"/>
          </a:solidFill>
          <a:ln w="6350">
            <a:solidFill>
              <a:srgbClr val="C3D4CC"/>
            </a:solidFill>
            <a:prstDash val="solid"/>
          </a:ln>
        </p:spPr>
      </p:sp>
      <p:sp>
        <p:nvSpPr>
          <p:cNvPr id="18" name="Text 13"/>
          <p:cNvSpPr/>
          <p:nvPr/>
        </p:nvSpPr>
        <p:spPr>
          <a:xfrm>
            <a:off x="6418201" y="2630884"/>
            <a:ext cx="2281577" cy="217984"/>
          </a:xfrm>
          <a:prstGeom prst="rect">
            <a:avLst/>
          </a:prstGeom>
          <a:noFill/>
          <a:ln/>
        </p:spPr>
        <p:txBody>
          <a:bodyPr wrap="none" lIns="0" tIns="0" rIns="0" bIns="0" rtlCol="0" anchor="t"/>
          <a:lstStyle/>
          <a:p>
            <a:pPr algn="l" indent="0" marL="0">
              <a:lnSpc>
                <a:spcPct val="104000"/>
              </a:lnSpc>
              <a:buNone/>
            </a:pPr>
            <a:r>
              <a:rPr lang="en-US" sz="1350" b="1" dirty="0">
                <a:solidFill>
                  <a:srgbClr val="3B4E4E"/>
                </a:solidFill>
                <a:latin typeface="Syne Bold" pitchFamily="34" charset="0"/>
                <a:ea typeface="Syne Bold" pitchFamily="34" charset="-122"/>
                <a:cs typeface="Syne Bold" pitchFamily="34" charset="-120"/>
              </a:rPr>
              <a:t>Support</a:t>
            </a:r>
            <a:endParaRPr lang="en-US" sz="1350" dirty="0"/>
          </a:p>
        </p:txBody>
      </p:sp>
      <p:sp>
        <p:nvSpPr>
          <p:cNvPr id="19" name="Text 14"/>
          <p:cNvSpPr/>
          <p:nvPr/>
        </p:nvSpPr>
        <p:spPr>
          <a:xfrm>
            <a:off x="6418201" y="2966541"/>
            <a:ext cx="2281577" cy="823516"/>
          </a:xfrm>
          <a:prstGeom prst="rect">
            <a:avLst/>
          </a:prstGeom>
          <a:noFill/>
          <a:ln/>
        </p:spPr>
        <p:txBody>
          <a:bodyPr wrap="square" lIns="0" tIns="0" rIns="0" bIns="0" rtlCol="0" anchor="t">
            <a:normAutofit/>
          </a:bodyPr>
          <a:lstStyle/>
          <a:p>
            <a:pPr algn="l" indent="0" marL="0">
              <a:lnSpc>
                <a:spcPct val="123000"/>
              </a:lnSpc>
              <a:buNone/>
            </a:pPr>
            <a:r>
              <a:rPr lang="en-US" sz="1050" dirty="0">
                <a:solidFill>
                  <a:srgbClr val="3B4E4E"/>
                </a:solidFill>
                <a:latin typeface="Overpass Light" pitchFamily="34" charset="0"/>
                <a:ea typeface="Overpass Light" pitchFamily="34" charset="-122"/>
                <a:cs typeface="Overpass Light" pitchFamily="34" charset="-120"/>
              </a:rPr>
              <a:t>How often does this combination appear across all transactions? A rule with low support affects very few customers.</a:t>
            </a:r>
            <a:endParaRPr lang="en-US" sz="1050" dirty="0"/>
          </a:p>
        </p:txBody>
      </p:sp>
      <p:sp>
        <p:nvSpPr>
          <p:cNvPr id="20" name="Shape 15"/>
          <p:cNvSpPr/>
          <p:nvPr/>
        </p:nvSpPr>
        <p:spPr>
          <a:xfrm>
            <a:off x="8963297" y="2485033"/>
            <a:ext cx="2573273" cy="1450876"/>
          </a:xfrm>
          <a:prstGeom prst="roundRect">
            <a:avLst>
              <a:gd name="adj" fmla="val 4040"/>
            </a:avLst>
          </a:prstGeom>
          <a:solidFill>
            <a:srgbClr val="DDEEE6"/>
          </a:solidFill>
          <a:ln w="6350">
            <a:solidFill>
              <a:srgbClr val="C3D4CC"/>
            </a:solidFill>
            <a:prstDash val="solid"/>
          </a:ln>
        </p:spPr>
      </p:sp>
      <p:sp>
        <p:nvSpPr>
          <p:cNvPr id="21" name="Text 16"/>
          <p:cNvSpPr/>
          <p:nvPr/>
        </p:nvSpPr>
        <p:spPr>
          <a:xfrm>
            <a:off x="9109145" y="2630884"/>
            <a:ext cx="2281577" cy="217984"/>
          </a:xfrm>
          <a:prstGeom prst="rect">
            <a:avLst/>
          </a:prstGeom>
          <a:noFill/>
          <a:ln/>
        </p:spPr>
        <p:txBody>
          <a:bodyPr wrap="none" lIns="0" tIns="0" rIns="0" bIns="0" rtlCol="0" anchor="t"/>
          <a:lstStyle/>
          <a:p>
            <a:pPr algn="l" indent="0" marL="0">
              <a:lnSpc>
                <a:spcPct val="104000"/>
              </a:lnSpc>
              <a:buNone/>
            </a:pPr>
            <a:r>
              <a:rPr lang="en-US" sz="1350" b="1" dirty="0">
                <a:solidFill>
                  <a:srgbClr val="3B4E4E"/>
                </a:solidFill>
                <a:latin typeface="Syne Bold" pitchFamily="34" charset="0"/>
                <a:ea typeface="Syne Bold" pitchFamily="34" charset="-122"/>
                <a:cs typeface="Syne Bold" pitchFamily="34" charset="-120"/>
              </a:rPr>
              <a:t>Confidence</a:t>
            </a:r>
            <a:endParaRPr lang="en-US" sz="1350" dirty="0"/>
          </a:p>
        </p:txBody>
      </p:sp>
      <p:sp>
        <p:nvSpPr>
          <p:cNvPr id="22" name="Text 17"/>
          <p:cNvSpPr/>
          <p:nvPr/>
        </p:nvSpPr>
        <p:spPr>
          <a:xfrm>
            <a:off x="9109145" y="2966541"/>
            <a:ext cx="2281577" cy="823516"/>
          </a:xfrm>
          <a:prstGeom prst="rect">
            <a:avLst/>
          </a:prstGeom>
          <a:noFill/>
          <a:ln/>
        </p:spPr>
        <p:txBody>
          <a:bodyPr wrap="square" lIns="0" tIns="0" rIns="0" bIns="0" rtlCol="0" anchor="t">
            <a:normAutofit/>
          </a:bodyPr>
          <a:lstStyle/>
          <a:p>
            <a:pPr algn="l" indent="0" marL="0">
              <a:lnSpc>
                <a:spcPct val="123000"/>
              </a:lnSpc>
              <a:buNone/>
            </a:pPr>
            <a:r>
              <a:rPr lang="en-US" sz="1050" dirty="0">
                <a:solidFill>
                  <a:srgbClr val="3B4E4E"/>
                </a:solidFill>
                <a:latin typeface="Overpass Light" pitchFamily="34" charset="0"/>
                <a:ea typeface="Overpass Light" pitchFamily="34" charset="-122"/>
                <a:cs typeface="Overpass Light" pitchFamily="34" charset="-120"/>
              </a:rPr>
              <a:t>When a customer buys A, what fraction also buy B? High confidence means B is a reliable recommendation for A-buyers.</a:t>
            </a:r>
            <a:endParaRPr lang="en-US" sz="1050" dirty="0"/>
          </a:p>
        </p:txBody>
      </p:sp>
      <p:sp>
        <p:nvSpPr>
          <p:cNvPr id="23" name="Shape 18"/>
          <p:cNvSpPr/>
          <p:nvPr/>
        </p:nvSpPr>
        <p:spPr>
          <a:xfrm>
            <a:off x="6272353" y="4053582"/>
            <a:ext cx="5264217" cy="1039118"/>
          </a:xfrm>
          <a:prstGeom prst="roundRect">
            <a:avLst>
              <a:gd name="adj" fmla="val 5640"/>
            </a:avLst>
          </a:prstGeom>
          <a:solidFill>
            <a:srgbClr val="DDEEE6"/>
          </a:solidFill>
          <a:ln w="6350">
            <a:solidFill>
              <a:srgbClr val="C3D4CC"/>
            </a:solidFill>
            <a:prstDash val="solid"/>
          </a:ln>
        </p:spPr>
      </p:sp>
      <p:sp>
        <p:nvSpPr>
          <p:cNvPr id="24" name="Text 19"/>
          <p:cNvSpPr/>
          <p:nvPr/>
        </p:nvSpPr>
        <p:spPr>
          <a:xfrm>
            <a:off x="6418201" y="4199434"/>
            <a:ext cx="4972521" cy="217984"/>
          </a:xfrm>
          <a:prstGeom prst="rect">
            <a:avLst/>
          </a:prstGeom>
          <a:noFill/>
          <a:ln/>
        </p:spPr>
        <p:txBody>
          <a:bodyPr wrap="none" lIns="0" tIns="0" rIns="0" bIns="0" rtlCol="0" anchor="t"/>
          <a:lstStyle/>
          <a:p>
            <a:pPr algn="l" indent="0" marL="0">
              <a:lnSpc>
                <a:spcPct val="104000"/>
              </a:lnSpc>
              <a:buNone/>
            </a:pPr>
            <a:r>
              <a:rPr lang="en-US" sz="1350" b="1" dirty="0">
                <a:solidFill>
                  <a:srgbClr val="3B4E4E"/>
                </a:solidFill>
                <a:latin typeface="Syne Bold" pitchFamily="34" charset="0"/>
                <a:ea typeface="Syne Bold" pitchFamily="34" charset="-122"/>
                <a:cs typeface="Syne Bold" pitchFamily="34" charset="-120"/>
              </a:rPr>
              <a:t>Lift</a:t>
            </a:r>
            <a:endParaRPr lang="en-US" sz="1350" dirty="0"/>
          </a:p>
        </p:txBody>
      </p:sp>
      <p:sp>
        <p:nvSpPr>
          <p:cNvPr id="25" name="Text 20"/>
          <p:cNvSpPr/>
          <p:nvPr/>
        </p:nvSpPr>
        <p:spPr>
          <a:xfrm>
            <a:off x="6418201" y="4535091"/>
            <a:ext cx="4972521" cy="411758"/>
          </a:xfrm>
          <a:prstGeom prst="rect">
            <a:avLst/>
          </a:prstGeom>
          <a:noFill/>
          <a:ln/>
        </p:spPr>
        <p:txBody>
          <a:bodyPr wrap="square" lIns="0" tIns="0" rIns="0" bIns="0" rtlCol="0" anchor="t">
            <a:normAutofit/>
          </a:bodyPr>
          <a:lstStyle/>
          <a:p>
            <a:pPr algn="l" indent="0" marL="0">
              <a:lnSpc>
                <a:spcPct val="123000"/>
              </a:lnSpc>
              <a:buNone/>
            </a:pPr>
            <a:r>
              <a:rPr lang="en-US" sz="1050" dirty="0">
                <a:solidFill>
                  <a:srgbClr val="3B4E4E"/>
                </a:solidFill>
                <a:latin typeface="Overpass Light" pitchFamily="34" charset="0"/>
                <a:ea typeface="Overpass Light" pitchFamily="34" charset="-122"/>
                <a:cs typeface="Overpass Light" pitchFamily="34" charset="-120"/>
              </a:rPr>
              <a:t>How much more often do A and B appear together than pure chance predicts? Lift &gt; 1 means a genuine relationship; lift = 1 means coincidence.</a:t>
            </a:r>
            <a:endParaRPr lang="en-US" sz="1050" dirty="0"/>
          </a:p>
        </p:txBody>
      </p:sp>
      <p:sp>
        <p:nvSpPr>
          <p:cNvPr id="26" name="Shape 21"/>
          <p:cNvSpPr/>
          <p:nvPr/>
        </p:nvSpPr>
        <p:spPr>
          <a:xfrm>
            <a:off x="6272353" y="5225157"/>
            <a:ext cx="5264217" cy="899220"/>
          </a:xfrm>
          <a:prstGeom prst="roundRect">
            <a:avLst>
              <a:gd name="adj" fmla="val 6518"/>
            </a:avLst>
          </a:prstGeom>
          <a:solidFill>
            <a:srgbClr val="DDEEE6"/>
          </a:solidFill>
          <a:ln/>
        </p:spPr>
      </p:sp>
      <p:pic>
        <p:nvPicPr>
          <p:cNvPr id="27" name="Image 3" descr="preencoded.png">    </p:cNvPr>
          <p:cNvPicPr>
            <a:picLocks noChangeAspect="1"/>
          </p:cNvPicPr>
          <p:nvPr/>
        </p:nvPicPr>
        <p:blipFill>
          <a:blip r:embed="rId7"/>
          <a:stretch>
            <a:fillRect/>
          </a:stretch>
        </p:blipFill>
        <p:spPr>
          <a:xfrm>
            <a:off x="6411851" y="5388868"/>
            <a:ext cx="174422" cy="139502"/>
          </a:xfrm>
          <a:prstGeom prst="rect">
            <a:avLst/>
          </a:prstGeom>
        </p:spPr>
      </p:pic>
      <p:sp>
        <p:nvSpPr>
          <p:cNvPr id="28" name="Text 22"/>
          <p:cNvSpPr/>
          <p:nvPr/>
        </p:nvSpPr>
        <p:spPr>
          <a:xfrm>
            <a:off x="6725772" y="5365948"/>
            <a:ext cx="4671300" cy="617637"/>
          </a:xfrm>
          <a:prstGeom prst="rect">
            <a:avLst/>
          </a:prstGeom>
          <a:noFill/>
          <a:ln/>
        </p:spPr>
        <p:txBody>
          <a:bodyPr wrap="square" lIns="0" tIns="0" rIns="0" bIns="0" rtlCol="0" anchor="t">
            <a:normAutofit/>
          </a:bodyPr>
          <a:lstStyle/>
          <a:p>
            <a:pPr algn="l" indent="0" marL="0">
              <a:lnSpc>
                <a:spcPct val="123000"/>
              </a:lnSpc>
              <a:buNone/>
            </a:pPr>
            <a:r>
              <a:rPr lang="en-US" sz="1050" b="1" dirty="0">
                <a:solidFill>
                  <a:srgbClr val="000000"/>
                </a:solidFill>
                <a:latin typeface="Overpass Bold" pitchFamily="34" charset="0"/>
                <a:ea typeface="Overpass Bold" pitchFamily="34" charset="-122"/>
                <a:cs typeface="Overpass Bold" pitchFamily="34" charset="-120"/>
              </a:rPr>
              <a:t>Class discussion:</a:t>
            </a:r>
            <a:pPr algn="l" indent="0" marL="0">
              <a:lnSpc>
                <a:spcPct val="123000"/>
              </a:lnSpc>
              <a:buNone/>
            </a:pPr>
            <a:r>
              <a:rPr lang="en-US" sz="1050" dirty="0">
                <a:solidFill>
                  <a:srgbClr val="000000"/>
                </a:solidFill>
                <a:latin typeface="Overpass Light" pitchFamily="34" charset="0"/>
                <a:ea typeface="Overpass Light" pitchFamily="34" charset="-122"/>
                <a:cs typeface="Overpass Light" pitchFamily="34" charset="-120"/>
              </a:rPr>
              <a:t> Think of your last grocery shopping trip. Which two items did you buy that you almost always buy together? Would placing them in opposite corners of the store increase or decrease your total spend?</a:t>
            </a:r>
            <a:endParaRPr lang="en-US" sz="10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DE6"/>
        </a:solidFill>
      </p:bgPr>
    </p:bg>
    <p:spTree>
      <p:nvGrpSpPr>
        <p:cNvPr id="1" name=""/>
        <p:cNvGrpSpPr/>
        <p:nvPr/>
      </p:nvGrpSpPr>
      <p:grpSpPr>
        <a:xfrm>
          <a:off x="0" y="0"/>
          <a:ext cx="0" cy="0"/>
          <a:chOff x="0" y="0"/>
          <a:chExt cx="0" cy="0"/>
        </a:xfrm>
      </p:grpSpPr>
      <p:sp>
        <p:nvSpPr>
          <p:cNvPr id="2" name="Text 0"/>
          <p:cNvSpPr/>
          <p:nvPr/>
        </p:nvSpPr>
        <p:spPr>
          <a:xfrm>
            <a:off x="661475" y="508621"/>
            <a:ext cx="10868745" cy="387648"/>
          </a:xfrm>
          <a:prstGeom prst="rect">
            <a:avLst/>
          </a:prstGeom>
          <a:noFill/>
          <a:ln/>
        </p:spPr>
        <p:txBody>
          <a:bodyPr wrap="none" lIns="0" tIns="0" rIns="0" bIns="0" rtlCol="0" anchor="t"/>
          <a:lstStyle/>
          <a:p>
            <a:pPr algn="l" indent="0" marL="0">
              <a:lnSpc>
                <a:spcPct val="104000"/>
              </a:lnSpc>
              <a:buNone/>
            </a:pPr>
            <a:r>
              <a:rPr lang="en-US" sz="2400" b="1" dirty="0">
                <a:solidFill>
                  <a:srgbClr val="233939"/>
                </a:solidFill>
                <a:latin typeface="Syne Bold" pitchFamily="34" charset="0"/>
                <a:ea typeface="Syne Bold" pitchFamily="34" charset="-122"/>
                <a:cs typeface="Syne Bold" pitchFamily="34" charset="-120"/>
              </a:rPr>
              <a:t>Algorithm: Apriori</a:t>
            </a:r>
            <a:endParaRPr lang="en-US" sz="2400" dirty="0"/>
          </a:p>
        </p:txBody>
      </p:sp>
      <p:sp>
        <p:nvSpPr>
          <p:cNvPr id="3" name="Text 1"/>
          <p:cNvSpPr/>
          <p:nvPr/>
        </p:nvSpPr>
        <p:spPr>
          <a:xfrm>
            <a:off x="661475" y="1077615"/>
            <a:ext cx="10868745" cy="347266"/>
          </a:xfrm>
          <a:prstGeom prst="rect">
            <a:avLst/>
          </a:prstGeom>
          <a:noFill/>
          <a:ln/>
        </p:spPr>
        <p:txBody>
          <a:bodyPr wrap="square" lIns="0" tIns="0" rIns="0" bIns="0" rtlCol="0" anchor="t">
            <a:normAutofit/>
          </a:bodyPr>
          <a:lstStyle/>
          <a:p>
            <a:pPr algn="l" indent="0" marL="0">
              <a:lnSpc>
                <a:spcPct val="117000"/>
              </a:lnSpc>
              <a:buNone/>
            </a:pPr>
            <a:r>
              <a:rPr lang="en-US" sz="950" dirty="0">
                <a:solidFill>
                  <a:srgbClr val="3B4E4E"/>
                </a:solidFill>
                <a:latin typeface="Overpass Light" pitchFamily="34" charset="0"/>
                <a:ea typeface="Overpass Light" pitchFamily="34" charset="-122"/>
                <a:cs typeface="Overpass Light" pitchFamily="34" charset="-120"/>
              </a:rPr>
              <a:t>Apriori uses a clever pruning strategy — "if a pair is rare, any larger set containing it must also be rare" — to make the otherwise enormous search space manageable, even with thousands of distinct products.</a:t>
            </a:r>
            <a:endParaRPr lang="en-US" sz="950" dirty="0"/>
          </a:p>
        </p:txBody>
      </p:sp>
      <p:sp>
        <p:nvSpPr>
          <p:cNvPr id="4" name="Text 2"/>
          <p:cNvSpPr/>
          <p:nvPr/>
        </p:nvSpPr>
        <p:spPr>
          <a:xfrm>
            <a:off x="661475" y="1624769"/>
            <a:ext cx="5283068" cy="193774"/>
          </a:xfrm>
          <a:prstGeom prst="rect">
            <a:avLst/>
          </a:prstGeom>
          <a:noFill/>
          <a:ln/>
        </p:spPr>
        <p:txBody>
          <a:bodyPr wrap="none" lIns="0" tIns="0" rIns="0" bIns="0" rtlCol="0" anchor="t"/>
          <a:lstStyle/>
          <a:p>
            <a:pPr algn="l" indent="0" marL="0">
              <a:lnSpc>
                <a:spcPct val="104000"/>
              </a:lnSpc>
              <a:buNone/>
            </a:pPr>
            <a:r>
              <a:rPr lang="en-US" sz="1200" b="1" dirty="0">
                <a:solidFill>
                  <a:srgbClr val="233939"/>
                </a:solidFill>
                <a:latin typeface="Syne Bold" pitchFamily="34" charset="0"/>
                <a:ea typeface="Syne Bold" pitchFamily="34" charset="-122"/>
                <a:cs typeface="Syne Bold" pitchFamily="34" charset="-120"/>
              </a:rPr>
              <a:t>How It Works</a:t>
            </a:r>
            <a:endParaRPr lang="en-US" sz="1200" dirty="0"/>
          </a:p>
        </p:txBody>
      </p:sp>
      <p:sp>
        <p:nvSpPr>
          <p:cNvPr id="5" name="Text 3"/>
          <p:cNvSpPr/>
          <p:nvPr/>
        </p:nvSpPr>
        <p:spPr>
          <a:xfrm>
            <a:off x="661475" y="1920776"/>
            <a:ext cx="248041" cy="154980"/>
          </a:xfrm>
          <a:prstGeom prst="rect">
            <a:avLst/>
          </a:prstGeom>
          <a:noFill/>
          <a:ln/>
        </p:spPr>
        <p:txBody>
          <a:bodyPr wrap="none" lIns="0" tIns="0" rIns="0" bIns="0" rtlCol="0" anchor="ctr"/>
          <a:lstStyle/>
          <a:p>
            <a:pPr algn="l" indent="0" marL="0">
              <a:lnSpc>
                <a:spcPct val="100000"/>
              </a:lnSpc>
              <a:buNone/>
            </a:pPr>
            <a:r>
              <a:rPr lang="en-US" sz="950" dirty="0">
                <a:solidFill>
                  <a:srgbClr val="3B4E4E"/>
                </a:solidFill>
                <a:latin typeface="Syne" pitchFamily="34" charset="0"/>
                <a:ea typeface="Syne" pitchFamily="34" charset="-122"/>
                <a:cs typeface="Syne" pitchFamily="34" charset="-120"/>
              </a:rPr>
              <a:t>01</a:t>
            </a:r>
            <a:endParaRPr lang="en-US" sz="950" dirty="0"/>
          </a:p>
        </p:txBody>
      </p:sp>
      <p:sp>
        <p:nvSpPr>
          <p:cNvPr id="6" name="Shape 4"/>
          <p:cNvSpPr/>
          <p:nvPr/>
        </p:nvSpPr>
        <p:spPr>
          <a:xfrm>
            <a:off x="661475" y="2118816"/>
            <a:ext cx="5283068" cy="12700"/>
          </a:xfrm>
          <a:prstGeom prst="rect">
            <a:avLst/>
          </a:prstGeom>
          <a:solidFill>
            <a:srgbClr val="224435"/>
          </a:solidFill>
          <a:ln/>
        </p:spPr>
      </p:sp>
      <p:sp>
        <p:nvSpPr>
          <p:cNvPr id="7" name="Text 5"/>
          <p:cNvSpPr/>
          <p:nvPr/>
        </p:nvSpPr>
        <p:spPr>
          <a:xfrm>
            <a:off x="661475" y="2206228"/>
            <a:ext cx="5283068" cy="193774"/>
          </a:xfrm>
          <a:prstGeom prst="rect">
            <a:avLst/>
          </a:prstGeom>
          <a:noFill/>
          <a:ln/>
        </p:spPr>
        <p:txBody>
          <a:bodyPr wrap="none" lIns="0" tIns="0" rIns="0" bIns="0" rtlCol="0" anchor="t"/>
          <a:lstStyle/>
          <a:p>
            <a:pPr algn="l" indent="0" marL="0">
              <a:lnSpc>
                <a:spcPct val="104000"/>
              </a:lnSpc>
              <a:buNone/>
            </a:pPr>
            <a:r>
              <a:rPr lang="en-US" sz="1200" b="1" dirty="0">
                <a:solidFill>
                  <a:srgbClr val="3B4E4E"/>
                </a:solidFill>
                <a:latin typeface="Syne Bold" pitchFamily="34" charset="0"/>
                <a:ea typeface="Syne Bold" pitchFamily="34" charset="-122"/>
                <a:cs typeface="Syne Bold" pitchFamily="34" charset="-120"/>
              </a:rPr>
              <a:t>Count Single Items</a:t>
            </a:r>
            <a:endParaRPr lang="en-US" sz="1200" dirty="0"/>
          </a:p>
        </p:txBody>
      </p:sp>
      <p:sp>
        <p:nvSpPr>
          <p:cNvPr id="8" name="Text 6"/>
          <p:cNvSpPr/>
          <p:nvPr/>
        </p:nvSpPr>
        <p:spPr>
          <a:xfrm>
            <a:off x="661475" y="2492970"/>
            <a:ext cx="5283068" cy="347266"/>
          </a:xfrm>
          <a:prstGeom prst="rect">
            <a:avLst/>
          </a:prstGeom>
          <a:noFill/>
          <a:ln/>
        </p:spPr>
        <p:txBody>
          <a:bodyPr wrap="square" lIns="0" tIns="0" rIns="0" bIns="0" rtlCol="0" anchor="t">
            <a:normAutofit/>
          </a:bodyPr>
          <a:lstStyle/>
          <a:p>
            <a:pPr algn="l" indent="0" marL="0">
              <a:lnSpc>
                <a:spcPct val="117000"/>
              </a:lnSpc>
              <a:buNone/>
            </a:pPr>
            <a:r>
              <a:rPr lang="en-US" sz="950" dirty="0">
                <a:solidFill>
                  <a:srgbClr val="3B4E4E"/>
                </a:solidFill>
                <a:latin typeface="Overpass Light" pitchFamily="34" charset="0"/>
                <a:ea typeface="Overpass Light" pitchFamily="34" charset="-122"/>
                <a:cs typeface="Overpass Light" pitchFamily="34" charset="-120"/>
              </a:rPr>
              <a:t>Count how often every individual product appears across all receipts. Drop products that appear fewer times than the minimum support threshold.</a:t>
            </a:r>
            <a:endParaRPr lang="en-US" sz="950" dirty="0"/>
          </a:p>
        </p:txBody>
      </p:sp>
      <p:sp>
        <p:nvSpPr>
          <p:cNvPr id="9" name="Text 7"/>
          <p:cNvSpPr/>
          <p:nvPr/>
        </p:nvSpPr>
        <p:spPr>
          <a:xfrm>
            <a:off x="661475" y="3026172"/>
            <a:ext cx="248041" cy="154980"/>
          </a:xfrm>
          <a:prstGeom prst="rect">
            <a:avLst/>
          </a:prstGeom>
          <a:noFill/>
          <a:ln/>
        </p:spPr>
        <p:txBody>
          <a:bodyPr wrap="none" lIns="0" tIns="0" rIns="0" bIns="0" rtlCol="0" anchor="ctr"/>
          <a:lstStyle/>
          <a:p>
            <a:pPr algn="l" indent="0" marL="0">
              <a:lnSpc>
                <a:spcPct val="100000"/>
              </a:lnSpc>
              <a:buNone/>
            </a:pPr>
            <a:r>
              <a:rPr lang="en-US" sz="950" dirty="0">
                <a:solidFill>
                  <a:srgbClr val="3B4E4E"/>
                </a:solidFill>
                <a:latin typeface="Syne" pitchFamily="34" charset="0"/>
                <a:ea typeface="Syne" pitchFamily="34" charset="-122"/>
                <a:cs typeface="Syne" pitchFamily="34" charset="-120"/>
              </a:rPr>
              <a:t>02</a:t>
            </a:r>
            <a:endParaRPr lang="en-US" sz="950" dirty="0"/>
          </a:p>
        </p:txBody>
      </p:sp>
      <p:sp>
        <p:nvSpPr>
          <p:cNvPr id="10" name="Shape 8"/>
          <p:cNvSpPr/>
          <p:nvPr/>
        </p:nvSpPr>
        <p:spPr>
          <a:xfrm>
            <a:off x="661475" y="3224213"/>
            <a:ext cx="5283068" cy="12700"/>
          </a:xfrm>
          <a:prstGeom prst="rect">
            <a:avLst/>
          </a:prstGeom>
          <a:solidFill>
            <a:srgbClr val="224435"/>
          </a:solidFill>
          <a:ln/>
        </p:spPr>
      </p:sp>
      <p:sp>
        <p:nvSpPr>
          <p:cNvPr id="11" name="Text 9"/>
          <p:cNvSpPr/>
          <p:nvPr/>
        </p:nvSpPr>
        <p:spPr>
          <a:xfrm>
            <a:off x="661475" y="3311624"/>
            <a:ext cx="5283068" cy="193774"/>
          </a:xfrm>
          <a:prstGeom prst="rect">
            <a:avLst/>
          </a:prstGeom>
          <a:noFill/>
          <a:ln/>
        </p:spPr>
        <p:txBody>
          <a:bodyPr wrap="none" lIns="0" tIns="0" rIns="0" bIns="0" rtlCol="0" anchor="t"/>
          <a:lstStyle/>
          <a:p>
            <a:pPr algn="l" indent="0" marL="0">
              <a:lnSpc>
                <a:spcPct val="104000"/>
              </a:lnSpc>
              <a:buNone/>
            </a:pPr>
            <a:r>
              <a:rPr lang="en-US" sz="1200" b="1" dirty="0">
                <a:solidFill>
                  <a:srgbClr val="3B4E4E"/>
                </a:solidFill>
                <a:latin typeface="Syne Bold" pitchFamily="34" charset="0"/>
                <a:ea typeface="Syne Bold" pitchFamily="34" charset="-122"/>
                <a:cs typeface="Syne Bold" pitchFamily="34" charset="-120"/>
              </a:rPr>
              <a:t>Form Pairs</a:t>
            </a:r>
            <a:endParaRPr lang="en-US" sz="1200" dirty="0"/>
          </a:p>
        </p:txBody>
      </p:sp>
      <p:sp>
        <p:nvSpPr>
          <p:cNvPr id="12" name="Text 10"/>
          <p:cNvSpPr/>
          <p:nvPr/>
        </p:nvSpPr>
        <p:spPr>
          <a:xfrm>
            <a:off x="661475" y="3598366"/>
            <a:ext cx="5283068" cy="347266"/>
          </a:xfrm>
          <a:prstGeom prst="rect">
            <a:avLst/>
          </a:prstGeom>
          <a:noFill/>
          <a:ln/>
        </p:spPr>
        <p:txBody>
          <a:bodyPr wrap="square" lIns="0" tIns="0" rIns="0" bIns="0" rtlCol="0" anchor="t">
            <a:normAutofit/>
          </a:bodyPr>
          <a:lstStyle/>
          <a:p>
            <a:pPr algn="l" indent="0" marL="0">
              <a:lnSpc>
                <a:spcPct val="117000"/>
              </a:lnSpc>
              <a:buNone/>
            </a:pPr>
            <a:r>
              <a:rPr lang="en-US" sz="950" dirty="0">
                <a:solidFill>
                  <a:srgbClr val="3B4E4E"/>
                </a:solidFill>
                <a:latin typeface="Overpass Light" pitchFamily="34" charset="0"/>
                <a:ea typeface="Overpass Light" pitchFamily="34" charset="-122"/>
                <a:cs typeface="Overpass Light" pitchFamily="34" charset="-120"/>
              </a:rPr>
              <a:t>From the surviving items, form all possible pairs and count their frequency. Drop rare pairs. This uses the Apriori principle: if an item is rare alone, any pair containing it is also rare.</a:t>
            </a:r>
            <a:endParaRPr lang="en-US" sz="950" dirty="0"/>
          </a:p>
        </p:txBody>
      </p:sp>
      <p:sp>
        <p:nvSpPr>
          <p:cNvPr id="13" name="Text 11"/>
          <p:cNvSpPr/>
          <p:nvPr/>
        </p:nvSpPr>
        <p:spPr>
          <a:xfrm>
            <a:off x="661475" y="4131568"/>
            <a:ext cx="248041" cy="154980"/>
          </a:xfrm>
          <a:prstGeom prst="rect">
            <a:avLst/>
          </a:prstGeom>
          <a:noFill/>
          <a:ln/>
        </p:spPr>
        <p:txBody>
          <a:bodyPr wrap="none" lIns="0" tIns="0" rIns="0" bIns="0" rtlCol="0" anchor="ctr"/>
          <a:lstStyle/>
          <a:p>
            <a:pPr algn="l" indent="0" marL="0">
              <a:lnSpc>
                <a:spcPct val="100000"/>
              </a:lnSpc>
              <a:buNone/>
            </a:pPr>
            <a:r>
              <a:rPr lang="en-US" sz="950" dirty="0">
                <a:solidFill>
                  <a:srgbClr val="3B4E4E"/>
                </a:solidFill>
                <a:latin typeface="Syne" pitchFamily="34" charset="0"/>
                <a:ea typeface="Syne" pitchFamily="34" charset="-122"/>
                <a:cs typeface="Syne" pitchFamily="34" charset="-120"/>
              </a:rPr>
              <a:t>03</a:t>
            </a:r>
            <a:endParaRPr lang="en-US" sz="950" dirty="0"/>
          </a:p>
        </p:txBody>
      </p:sp>
      <p:sp>
        <p:nvSpPr>
          <p:cNvPr id="14" name="Shape 12"/>
          <p:cNvSpPr/>
          <p:nvPr/>
        </p:nvSpPr>
        <p:spPr>
          <a:xfrm>
            <a:off x="661475" y="4329609"/>
            <a:ext cx="5283068" cy="12700"/>
          </a:xfrm>
          <a:prstGeom prst="rect">
            <a:avLst/>
          </a:prstGeom>
          <a:solidFill>
            <a:srgbClr val="224435"/>
          </a:solidFill>
          <a:ln/>
        </p:spPr>
      </p:sp>
      <p:sp>
        <p:nvSpPr>
          <p:cNvPr id="15" name="Text 13"/>
          <p:cNvSpPr/>
          <p:nvPr/>
        </p:nvSpPr>
        <p:spPr>
          <a:xfrm>
            <a:off x="661475" y="4417020"/>
            <a:ext cx="5283068" cy="193774"/>
          </a:xfrm>
          <a:prstGeom prst="rect">
            <a:avLst/>
          </a:prstGeom>
          <a:noFill/>
          <a:ln/>
        </p:spPr>
        <p:txBody>
          <a:bodyPr wrap="none" lIns="0" tIns="0" rIns="0" bIns="0" rtlCol="0" anchor="t"/>
          <a:lstStyle/>
          <a:p>
            <a:pPr algn="l" indent="0" marL="0">
              <a:lnSpc>
                <a:spcPct val="104000"/>
              </a:lnSpc>
              <a:buNone/>
            </a:pPr>
            <a:r>
              <a:rPr lang="en-US" sz="1200" b="1" dirty="0">
                <a:solidFill>
                  <a:srgbClr val="3B4E4E"/>
                </a:solidFill>
                <a:latin typeface="Syne Bold" pitchFamily="34" charset="0"/>
                <a:ea typeface="Syne Bold" pitchFamily="34" charset="-122"/>
                <a:cs typeface="Syne Bold" pitchFamily="34" charset="-120"/>
              </a:rPr>
              <a:t>Extend to Triplets and Beyond</a:t>
            </a:r>
            <a:endParaRPr lang="en-US" sz="1200" dirty="0"/>
          </a:p>
        </p:txBody>
      </p:sp>
      <p:sp>
        <p:nvSpPr>
          <p:cNvPr id="16" name="Text 14"/>
          <p:cNvSpPr/>
          <p:nvPr/>
        </p:nvSpPr>
        <p:spPr>
          <a:xfrm>
            <a:off x="661475" y="4703763"/>
            <a:ext cx="5283068" cy="347266"/>
          </a:xfrm>
          <a:prstGeom prst="rect">
            <a:avLst/>
          </a:prstGeom>
          <a:noFill/>
          <a:ln/>
        </p:spPr>
        <p:txBody>
          <a:bodyPr wrap="square" lIns="0" tIns="0" rIns="0" bIns="0" rtlCol="0" anchor="t">
            <a:normAutofit/>
          </a:bodyPr>
          <a:lstStyle/>
          <a:p>
            <a:pPr algn="l" indent="0" marL="0">
              <a:lnSpc>
                <a:spcPct val="117000"/>
              </a:lnSpc>
              <a:buNone/>
            </a:pPr>
            <a:r>
              <a:rPr lang="en-US" sz="950" dirty="0">
                <a:solidFill>
                  <a:srgbClr val="3B4E4E"/>
                </a:solidFill>
                <a:latin typeface="Overpass Light" pitchFamily="34" charset="0"/>
                <a:ea typeface="Overpass Light" pitchFamily="34" charset="-122"/>
                <a:cs typeface="Overpass Light" pitchFamily="34" charset="-120"/>
              </a:rPr>
              <a:t>Continue to groups of three, four, and more — always pruning rare combinations immediately to keep the computation tractable.</a:t>
            </a:r>
            <a:endParaRPr lang="en-US" sz="950" dirty="0"/>
          </a:p>
        </p:txBody>
      </p:sp>
      <p:sp>
        <p:nvSpPr>
          <p:cNvPr id="17" name="Text 15"/>
          <p:cNvSpPr/>
          <p:nvPr/>
        </p:nvSpPr>
        <p:spPr>
          <a:xfrm>
            <a:off x="661475" y="5236964"/>
            <a:ext cx="248041" cy="154980"/>
          </a:xfrm>
          <a:prstGeom prst="rect">
            <a:avLst/>
          </a:prstGeom>
          <a:noFill/>
          <a:ln/>
        </p:spPr>
        <p:txBody>
          <a:bodyPr wrap="none" lIns="0" tIns="0" rIns="0" bIns="0" rtlCol="0" anchor="ctr"/>
          <a:lstStyle/>
          <a:p>
            <a:pPr algn="l" indent="0" marL="0">
              <a:lnSpc>
                <a:spcPct val="100000"/>
              </a:lnSpc>
              <a:buNone/>
            </a:pPr>
            <a:r>
              <a:rPr lang="en-US" sz="950" dirty="0">
                <a:solidFill>
                  <a:srgbClr val="3B4E4E"/>
                </a:solidFill>
                <a:latin typeface="Syne" pitchFamily="34" charset="0"/>
                <a:ea typeface="Syne" pitchFamily="34" charset="-122"/>
                <a:cs typeface="Syne" pitchFamily="34" charset="-120"/>
              </a:rPr>
              <a:t>04</a:t>
            </a:r>
            <a:endParaRPr lang="en-US" sz="950" dirty="0"/>
          </a:p>
        </p:txBody>
      </p:sp>
      <p:sp>
        <p:nvSpPr>
          <p:cNvPr id="18" name="Shape 16"/>
          <p:cNvSpPr/>
          <p:nvPr/>
        </p:nvSpPr>
        <p:spPr>
          <a:xfrm>
            <a:off x="661475" y="5435005"/>
            <a:ext cx="5283068" cy="12700"/>
          </a:xfrm>
          <a:prstGeom prst="rect">
            <a:avLst/>
          </a:prstGeom>
          <a:solidFill>
            <a:srgbClr val="224435"/>
          </a:solidFill>
          <a:ln/>
        </p:spPr>
      </p:sp>
      <p:sp>
        <p:nvSpPr>
          <p:cNvPr id="19" name="Text 17"/>
          <p:cNvSpPr/>
          <p:nvPr/>
        </p:nvSpPr>
        <p:spPr>
          <a:xfrm>
            <a:off x="661475" y="5522416"/>
            <a:ext cx="5283068" cy="193774"/>
          </a:xfrm>
          <a:prstGeom prst="rect">
            <a:avLst/>
          </a:prstGeom>
          <a:noFill/>
          <a:ln/>
        </p:spPr>
        <p:txBody>
          <a:bodyPr wrap="none" lIns="0" tIns="0" rIns="0" bIns="0" rtlCol="0" anchor="t"/>
          <a:lstStyle/>
          <a:p>
            <a:pPr algn="l" indent="0" marL="0">
              <a:lnSpc>
                <a:spcPct val="104000"/>
              </a:lnSpc>
              <a:buNone/>
            </a:pPr>
            <a:r>
              <a:rPr lang="en-US" sz="1200" b="1" dirty="0">
                <a:solidFill>
                  <a:srgbClr val="3B4E4E"/>
                </a:solidFill>
                <a:latin typeface="Syne Bold" pitchFamily="34" charset="0"/>
                <a:ea typeface="Syne Bold" pitchFamily="34" charset="-122"/>
                <a:cs typeface="Syne Bold" pitchFamily="34" charset="-120"/>
              </a:rPr>
              <a:t>Generate Rules</a:t>
            </a:r>
            <a:endParaRPr lang="en-US" sz="1200" dirty="0"/>
          </a:p>
        </p:txBody>
      </p:sp>
      <p:sp>
        <p:nvSpPr>
          <p:cNvPr id="20" name="Text 18"/>
          <p:cNvSpPr/>
          <p:nvPr/>
        </p:nvSpPr>
        <p:spPr>
          <a:xfrm>
            <a:off x="661475" y="5809159"/>
            <a:ext cx="5283068" cy="347266"/>
          </a:xfrm>
          <a:prstGeom prst="rect">
            <a:avLst/>
          </a:prstGeom>
          <a:noFill/>
          <a:ln/>
        </p:spPr>
        <p:txBody>
          <a:bodyPr wrap="square" lIns="0" tIns="0" rIns="0" bIns="0" rtlCol="0" anchor="t">
            <a:normAutofit/>
          </a:bodyPr>
          <a:lstStyle/>
          <a:p>
            <a:pPr algn="l" indent="0" marL="0">
              <a:lnSpc>
                <a:spcPct val="117000"/>
              </a:lnSpc>
              <a:buNone/>
            </a:pPr>
            <a:r>
              <a:rPr lang="en-US" sz="950" dirty="0">
                <a:solidFill>
                  <a:srgbClr val="3B4E4E"/>
                </a:solidFill>
                <a:latin typeface="Overpass Light" pitchFamily="34" charset="0"/>
                <a:ea typeface="Overpass Light" pitchFamily="34" charset="-122"/>
                <a:cs typeface="Overpass Light" pitchFamily="34" charset="-120"/>
              </a:rPr>
              <a:t>Convert frequent itemsets into "if A then B" rules. Filter by minimum confidence and minimum lift to keep only genuinely useful rules.</a:t>
            </a:r>
            <a:endParaRPr lang="en-US" sz="950" dirty="0"/>
          </a:p>
        </p:txBody>
      </p:sp>
      <p:sp>
        <p:nvSpPr>
          <p:cNvPr id="21" name="Text 19"/>
          <p:cNvSpPr/>
          <p:nvPr/>
        </p:nvSpPr>
        <p:spPr>
          <a:xfrm>
            <a:off x="6253502" y="1624769"/>
            <a:ext cx="5283068" cy="193774"/>
          </a:xfrm>
          <a:prstGeom prst="rect">
            <a:avLst/>
          </a:prstGeom>
          <a:noFill/>
          <a:ln/>
        </p:spPr>
        <p:txBody>
          <a:bodyPr wrap="none" lIns="0" tIns="0" rIns="0" bIns="0" rtlCol="0" anchor="t"/>
          <a:lstStyle/>
          <a:p>
            <a:pPr algn="l" indent="0" marL="0">
              <a:lnSpc>
                <a:spcPct val="104000"/>
              </a:lnSpc>
              <a:buNone/>
            </a:pPr>
            <a:r>
              <a:rPr lang="en-US" sz="1200" b="1" dirty="0">
                <a:solidFill>
                  <a:srgbClr val="233939"/>
                </a:solidFill>
                <a:latin typeface="Syne Bold" pitchFamily="34" charset="0"/>
                <a:ea typeface="Syne Bold" pitchFamily="34" charset="-122"/>
                <a:cs typeface="Syne Bold" pitchFamily="34" charset="-120"/>
              </a:rPr>
              <a:t>Example Output Rules</a:t>
            </a:r>
            <a:endParaRPr lang="en-US" sz="1200" dirty="0"/>
          </a:p>
        </p:txBody>
      </p:sp>
      <p:sp>
        <p:nvSpPr>
          <p:cNvPr id="22" name="Shape 20"/>
          <p:cNvSpPr/>
          <p:nvPr/>
        </p:nvSpPr>
        <p:spPr>
          <a:xfrm>
            <a:off x="6253502" y="1920776"/>
            <a:ext cx="2595001" cy="1428353"/>
          </a:xfrm>
          <a:prstGeom prst="roundRect">
            <a:avLst>
              <a:gd name="adj" fmla="val 3647"/>
            </a:avLst>
          </a:prstGeom>
          <a:solidFill>
            <a:srgbClr val="FFFDE6"/>
          </a:solidFill>
          <a:ln w="12700">
            <a:solidFill>
              <a:srgbClr val="C3D4CC"/>
            </a:solidFill>
            <a:prstDash val="solid"/>
          </a:ln>
        </p:spPr>
      </p:sp>
      <p:sp>
        <p:nvSpPr>
          <p:cNvPr id="23" name="Text 21"/>
          <p:cNvSpPr/>
          <p:nvPr/>
        </p:nvSpPr>
        <p:spPr>
          <a:xfrm>
            <a:off x="6390222" y="2057499"/>
            <a:ext cx="2321561" cy="193774"/>
          </a:xfrm>
          <a:prstGeom prst="rect">
            <a:avLst/>
          </a:prstGeom>
          <a:noFill/>
          <a:ln/>
        </p:spPr>
        <p:txBody>
          <a:bodyPr wrap="none" lIns="0" tIns="0" rIns="0" bIns="0" rtlCol="0" anchor="t"/>
          <a:lstStyle/>
          <a:p>
            <a:pPr algn="l" indent="0" marL="0">
              <a:lnSpc>
                <a:spcPct val="104000"/>
              </a:lnSpc>
              <a:buNone/>
            </a:pPr>
            <a:r>
              <a:rPr lang="en-US" sz="1200" b="1" dirty="0">
                <a:solidFill>
                  <a:srgbClr val="3B4E4E"/>
                </a:solidFill>
                <a:latin typeface="Syne Bold" pitchFamily="34" charset="0"/>
                <a:ea typeface="Syne Bold" pitchFamily="34" charset="-122"/>
                <a:cs typeface="Syne Bold" pitchFamily="34" charset="-120"/>
              </a:rPr>
              <a:t>Bread + Butter → Jam</a:t>
            </a:r>
            <a:endParaRPr lang="en-US" sz="1200" dirty="0"/>
          </a:p>
        </p:txBody>
      </p:sp>
      <p:sp>
        <p:nvSpPr>
          <p:cNvPr id="24" name="Text 22"/>
          <p:cNvSpPr/>
          <p:nvPr/>
        </p:nvSpPr>
        <p:spPr>
          <a:xfrm>
            <a:off x="6390222" y="2344241"/>
            <a:ext cx="2321561" cy="694531"/>
          </a:xfrm>
          <a:prstGeom prst="rect">
            <a:avLst/>
          </a:prstGeom>
          <a:noFill/>
          <a:ln/>
        </p:spPr>
        <p:txBody>
          <a:bodyPr wrap="square" lIns="0" tIns="0" rIns="0" bIns="0" rtlCol="0" anchor="t">
            <a:normAutofit/>
          </a:bodyPr>
          <a:lstStyle/>
          <a:p>
            <a:pPr algn="l" indent="0" marL="0">
              <a:lnSpc>
                <a:spcPct val="117000"/>
              </a:lnSpc>
              <a:buNone/>
            </a:pPr>
            <a:r>
              <a:rPr lang="en-US" sz="950" dirty="0">
                <a:solidFill>
                  <a:srgbClr val="3B4E4E"/>
                </a:solidFill>
                <a:latin typeface="Overpass Light" pitchFamily="34" charset="0"/>
                <a:ea typeface="Overpass Light" pitchFamily="34" charset="-122"/>
                <a:cs typeface="Overpass Light" pitchFamily="34" charset="-120"/>
              </a:rPr>
              <a:t>Confidence: 62% | Lift: 3.1 — these three items appear together 3× more often than chance. Strong candidate for a "breakfast bundle" promotion.</a:t>
            </a:r>
            <a:endParaRPr lang="en-US" sz="950" dirty="0"/>
          </a:p>
        </p:txBody>
      </p:sp>
      <p:sp>
        <p:nvSpPr>
          <p:cNvPr id="25" name="Shape 23"/>
          <p:cNvSpPr/>
          <p:nvPr/>
        </p:nvSpPr>
        <p:spPr>
          <a:xfrm>
            <a:off x="8941469" y="1920776"/>
            <a:ext cx="2595101" cy="1428353"/>
          </a:xfrm>
          <a:prstGeom prst="roundRect">
            <a:avLst>
              <a:gd name="adj" fmla="val 3647"/>
            </a:avLst>
          </a:prstGeom>
          <a:solidFill>
            <a:srgbClr val="FFFDE6"/>
          </a:solidFill>
          <a:ln w="12700">
            <a:solidFill>
              <a:srgbClr val="C3D4CC"/>
            </a:solidFill>
            <a:prstDash val="solid"/>
          </a:ln>
        </p:spPr>
      </p:sp>
      <p:sp>
        <p:nvSpPr>
          <p:cNvPr id="26" name="Text 24"/>
          <p:cNvSpPr/>
          <p:nvPr/>
        </p:nvSpPr>
        <p:spPr>
          <a:xfrm>
            <a:off x="9078189" y="2057499"/>
            <a:ext cx="2321661" cy="193774"/>
          </a:xfrm>
          <a:prstGeom prst="rect">
            <a:avLst/>
          </a:prstGeom>
          <a:noFill/>
          <a:ln/>
        </p:spPr>
        <p:txBody>
          <a:bodyPr wrap="none" lIns="0" tIns="0" rIns="0" bIns="0" rtlCol="0" anchor="t"/>
          <a:lstStyle/>
          <a:p>
            <a:pPr algn="l" indent="0" marL="0">
              <a:lnSpc>
                <a:spcPct val="104000"/>
              </a:lnSpc>
              <a:buNone/>
            </a:pPr>
            <a:r>
              <a:rPr lang="en-US" sz="1200" b="1" dirty="0">
                <a:solidFill>
                  <a:srgbClr val="3B4E4E"/>
                </a:solidFill>
                <a:latin typeface="Syne Bold" pitchFamily="34" charset="0"/>
                <a:ea typeface="Syne Bold" pitchFamily="34" charset="-122"/>
                <a:cs typeface="Syne Bold" pitchFamily="34" charset="-120"/>
              </a:rPr>
              <a:t>Nappies → Beer</a:t>
            </a:r>
            <a:endParaRPr lang="en-US" sz="1200" dirty="0"/>
          </a:p>
        </p:txBody>
      </p:sp>
      <p:sp>
        <p:nvSpPr>
          <p:cNvPr id="27" name="Text 25"/>
          <p:cNvSpPr/>
          <p:nvPr/>
        </p:nvSpPr>
        <p:spPr>
          <a:xfrm>
            <a:off x="9078189" y="2344241"/>
            <a:ext cx="2321661" cy="868164"/>
          </a:xfrm>
          <a:prstGeom prst="rect">
            <a:avLst/>
          </a:prstGeom>
          <a:noFill/>
          <a:ln/>
        </p:spPr>
        <p:txBody>
          <a:bodyPr wrap="square" lIns="0" tIns="0" rIns="0" bIns="0" rtlCol="0" anchor="t">
            <a:normAutofit/>
          </a:bodyPr>
          <a:lstStyle/>
          <a:p>
            <a:pPr algn="l" indent="0" marL="0">
              <a:lnSpc>
                <a:spcPct val="117000"/>
              </a:lnSpc>
              <a:buNone/>
            </a:pPr>
            <a:r>
              <a:rPr lang="en-US" sz="950" dirty="0">
                <a:solidFill>
                  <a:srgbClr val="3B4E4E"/>
                </a:solidFill>
                <a:latin typeface="Overpass Light" pitchFamily="34" charset="0"/>
                <a:ea typeface="Overpass Light" pitchFamily="34" charset="-122"/>
                <a:cs typeface="Overpass Light" pitchFamily="34" charset="-120"/>
              </a:rPr>
              <a:t>The famous (and real) supermarket finding from the 1990s: a strong association, believed to reflect parents shopping for the week on a Friday evening.</a:t>
            </a:r>
            <a:endParaRPr lang="en-US" sz="950" dirty="0"/>
          </a:p>
        </p:txBody>
      </p:sp>
      <p:sp>
        <p:nvSpPr>
          <p:cNvPr id="28" name="Text 26"/>
          <p:cNvSpPr/>
          <p:nvPr/>
        </p:nvSpPr>
        <p:spPr>
          <a:xfrm>
            <a:off x="6253502" y="3456050"/>
            <a:ext cx="5283068" cy="193774"/>
          </a:xfrm>
          <a:prstGeom prst="rect">
            <a:avLst/>
          </a:prstGeom>
          <a:noFill/>
          <a:ln/>
        </p:spPr>
        <p:txBody>
          <a:bodyPr wrap="none" lIns="0" tIns="0" rIns="0" bIns="0" rtlCol="0" anchor="t"/>
          <a:lstStyle/>
          <a:p>
            <a:pPr algn="l" indent="0" marL="0">
              <a:lnSpc>
                <a:spcPct val="104000"/>
              </a:lnSpc>
              <a:buNone/>
            </a:pPr>
            <a:r>
              <a:rPr lang="en-US" sz="1200" b="1" dirty="0">
                <a:solidFill>
                  <a:srgbClr val="233939"/>
                </a:solidFill>
                <a:latin typeface="Syne Bold" pitchFamily="34" charset="0"/>
                <a:ea typeface="Syne Bold" pitchFamily="34" charset="-122"/>
                <a:cs typeface="Syne Bold" pitchFamily="34" charset="-120"/>
              </a:rPr>
              <a:t>Real-World Use</a:t>
            </a:r>
            <a:endParaRPr lang="en-US" sz="1200" dirty="0"/>
          </a:p>
        </p:txBody>
      </p:sp>
      <p:sp>
        <p:nvSpPr>
          <p:cNvPr id="29" name="Text 27"/>
          <p:cNvSpPr/>
          <p:nvPr/>
        </p:nvSpPr>
        <p:spPr>
          <a:xfrm>
            <a:off x="6253502" y="3740448"/>
            <a:ext cx="5283068" cy="520898"/>
          </a:xfrm>
          <a:prstGeom prst="rect">
            <a:avLst/>
          </a:prstGeom>
          <a:noFill/>
          <a:ln/>
        </p:spPr>
        <p:txBody>
          <a:bodyPr wrap="square" lIns="0" tIns="0" rIns="0" bIns="0" rtlCol="0" anchor="t">
            <a:normAutofit/>
          </a:bodyPr>
          <a:lstStyle/>
          <a:p>
            <a:pPr algn="l" indent="0" marL="0">
              <a:lnSpc>
                <a:spcPct val="117000"/>
              </a:lnSpc>
              <a:buNone/>
            </a:pPr>
            <a:r>
              <a:rPr lang="en-US" sz="950" dirty="0">
                <a:solidFill>
                  <a:srgbClr val="3B4E4E"/>
                </a:solidFill>
                <a:latin typeface="Overpass Light" pitchFamily="34" charset="0"/>
                <a:ea typeface="Overpass Light" pitchFamily="34" charset="-122"/>
                <a:cs typeface="Overpass Light" pitchFamily="34" charset="-120"/>
              </a:rPr>
              <a:t>Shelf layout and cross-promotion design in supermarkets and convenience stores; "Frequently Bought Together" recommendations on Amazon and Flipkart; pharmacy cross-sell suggestions based on prescription patterns.</a:t>
            </a:r>
            <a:endParaRPr lang="en-US" sz="9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DE6"/>
        </a:solidFill>
      </p:bgPr>
    </p:bg>
    <p:spTree>
      <p:nvGrpSpPr>
        <p:cNvPr id="1" name=""/>
        <p:cNvGrpSpPr/>
        <p:nvPr/>
      </p:nvGrpSpPr>
      <p:grpSpPr>
        <a:xfrm>
          <a:off x="0" y="0"/>
          <a:ext cx="0" cy="0"/>
          <a:chOff x="0" y="0"/>
          <a:chExt cx="0" cy="0"/>
        </a:xfrm>
      </p:grpSpPr>
      <p:sp>
        <p:nvSpPr>
          <p:cNvPr id="2" name="Shape 0"/>
          <p:cNvSpPr/>
          <p:nvPr/>
        </p:nvSpPr>
        <p:spPr>
          <a:xfrm>
            <a:off x="661475" y="454819"/>
            <a:ext cx="723386" cy="137319"/>
          </a:xfrm>
          <a:prstGeom prst="roundRect">
            <a:avLst>
              <a:gd name="adj" fmla="val 22131"/>
            </a:avLst>
          </a:prstGeom>
          <a:solidFill>
            <a:srgbClr val="DDEEE6"/>
          </a:solidFill>
          <a:ln/>
        </p:spPr>
      </p:sp>
      <p:sp>
        <p:nvSpPr>
          <p:cNvPr id="3" name="Text 1"/>
          <p:cNvSpPr/>
          <p:nvPr/>
        </p:nvSpPr>
        <p:spPr>
          <a:xfrm>
            <a:off x="715647" y="481905"/>
            <a:ext cx="1224626" cy="83145"/>
          </a:xfrm>
          <a:prstGeom prst="rect">
            <a:avLst/>
          </a:prstGeom>
          <a:noFill/>
          <a:ln/>
        </p:spPr>
        <p:txBody>
          <a:bodyPr wrap="none" lIns="0" tIns="0" rIns="0" bIns="0" rtlCol="0" anchor="t"/>
          <a:lstStyle/>
          <a:p>
            <a:pPr algn="l" indent="0" marL="0">
              <a:lnSpc>
                <a:spcPct val="96000"/>
              </a:lnSpc>
              <a:buNone/>
            </a:pPr>
            <a:r>
              <a:rPr lang="en-US" sz="550" dirty="0">
                <a:solidFill>
                  <a:srgbClr val="3B4E4E"/>
                </a:solidFill>
                <a:latin typeface="Overpass Light" pitchFamily="34" charset="0"/>
                <a:ea typeface="Overpass Light" pitchFamily="34" charset="-122"/>
                <a:cs typeface="Overpass Light" pitchFamily="34" charset="-120"/>
              </a:rPr>
              <a:t>BUSINESS CASE 13</a:t>
            </a:r>
            <a:endParaRPr lang="en-US" sz="550" dirty="0"/>
          </a:p>
        </p:txBody>
      </p:sp>
      <p:sp>
        <p:nvSpPr>
          <p:cNvPr id="4" name="Text 2"/>
          <p:cNvSpPr/>
          <p:nvPr/>
        </p:nvSpPr>
        <p:spPr>
          <a:xfrm>
            <a:off x="661475" y="614242"/>
            <a:ext cx="10868745" cy="282575"/>
          </a:xfrm>
          <a:prstGeom prst="rect">
            <a:avLst/>
          </a:prstGeom>
          <a:noFill/>
          <a:ln/>
        </p:spPr>
        <p:txBody>
          <a:bodyPr wrap="none" lIns="0" tIns="0" rIns="0" bIns="0" rtlCol="0" anchor="t"/>
          <a:lstStyle/>
          <a:p>
            <a:pPr algn="l" indent="0" marL="0">
              <a:lnSpc>
                <a:spcPct val="104000"/>
              </a:lnSpc>
              <a:buNone/>
            </a:pPr>
            <a:r>
              <a:rPr lang="en-US" sz="1750" b="1" dirty="0">
                <a:solidFill>
                  <a:srgbClr val="233939"/>
                </a:solidFill>
                <a:latin typeface="Syne Bold" pitchFamily="34" charset="0"/>
                <a:ea typeface="Syne Bold" pitchFamily="34" charset="-122"/>
                <a:cs typeface="Syne Bold" pitchFamily="34" charset="-120"/>
              </a:rPr>
              <a:t>Too Many Columns to Work With</a:t>
            </a:r>
            <a:endParaRPr lang="en-US" sz="1750" dirty="0"/>
          </a:p>
        </p:txBody>
      </p:sp>
      <p:sp>
        <p:nvSpPr>
          <p:cNvPr id="5" name="Text 3"/>
          <p:cNvSpPr/>
          <p:nvPr/>
        </p:nvSpPr>
        <p:spPr>
          <a:xfrm>
            <a:off x="661475" y="1017984"/>
            <a:ext cx="5324044" cy="141387"/>
          </a:xfrm>
          <a:prstGeom prst="rect">
            <a:avLst/>
          </a:prstGeom>
          <a:noFill/>
          <a:ln/>
        </p:spPr>
        <p:txBody>
          <a:bodyPr wrap="none" lIns="0" tIns="0" rIns="0" bIns="0" rtlCol="0" anchor="t"/>
          <a:lstStyle/>
          <a:p>
            <a:pPr algn="l" indent="0" marL="0">
              <a:lnSpc>
                <a:spcPct val="104000"/>
              </a:lnSpc>
              <a:buNone/>
            </a:pPr>
            <a:r>
              <a:rPr lang="en-US" sz="850" b="1" dirty="0">
                <a:solidFill>
                  <a:srgbClr val="233939"/>
                </a:solidFill>
                <a:latin typeface="Syne Bold" pitchFamily="34" charset="0"/>
                <a:ea typeface="Syne Bold" pitchFamily="34" charset="-122"/>
                <a:cs typeface="Syne Bold" pitchFamily="34" charset="-120"/>
              </a:rPr>
              <a:t>The Situation</a:t>
            </a:r>
            <a:endParaRPr lang="en-US" sz="850" dirty="0"/>
          </a:p>
        </p:txBody>
      </p:sp>
      <p:sp>
        <p:nvSpPr>
          <p:cNvPr id="6" name="Text 4"/>
          <p:cNvSpPr/>
          <p:nvPr/>
        </p:nvSpPr>
        <p:spPr>
          <a:xfrm>
            <a:off x="661475" y="1208782"/>
            <a:ext cx="5324044" cy="335756"/>
          </a:xfrm>
          <a:prstGeom prst="rect">
            <a:avLst/>
          </a:prstGeom>
          <a:noFill/>
          <a:ln/>
        </p:spPr>
        <p:txBody>
          <a:bodyPr wrap="square" lIns="0" tIns="0" rIns="0" bIns="0" rtlCol="0" anchor="t">
            <a:normAutofit/>
          </a:bodyPr>
          <a:lstStyle/>
          <a:p>
            <a:pPr algn="l" indent="0" marL="0">
              <a:lnSpc>
                <a:spcPct val="103000"/>
              </a:lnSpc>
              <a:buNone/>
            </a:pPr>
            <a:r>
              <a:rPr lang="en-US" sz="700" dirty="0">
                <a:solidFill>
                  <a:srgbClr val="3B4E4E"/>
                </a:solidFill>
                <a:latin typeface="Overpass Light" pitchFamily="34" charset="0"/>
                <a:ea typeface="Overpass Light" pitchFamily="34" charset="-122"/>
                <a:cs typeface="Overpass Light" pitchFamily="34" charset="-120"/>
              </a:rPr>
              <a:t>A company runs a customer satisfaction survey with 120 questions. Many questions overlap — "I find the product easy to use" and "The product does what I expect" may receive nearly identical answers from every respondent. Models built on all 120 columns are slow to train, prone to instability, and difficult to visualise.</a:t>
            </a:r>
            <a:endParaRPr lang="en-US" sz="700" dirty="0"/>
          </a:p>
        </p:txBody>
      </p:sp>
      <p:sp>
        <p:nvSpPr>
          <p:cNvPr id="7" name="Text 5"/>
          <p:cNvSpPr/>
          <p:nvPr/>
        </p:nvSpPr>
        <p:spPr>
          <a:xfrm>
            <a:off x="661475" y="1593949"/>
            <a:ext cx="5324044" cy="141387"/>
          </a:xfrm>
          <a:prstGeom prst="rect">
            <a:avLst/>
          </a:prstGeom>
          <a:noFill/>
          <a:ln/>
        </p:spPr>
        <p:txBody>
          <a:bodyPr wrap="none" lIns="0" tIns="0" rIns="0" bIns="0" rtlCol="0" anchor="t"/>
          <a:lstStyle/>
          <a:p>
            <a:pPr algn="l" indent="0" marL="0">
              <a:lnSpc>
                <a:spcPct val="104000"/>
              </a:lnSpc>
              <a:buNone/>
            </a:pPr>
            <a:r>
              <a:rPr lang="en-US" sz="850" b="1" dirty="0">
                <a:solidFill>
                  <a:srgbClr val="233939"/>
                </a:solidFill>
                <a:latin typeface="Syne Bold" pitchFamily="34" charset="0"/>
                <a:ea typeface="Syne Bold" pitchFamily="34" charset="-122"/>
                <a:cs typeface="Syne Bold" pitchFamily="34" charset="-120"/>
              </a:rPr>
              <a:t>Thinking It Through</a:t>
            </a:r>
            <a:endParaRPr lang="en-US" sz="850" dirty="0"/>
          </a:p>
        </p:txBody>
      </p:sp>
      <p:pic>
        <p:nvPicPr>
          <p:cNvPr id="8"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48775" y="1778198"/>
            <a:ext cx="2643816" cy="440035"/>
          </a:xfrm>
          <a:prstGeom prst="rect">
            <a:avLst/>
          </a:prstGeom>
        </p:spPr>
      </p:pic>
      <p:sp>
        <p:nvSpPr>
          <p:cNvPr id="9" name="Text 6"/>
          <p:cNvSpPr/>
          <p:nvPr/>
        </p:nvSpPr>
        <p:spPr>
          <a:xfrm>
            <a:off x="777260" y="1790898"/>
            <a:ext cx="2515331" cy="141387"/>
          </a:xfrm>
          <a:prstGeom prst="rect">
            <a:avLst/>
          </a:prstGeom>
          <a:noFill/>
          <a:ln/>
        </p:spPr>
        <p:txBody>
          <a:bodyPr wrap="none" lIns="0" tIns="0" rIns="0" bIns="0" rtlCol="0" anchor="t"/>
          <a:lstStyle/>
          <a:p>
            <a:pPr algn="l" indent="0" marL="0">
              <a:lnSpc>
                <a:spcPct val="104000"/>
              </a:lnSpc>
              <a:buNone/>
            </a:pPr>
            <a:r>
              <a:rPr lang="en-US" sz="850" b="1" dirty="0">
                <a:solidFill>
                  <a:srgbClr val="3B4E4E"/>
                </a:solidFill>
                <a:latin typeface="Syne Bold" pitchFamily="34" charset="0"/>
                <a:ea typeface="Syne Bold" pitchFamily="34" charset="-122"/>
                <a:cs typeface="Syne Bold" pitchFamily="34" charset="-120"/>
              </a:rPr>
              <a:t>Is this a prediction task?</a:t>
            </a:r>
            <a:endParaRPr lang="en-US" sz="850" dirty="0"/>
          </a:p>
        </p:txBody>
      </p:sp>
      <p:sp>
        <p:nvSpPr>
          <p:cNvPr id="10" name="Text 7"/>
          <p:cNvSpPr/>
          <p:nvPr/>
        </p:nvSpPr>
        <p:spPr>
          <a:xfrm>
            <a:off x="777260" y="1981696"/>
            <a:ext cx="2515331" cy="223838"/>
          </a:xfrm>
          <a:prstGeom prst="rect">
            <a:avLst/>
          </a:prstGeom>
          <a:noFill/>
          <a:ln/>
        </p:spPr>
        <p:txBody>
          <a:bodyPr wrap="square" lIns="0" tIns="0" rIns="0" bIns="0" rtlCol="0" anchor="t">
            <a:normAutofit/>
          </a:bodyPr>
          <a:lstStyle/>
          <a:p>
            <a:pPr algn="l" indent="0" marL="0">
              <a:lnSpc>
                <a:spcPct val="103000"/>
              </a:lnSpc>
              <a:buNone/>
            </a:pPr>
            <a:r>
              <a:rPr lang="en-US" sz="700" dirty="0">
                <a:solidFill>
                  <a:srgbClr val="3B4E4E"/>
                </a:solidFill>
                <a:latin typeface="Overpass Light" pitchFamily="34" charset="0"/>
                <a:ea typeface="Overpass Light" pitchFamily="34" charset="-122"/>
                <a:cs typeface="Overpass Light" pitchFamily="34" charset="-120"/>
              </a:rPr>
              <a:t>Not directly — this is a </a:t>
            </a:r>
            <a:pPr algn="l" indent="0" marL="0">
              <a:lnSpc>
                <a:spcPct val="103000"/>
              </a:lnSpc>
              <a:buNone/>
            </a:pPr>
            <a:r>
              <a:rPr lang="en-US" sz="700" b="1" dirty="0">
                <a:solidFill>
                  <a:srgbClr val="3B4E4E"/>
                </a:solidFill>
                <a:latin typeface="Overpass Bold" pitchFamily="34" charset="0"/>
                <a:ea typeface="Overpass Bold" pitchFamily="34" charset="-122"/>
                <a:cs typeface="Overpass Bold" pitchFamily="34" charset="-120"/>
              </a:rPr>
              <a:t>data preparation task</a:t>
            </a:r>
            <a:pPr algn="l" indent="0" marL="0">
              <a:lnSpc>
                <a:spcPct val="103000"/>
              </a:lnSpc>
              <a:buNone/>
            </a:pPr>
            <a:r>
              <a:rPr lang="en-US" sz="700" dirty="0">
                <a:solidFill>
                  <a:srgbClr val="3B4E4E"/>
                </a:solidFill>
                <a:latin typeface="Overpass Light" pitchFamily="34" charset="0"/>
                <a:ea typeface="Overpass Light" pitchFamily="34" charset="-122"/>
                <a:cs typeface="Overpass Light" pitchFamily="34" charset="-120"/>
              </a:rPr>
              <a:t>. The goal is to simplify the dataset before feeding it into another algorithm.</a:t>
            </a:r>
            <a:endParaRPr lang="en-US" sz="700" dirty="0"/>
          </a:p>
        </p:txBody>
      </p:sp>
      <p:pic>
        <p:nvPicPr>
          <p:cNvPr id="11"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341703" y="1778198"/>
            <a:ext cx="2643816" cy="440035"/>
          </a:xfrm>
          <a:prstGeom prst="rect">
            <a:avLst/>
          </a:prstGeom>
        </p:spPr>
      </p:pic>
      <p:sp>
        <p:nvSpPr>
          <p:cNvPr id="12" name="Text 8"/>
          <p:cNvSpPr/>
          <p:nvPr/>
        </p:nvSpPr>
        <p:spPr>
          <a:xfrm>
            <a:off x="3470188" y="1790898"/>
            <a:ext cx="2515331" cy="141387"/>
          </a:xfrm>
          <a:prstGeom prst="rect">
            <a:avLst/>
          </a:prstGeom>
          <a:noFill/>
          <a:ln/>
        </p:spPr>
        <p:txBody>
          <a:bodyPr wrap="none" lIns="0" tIns="0" rIns="0" bIns="0" rtlCol="0" anchor="t"/>
          <a:lstStyle/>
          <a:p>
            <a:pPr algn="l" indent="0" marL="0">
              <a:lnSpc>
                <a:spcPct val="104000"/>
              </a:lnSpc>
              <a:buNone/>
            </a:pPr>
            <a:r>
              <a:rPr lang="en-US" sz="850" b="1" dirty="0">
                <a:solidFill>
                  <a:srgbClr val="3B4E4E"/>
                </a:solidFill>
                <a:latin typeface="Syne Bold" pitchFamily="34" charset="0"/>
                <a:ea typeface="Syne Bold" pitchFamily="34" charset="-122"/>
                <a:cs typeface="Syne Bold" pitchFamily="34" charset="-120"/>
              </a:rPr>
              <a:t>Goal</a:t>
            </a:r>
            <a:endParaRPr lang="en-US" sz="850" dirty="0"/>
          </a:p>
        </p:txBody>
      </p:sp>
      <p:sp>
        <p:nvSpPr>
          <p:cNvPr id="13" name="Text 9"/>
          <p:cNvSpPr/>
          <p:nvPr/>
        </p:nvSpPr>
        <p:spPr>
          <a:xfrm>
            <a:off x="3470188" y="1981696"/>
            <a:ext cx="2515331" cy="223838"/>
          </a:xfrm>
          <a:prstGeom prst="rect">
            <a:avLst/>
          </a:prstGeom>
          <a:noFill/>
          <a:ln/>
        </p:spPr>
        <p:txBody>
          <a:bodyPr wrap="square" lIns="0" tIns="0" rIns="0" bIns="0" rtlCol="0" anchor="t">
            <a:normAutofit/>
          </a:bodyPr>
          <a:lstStyle/>
          <a:p>
            <a:pPr algn="l" indent="0" marL="0">
              <a:lnSpc>
                <a:spcPct val="103000"/>
              </a:lnSpc>
              <a:buNone/>
            </a:pPr>
            <a:r>
              <a:rPr lang="en-US" sz="700" dirty="0">
                <a:solidFill>
                  <a:srgbClr val="3B4E4E"/>
                </a:solidFill>
                <a:latin typeface="Overpass Light" pitchFamily="34" charset="0"/>
                <a:ea typeface="Overpass Light" pitchFamily="34" charset="-122"/>
                <a:cs typeface="Overpass Light" pitchFamily="34" charset="-120"/>
              </a:rPr>
              <a:t>Reduce 120 columns to a much smaller number while retaining as much meaningful information as possible.</a:t>
            </a:r>
            <a:endParaRPr lang="en-US" sz="700" dirty="0"/>
          </a:p>
        </p:txBody>
      </p:sp>
      <p:pic>
        <p:nvPicPr>
          <p:cNvPr id="14"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48775" y="2291755"/>
            <a:ext cx="5336744" cy="328116"/>
          </a:xfrm>
          <a:prstGeom prst="rect">
            <a:avLst/>
          </a:prstGeom>
        </p:spPr>
      </p:pic>
      <p:sp>
        <p:nvSpPr>
          <p:cNvPr id="15" name="Text 10"/>
          <p:cNvSpPr/>
          <p:nvPr/>
        </p:nvSpPr>
        <p:spPr>
          <a:xfrm>
            <a:off x="777260" y="2304455"/>
            <a:ext cx="5208259" cy="141387"/>
          </a:xfrm>
          <a:prstGeom prst="rect">
            <a:avLst/>
          </a:prstGeom>
          <a:noFill/>
          <a:ln/>
        </p:spPr>
        <p:txBody>
          <a:bodyPr wrap="none" lIns="0" tIns="0" rIns="0" bIns="0" rtlCol="0" anchor="t"/>
          <a:lstStyle/>
          <a:p>
            <a:pPr algn="l" indent="0" marL="0">
              <a:lnSpc>
                <a:spcPct val="104000"/>
              </a:lnSpc>
              <a:buNone/>
            </a:pPr>
            <a:r>
              <a:rPr lang="en-US" sz="850" b="1" dirty="0">
                <a:solidFill>
                  <a:srgbClr val="3B4E4E"/>
                </a:solidFill>
                <a:latin typeface="Syne Bold" pitchFamily="34" charset="0"/>
                <a:ea typeface="Syne Bold" pitchFamily="34" charset="-122"/>
                <a:cs typeface="Syne Bold" pitchFamily="34" charset="-120"/>
              </a:rPr>
              <a:t>Problem type</a:t>
            </a:r>
            <a:endParaRPr lang="en-US" sz="850" dirty="0"/>
          </a:p>
        </p:txBody>
      </p:sp>
      <p:sp>
        <p:nvSpPr>
          <p:cNvPr id="16" name="Text 11"/>
          <p:cNvSpPr/>
          <p:nvPr/>
        </p:nvSpPr>
        <p:spPr>
          <a:xfrm>
            <a:off x="777260" y="2495252"/>
            <a:ext cx="5208259" cy="111919"/>
          </a:xfrm>
          <a:prstGeom prst="rect">
            <a:avLst/>
          </a:prstGeom>
          <a:noFill/>
          <a:ln/>
        </p:spPr>
        <p:txBody>
          <a:bodyPr wrap="none" lIns="0" tIns="0" rIns="0" bIns="0" rtlCol="0" anchor="t"/>
          <a:lstStyle/>
          <a:p>
            <a:pPr algn="l" indent="0" marL="0">
              <a:lnSpc>
                <a:spcPct val="103000"/>
              </a:lnSpc>
              <a:buNone/>
            </a:pPr>
            <a:r>
              <a:rPr lang="en-US" sz="700" b="1" dirty="0">
                <a:solidFill>
                  <a:srgbClr val="3B4E4E"/>
                </a:solidFill>
                <a:latin typeface="Overpass Bold" pitchFamily="34" charset="0"/>
                <a:ea typeface="Overpass Bold" pitchFamily="34" charset="-122"/>
                <a:cs typeface="Overpass Bold" pitchFamily="34" charset="-120"/>
              </a:rPr>
              <a:t>Dimensionality reduction (unsupervised).</a:t>
            </a:r>
            <a:endParaRPr lang="en-US" sz="700" dirty="0"/>
          </a:p>
        </p:txBody>
      </p:sp>
      <p:sp>
        <p:nvSpPr>
          <p:cNvPr id="17" name="Shape 12"/>
          <p:cNvSpPr/>
          <p:nvPr/>
        </p:nvSpPr>
        <p:spPr>
          <a:xfrm>
            <a:off x="661475" y="2662734"/>
            <a:ext cx="5324044" cy="357783"/>
          </a:xfrm>
          <a:prstGeom prst="roundRect">
            <a:avLst>
              <a:gd name="adj" fmla="val 10618"/>
            </a:avLst>
          </a:prstGeom>
          <a:solidFill>
            <a:srgbClr val="DDEEE6"/>
          </a:solidFill>
          <a:ln/>
        </p:spPr>
      </p:sp>
      <p:pic>
        <p:nvPicPr>
          <p:cNvPr id="18" name="Image 3" descr="preencoded.png">    </p:cNvPr>
          <p:cNvPicPr>
            <a:picLocks noChangeAspect="1"/>
          </p:cNvPicPr>
          <p:nvPr/>
        </p:nvPicPr>
        <p:blipFill>
          <a:blip r:embed="rId7"/>
          <a:stretch>
            <a:fillRect/>
          </a:stretch>
        </p:blipFill>
        <p:spPr>
          <a:xfrm>
            <a:off x="751861" y="2734667"/>
            <a:ext cx="113007" cy="90388"/>
          </a:xfrm>
          <a:prstGeom prst="rect">
            <a:avLst/>
          </a:prstGeom>
        </p:spPr>
      </p:pic>
      <p:sp>
        <p:nvSpPr>
          <p:cNvPr id="19" name="Text 13"/>
          <p:cNvSpPr/>
          <p:nvPr/>
        </p:nvSpPr>
        <p:spPr>
          <a:xfrm>
            <a:off x="955254" y="2729706"/>
            <a:ext cx="4939879" cy="223838"/>
          </a:xfrm>
          <a:prstGeom prst="rect">
            <a:avLst/>
          </a:prstGeom>
          <a:noFill/>
          <a:ln/>
        </p:spPr>
        <p:txBody>
          <a:bodyPr wrap="square" lIns="0" tIns="0" rIns="0" bIns="0" rtlCol="0" anchor="t">
            <a:normAutofit/>
          </a:bodyPr>
          <a:lstStyle/>
          <a:p>
            <a:pPr algn="l" indent="0" marL="0">
              <a:lnSpc>
                <a:spcPct val="103000"/>
              </a:lnSpc>
              <a:buNone/>
            </a:pPr>
            <a:r>
              <a:rPr lang="en-US" sz="700" b="1" dirty="0">
                <a:solidFill>
                  <a:srgbClr val="000000"/>
                </a:solidFill>
                <a:latin typeface="Overpass Bold" pitchFamily="34" charset="0"/>
                <a:ea typeface="Overpass Bold" pitchFamily="34" charset="-122"/>
                <a:cs typeface="Overpass Bold" pitchFamily="34" charset="-120"/>
              </a:rPr>
              <a:t>Class discussion:</a:t>
            </a:r>
            <a:pPr algn="l" indent="0" marL="0">
              <a:lnSpc>
                <a:spcPct val="103000"/>
              </a:lnSpc>
              <a:buNone/>
            </a:pPr>
            <a:r>
              <a:rPr lang="en-US" sz="700" dirty="0">
                <a:solidFill>
                  <a:srgbClr val="000000"/>
                </a:solidFill>
                <a:latin typeface="Overpass Light" pitchFamily="34" charset="0"/>
                <a:ea typeface="Overpass Light" pitchFamily="34" charset="-122"/>
                <a:cs typeface="Overpass Light" pitchFamily="34" charset="-120"/>
              </a:rPr>
              <a:t> If two survey questions always receive nearly identical answers from every respondent, what does that tell us about the information they each contribute? Do we need both?</a:t>
            </a:r>
            <a:endParaRPr lang="en-US" sz="700" dirty="0"/>
          </a:p>
        </p:txBody>
      </p:sp>
      <p:pic>
        <p:nvPicPr>
          <p:cNvPr id="20" name="Image 4" descr="preencoded.png">    </p:cNvPr>
          <p:cNvPicPr>
            <a:picLocks noChangeAspect="1"/>
          </p:cNvPicPr>
          <p:nvPr/>
        </p:nvPicPr>
        <p:blipFill>
          <a:blip r:embed="rId8"/>
          <a:stretch>
            <a:fillRect/>
          </a:stretch>
        </p:blipFill>
        <p:spPr>
          <a:xfrm>
            <a:off x="6212526" y="1024136"/>
            <a:ext cx="5324044" cy="5324177"/>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DE6"/>
        </a:solidFill>
      </p:bgPr>
    </p:bg>
    <p:spTree>
      <p:nvGrpSpPr>
        <p:cNvPr id="1" name=""/>
        <p:cNvGrpSpPr/>
        <p:nvPr/>
      </p:nvGrpSpPr>
      <p:grpSpPr>
        <a:xfrm>
          <a:off x="0" y="0"/>
          <a:ext cx="0" cy="0"/>
          <a:chOff x="0" y="0"/>
          <a:chExt cx="0" cy="0"/>
        </a:xfrm>
      </p:grpSpPr>
      <p:sp>
        <p:nvSpPr>
          <p:cNvPr id="2" name="Text 0"/>
          <p:cNvSpPr/>
          <p:nvPr/>
        </p:nvSpPr>
        <p:spPr>
          <a:xfrm>
            <a:off x="661475" y="487249"/>
            <a:ext cx="10868745" cy="419894"/>
          </a:xfrm>
          <a:prstGeom prst="rect">
            <a:avLst/>
          </a:prstGeom>
          <a:noFill/>
          <a:ln/>
        </p:spPr>
        <p:txBody>
          <a:bodyPr wrap="none" lIns="0" tIns="0" rIns="0" bIns="0" rtlCol="0" anchor="t"/>
          <a:lstStyle/>
          <a:p>
            <a:pPr algn="l" indent="0" marL="0">
              <a:lnSpc>
                <a:spcPct val="104000"/>
              </a:lnSpc>
              <a:buNone/>
            </a:pPr>
            <a:r>
              <a:rPr lang="en-US" sz="2600" b="1" dirty="0">
                <a:solidFill>
                  <a:srgbClr val="233939"/>
                </a:solidFill>
                <a:latin typeface="Syne Bold" pitchFamily="34" charset="0"/>
                <a:ea typeface="Syne Bold" pitchFamily="34" charset="-122"/>
                <a:cs typeface="Syne Bold" pitchFamily="34" charset="-120"/>
              </a:rPr>
              <a:t>Algorithm: Principal Component Analysis (PCA)</a:t>
            </a:r>
            <a:endParaRPr lang="en-US" sz="2600" dirty="0"/>
          </a:p>
        </p:txBody>
      </p:sp>
      <p:sp>
        <p:nvSpPr>
          <p:cNvPr id="3" name="Text 1"/>
          <p:cNvSpPr/>
          <p:nvPr/>
        </p:nvSpPr>
        <p:spPr>
          <a:xfrm>
            <a:off x="661475" y="1122462"/>
            <a:ext cx="10868745" cy="389533"/>
          </a:xfrm>
          <a:prstGeom prst="rect">
            <a:avLst/>
          </a:prstGeom>
          <a:noFill/>
          <a:ln/>
        </p:spPr>
        <p:txBody>
          <a:bodyPr wrap="square" lIns="0" tIns="0" rIns="0" bIns="0" rtlCol="0" anchor="t">
            <a:normAutofit/>
          </a:bodyPr>
          <a:lstStyle/>
          <a:p>
            <a:pPr algn="l" indent="0" marL="0">
              <a:lnSpc>
                <a:spcPct val="121000"/>
              </a:lnSpc>
              <a:buNone/>
            </a:pPr>
            <a:r>
              <a:rPr lang="en-US" sz="1050" dirty="0">
                <a:solidFill>
                  <a:srgbClr val="3B4E4E"/>
                </a:solidFill>
                <a:latin typeface="Overpass Light" pitchFamily="34" charset="0"/>
                <a:ea typeface="Overpass Light" pitchFamily="34" charset="-122"/>
                <a:cs typeface="Overpass Light" pitchFamily="34" charset="-120"/>
              </a:rPr>
              <a:t>PCA is the most widely used technique for dimensionality reduction. It creates a smaller set of new columns — called </a:t>
            </a:r>
            <a:pPr algn="l" indent="0" marL="0">
              <a:lnSpc>
                <a:spcPct val="121000"/>
              </a:lnSpc>
              <a:buNone/>
            </a:pPr>
            <a:r>
              <a:rPr lang="en-US" sz="1050" b="1" dirty="0">
                <a:solidFill>
                  <a:srgbClr val="3B4E4E"/>
                </a:solidFill>
                <a:latin typeface="Overpass Bold" pitchFamily="34" charset="0"/>
                <a:ea typeface="Overpass Bold" pitchFamily="34" charset="-122"/>
                <a:cs typeface="Overpass Bold" pitchFamily="34" charset="-120"/>
              </a:rPr>
              <a:t>principal components</a:t>
            </a:r>
            <a:pPr algn="l" indent="0" marL="0">
              <a:lnSpc>
                <a:spcPct val="121000"/>
              </a:lnSpc>
              <a:buNone/>
            </a:pPr>
            <a:r>
              <a:rPr lang="en-US" sz="1050" dirty="0">
                <a:solidFill>
                  <a:srgbClr val="3B4E4E"/>
                </a:solidFill>
                <a:latin typeface="Overpass Light" pitchFamily="34" charset="0"/>
                <a:ea typeface="Overpass Light" pitchFamily="34" charset="-122"/>
                <a:cs typeface="Overpass Light" pitchFamily="34" charset="-120"/>
              </a:rPr>
              <a:t> — that are linear combinations of the original columns and capture the maximum possible variation in the data.</a:t>
            </a:r>
            <a:endParaRPr lang="en-US" sz="1050" dirty="0"/>
          </a:p>
        </p:txBody>
      </p:sp>
      <p:sp>
        <p:nvSpPr>
          <p:cNvPr id="4" name="Text 2"/>
          <p:cNvSpPr/>
          <p:nvPr/>
        </p:nvSpPr>
        <p:spPr>
          <a:xfrm>
            <a:off x="661475" y="1745449"/>
            <a:ext cx="5270467" cy="209947"/>
          </a:xfrm>
          <a:prstGeom prst="rect">
            <a:avLst/>
          </a:prstGeom>
          <a:noFill/>
          <a:ln/>
        </p:spPr>
        <p:txBody>
          <a:bodyPr wrap="none" lIns="0" tIns="0" rIns="0" bIns="0" rtlCol="0" anchor="t"/>
          <a:lstStyle/>
          <a:p>
            <a:pPr algn="l" indent="0" marL="0">
              <a:lnSpc>
                <a:spcPct val="104000"/>
              </a:lnSpc>
              <a:buNone/>
            </a:pPr>
            <a:r>
              <a:rPr lang="en-US" sz="1300" b="1" dirty="0">
                <a:solidFill>
                  <a:srgbClr val="233939"/>
                </a:solidFill>
                <a:latin typeface="Syne Bold" pitchFamily="34" charset="0"/>
                <a:ea typeface="Syne Bold" pitchFamily="34" charset="-122"/>
                <a:cs typeface="Syne Bold" pitchFamily="34" charset="-120"/>
              </a:rPr>
              <a:t>How It Works</a:t>
            </a:r>
            <a:endParaRPr lang="en-US" sz="1300" dirty="0"/>
          </a:p>
        </p:txBody>
      </p:sp>
      <p:sp>
        <p:nvSpPr>
          <p:cNvPr id="5" name="Text 3"/>
          <p:cNvSpPr/>
          <p:nvPr/>
        </p:nvSpPr>
        <p:spPr>
          <a:xfrm>
            <a:off x="661475" y="2076748"/>
            <a:ext cx="268678" cy="167977"/>
          </a:xfrm>
          <a:prstGeom prst="rect">
            <a:avLst/>
          </a:prstGeom>
          <a:noFill/>
          <a:ln/>
        </p:spPr>
        <p:txBody>
          <a:bodyPr wrap="none" lIns="0" tIns="0" rIns="0" bIns="0" rtlCol="0" anchor="ctr"/>
          <a:lstStyle/>
          <a:p>
            <a:pPr algn="l" indent="0" marL="0">
              <a:lnSpc>
                <a:spcPct val="100000"/>
              </a:lnSpc>
              <a:buNone/>
            </a:pPr>
            <a:r>
              <a:rPr lang="en-US" sz="1050" dirty="0">
                <a:solidFill>
                  <a:srgbClr val="3B4E4E"/>
                </a:solidFill>
                <a:latin typeface="Syne" pitchFamily="34" charset="0"/>
                <a:ea typeface="Syne" pitchFamily="34" charset="-122"/>
                <a:cs typeface="Syne" pitchFamily="34" charset="-120"/>
              </a:rPr>
              <a:t>01</a:t>
            </a:r>
            <a:endParaRPr lang="en-US" sz="1050" dirty="0"/>
          </a:p>
        </p:txBody>
      </p:sp>
      <p:sp>
        <p:nvSpPr>
          <p:cNvPr id="6" name="Shape 4"/>
          <p:cNvSpPr/>
          <p:nvPr/>
        </p:nvSpPr>
        <p:spPr>
          <a:xfrm>
            <a:off x="661475" y="2286000"/>
            <a:ext cx="5270467" cy="19050"/>
          </a:xfrm>
          <a:prstGeom prst="rect">
            <a:avLst/>
          </a:prstGeom>
          <a:solidFill>
            <a:srgbClr val="224435"/>
          </a:solidFill>
          <a:ln/>
        </p:spPr>
      </p:sp>
      <p:sp>
        <p:nvSpPr>
          <p:cNvPr id="7" name="Text 5"/>
          <p:cNvSpPr/>
          <p:nvPr/>
        </p:nvSpPr>
        <p:spPr>
          <a:xfrm>
            <a:off x="661475" y="2391271"/>
            <a:ext cx="5270467" cy="209947"/>
          </a:xfrm>
          <a:prstGeom prst="rect">
            <a:avLst/>
          </a:prstGeom>
          <a:noFill/>
          <a:ln/>
        </p:spPr>
        <p:txBody>
          <a:bodyPr wrap="none" lIns="0" tIns="0" rIns="0" bIns="0" rtlCol="0" anchor="t"/>
          <a:lstStyle/>
          <a:p>
            <a:pPr algn="l" indent="0" marL="0">
              <a:lnSpc>
                <a:spcPct val="104000"/>
              </a:lnSpc>
              <a:buNone/>
            </a:pPr>
            <a:r>
              <a:rPr lang="en-US" sz="1300" b="1" dirty="0">
                <a:solidFill>
                  <a:srgbClr val="3B4E4E"/>
                </a:solidFill>
                <a:latin typeface="Syne Bold" pitchFamily="34" charset="0"/>
                <a:ea typeface="Syne Bold" pitchFamily="34" charset="-122"/>
                <a:cs typeface="Syne Bold" pitchFamily="34" charset="-120"/>
              </a:rPr>
              <a:t>Find Correlated Columns</a:t>
            </a:r>
            <a:endParaRPr lang="en-US" sz="1300" dirty="0"/>
          </a:p>
        </p:txBody>
      </p:sp>
      <p:sp>
        <p:nvSpPr>
          <p:cNvPr id="8" name="Text 6"/>
          <p:cNvSpPr/>
          <p:nvPr/>
        </p:nvSpPr>
        <p:spPr>
          <a:xfrm>
            <a:off x="661475" y="2710359"/>
            <a:ext cx="5270467" cy="389533"/>
          </a:xfrm>
          <a:prstGeom prst="rect">
            <a:avLst/>
          </a:prstGeom>
          <a:noFill/>
          <a:ln/>
        </p:spPr>
        <p:txBody>
          <a:bodyPr wrap="square" lIns="0" tIns="0" rIns="0" bIns="0" rtlCol="0" anchor="t">
            <a:normAutofit/>
          </a:bodyPr>
          <a:lstStyle/>
          <a:p>
            <a:pPr algn="l" indent="0" marL="0">
              <a:lnSpc>
                <a:spcPct val="121000"/>
              </a:lnSpc>
              <a:buNone/>
            </a:pPr>
            <a:r>
              <a:rPr lang="en-US" sz="1050" dirty="0">
                <a:solidFill>
                  <a:srgbClr val="3B4E4E"/>
                </a:solidFill>
                <a:latin typeface="Overpass Light" pitchFamily="34" charset="0"/>
                <a:ea typeface="Overpass Light" pitchFamily="34" charset="-122"/>
                <a:cs typeface="Overpass Light" pitchFamily="34" charset="-120"/>
              </a:rPr>
              <a:t>PCA identifies groups of original columns that move together — columns that are essentially measuring the same underlying thing.</a:t>
            </a:r>
            <a:endParaRPr lang="en-US" sz="1050" dirty="0"/>
          </a:p>
        </p:txBody>
      </p:sp>
      <p:sp>
        <p:nvSpPr>
          <p:cNvPr id="9" name="Text 7"/>
          <p:cNvSpPr/>
          <p:nvPr/>
        </p:nvSpPr>
        <p:spPr>
          <a:xfrm>
            <a:off x="661475" y="3309739"/>
            <a:ext cx="268678" cy="167977"/>
          </a:xfrm>
          <a:prstGeom prst="rect">
            <a:avLst/>
          </a:prstGeom>
          <a:noFill/>
          <a:ln/>
        </p:spPr>
        <p:txBody>
          <a:bodyPr wrap="none" lIns="0" tIns="0" rIns="0" bIns="0" rtlCol="0" anchor="ctr"/>
          <a:lstStyle/>
          <a:p>
            <a:pPr algn="l" indent="0" marL="0">
              <a:lnSpc>
                <a:spcPct val="100000"/>
              </a:lnSpc>
              <a:buNone/>
            </a:pPr>
            <a:r>
              <a:rPr lang="en-US" sz="1050" dirty="0">
                <a:solidFill>
                  <a:srgbClr val="3B4E4E"/>
                </a:solidFill>
                <a:latin typeface="Syne" pitchFamily="34" charset="0"/>
                <a:ea typeface="Syne" pitchFamily="34" charset="-122"/>
                <a:cs typeface="Syne" pitchFamily="34" charset="-120"/>
              </a:rPr>
              <a:t>02</a:t>
            </a:r>
            <a:endParaRPr lang="en-US" sz="1050" dirty="0"/>
          </a:p>
        </p:txBody>
      </p:sp>
      <p:sp>
        <p:nvSpPr>
          <p:cNvPr id="10" name="Shape 8"/>
          <p:cNvSpPr/>
          <p:nvPr/>
        </p:nvSpPr>
        <p:spPr>
          <a:xfrm>
            <a:off x="661475" y="3518991"/>
            <a:ext cx="5270467" cy="19050"/>
          </a:xfrm>
          <a:prstGeom prst="rect">
            <a:avLst/>
          </a:prstGeom>
          <a:solidFill>
            <a:srgbClr val="224435"/>
          </a:solidFill>
          <a:ln/>
        </p:spPr>
      </p:sp>
      <p:sp>
        <p:nvSpPr>
          <p:cNvPr id="11" name="Text 9"/>
          <p:cNvSpPr/>
          <p:nvPr/>
        </p:nvSpPr>
        <p:spPr>
          <a:xfrm>
            <a:off x="661475" y="3624263"/>
            <a:ext cx="5270467" cy="209947"/>
          </a:xfrm>
          <a:prstGeom prst="rect">
            <a:avLst/>
          </a:prstGeom>
          <a:noFill/>
          <a:ln/>
        </p:spPr>
        <p:txBody>
          <a:bodyPr wrap="none" lIns="0" tIns="0" rIns="0" bIns="0" rtlCol="0" anchor="t"/>
          <a:lstStyle/>
          <a:p>
            <a:pPr algn="l" indent="0" marL="0">
              <a:lnSpc>
                <a:spcPct val="104000"/>
              </a:lnSpc>
              <a:buNone/>
            </a:pPr>
            <a:r>
              <a:rPr lang="en-US" sz="1300" b="1" dirty="0">
                <a:solidFill>
                  <a:srgbClr val="3B4E4E"/>
                </a:solidFill>
                <a:latin typeface="Syne Bold" pitchFamily="34" charset="0"/>
                <a:ea typeface="Syne Bold" pitchFamily="34" charset="-122"/>
                <a:cs typeface="Syne Bold" pitchFamily="34" charset="-120"/>
              </a:rPr>
              <a:t>Create Principal Components</a:t>
            </a:r>
            <a:endParaRPr lang="en-US" sz="1300" dirty="0"/>
          </a:p>
        </p:txBody>
      </p:sp>
      <p:sp>
        <p:nvSpPr>
          <p:cNvPr id="12" name="Text 10"/>
          <p:cNvSpPr/>
          <p:nvPr/>
        </p:nvSpPr>
        <p:spPr>
          <a:xfrm>
            <a:off x="661475" y="3943350"/>
            <a:ext cx="5270467" cy="779066"/>
          </a:xfrm>
          <a:prstGeom prst="rect">
            <a:avLst/>
          </a:prstGeom>
          <a:noFill/>
          <a:ln/>
        </p:spPr>
        <p:txBody>
          <a:bodyPr wrap="square" lIns="0" tIns="0" rIns="0" bIns="0" rtlCol="0" anchor="t">
            <a:normAutofit/>
          </a:bodyPr>
          <a:lstStyle/>
          <a:p>
            <a:pPr algn="l" indent="0" marL="0">
              <a:lnSpc>
                <a:spcPct val="121000"/>
              </a:lnSpc>
              <a:buNone/>
            </a:pPr>
            <a:r>
              <a:rPr lang="en-US" sz="1050" dirty="0">
                <a:solidFill>
                  <a:srgbClr val="3B4E4E"/>
                </a:solidFill>
                <a:latin typeface="Overpass Light" pitchFamily="34" charset="0"/>
                <a:ea typeface="Overpass Light" pitchFamily="34" charset="-122"/>
                <a:cs typeface="Overpass Light" pitchFamily="34" charset="-120"/>
              </a:rPr>
              <a:t>Each component is a weighted combination of the original columns. The first component captures the largest possible share of total variation; each subsequent component captures the next largest share, subject to being uncorrelated with all previous components.</a:t>
            </a:r>
            <a:endParaRPr lang="en-US" sz="1050" dirty="0"/>
          </a:p>
        </p:txBody>
      </p:sp>
      <p:sp>
        <p:nvSpPr>
          <p:cNvPr id="13" name="Text 11"/>
          <p:cNvSpPr/>
          <p:nvPr/>
        </p:nvSpPr>
        <p:spPr>
          <a:xfrm>
            <a:off x="661475" y="4932263"/>
            <a:ext cx="268678" cy="167977"/>
          </a:xfrm>
          <a:prstGeom prst="rect">
            <a:avLst/>
          </a:prstGeom>
          <a:noFill/>
          <a:ln/>
        </p:spPr>
        <p:txBody>
          <a:bodyPr wrap="none" lIns="0" tIns="0" rIns="0" bIns="0" rtlCol="0" anchor="ctr"/>
          <a:lstStyle/>
          <a:p>
            <a:pPr algn="l" indent="0" marL="0">
              <a:lnSpc>
                <a:spcPct val="100000"/>
              </a:lnSpc>
              <a:buNone/>
            </a:pPr>
            <a:r>
              <a:rPr lang="en-US" sz="1050" dirty="0">
                <a:solidFill>
                  <a:srgbClr val="3B4E4E"/>
                </a:solidFill>
                <a:latin typeface="Syne" pitchFamily="34" charset="0"/>
                <a:ea typeface="Syne" pitchFamily="34" charset="-122"/>
                <a:cs typeface="Syne" pitchFamily="34" charset="-120"/>
              </a:rPr>
              <a:t>03</a:t>
            </a:r>
            <a:endParaRPr lang="en-US" sz="1050" dirty="0"/>
          </a:p>
        </p:txBody>
      </p:sp>
      <p:sp>
        <p:nvSpPr>
          <p:cNvPr id="14" name="Shape 12"/>
          <p:cNvSpPr/>
          <p:nvPr/>
        </p:nvSpPr>
        <p:spPr>
          <a:xfrm>
            <a:off x="661475" y="5141516"/>
            <a:ext cx="5270467" cy="19050"/>
          </a:xfrm>
          <a:prstGeom prst="rect">
            <a:avLst/>
          </a:prstGeom>
          <a:solidFill>
            <a:srgbClr val="224435"/>
          </a:solidFill>
          <a:ln/>
        </p:spPr>
      </p:sp>
      <p:sp>
        <p:nvSpPr>
          <p:cNvPr id="15" name="Text 13"/>
          <p:cNvSpPr/>
          <p:nvPr/>
        </p:nvSpPr>
        <p:spPr>
          <a:xfrm>
            <a:off x="661475" y="5246787"/>
            <a:ext cx="5270467" cy="209947"/>
          </a:xfrm>
          <a:prstGeom prst="rect">
            <a:avLst/>
          </a:prstGeom>
          <a:noFill/>
          <a:ln/>
        </p:spPr>
        <p:txBody>
          <a:bodyPr wrap="none" lIns="0" tIns="0" rIns="0" bIns="0" rtlCol="0" anchor="t"/>
          <a:lstStyle/>
          <a:p>
            <a:pPr algn="l" indent="0" marL="0">
              <a:lnSpc>
                <a:spcPct val="104000"/>
              </a:lnSpc>
              <a:buNone/>
            </a:pPr>
            <a:r>
              <a:rPr lang="en-US" sz="1300" b="1" dirty="0">
                <a:solidFill>
                  <a:srgbClr val="3B4E4E"/>
                </a:solidFill>
                <a:latin typeface="Syne Bold" pitchFamily="34" charset="0"/>
                <a:ea typeface="Syne Bold" pitchFamily="34" charset="-122"/>
                <a:cs typeface="Syne Bold" pitchFamily="34" charset="-120"/>
              </a:rPr>
              <a:t>Select How Many to Keep</a:t>
            </a:r>
            <a:endParaRPr lang="en-US" sz="1300" dirty="0"/>
          </a:p>
        </p:txBody>
      </p:sp>
      <p:sp>
        <p:nvSpPr>
          <p:cNvPr id="16" name="Text 14"/>
          <p:cNvSpPr/>
          <p:nvPr/>
        </p:nvSpPr>
        <p:spPr>
          <a:xfrm>
            <a:off x="661475" y="5565874"/>
            <a:ext cx="5270467" cy="584299"/>
          </a:xfrm>
          <a:prstGeom prst="rect">
            <a:avLst/>
          </a:prstGeom>
          <a:noFill/>
          <a:ln/>
        </p:spPr>
        <p:txBody>
          <a:bodyPr wrap="square" lIns="0" tIns="0" rIns="0" bIns="0" rtlCol="0" anchor="t">
            <a:normAutofit/>
          </a:bodyPr>
          <a:lstStyle/>
          <a:p>
            <a:pPr algn="l" indent="0" marL="0">
              <a:lnSpc>
                <a:spcPct val="121000"/>
              </a:lnSpc>
              <a:buNone/>
            </a:pPr>
            <a:r>
              <a:rPr lang="en-US" sz="1050" dirty="0">
                <a:solidFill>
                  <a:srgbClr val="3B4E4E"/>
                </a:solidFill>
                <a:latin typeface="Overpass Light" pitchFamily="34" charset="0"/>
                <a:ea typeface="Overpass Light" pitchFamily="34" charset="-122"/>
                <a:cs typeface="Overpass Light" pitchFamily="34" charset="-120"/>
              </a:rPr>
              <a:t>A scree plot shows how much variation each component explains. You keep enough components to account for — for example — 90% of the total variation. Typically this means going from 120 columns to 10 or 15.</a:t>
            </a:r>
            <a:endParaRPr lang="en-US" sz="1050" dirty="0"/>
          </a:p>
        </p:txBody>
      </p:sp>
      <p:sp>
        <p:nvSpPr>
          <p:cNvPr id="17" name="Text 15"/>
          <p:cNvSpPr/>
          <p:nvPr/>
        </p:nvSpPr>
        <p:spPr>
          <a:xfrm>
            <a:off x="6266103" y="1745449"/>
            <a:ext cx="5270467" cy="209947"/>
          </a:xfrm>
          <a:prstGeom prst="rect">
            <a:avLst/>
          </a:prstGeom>
          <a:noFill/>
          <a:ln/>
        </p:spPr>
        <p:txBody>
          <a:bodyPr wrap="none" lIns="0" tIns="0" rIns="0" bIns="0" rtlCol="0" anchor="t"/>
          <a:lstStyle/>
          <a:p>
            <a:pPr algn="l" indent="0" marL="0">
              <a:lnSpc>
                <a:spcPct val="104000"/>
              </a:lnSpc>
              <a:buNone/>
            </a:pPr>
            <a:r>
              <a:rPr lang="en-US" sz="1300" b="1" dirty="0">
                <a:solidFill>
                  <a:srgbClr val="233939"/>
                </a:solidFill>
                <a:latin typeface="Syne Bold" pitchFamily="34" charset="0"/>
                <a:ea typeface="Syne Bold" pitchFamily="34" charset="-122"/>
                <a:cs typeface="Syne Bold" pitchFamily="34" charset="-120"/>
              </a:rPr>
              <a:t>What to Expect as Output</a:t>
            </a:r>
            <a:endParaRPr lang="en-US" sz="1300" dirty="0"/>
          </a:p>
        </p:txBody>
      </p:sp>
      <p:sp>
        <p:nvSpPr>
          <p:cNvPr id="18" name="Text 16"/>
          <p:cNvSpPr/>
          <p:nvPr/>
        </p:nvSpPr>
        <p:spPr>
          <a:xfrm>
            <a:off x="6266103" y="2063055"/>
            <a:ext cx="5270467" cy="779066"/>
          </a:xfrm>
          <a:prstGeom prst="rect">
            <a:avLst/>
          </a:prstGeom>
          <a:noFill/>
          <a:ln/>
        </p:spPr>
        <p:txBody>
          <a:bodyPr wrap="square" lIns="0" tIns="0" rIns="0" bIns="0" rtlCol="0" anchor="t">
            <a:normAutofit/>
          </a:bodyPr>
          <a:lstStyle/>
          <a:p>
            <a:pPr algn="l" indent="0" marL="0">
              <a:lnSpc>
                <a:spcPct val="121000"/>
              </a:lnSpc>
              <a:buNone/>
            </a:pPr>
            <a:r>
              <a:rPr lang="en-US" sz="1050" dirty="0">
                <a:solidFill>
                  <a:srgbClr val="3B4E4E"/>
                </a:solidFill>
                <a:latin typeface="Overpass Light" pitchFamily="34" charset="0"/>
                <a:ea typeface="Overpass Light" pitchFamily="34" charset="-122"/>
                <a:cs typeface="Overpass Light" pitchFamily="34" charset="-120"/>
              </a:rPr>
              <a:t>A new, smaller dataset with far fewer columns that retains most of the original information. For example: 120 survey columns reduced to 10 components that preserve 90% of the variation. Models trained on this reduced dataset are faster, more stable, and easier to visualise in 2D or 3D scatter plots.</a:t>
            </a:r>
            <a:endParaRPr lang="en-US" sz="1050" dirty="0"/>
          </a:p>
        </p:txBody>
      </p:sp>
      <p:pic>
        <p:nvPicPr>
          <p:cNvPr id="19"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266103" y="2964954"/>
            <a:ext cx="2580615" cy="1809651"/>
          </a:xfrm>
          <a:prstGeom prst="rect">
            <a:avLst/>
          </a:prstGeom>
        </p:spPr>
      </p:pic>
      <p:sp>
        <p:nvSpPr>
          <p:cNvPr id="20" name="Text 17"/>
          <p:cNvSpPr/>
          <p:nvPr/>
        </p:nvSpPr>
        <p:spPr>
          <a:xfrm>
            <a:off x="6495689" y="3118346"/>
            <a:ext cx="2197640" cy="419894"/>
          </a:xfrm>
          <a:prstGeom prst="rect">
            <a:avLst/>
          </a:prstGeom>
          <a:noFill/>
          <a:ln/>
        </p:spPr>
        <p:txBody>
          <a:bodyPr wrap="square" lIns="0" tIns="0" rIns="0" bIns="0" rtlCol="0" anchor="t">
            <a:normAutofit/>
          </a:bodyPr>
          <a:lstStyle/>
          <a:p>
            <a:pPr algn="l" indent="0" marL="0">
              <a:lnSpc>
                <a:spcPct val="104000"/>
              </a:lnSpc>
              <a:buNone/>
            </a:pPr>
            <a:r>
              <a:rPr lang="en-US" sz="1300" b="1" dirty="0">
                <a:solidFill>
                  <a:srgbClr val="3B4E4E"/>
                </a:solidFill>
                <a:latin typeface="Syne Bold" pitchFamily="34" charset="0"/>
                <a:ea typeface="Syne Bold" pitchFamily="34" charset="-122"/>
                <a:cs typeface="Syne Bold" pitchFamily="34" charset="-120"/>
              </a:rPr>
              <a:t>✓ Removes Redundancy</a:t>
            </a:r>
            <a:endParaRPr lang="en-US" sz="1300" dirty="0"/>
          </a:p>
        </p:txBody>
      </p:sp>
      <p:sp>
        <p:nvSpPr>
          <p:cNvPr id="21" name="Text 18"/>
          <p:cNvSpPr/>
          <p:nvPr/>
        </p:nvSpPr>
        <p:spPr>
          <a:xfrm>
            <a:off x="6495689" y="3647380"/>
            <a:ext cx="2197640" cy="584299"/>
          </a:xfrm>
          <a:prstGeom prst="rect">
            <a:avLst/>
          </a:prstGeom>
          <a:noFill/>
          <a:ln/>
        </p:spPr>
        <p:txBody>
          <a:bodyPr wrap="square" lIns="0" tIns="0" rIns="0" bIns="0" rtlCol="0" anchor="t">
            <a:normAutofit/>
          </a:bodyPr>
          <a:lstStyle/>
          <a:p>
            <a:pPr algn="l" indent="0" marL="0">
              <a:lnSpc>
                <a:spcPct val="121000"/>
              </a:lnSpc>
              <a:buNone/>
            </a:pPr>
            <a:r>
              <a:rPr lang="en-US" sz="1050" dirty="0">
                <a:solidFill>
                  <a:srgbClr val="3B4E4E"/>
                </a:solidFill>
                <a:latin typeface="Overpass Light" pitchFamily="34" charset="0"/>
                <a:ea typeface="Overpass Light" pitchFamily="34" charset="-122"/>
                <a:cs typeface="Overpass Light" pitchFamily="34" charset="-120"/>
              </a:rPr>
              <a:t>Eliminates the noise introduced by correlated, overlapping features. Reduces the risk of overfitting.</a:t>
            </a:r>
            <a:endParaRPr lang="en-US" sz="1050" dirty="0"/>
          </a:p>
        </p:txBody>
      </p:sp>
      <p:pic>
        <p:nvPicPr>
          <p:cNvPr id="22"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955856" y="2964954"/>
            <a:ext cx="2580714" cy="1809651"/>
          </a:xfrm>
          <a:prstGeom prst="rect">
            <a:avLst/>
          </a:prstGeom>
        </p:spPr>
      </p:pic>
      <p:sp>
        <p:nvSpPr>
          <p:cNvPr id="23" name="Text 19"/>
          <p:cNvSpPr/>
          <p:nvPr/>
        </p:nvSpPr>
        <p:spPr>
          <a:xfrm>
            <a:off x="9185442" y="3118346"/>
            <a:ext cx="2197740" cy="419894"/>
          </a:xfrm>
          <a:prstGeom prst="rect">
            <a:avLst/>
          </a:prstGeom>
          <a:noFill/>
          <a:ln/>
        </p:spPr>
        <p:txBody>
          <a:bodyPr wrap="square" lIns="0" tIns="0" rIns="0" bIns="0" rtlCol="0" anchor="t">
            <a:normAutofit/>
          </a:bodyPr>
          <a:lstStyle/>
          <a:p>
            <a:pPr algn="l" indent="0" marL="0">
              <a:lnSpc>
                <a:spcPct val="104000"/>
              </a:lnSpc>
              <a:buNone/>
            </a:pPr>
            <a:r>
              <a:rPr lang="en-US" sz="1300" b="1" dirty="0">
                <a:solidFill>
                  <a:srgbClr val="3B4E4E"/>
                </a:solidFill>
                <a:latin typeface="Syne Bold" pitchFamily="34" charset="0"/>
                <a:ea typeface="Syne Bold" pitchFamily="34" charset="-122"/>
                <a:cs typeface="Syne Bold" pitchFamily="34" charset="-120"/>
              </a:rPr>
              <a:t>✗ Hard to Interpret New Columns</a:t>
            </a:r>
            <a:endParaRPr lang="en-US" sz="1300" dirty="0"/>
          </a:p>
        </p:txBody>
      </p:sp>
      <p:sp>
        <p:nvSpPr>
          <p:cNvPr id="24" name="Text 20"/>
          <p:cNvSpPr/>
          <p:nvPr/>
        </p:nvSpPr>
        <p:spPr>
          <a:xfrm>
            <a:off x="9185442" y="3647380"/>
            <a:ext cx="2197740" cy="973832"/>
          </a:xfrm>
          <a:prstGeom prst="rect">
            <a:avLst/>
          </a:prstGeom>
          <a:noFill/>
          <a:ln/>
        </p:spPr>
        <p:txBody>
          <a:bodyPr wrap="square" lIns="0" tIns="0" rIns="0" bIns="0" rtlCol="0" anchor="t">
            <a:normAutofit/>
          </a:bodyPr>
          <a:lstStyle/>
          <a:p>
            <a:pPr algn="l" indent="0" marL="0">
              <a:lnSpc>
                <a:spcPct val="121000"/>
              </a:lnSpc>
              <a:buNone/>
            </a:pPr>
            <a:r>
              <a:rPr lang="en-US" sz="1050" dirty="0">
                <a:solidFill>
                  <a:srgbClr val="3B4E4E"/>
                </a:solidFill>
                <a:latin typeface="Overpass Light" pitchFamily="34" charset="0"/>
                <a:ea typeface="Overpass Light" pitchFamily="34" charset="-122"/>
                <a:cs typeface="Overpass Light" pitchFamily="34" charset="-120"/>
              </a:rPr>
              <a:t>Each principal component is a blend of many original questions. You can no longer say "this axis represents customer satisfaction with delivery speed."</a:t>
            </a:r>
            <a:endParaRPr lang="en-US" sz="1050" dirty="0"/>
          </a:p>
        </p:txBody>
      </p:sp>
      <p:sp>
        <p:nvSpPr>
          <p:cNvPr id="25" name="Text 21"/>
          <p:cNvSpPr/>
          <p:nvPr/>
        </p:nvSpPr>
        <p:spPr>
          <a:xfrm>
            <a:off x="6266103" y="4898919"/>
            <a:ext cx="5270467" cy="209947"/>
          </a:xfrm>
          <a:prstGeom prst="rect">
            <a:avLst/>
          </a:prstGeom>
          <a:noFill/>
          <a:ln/>
        </p:spPr>
        <p:txBody>
          <a:bodyPr wrap="none" lIns="0" tIns="0" rIns="0" bIns="0" rtlCol="0" anchor="t"/>
          <a:lstStyle/>
          <a:p>
            <a:pPr algn="l" indent="0" marL="0">
              <a:lnSpc>
                <a:spcPct val="104000"/>
              </a:lnSpc>
              <a:buNone/>
            </a:pPr>
            <a:r>
              <a:rPr lang="en-US" sz="1300" b="1" dirty="0">
                <a:solidFill>
                  <a:srgbClr val="233939"/>
                </a:solidFill>
                <a:latin typeface="Syne Bold" pitchFamily="34" charset="0"/>
                <a:ea typeface="Syne Bold" pitchFamily="34" charset="-122"/>
                <a:cs typeface="Syne Bold" pitchFamily="34" charset="-120"/>
              </a:rPr>
              <a:t>Real-World Use</a:t>
            </a:r>
            <a:endParaRPr lang="en-US" sz="1300" dirty="0"/>
          </a:p>
        </p:txBody>
      </p:sp>
      <p:sp>
        <p:nvSpPr>
          <p:cNvPr id="26" name="Text 22"/>
          <p:cNvSpPr/>
          <p:nvPr/>
        </p:nvSpPr>
        <p:spPr>
          <a:xfrm>
            <a:off x="6266103" y="5216525"/>
            <a:ext cx="5270467" cy="584299"/>
          </a:xfrm>
          <a:prstGeom prst="rect">
            <a:avLst/>
          </a:prstGeom>
          <a:noFill/>
          <a:ln/>
        </p:spPr>
        <p:txBody>
          <a:bodyPr wrap="square" lIns="0" tIns="0" rIns="0" bIns="0" rtlCol="0" anchor="t">
            <a:normAutofit/>
          </a:bodyPr>
          <a:lstStyle/>
          <a:p>
            <a:pPr algn="l" indent="0" marL="0">
              <a:lnSpc>
                <a:spcPct val="121000"/>
              </a:lnSpc>
              <a:buNone/>
            </a:pPr>
            <a:r>
              <a:rPr lang="en-US" sz="1050" dirty="0">
                <a:solidFill>
                  <a:srgbClr val="3B4E4E"/>
                </a:solidFill>
                <a:latin typeface="Overpass Light" pitchFamily="34" charset="0"/>
                <a:ea typeface="Overpass Light" pitchFamily="34" charset="-122"/>
                <a:cs typeface="Overpass Light" pitchFamily="34" charset="-120"/>
              </a:rPr>
              <a:t>The pioneering "eigenfaces" technique in face recognition research; compressing sensor data in IoT applications; preparing survey and genomic data before running clustering algorithms.</a:t>
            </a:r>
            <a:endParaRPr lang="en-US" sz="10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DE6"/>
        </a:solidFill>
      </p:bgPr>
    </p:bg>
    <p:spTree>
      <p:nvGrpSpPr>
        <p:cNvPr id="1" name=""/>
        <p:cNvGrpSpPr/>
        <p:nvPr/>
      </p:nvGrpSpPr>
      <p:grpSpPr>
        <a:xfrm>
          <a:off x="0" y="0"/>
          <a:ext cx="0" cy="0"/>
          <a:chOff x="0" y="0"/>
          <a:chExt cx="0" cy="0"/>
        </a:xfrm>
      </p:grpSpPr>
      <p:sp>
        <p:nvSpPr>
          <p:cNvPr id="2" name="Shape 0"/>
          <p:cNvSpPr/>
          <p:nvPr/>
        </p:nvSpPr>
        <p:spPr>
          <a:xfrm>
            <a:off x="661475" y="727075"/>
            <a:ext cx="1178491" cy="223838"/>
          </a:xfrm>
          <a:prstGeom prst="roundRect">
            <a:avLst>
              <a:gd name="adj" fmla="val 22111"/>
            </a:avLst>
          </a:prstGeom>
          <a:solidFill>
            <a:srgbClr val="DDEEE6"/>
          </a:solidFill>
          <a:ln/>
        </p:spPr>
      </p:sp>
      <p:sp>
        <p:nvSpPr>
          <p:cNvPr id="3" name="Text 1"/>
          <p:cNvSpPr/>
          <p:nvPr/>
        </p:nvSpPr>
        <p:spPr>
          <a:xfrm>
            <a:off x="749777" y="771227"/>
            <a:ext cx="1611471" cy="135533"/>
          </a:xfrm>
          <a:prstGeom prst="rect">
            <a:avLst/>
          </a:prstGeom>
          <a:noFill/>
          <a:ln/>
        </p:spPr>
        <p:txBody>
          <a:bodyPr wrap="none" lIns="0" tIns="0" rIns="0" bIns="0" rtlCol="0" anchor="t"/>
          <a:lstStyle/>
          <a:p>
            <a:pPr algn="l" indent="0" marL="0">
              <a:lnSpc>
                <a:spcPct val="96000"/>
              </a:lnSpc>
              <a:buNone/>
            </a:pPr>
            <a:r>
              <a:rPr lang="en-US" sz="900" dirty="0">
                <a:solidFill>
                  <a:srgbClr val="3B4E4E"/>
                </a:solidFill>
                <a:latin typeface="Overpass Light" pitchFamily="34" charset="0"/>
                <a:ea typeface="Overpass Light" pitchFamily="34" charset="-122"/>
                <a:cs typeface="Overpass Light" pitchFamily="34" charset="-120"/>
              </a:rPr>
              <a:t>BUSINESS CASE 14</a:t>
            </a:r>
            <a:endParaRPr lang="en-US" sz="900" dirty="0"/>
          </a:p>
        </p:txBody>
      </p:sp>
      <p:sp>
        <p:nvSpPr>
          <p:cNvPr id="4" name="Text 2"/>
          <p:cNvSpPr/>
          <p:nvPr/>
        </p:nvSpPr>
        <p:spPr>
          <a:xfrm>
            <a:off x="661475" y="1008868"/>
            <a:ext cx="10868745" cy="460375"/>
          </a:xfrm>
          <a:prstGeom prst="rect">
            <a:avLst/>
          </a:prstGeom>
          <a:noFill/>
          <a:ln/>
        </p:spPr>
        <p:txBody>
          <a:bodyPr wrap="none" lIns="0" tIns="0" rIns="0" bIns="0" rtlCol="0" anchor="t"/>
          <a:lstStyle/>
          <a:p>
            <a:pPr algn="l" indent="0" marL="0">
              <a:lnSpc>
                <a:spcPct val="104000"/>
              </a:lnSpc>
              <a:buNone/>
            </a:pPr>
            <a:r>
              <a:rPr lang="en-US" sz="2850" b="1" dirty="0">
                <a:solidFill>
                  <a:srgbClr val="233939"/>
                </a:solidFill>
                <a:latin typeface="Syne Bold" pitchFamily="34" charset="0"/>
                <a:ea typeface="Syne Bold" pitchFamily="34" charset="-122"/>
                <a:cs typeface="Syne Bold" pitchFamily="34" charset="-120"/>
              </a:rPr>
              <a:t>How Much Electricity Will the City Need Next Month?</a:t>
            </a:r>
            <a:endParaRPr lang="en-US" sz="2850" dirty="0"/>
          </a:p>
        </p:txBody>
      </p:sp>
      <p:sp>
        <p:nvSpPr>
          <p:cNvPr id="5" name="Text 3"/>
          <p:cNvSpPr/>
          <p:nvPr/>
        </p:nvSpPr>
        <p:spPr>
          <a:xfrm>
            <a:off x="661475" y="1660426"/>
            <a:ext cx="10868745" cy="445691"/>
          </a:xfrm>
          <a:prstGeom prst="rect">
            <a:avLst/>
          </a:prstGeom>
          <a:noFill/>
          <a:ln/>
        </p:spPr>
        <p:txBody>
          <a:bodyPr wrap="square" lIns="0" tIns="0" rIns="0" bIns="0" rtlCol="0" anchor="t">
            <a:normAutofit/>
          </a:bodyPr>
          <a:lstStyle/>
          <a:p>
            <a:pPr algn="l" indent="0" marL="0">
              <a:lnSpc>
                <a:spcPct val="126000"/>
              </a:lnSpc>
              <a:buNone/>
            </a:pPr>
            <a:r>
              <a:rPr lang="en-US" sz="1150" dirty="0">
                <a:solidFill>
                  <a:srgbClr val="3B4E4E"/>
                </a:solidFill>
                <a:latin typeface="Overpass Light" pitchFamily="34" charset="0"/>
                <a:ea typeface="Overpass Light" pitchFamily="34" charset="-122"/>
                <a:cs typeface="Overpass Light" pitchFamily="34" charset="-120"/>
              </a:rPr>
              <a:t>A power company must plan fuel procurement, staffing, and grid capacity weeks in advance. It holds five years of hourly electricity demand data and needs reliable forecasts broken down by time of day, day of week, and season.</a:t>
            </a:r>
            <a:endParaRPr lang="en-US" sz="1150" dirty="0"/>
          </a:p>
        </p:txBody>
      </p:sp>
      <p:sp>
        <p:nvSpPr>
          <p:cNvPr id="6" name="Text 4"/>
          <p:cNvSpPr/>
          <p:nvPr/>
        </p:nvSpPr>
        <p:spPr>
          <a:xfrm>
            <a:off x="661475" y="2387606"/>
            <a:ext cx="5254692" cy="230187"/>
          </a:xfrm>
          <a:prstGeom prst="rect">
            <a:avLst/>
          </a:prstGeom>
          <a:noFill/>
          <a:ln/>
        </p:spPr>
        <p:txBody>
          <a:bodyPr wrap="none" lIns="0" tIns="0" rIns="0" bIns="0" rtlCol="0" anchor="t"/>
          <a:lstStyle/>
          <a:p>
            <a:pPr algn="l" indent="0" marL="0">
              <a:lnSpc>
                <a:spcPct val="104000"/>
              </a:lnSpc>
              <a:buNone/>
            </a:pPr>
            <a:r>
              <a:rPr lang="en-US" sz="1400" b="1" dirty="0">
                <a:solidFill>
                  <a:srgbClr val="233939"/>
                </a:solidFill>
                <a:latin typeface="Syne Bold" pitchFamily="34" charset="0"/>
                <a:ea typeface="Syne Bold" pitchFamily="34" charset="-122"/>
                <a:cs typeface="Syne Bold" pitchFamily="34" charset="-120"/>
              </a:rPr>
              <a:t>Thinking It Through</a:t>
            </a:r>
            <a:endParaRPr lang="en-US" sz="1400" dirty="0"/>
          </a:p>
        </p:txBody>
      </p:sp>
      <p:pic>
        <p:nvPicPr>
          <p:cNvPr id="7"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42425" y="2743498"/>
            <a:ext cx="2564443" cy="1075333"/>
          </a:xfrm>
          <a:prstGeom prst="rect">
            <a:avLst/>
          </a:prstGeom>
        </p:spPr>
      </p:pic>
      <p:sp>
        <p:nvSpPr>
          <p:cNvPr id="8" name="Text 5"/>
          <p:cNvSpPr/>
          <p:nvPr/>
        </p:nvSpPr>
        <p:spPr>
          <a:xfrm>
            <a:off x="846811" y="2762548"/>
            <a:ext cx="2360057" cy="460375"/>
          </a:xfrm>
          <a:prstGeom prst="rect">
            <a:avLst/>
          </a:prstGeom>
          <a:noFill/>
          <a:ln/>
        </p:spPr>
        <p:txBody>
          <a:bodyPr wrap="square" lIns="0" tIns="0" rIns="0" bIns="0" rtlCol="0" anchor="t">
            <a:normAutofit/>
          </a:bodyPr>
          <a:lstStyle/>
          <a:p>
            <a:pPr algn="l" indent="0" marL="0">
              <a:lnSpc>
                <a:spcPct val="104000"/>
              </a:lnSpc>
              <a:buNone/>
            </a:pPr>
            <a:r>
              <a:rPr lang="en-US" sz="1400" b="1" dirty="0">
                <a:solidFill>
                  <a:srgbClr val="3B4E4E"/>
                </a:solidFill>
                <a:latin typeface="Syne Bold" pitchFamily="34" charset="0"/>
                <a:ea typeface="Syne Bold" pitchFamily="34" charset="-122"/>
                <a:cs typeface="Syne Bold" pitchFamily="34" charset="-120"/>
              </a:rPr>
              <a:t>Past data with correct answers?</a:t>
            </a:r>
            <a:endParaRPr lang="en-US" sz="1400" dirty="0"/>
          </a:p>
        </p:txBody>
      </p:sp>
      <p:sp>
        <p:nvSpPr>
          <p:cNvPr id="9" name="Text 6"/>
          <p:cNvSpPr/>
          <p:nvPr/>
        </p:nvSpPr>
        <p:spPr>
          <a:xfrm>
            <a:off x="846811" y="3354090"/>
            <a:ext cx="2360057" cy="445691"/>
          </a:xfrm>
          <a:prstGeom prst="rect">
            <a:avLst/>
          </a:prstGeom>
          <a:noFill/>
          <a:ln/>
        </p:spPr>
        <p:txBody>
          <a:bodyPr wrap="square" lIns="0" tIns="0" rIns="0" bIns="0" rtlCol="0" anchor="t">
            <a:normAutofit/>
          </a:bodyPr>
          <a:lstStyle/>
          <a:p>
            <a:pPr algn="l" indent="0" marL="0">
              <a:lnSpc>
                <a:spcPct val="126000"/>
              </a:lnSpc>
              <a:buNone/>
            </a:pPr>
            <a:r>
              <a:rPr lang="en-US" sz="1150" dirty="0">
                <a:solidFill>
                  <a:srgbClr val="3B4E4E"/>
                </a:solidFill>
                <a:latin typeface="Overpass Light" pitchFamily="34" charset="0"/>
                <a:ea typeface="Overpass Light" pitchFamily="34" charset="-122"/>
                <a:cs typeface="Overpass Light" pitchFamily="34" charset="-120"/>
              </a:rPr>
              <a:t>Yes — five years of actual hourly demand readings.</a:t>
            </a:r>
            <a:endParaRPr lang="en-US" sz="1150" dirty="0"/>
          </a:p>
        </p:txBody>
      </p:sp>
      <p:pic>
        <p:nvPicPr>
          <p:cNvPr id="10"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351724" y="2743498"/>
            <a:ext cx="2564443" cy="1075333"/>
          </a:xfrm>
          <a:prstGeom prst="rect">
            <a:avLst/>
          </a:prstGeom>
        </p:spPr>
      </p:pic>
      <p:sp>
        <p:nvSpPr>
          <p:cNvPr id="11" name="Text 7"/>
          <p:cNvSpPr/>
          <p:nvPr/>
        </p:nvSpPr>
        <p:spPr>
          <a:xfrm>
            <a:off x="3556109" y="2762548"/>
            <a:ext cx="2360057" cy="230187"/>
          </a:xfrm>
          <a:prstGeom prst="rect">
            <a:avLst/>
          </a:prstGeom>
          <a:noFill/>
          <a:ln/>
        </p:spPr>
        <p:txBody>
          <a:bodyPr wrap="none" lIns="0" tIns="0" rIns="0" bIns="0" rtlCol="0" anchor="t"/>
          <a:lstStyle/>
          <a:p>
            <a:pPr algn="l" indent="0" marL="0">
              <a:lnSpc>
                <a:spcPct val="104000"/>
              </a:lnSpc>
              <a:buNone/>
            </a:pPr>
            <a:r>
              <a:rPr lang="en-US" sz="1400" b="1" dirty="0">
                <a:solidFill>
                  <a:srgbClr val="3B4E4E"/>
                </a:solidFill>
                <a:latin typeface="Syne Bold" pitchFamily="34" charset="0"/>
                <a:ea typeface="Syne Bold" pitchFamily="34" charset="-122"/>
                <a:cs typeface="Syne Bold" pitchFamily="34" charset="-120"/>
              </a:rPr>
              <a:t>Number or category?</a:t>
            </a:r>
            <a:endParaRPr lang="en-US" sz="1400" dirty="0"/>
          </a:p>
        </p:txBody>
      </p:sp>
      <p:sp>
        <p:nvSpPr>
          <p:cNvPr id="12" name="Text 8"/>
          <p:cNvSpPr/>
          <p:nvPr/>
        </p:nvSpPr>
        <p:spPr>
          <a:xfrm>
            <a:off x="3556109" y="3123902"/>
            <a:ext cx="2360057" cy="445691"/>
          </a:xfrm>
          <a:prstGeom prst="rect">
            <a:avLst/>
          </a:prstGeom>
          <a:noFill/>
          <a:ln/>
        </p:spPr>
        <p:txBody>
          <a:bodyPr wrap="square" lIns="0" tIns="0" rIns="0" bIns="0" rtlCol="0" anchor="t">
            <a:normAutofit/>
          </a:bodyPr>
          <a:lstStyle/>
          <a:p>
            <a:pPr algn="l" indent="0" marL="0">
              <a:lnSpc>
                <a:spcPct val="126000"/>
              </a:lnSpc>
              <a:buNone/>
            </a:pPr>
            <a:r>
              <a:rPr lang="en-US" sz="1150" dirty="0">
                <a:solidFill>
                  <a:srgbClr val="3B4E4E"/>
                </a:solidFill>
                <a:latin typeface="Overpass Light" pitchFamily="34" charset="0"/>
                <a:ea typeface="Overpass Light" pitchFamily="34" charset="-122"/>
                <a:cs typeface="Overpass Light" pitchFamily="34" charset="-120"/>
              </a:rPr>
              <a:t>A number — megawatts demanded per hour.</a:t>
            </a:r>
            <a:endParaRPr lang="en-US" sz="1150" dirty="0"/>
          </a:p>
        </p:txBody>
      </p:sp>
      <p:pic>
        <p:nvPicPr>
          <p:cNvPr id="13"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42425" y="4043065"/>
            <a:ext cx="2564443" cy="1959372"/>
          </a:xfrm>
          <a:prstGeom prst="rect">
            <a:avLst/>
          </a:prstGeom>
        </p:spPr>
      </p:pic>
      <p:sp>
        <p:nvSpPr>
          <p:cNvPr id="14" name="Text 9"/>
          <p:cNvSpPr/>
          <p:nvPr/>
        </p:nvSpPr>
        <p:spPr>
          <a:xfrm>
            <a:off x="846811" y="4062115"/>
            <a:ext cx="2360057" cy="230187"/>
          </a:xfrm>
          <a:prstGeom prst="rect">
            <a:avLst/>
          </a:prstGeom>
          <a:noFill/>
          <a:ln/>
        </p:spPr>
        <p:txBody>
          <a:bodyPr wrap="none" lIns="0" tIns="0" rIns="0" bIns="0" rtlCol="0" anchor="t"/>
          <a:lstStyle/>
          <a:p>
            <a:pPr algn="l" indent="0" marL="0">
              <a:lnSpc>
                <a:spcPct val="104000"/>
              </a:lnSpc>
              <a:buNone/>
            </a:pPr>
            <a:r>
              <a:rPr lang="en-US" sz="1400" b="1" dirty="0">
                <a:solidFill>
                  <a:srgbClr val="3B4E4E"/>
                </a:solidFill>
                <a:latin typeface="Syne Bold" pitchFamily="34" charset="0"/>
                <a:ea typeface="Syne Bold" pitchFamily="34" charset="-122"/>
                <a:cs typeface="Syne Bold" pitchFamily="34" charset="-120"/>
              </a:rPr>
              <a:t>Critical feature</a:t>
            </a:r>
            <a:endParaRPr lang="en-US" sz="1400" dirty="0"/>
          </a:p>
        </p:txBody>
      </p:sp>
      <p:sp>
        <p:nvSpPr>
          <p:cNvPr id="15" name="Text 10"/>
          <p:cNvSpPr/>
          <p:nvPr/>
        </p:nvSpPr>
        <p:spPr>
          <a:xfrm>
            <a:off x="846811" y="4423470"/>
            <a:ext cx="2360057" cy="1559917"/>
          </a:xfrm>
          <a:prstGeom prst="rect">
            <a:avLst/>
          </a:prstGeom>
          <a:noFill/>
          <a:ln/>
        </p:spPr>
        <p:txBody>
          <a:bodyPr wrap="square" lIns="0" tIns="0" rIns="0" bIns="0" rtlCol="0" anchor="t">
            <a:normAutofit/>
          </a:bodyPr>
          <a:lstStyle/>
          <a:p>
            <a:pPr algn="l" indent="0" marL="0">
              <a:lnSpc>
                <a:spcPct val="126000"/>
              </a:lnSpc>
              <a:buNone/>
            </a:pPr>
            <a:r>
              <a:rPr lang="en-US" sz="1150" dirty="0">
                <a:solidFill>
                  <a:srgbClr val="3B4E4E"/>
                </a:solidFill>
                <a:latin typeface="Overpass Light" pitchFamily="34" charset="0"/>
                <a:ea typeface="Overpass Light" pitchFamily="34" charset="-122"/>
                <a:cs typeface="Overpass Light" pitchFamily="34" charset="-120"/>
              </a:rPr>
              <a:t>The </a:t>
            </a:r>
            <a:pPr algn="l" indent="0" marL="0">
              <a:lnSpc>
                <a:spcPct val="126000"/>
              </a:lnSpc>
              <a:buNone/>
            </a:pPr>
            <a:r>
              <a:rPr lang="en-US" sz="1150" b="1" dirty="0">
                <a:solidFill>
                  <a:srgbClr val="3B4E4E"/>
                </a:solidFill>
                <a:latin typeface="Overpass Bold" pitchFamily="34" charset="0"/>
                <a:ea typeface="Overpass Bold" pitchFamily="34" charset="-122"/>
                <a:cs typeface="Overpass Bold" pitchFamily="34" charset="-120"/>
              </a:rPr>
              <a:t>order of the data matters fundamentally</a:t>
            </a:r>
            <a:pPr algn="l" indent="0" marL="0">
              <a:lnSpc>
                <a:spcPct val="126000"/>
              </a:lnSpc>
              <a:buNone/>
            </a:pPr>
            <a:r>
              <a:rPr lang="en-US" sz="1150" dirty="0">
                <a:solidFill>
                  <a:srgbClr val="3B4E4E"/>
                </a:solidFill>
                <a:latin typeface="Overpass Light" pitchFamily="34" charset="0"/>
                <a:ea typeface="Overpass Light" pitchFamily="34" charset="-122"/>
                <a:cs typeface="Overpass Light" pitchFamily="34" charset="-120"/>
              </a:rPr>
              <a:t>. Demand at 8am on a Monday is not independent of demand at 7am on the same Monday. Standard regression algorithms ignore this time dependency entirely.</a:t>
            </a:r>
            <a:endParaRPr lang="en-US" sz="1150" dirty="0"/>
          </a:p>
        </p:txBody>
      </p:sp>
      <p:pic>
        <p:nvPicPr>
          <p:cNvPr id="16"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3351724" y="4043065"/>
            <a:ext cx="2564443" cy="1959372"/>
          </a:xfrm>
          <a:prstGeom prst="rect">
            <a:avLst/>
          </a:prstGeom>
        </p:spPr>
      </p:pic>
      <p:sp>
        <p:nvSpPr>
          <p:cNvPr id="17" name="Text 11"/>
          <p:cNvSpPr/>
          <p:nvPr/>
        </p:nvSpPr>
        <p:spPr>
          <a:xfrm>
            <a:off x="3556109" y="4062115"/>
            <a:ext cx="2360057" cy="230187"/>
          </a:xfrm>
          <a:prstGeom prst="rect">
            <a:avLst/>
          </a:prstGeom>
          <a:noFill/>
          <a:ln/>
        </p:spPr>
        <p:txBody>
          <a:bodyPr wrap="none" lIns="0" tIns="0" rIns="0" bIns="0" rtlCol="0" anchor="t"/>
          <a:lstStyle/>
          <a:p>
            <a:pPr algn="l" indent="0" marL="0">
              <a:lnSpc>
                <a:spcPct val="104000"/>
              </a:lnSpc>
              <a:buNone/>
            </a:pPr>
            <a:r>
              <a:rPr lang="en-US" sz="1400" b="1" dirty="0">
                <a:solidFill>
                  <a:srgbClr val="3B4E4E"/>
                </a:solidFill>
                <a:latin typeface="Syne Bold" pitchFamily="34" charset="0"/>
                <a:ea typeface="Syne Bold" pitchFamily="34" charset="-122"/>
                <a:cs typeface="Syne Bold" pitchFamily="34" charset="-120"/>
              </a:rPr>
              <a:t>Problem type</a:t>
            </a:r>
            <a:endParaRPr lang="en-US" sz="1400" dirty="0"/>
          </a:p>
        </p:txBody>
      </p:sp>
      <p:sp>
        <p:nvSpPr>
          <p:cNvPr id="18" name="Text 12"/>
          <p:cNvSpPr/>
          <p:nvPr/>
        </p:nvSpPr>
        <p:spPr>
          <a:xfrm>
            <a:off x="3556109" y="4423470"/>
            <a:ext cx="2360057" cy="222845"/>
          </a:xfrm>
          <a:prstGeom prst="rect">
            <a:avLst/>
          </a:prstGeom>
          <a:noFill/>
          <a:ln/>
        </p:spPr>
        <p:txBody>
          <a:bodyPr wrap="none" lIns="0" tIns="0" rIns="0" bIns="0" rtlCol="0" anchor="t"/>
          <a:lstStyle/>
          <a:p>
            <a:pPr algn="l" indent="0" marL="0">
              <a:lnSpc>
                <a:spcPct val="126000"/>
              </a:lnSpc>
              <a:buNone/>
            </a:pPr>
            <a:r>
              <a:rPr lang="en-US" sz="1150" b="1" dirty="0">
                <a:solidFill>
                  <a:srgbClr val="3B4E4E"/>
                </a:solidFill>
                <a:latin typeface="Overpass Bold" pitchFamily="34" charset="0"/>
                <a:ea typeface="Overpass Bold" pitchFamily="34" charset="-122"/>
                <a:cs typeface="Overpass Bold" pitchFamily="34" charset="-120"/>
              </a:rPr>
              <a:t>Time series forecasting.</a:t>
            </a:r>
            <a:endParaRPr lang="en-US" sz="1150" dirty="0"/>
          </a:p>
        </p:txBody>
      </p:sp>
      <p:sp>
        <p:nvSpPr>
          <p:cNvPr id="19" name="Shape 13"/>
          <p:cNvSpPr/>
          <p:nvPr/>
        </p:nvSpPr>
        <p:spPr>
          <a:xfrm>
            <a:off x="6281878" y="2401193"/>
            <a:ext cx="5254692" cy="978297"/>
          </a:xfrm>
          <a:prstGeom prst="roundRect">
            <a:avLst>
              <a:gd name="adj" fmla="val 6324"/>
            </a:avLst>
          </a:prstGeom>
          <a:solidFill>
            <a:srgbClr val="DDEEE6"/>
          </a:solidFill>
          <a:ln/>
        </p:spPr>
      </p:sp>
      <p:pic>
        <p:nvPicPr>
          <p:cNvPr id="20" name="Image 4" descr="preencoded.png">    </p:cNvPr>
          <p:cNvPicPr>
            <a:picLocks noChangeAspect="1"/>
          </p:cNvPicPr>
          <p:nvPr/>
        </p:nvPicPr>
        <p:blipFill>
          <a:blip r:embed="rId9"/>
          <a:stretch>
            <a:fillRect/>
          </a:stretch>
        </p:blipFill>
        <p:spPr>
          <a:xfrm>
            <a:off x="6429115" y="2586335"/>
            <a:ext cx="184046" cy="147241"/>
          </a:xfrm>
          <a:prstGeom prst="rect">
            <a:avLst/>
          </a:prstGeom>
        </p:spPr>
      </p:pic>
      <p:sp>
        <p:nvSpPr>
          <p:cNvPr id="21" name="Text 14"/>
          <p:cNvSpPr/>
          <p:nvPr/>
        </p:nvSpPr>
        <p:spPr>
          <a:xfrm>
            <a:off x="6760398" y="2556073"/>
            <a:ext cx="4628935" cy="668536"/>
          </a:xfrm>
          <a:prstGeom prst="rect">
            <a:avLst/>
          </a:prstGeom>
          <a:noFill/>
          <a:ln/>
        </p:spPr>
        <p:txBody>
          <a:bodyPr wrap="square" lIns="0" tIns="0" rIns="0" bIns="0" rtlCol="0" anchor="t">
            <a:normAutofit/>
          </a:bodyPr>
          <a:lstStyle/>
          <a:p>
            <a:pPr algn="l" indent="0" marL="0">
              <a:lnSpc>
                <a:spcPct val="126000"/>
              </a:lnSpc>
              <a:buNone/>
            </a:pPr>
            <a:r>
              <a:rPr lang="en-US" sz="1150" b="1" dirty="0">
                <a:solidFill>
                  <a:srgbClr val="000000"/>
                </a:solidFill>
                <a:latin typeface="Overpass Bold" pitchFamily="34" charset="0"/>
                <a:ea typeface="Overpass Bold" pitchFamily="34" charset="-122"/>
                <a:cs typeface="Overpass Bold" pitchFamily="34" charset="-120"/>
              </a:rPr>
              <a:t>Class discussion:</a:t>
            </a:r>
            <a:pPr algn="l" indent="0" marL="0">
              <a:lnSpc>
                <a:spcPct val="126000"/>
              </a:lnSpc>
              <a:buNone/>
            </a:pPr>
            <a:r>
              <a:rPr lang="en-US" sz="1150" dirty="0">
                <a:solidFill>
                  <a:srgbClr val="000000"/>
                </a:solidFill>
                <a:latin typeface="Overpass Light" pitchFamily="34" charset="0"/>
                <a:ea typeface="Overpass Light" pitchFamily="34" charset="-122"/>
                <a:cs typeface="Overpass Light" pitchFamily="34" charset="-120"/>
              </a:rPr>
              <a:t> At what time of day is electricity demand highest in your city? In which month? Why do you think those patterns exist? How would a major festival or a cricket match affect demand?</a:t>
            </a:r>
            <a:endParaRPr lang="en-US" sz="1150" dirty="0"/>
          </a:p>
        </p:txBody>
      </p:sp>
      <p:sp>
        <p:nvSpPr>
          <p:cNvPr id="22" name="Text 15"/>
          <p:cNvSpPr/>
          <p:nvPr/>
        </p:nvSpPr>
        <p:spPr>
          <a:xfrm>
            <a:off x="6281878" y="3529812"/>
            <a:ext cx="5254692" cy="230187"/>
          </a:xfrm>
          <a:prstGeom prst="rect">
            <a:avLst/>
          </a:prstGeom>
          <a:noFill/>
          <a:ln/>
        </p:spPr>
        <p:txBody>
          <a:bodyPr wrap="none" lIns="0" tIns="0" rIns="0" bIns="0" rtlCol="0" anchor="t"/>
          <a:lstStyle/>
          <a:p>
            <a:pPr algn="l" indent="0" marL="0">
              <a:lnSpc>
                <a:spcPct val="104000"/>
              </a:lnSpc>
              <a:buNone/>
            </a:pPr>
            <a:r>
              <a:rPr lang="en-US" sz="1400" b="1" dirty="0">
                <a:solidFill>
                  <a:srgbClr val="233939"/>
                </a:solidFill>
                <a:latin typeface="Syne Bold" pitchFamily="34" charset="0"/>
                <a:ea typeface="Syne Bold" pitchFamily="34" charset="-122"/>
                <a:cs typeface="Syne Bold" pitchFamily="34" charset="-120"/>
              </a:rPr>
              <a:t>Algorithm to Start With: ARIMA or Prophet</a:t>
            </a:r>
            <a:endParaRPr lang="en-US" sz="1400" dirty="0"/>
          </a:p>
        </p:txBody>
      </p:sp>
      <p:sp>
        <p:nvSpPr>
          <p:cNvPr id="23" name="Text 16"/>
          <p:cNvSpPr/>
          <p:nvPr/>
        </p:nvSpPr>
        <p:spPr>
          <a:xfrm>
            <a:off x="6281878" y="3888383"/>
            <a:ext cx="5254692" cy="445691"/>
          </a:xfrm>
          <a:prstGeom prst="rect">
            <a:avLst/>
          </a:prstGeom>
          <a:noFill/>
          <a:ln/>
        </p:spPr>
        <p:txBody>
          <a:bodyPr wrap="square" lIns="0" tIns="0" rIns="0" bIns="0" rtlCol="0" anchor="t">
            <a:normAutofit/>
          </a:bodyPr>
          <a:lstStyle/>
          <a:p>
            <a:pPr algn="l" indent="0" marL="0">
              <a:lnSpc>
                <a:spcPct val="126000"/>
              </a:lnSpc>
              <a:buNone/>
            </a:pPr>
            <a:r>
              <a:rPr lang="en-US" sz="1150" dirty="0">
                <a:solidFill>
                  <a:srgbClr val="3B4E4E"/>
                </a:solidFill>
                <a:latin typeface="Overpass Light" pitchFamily="34" charset="0"/>
                <a:ea typeface="Overpass Light" pitchFamily="34" charset="-122"/>
                <a:cs typeface="Overpass Light" pitchFamily="34" charset="-120"/>
              </a:rPr>
              <a:t>Both methods are designed specifically for data where observations are ordered by time and where past values predict future ones.</a:t>
            </a:r>
            <a:endParaRPr lang="en-US" sz="11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DE6"/>
        </a:solidFill>
      </p:bgPr>
    </p:bg>
    <p:spTree>
      <p:nvGrpSpPr>
        <p:cNvPr id="1" name=""/>
        <p:cNvGrpSpPr/>
        <p:nvPr/>
      </p:nvGrpSpPr>
      <p:grpSpPr>
        <a:xfrm>
          <a:off x="0" y="0"/>
          <a:ext cx="0" cy="0"/>
          <a:chOff x="0" y="0"/>
          <a:chExt cx="0" cy="0"/>
        </a:xfrm>
      </p:grpSpPr>
      <p:sp>
        <p:nvSpPr>
          <p:cNvPr id="2" name="Text 0"/>
          <p:cNvSpPr/>
          <p:nvPr/>
        </p:nvSpPr>
        <p:spPr>
          <a:xfrm>
            <a:off x="661475" y="553071"/>
            <a:ext cx="10868745" cy="387648"/>
          </a:xfrm>
          <a:prstGeom prst="rect">
            <a:avLst/>
          </a:prstGeom>
          <a:noFill/>
          <a:ln/>
        </p:spPr>
        <p:txBody>
          <a:bodyPr wrap="none" lIns="0" tIns="0" rIns="0" bIns="0" rtlCol="0" anchor="t"/>
          <a:lstStyle/>
          <a:p>
            <a:pPr algn="l" indent="0" marL="0">
              <a:lnSpc>
                <a:spcPct val="104000"/>
              </a:lnSpc>
              <a:buNone/>
            </a:pPr>
            <a:r>
              <a:rPr lang="en-US" sz="2400" b="1" dirty="0">
                <a:solidFill>
                  <a:srgbClr val="233939"/>
                </a:solidFill>
                <a:latin typeface="Syne Bold" pitchFamily="34" charset="0"/>
                <a:ea typeface="Syne Bold" pitchFamily="34" charset="-122"/>
                <a:cs typeface="Syne Bold" pitchFamily="34" charset="-120"/>
              </a:rPr>
              <a:t>Algorithms: ARIMA and Prophet</a:t>
            </a:r>
            <a:endParaRPr lang="en-US" sz="2400" dirty="0"/>
          </a:p>
        </p:txBody>
      </p:sp>
      <p:sp>
        <p:nvSpPr>
          <p:cNvPr id="3" name="Text 1"/>
          <p:cNvSpPr/>
          <p:nvPr/>
        </p:nvSpPr>
        <p:spPr>
          <a:xfrm>
            <a:off x="661475" y="1122065"/>
            <a:ext cx="10868745" cy="347266"/>
          </a:xfrm>
          <a:prstGeom prst="rect">
            <a:avLst/>
          </a:prstGeom>
          <a:noFill/>
          <a:ln/>
        </p:spPr>
        <p:txBody>
          <a:bodyPr wrap="square" lIns="0" tIns="0" rIns="0" bIns="0" rtlCol="0" anchor="t">
            <a:normAutofit/>
          </a:bodyPr>
          <a:lstStyle/>
          <a:p>
            <a:pPr algn="l" indent="0" marL="0">
              <a:lnSpc>
                <a:spcPct val="117000"/>
              </a:lnSpc>
              <a:buNone/>
            </a:pPr>
            <a:r>
              <a:rPr lang="en-US" sz="950" dirty="0">
                <a:solidFill>
                  <a:srgbClr val="3B4E4E"/>
                </a:solidFill>
                <a:latin typeface="Overpass Light" pitchFamily="34" charset="0"/>
                <a:ea typeface="Overpass Light" pitchFamily="34" charset="-122"/>
                <a:cs typeface="Overpass Light" pitchFamily="34" charset="-120"/>
              </a:rPr>
              <a:t>Both ARIMA and Prophet decompose a time series into meaningful components and forecast by combining those components. They differ in their approach and in how they handle external factors like holidays.</a:t>
            </a:r>
            <a:endParaRPr lang="en-US" sz="950" dirty="0"/>
          </a:p>
        </p:txBody>
      </p:sp>
      <p:sp>
        <p:nvSpPr>
          <p:cNvPr id="4" name="Text 2"/>
          <p:cNvSpPr/>
          <p:nvPr/>
        </p:nvSpPr>
        <p:spPr>
          <a:xfrm>
            <a:off x="661475" y="1669219"/>
            <a:ext cx="5283068" cy="193774"/>
          </a:xfrm>
          <a:prstGeom prst="rect">
            <a:avLst/>
          </a:prstGeom>
          <a:noFill/>
          <a:ln/>
        </p:spPr>
        <p:txBody>
          <a:bodyPr wrap="none" lIns="0" tIns="0" rIns="0" bIns="0" rtlCol="0" anchor="t"/>
          <a:lstStyle/>
          <a:p>
            <a:pPr algn="l" indent="0" marL="0">
              <a:lnSpc>
                <a:spcPct val="104000"/>
              </a:lnSpc>
              <a:buNone/>
            </a:pPr>
            <a:r>
              <a:rPr lang="en-US" sz="1200" b="1" dirty="0">
                <a:solidFill>
                  <a:srgbClr val="233939"/>
                </a:solidFill>
                <a:latin typeface="Syne Bold" pitchFamily="34" charset="0"/>
                <a:ea typeface="Syne Bold" pitchFamily="34" charset="-122"/>
                <a:cs typeface="Syne Bold" pitchFamily="34" charset="-120"/>
              </a:rPr>
              <a:t>The Decomposition Approach</a:t>
            </a:r>
            <a:endParaRPr lang="en-US" sz="1200" dirty="0"/>
          </a:p>
        </p:txBody>
      </p:sp>
      <p:sp>
        <p:nvSpPr>
          <p:cNvPr id="5" name="Shape 3"/>
          <p:cNvSpPr/>
          <p:nvPr/>
        </p:nvSpPr>
        <p:spPr>
          <a:xfrm>
            <a:off x="661475" y="1965226"/>
            <a:ext cx="2595001" cy="1242020"/>
          </a:xfrm>
          <a:prstGeom prst="roundRect">
            <a:avLst>
              <a:gd name="adj" fmla="val 4195"/>
            </a:avLst>
          </a:prstGeom>
          <a:solidFill>
            <a:srgbClr val="DDEEE6"/>
          </a:solidFill>
          <a:ln w="6350">
            <a:solidFill>
              <a:srgbClr val="C3D4CC"/>
            </a:solidFill>
            <a:prstDash val="solid"/>
          </a:ln>
        </p:spPr>
      </p:sp>
      <p:sp>
        <p:nvSpPr>
          <p:cNvPr id="6" name="Text 4"/>
          <p:cNvSpPr/>
          <p:nvPr/>
        </p:nvSpPr>
        <p:spPr>
          <a:xfrm>
            <a:off x="791845" y="2095599"/>
            <a:ext cx="2334261" cy="193774"/>
          </a:xfrm>
          <a:prstGeom prst="rect">
            <a:avLst/>
          </a:prstGeom>
          <a:noFill/>
          <a:ln/>
        </p:spPr>
        <p:txBody>
          <a:bodyPr wrap="none" lIns="0" tIns="0" rIns="0" bIns="0" rtlCol="0" anchor="t"/>
          <a:lstStyle/>
          <a:p>
            <a:pPr algn="l" indent="0" marL="0">
              <a:lnSpc>
                <a:spcPct val="104000"/>
              </a:lnSpc>
              <a:buNone/>
            </a:pPr>
            <a:r>
              <a:rPr lang="en-US" sz="1200" b="1" dirty="0">
                <a:solidFill>
                  <a:srgbClr val="3B4E4E"/>
                </a:solidFill>
                <a:latin typeface="Syne Bold" pitchFamily="34" charset="0"/>
                <a:ea typeface="Syne Bold" pitchFamily="34" charset="-122"/>
                <a:cs typeface="Syne Bold" pitchFamily="34" charset="-120"/>
              </a:rPr>
              <a:t>Trend</a:t>
            </a:r>
            <a:endParaRPr lang="en-US" sz="1200" dirty="0"/>
          </a:p>
        </p:txBody>
      </p:sp>
      <p:sp>
        <p:nvSpPr>
          <p:cNvPr id="7" name="Text 5"/>
          <p:cNvSpPr/>
          <p:nvPr/>
        </p:nvSpPr>
        <p:spPr>
          <a:xfrm>
            <a:off x="791845" y="2382341"/>
            <a:ext cx="2334261" cy="520898"/>
          </a:xfrm>
          <a:prstGeom prst="rect">
            <a:avLst/>
          </a:prstGeom>
          <a:noFill/>
          <a:ln/>
        </p:spPr>
        <p:txBody>
          <a:bodyPr wrap="square" lIns="0" tIns="0" rIns="0" bIns="0" rtlCol="0" anchor="t">
            <a:normAutofit/>
          </a:bodyPr>
          <a:lstStyle/>
          <a:p>
            <a:pPr algn="l" indent="0" marL="0">
              <a:lnSpc>
                <a:spcPct val="117000"/>
              </a:lnSpc>
              <a:buNone/>
            </a:pPr>
            <a:r>
              <a:rPr lang="en-US" sz="950" dirty="0">
                <a:solidFill>
                  <a:srgbClr val="3B4E4E"/>
                </a:solidFill>
                <a:latin typeface="Overpass Light" pitchFamily="34" charset="0"/>
                <a:ea typeface="Overpass Light" pitchFamily="34" charset="-122"/>
                <a:cs typeface="Overpass Light" pitchFamily="34" charset="-120"/>
              </a:rPr>
              <a:t>The long-term direction of the data — is demand growing, shrinking, or flat over years?</a:t>
            </a:r>
            <a:endParaRPr lang="en-US" sz="950" dirty="0"/>
          </a:p>
        </p:txBody>
      </p:sp>
      <p:sp>
        <p:nvSpPr>
          <p:cNvPr id="8" name="Shape 6"/>
          <p:cNvSpPr/>
          <p:nvPr/>
        </p:nvSpPr>
        <p:spPr>
          <a:xfrm>
            <a:off x="3349442" y="1965226"/>
            <a:ext cx="2595101" cy="1242020"/>
          </a:xfrm>
          <a:prstGeom prst="roundRect">
            <a:avLst>
              <a:gd name="adj" fmla="val 4195"/>
            </a:avLst>
          </a:prstGeom>
          <a:solidFill>
            <a:srgbClr val="DDEEE6"/>
          </a:solidFill>
          <a:ln w="6350">
            <a:solidFill>
              <a:srgbClr val="C3D4CC"/>
            </a:solidFill>
            <a:prstDash val="solid"/>
          </a:ln>
        </p:spPr>
      </p:sp>
      <p:sp>
        <p:nvSpPr>
          <p:cNvPr id="9" name="Text 7"/>
          <p:cNvSpPr/>
          <p:nvPr/>
        </p:nvSpPr>
        <p:spPr>
          <a:xfrm>
            <a:off x="3479812" y="2095599"/>
            <a:ext cx="2334360" cy="193774"/>
          </a:xfrm>
          <a:prstGeom prst="rect">
            <a:avLst/>
          </a:prstGeom>
          <a:noFill/>
          <a:ln/>
        </p:spPr>
        <p:txBody>
          <a:bodyPr wrap="none" lIns="0" tIns="0" rIns="0" bIns="0" rtlCol="0" anchor="t"/>
          <a:lstStyle/>
          <a:p>
            <a:pPr algn="l" indent="0" marL="0">
              <a:lnSpc>
                <a:spcPct val="104000"/>
              </a:lnSpc>
              <a:buNone/>
            </a:pPr>
            <a:r>
              <a:rPr lang="en-US" sz="1200" b="1" dirty="0">
                <a:solidFill>
                  <a:srgbClr val="3B4E4E"/>
                </a:solidFill>
                <a:latin typeface="Syne Bold" pitchFamily="34" charset="0"/>
                <a:ea typeface="Syne Bold" pitchFamily="34" charset="-122"/>
                <a:cs typeface="Syne Bold" pitchFamily="34" charset="-120"/>
              </a:rPr>
              <a:t>Seasonality</a:t>
            </a:r>
            <a:endParaRPr lang="en-US" sz="1200" dirty="0"/>
          </a:p>
        </p:txBody>
      </p:sp>
      <p:sp>
        <p:nvSpPr>
          <p:cNvPr id="10" name="Text 8"/>
          <p:cNvSpPr/>
          <p:nvPr/>
        </p:nvSpPr>
        <p:spPr>
          <a:xfrm>
            <a:off x="3479812" y="2382341"/>
            <a:ext cx="2334360" cy="694531"/>
          </a:xfrm>
          <a:prstGeom prst="rect">
            <a:avLst/>
          </a:prstGeom>
          <a:noFill/>
          <a:ln/>
        </p:spPr>
        <p:txBody>
          <a:bodyPr wrap="square" lIns="0" tIns="0" rIns="0" bIns="0" rtlCol="0" anchor="t">
            <a:normAutofit/>
          </a:bodyPr>
          <a:lstStyle/>
          <a:p>
            <a:pPr algn="l" indent="0" marL="0">
              <a:lnSpc>
                <a:spcPct val="117000"/>
              </a:lnSpc>
              <a:buNone/>
            </a:pPr>
            <a:r>
              <a:rPr lang="en-US" sz="950" dirty="0">
                <a:solidFill>
                  <a:srgbClr val="3B4E4E"/>
                </a:solidFill>
                <a:latin typeface="Overpass Light" pitchFamily="34" charset="0"/>
                <a:ea typeface="Overpass Light" pitchFamily="34" charset="-122"/>
                <a:cs typeface="Overpass Light" pitchFamily="34" charset="-120"/>
              </a:rPr>
              <a:t>Patterns that repeat at fixed intervals — daily peaks in morning and evening, weekly troughs at weekends, annual summer and winter surges.</a:t>
            </a:r>
            <a:endParaRPr lang="en-US" sz="950" dirty="0"/>
          </a:p>
        </p:txBody>
      </p:sp>
      <p:sp>
        <p:nvSpPr>
          <p:cNvPr id="11" name="Shape 9"/>
          <p:cNvSpPr/>
          <p:nvPr/>
        </p:nvSpPr>
        <p:spPr>
          <a:xfrm>
            <a:off x="661475" y="3300214"/>
            <a:ext cx="5283068" cy="721122"/>
          </a:xfrm>
          <a:prstGeom prst="roundRect">
            <a:avLst>
              <a:gd name="adj" fmla="val 7225"/>
            </a:avLst>
          </a:prstGeom>
          <a:solidFill>
            <a:srgbClr val="DDEEE6"/>
          </a:solidFill>
          <a:ln w="6350">
            <a:solidFill>
              <a:srgbClr val="C3D4CC"/>
            </a:solidFill>
            <a:prstDash val="solid"/>
          </a:ln>
        </p:spPr>
      </p:sp>
      <p:sp>
        <p:nvSpPr>
          <p:cNvPr id="12" name="Text 10"/>
          <p:cNvSpPr/>
          <p:nvPr/>
        </p:nvSpPr>
        <p:spPr>
          <a:xfrm>
            <a:off x="791845" y="3430587"/>
            <a:ext cx="5022327" cy="193774"/>
          </a:xfrm>
          <a:prstGeom prst="rect">
            <a:avLst/>
          </a:prstGeom>
          <a:noFill/>
          <a:ln/>
        </p:spPr>
        <p:txBody>
          <a:bodyPr wrap="none" lIns="0" tIns="0" rIns="0" bIns="0" rtlCol="0" anchor="t"/>
          <a:lstStyle/>
          <a:p>
            <a:pPr algn="l" indent="0" marL="0">
              <a:lnSpc>
                <a:spcPct val="104000"/>
              </a:lnSpc>
              <a:buNone/>
            </a:pPr>
            <a:r>
              <a:rPr lang="en-US" sz="1200" b="1" dirty="0">
                <a:solidFill>
                  <a:srgbClr val="3B4E4E"/>
                </a:solidFill>
                <a:latin typeface="Syne Bold" pitchFamily="34" charset="0"/>
                <a:ea typeface="Syne Bold" pitchFamily="34" charset="-122"/>
                <a:cs typeface="Syne Bold" pitchFamily="34" charset="-120"/>
              </a:rPr>
              <a:t>Remainder</a:t>
            </a:r>
            <a:endParaRPr lang="en-US" sz="1200" dirty="0"/>
          </a:p>
        </p:txBody>
      </p:sp>
      <p:sp>
        <p:nvSpPr>
          <p:cNvPr id="13" name="Text 11"/>
          <p:cNvSpPr/>
          <p:nvPr/>
        </p:nvSpPr>
        <p:spPr>
          <a:xfrm>
            <a:off x="791845" y="3717330"/>
            <a:ext cx="5022327" cy="173633"/>
          </a:xfrm>
          <a:prstGeom prst="rect">
            <a:avLst/>
          </a:prstGeom>
          <a:noFill/>
          <a:ln/>
        </p:spPr>
        <p:txBody>
          <a:bodyPr wrap="none" lIns="0" tIns="0" rIns="0" bIns="0" rtlCol="0" anchor="t"/>
          <a:lstStyle/>
          <a:p>
            <a:pPr algn="l" indent="0" marL="0">
              <a:lnSpc>
                <a:spcPct val="117000"/>
              </a:lnSpc>
              <a:buNone/>
            </a:pPr>
            <a:r>
              <a:rPr lang="en-US" sz="950" dirty="0">
                <a:solidFill>
                  <a:srgbClr val="3B4E4E"/>
                </a:solidFill>
                <a:latin typeface="Overpass Light" pitchFamily="34" charset="0"/>
                <a:ea typeface="Overpass Light" pitchFamily="34" charset="-122"/>
                <a:cs typeface="Overpass Light" pitchFamily="34" charset="-120"/>
              </a:rPr>
              <a:t>What is left after removing trend and seasonality — random noise and one-off events.</a:t>
            </a:r>
            <a:endParaRPr lang="en-US" sz="950" dirty="0"/>
          </a:p>
        </p:txBody>
      </p:sp>
      <p:sp>
        <p:nvSpPr>
          <p:cNvPr id="14" name="Text 12"/>
          <p:cNvSpPr/>
          <p:nvPr/>
        </p:nvSpPr>
        <p:spPr>
          <a:xfrm>
            <a:off x="661475" y="4128257"/>
            <a:ext cx="5283068" cy="193774"/>
          </a:xfrm>
          <a:prstGeom prst="rect">
            <a:avLst/>
          </a:prstGeom>
          <a:noFill/>
          <a:ln/>
        </p:spPr>
        <p:txBody>
          <a:bodyPr wrap="none" lIns="0" tIns="0" rIns="0" bIns="0" rtlCol="0" anchor="t"/>
          <a:lstStyle/>
          <a:p>
            <a:pPr algn="l" indent="0" marL="0">
              <a:lnSpc>
                <a:spcPct val="104000"/>
              </a:lnSpc>
              <a:buNone/>
            </a:pPr>
            <a:r>
              <a:rPr lang="en-US" sz="1200" b="1" dirty="0">
                <a:solidFill>
                  <a:srgbClr val="233939"/>
                </a:solidFill>
                <a:latin typeface="Syne Bold" pitchFamily="34" charset="0"/>
                <a:ea typeface="Syne Bold" pitchFamily="34" charset="-122"/>
                <a:cs typeface="Syne Bold" pitchFamily="34" charset="-120"/>
              </a:rPr>
              <a:t>ARIMA</a:t>
            </a:r>
            <a:endParaRPr lang="en-US" sz="1200" dirty="0"/>
          </a:p>
        </p:txBody>
      </p:sp>
      <p:sp>
        <p:nvSpPr>
          <p:cNvPr id="15" name="Text 13"/>
          <p:cNvSpPr/>
          <p:nvPr/>
        </p:nvSpPr>
        <p:spPr>
          <a:xfrm>
            <a:off x="661475" y="4412655"/>
            <a:ext cx="5283068" cy="520898"/>
          </a:xfrm>
          <a:prstGeom prst="rect">
            <a:avLst/>
          </a:prstGeom>
          <a:noFill/>
          <a:ln/>
        </p:spPr>
        <p:txBody>
          <a:bodyPr wrap="square" lIns="0" tIns="0" rIns="0" bIns="0" rtlCol="0" anchor="t">
            <a:normAutofit/>
          </a:bodyPr>
          <a:lstStyle/>
          <a:p>
            <a:pPr algn="l" indent="0" marL="0">
              <a:lnSpc>
                <a:spcPct val="117000"/>
              </a:lnSpc>
              <a:buNone/>
            </a:pPr>
            <a:r>
              <a:rPr lang="en-US" sz="950" dirty="0">
                <a:solidFill>
                  <a:srgbClr val="3B4E4E"/>
                </a:solidFill>
                <a:latin typeface="Overpass Light" pitchFamily="34" charset="0"/>
                <a:ea typeface="Overpass Light" pitchFamily="34" charset="-122"/>
                <a:cs typeface="Overpass Light" pitchFamily="34" charset="-120"/>
              </a:rPr>
              <a:t>Predicts the next value from a weighted combination of recent past values and recent prediction errors. Requires the analyst to choose parameters (p, d, q) that control how far back to look. Best for data with a single, well-defined seasonal pattern.</a:t>
            </a:r>
            <a:endParaRPr lang="en-US" sz="950" dirty="0"/>
          </a:p>
        </p:txBody>
      </p:sp>
      <p:sp>
        <p:nvSpPr>
          <p:cNvPr id="16" name="Text 14"/>
          <p:cNvSpPr/>
          <p:nvPr/>
        </p:nvSpPr>
        <p:spPr>
          <a:xfrm>
            <a:off x="6253502" y="1669219"/>
            <a:ext cx="5283068" cy="193774"/>
          </a:xfrm>
          <a:prstGeom prst="rect">
            <a:avLst/>
          </a:prstGeom>
          <a:noFill/>
          <a:ln/>
        </p:spPr>
        <p:txBody>
          <a:bodyPr wrap="none" lIns="0" tIns="0" rIns="0" bIns="0" rtlCol="0" anchor="t"/>
          <a:lstStyle/>
          <a:p>
            <a:pPr algn="l" indent="0" marL="0">
              <a:lnSpc>
                <a:spcPct val="104000"/>
              </a:lnSpc>
              <a:buNone/>
            </a:pPr>
            <a:r>
              <a:rPr lang="en-US" sz="1200" b="1" dirty="0">
                <a:solidFill>
                  <a:srgbClr val="233939"/>
                </a:solidFill>
                <a:latin typeface="Syne Bold" pitchFamily="34" charset="0"/>
                <a:ea typeface="Syne Bold" pitchFamily="34" charset="-122"/>
                <a:cs typeface="Syne Bold" pitchFamily="34" charset="-120"/>
              </a:rPr>
              <a:t>Prophet</a:t>
            </a:r>
            <a:endParaRPr lang="en-US" sz="1200" dirty="0"/>
          </a:p>
        </p:txBody>
      </p:sp>
      <p:sp>
        <p:nvSpPr>
          <p:cNvPr id="17" name="Text 15"/>
          <p:cNvSpPr/>
          <p:nvPr/>
        </p:nvSpPr>
        <p:spPr>
          <a:xfrm>
            <a:off x="6253502" y="1953617"/>
            <a:ext cx="5283068" cy="694531"/>
          </a:xfrm>
          <a:prstGeom prst="rect">
            <a:avLst/>
          </a:prstGeom>
          <a:noFill/>
          <a:ln/>
        </p:spPr>
        <p:txBody>
          <a:bodyPr wrap="square" lIns="0" tIns="0" rIns="0" bIns="0" rtlCol="0" anchor="t">
            <a:normAutofit/>
          </a:bodyPr>
          <a:lstStyle/>
          <a:p>
            <a:pPr algn="l" indent="0" marL="0">
              <a:lnSpc>
                <a:spcPct val="117000"/>
              </a:lnSpc>
              <a:buNone/>
            </a:pPr>
            <a:r>
              <a:rPr lang="en-US" sz="950" dirty="0">
                <a:solidFill>
                  <a:srgbClr val="3B4E4E"/>
                </a:solidFill>
                <a:latin typeface="Overpass Light" pitchFamily="34" charset="0"/>
                <a:ea typeface="Overpass Light" pitchFamily="34" charset="-122"/>
                <a:cs typeface="Overpass Light" pitchFamily="34" charset="-120"/>
              </a:rPr>
              <a:t>Developed at </a:t>
            </a:r>
            <a:pPr algn="l" indent="0" marL="0">
              <a:lnSpc>
                <a:spcPct val="117000"/>
              </a:lnSpc>
              <a:buNone/>
            </a:pPr>
            <a:r>
              <a:rPr lang="en-US" sz="950" b="1" dirty="0">
                <a:solidFill>
                  <a:srgbClr val="3B4E4E"/>
                </a:solidFill>
                <a:latin typeface="Overpass Bold" pitchFamily="34" charset="0"/>
                <a:ea typeface="Overpass Bold" pitchFamily="34" charset="-122"/>
                <a:cs typeface="Overpass Bold" pitchFamily="34" charset="-120"/>
              </a:rPr>
              <a:t>Meta (Facebook)</a:t>
            </a:r>
            <a:pPr algn="l" indent="0" marL="0">
              <a:lnSpc>
                <a:spcPct val="117000"/>
              </a:lnSpc>
              <a:buNone/>
            </a:pPr>
            <a:r>
              <a:rPr lang="en-US" sz="950" dirty="0">
                <a:solidFill>
                  <a:srgbClr val="3B4E4E"/>
                </a:solidFill>
                <a:latin typeface="Overpass Light" pitchFamily="34" charset="0"/>
                <a:ea typeface="Overpass Light" pitchFamily="34" charset="-122"/>
                <a:cs typeface="Overpass Light" pitchFamily="34" charset="-120"/>
              </a:rPr>
              <a:t> for their own internal forecasting and released publicly in 2017. Prophet fits trend, seasonality (multiple levels simultaneously — daily, weekly, yearly), and user-supplied holiday effects as separate components and adds them together. It is far easier to configure than ARIMA and handles missing data and outliers gracefully.</a:t>
            </a:r>
            <a:endParaRPr lang="en-US" sz="950" dirty="0"/>
          </a:p>
        </p:txBody>
      </p:sp>
      <p:pic>
        <p:nvPicPr>
          <p:cNvPr id="18"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253502" y="2752725"/>
            <a:ext cx="5283068" cy="907455"/>
          </a:xfrm>
          <a:prstGeom prst="rect">
            <a:avLst/>
          </a:prstGeom>
        </p:spPr>
      </p:pic>
      <p:sp>
        <p:nvSpPr>
          <p:cNvPr id="19" name="Text 16"/>
          <p:cNvSpPr/>
          <p:nvPr/>
        </p:nvSpPr>
        <p:spPr>
          <a:xfrm>
            <a:off x="6441021" y="2889448"/>
            <a:ext cx="4958829" cy="193774"/>
          </a:xfrm>
          <a:prstGeom prst="rect">
            <a:avLst/>
          </a:prstGeom>
          <a:noFill/>
          <a:ln/>
        </p:spPr>
        <p:txBody>
          <a:bodyPr wrap="none" lIns="0" tIns="0" rIns="0" bIns="0" rtlCol="0" anchor="t"/>
          <a:lstStyle/>
          <a:p>
            <a:pPr algn="l" indent="0" marL="0">
              <a:lnSpc>
                <a:spcPct val="104000"/>
              </a:lnSpc>
              <a:buNone/>
            </a:pPr>
            <a:r>
              <a:rPr lang="en-US" sz="1200" b="1" dirty="0">
                <a:solidFill>
                  <a:srgbClr val="3B4E4E"/>
                </a:solidFill>
                <a:latin typeface="Syne Bold" pitchFamily="34" charset="0"/>
                <a:ea typeface="Syne Bold" pitchFamily="34" charset="-122"/>
                <a:cs typeface="Syne Bold" pitchFamily="34" charset="-120"/>
              </a:rPr>
              <a:t>✓ Needs Only Dates and Values</a:t>
            </a:r>
            <a:endParaRPr lang="en-US" sz="1200" dirty="0"/>
          </a:p>
        </p:txBody>
      </p:sp>
      <p:sp>
        <p:nvSpPr>
          <p:cNvPr id="20" name="Text 17"/>
          <p:cNvSpPr/>
          <p:nvPr/>
        </p:nvSpPr>
        <p:spPr>
          <a:xfrm>
            <a:off x="6441021" y="3176191"/>
            <a:ext cx="4958829" cy="347266"/>
          </a:xfrm>
          <a:prstGeom prst="rect">
            <a:avLst/>
          </a:prstGeom>
          <a:noFill/>
          <a:ln/>
        </p:spPr>
        <p:txBody>
          <a:bodyPr wrap="square" lIns="0" tIns="0" rIns="0" bIns="0" rtlCol="0" anchor="t">
            <a:normAutofit/>
          </a:bodyPr>
          <a:lstStyle/>
          <a:p>
            <a:pPr algn="l" indent="0" marL="0">
              <a:lnSpc>
                <a:spcPct val="117000"/>
              </a:lnSpc>
              <a:buNone/>
            </a:pPr>
            <a:r>
              <a:rPr lang="en-US" sz="950" dirty="0">
                <a:solidFill>
                  <a:srgbClr val="3B4E4E"/>
                </a:solidFill>
                <a:latin typeface="Overpass Light" pitchFamily="34" charset="0"/>
                <a:ea typeface="Overpass Light" pitchFamily="34" charset="-122"/>
                <a:cs typeface="Overpass Light" pitchFamily="34" charset="-120"/>
              </a:rPr>
              <a:t>No feature engineering required. You supply timestamps and measurements; the algorithm handles the rest.</a:t>
            </a:r>
            <a:endParaRPr lang="en-US" sz="950" dirty="0"/>
          </a:p>
        </p:txBody>
      </p:sp>
      <p:pic>
        <p:nvPicPr>
          <p:cNvPr id="21"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253502" y="3753148"/>
            <a:ext cx="5283068" cy="907455"/>
          </a:xfrm>
          <a:prstGeom prst="rect">
            <a:avLst/>
          </a:prstGeom>
        </p:spPr>
      </p:pic>
      <p:sp>
        <p:nvSpPr>
          <p:cNvPr id="22" name="Text 18"/>
          <p:cNvSpPr/>
          <p:nvPr/>
        </p:nvSpPr>
        <p:spPr>
          <a:xfrm>
            <a:off x="6441021" y="3889871"/>
            <a:ext cx="4958829" cy="193774"/>
          </a:xfrm>
          <a:prstGeom prst="rect">
            <a:avLst/>
          </a:prstGeom>
          <a:noFill/>
          <a:ln/>
        </p:spPr>
        <p:txBody>
          <a:bodyPr wrap="none" lIns="0" tIns="0" rIns="0" bIns="0" rtlCol="0" anchor="t"/>
          <a:lstStyle/>
          <a:p>
            <a:pPr algn="l" indent="0" marL="0">
              <a:lnSpc>
                <a:spcPct val="104000"/>
              </a:lnSpc>
              <a:buNone/>
            </a:pPr>
            <a:r>
              <a:rPr lang="en-US" sz="1200" b="1" dirty="0">
                <a:solidFill>
                  <a:srgbClr val="3B4E4E"/>
                </a:solidFill>
                <a:latin typeface="Syne Bold" pitchFamily="34" charset="0"/>
                <a:ea typeface="Syne Bold" pitchFamily="34" charset="-122"/>
                <a:cs typeface="Syne Bold" pitchFamily="34" charset="-120"/>
              </a:rPr>
              <a:t>✓ Outputs Uncertainty Ranges</a:t>
            </a:r>
            <a:endParaRPr lang="en-US" sz="1200" dirty="0"/>
          </a:p>
        </p:txBody>
      </p:sp>
      <p:sp>
        <p:nvSpPr>
          <p:cNvPr id="23" name="Text 19"/>
          <p:cNvSpPr/>
          <p:nvPr/>
        </p:nvSpPr>
        <p:spPr>
          <a:xfrm>
            <a:off x="6441021" y="4176613"/>
            <a:ext cx="4958829" cy="347266"/>
          </a:xfrm>
          <a:prstGeom prst="rect">
            <a:avLst/>
          </a:prstGeom>
          <a:noFill/>
          <a:ln/>
        </p:spPr>
        <p:txBody>
          <a:bodyPr wrap="square" lIns="0" tIns="0" rIns="0" bIns="0" rtlCol="0" anchor="t">
            <a:normAutofit/>
          </a:bodyPr>
          <a:lstStyle/>
          <a:p>
            <a:pPr algn="l" indent="0" marL="0">
              <a:lnSpc>
                <a:spcPct val="117000"/>
              </a:lnSpc>
              <a:buNone/>
            </a:pPr>
            <a:r>
              <a:rPr lang="en-US" sz="950" dirty="0">
                <a:solidFill>
                  <a:srgbClr val="3B4E4E"/>
                </a:solidFill>
                <a:latin typeface="Overpass Light" pitchFamily="34" charset="0"/>
                <a:ea typeface="Overpass Light" pitchFamily="34" charset="-122"/>
                <a:cs typeface="Overpass Light" pitchFamily="34" charset="-120"/>
              </a:rPr>
              <a:t>Each forecast comes with upper and lower bounds — valuable for planning decisions that involve risk.</a:t>
            </a:r>
            <a:endParaRPr lang="en-US" sz="950" dirty="0"/>
          </a:p>
        </p:txBody>
      </p:sp>
      <p:pic>
        <p:nvPicPr>
          <p:cNvPr id="24"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253502" y="4753570"/>
            <a:ext cx="5283068" cy="907455"/>
          </a:xfrm>
          <a:prstGeom prst="rect">
            <a:avLst/>
          </a:prstGeom>
        </p:spPr>
      </p:pic>
      <p:sp>
        <p:nvSpPr>
          <p:cNvPr id="25" name="Text 20"/>
          <p:cNvSpPr/>
          <p:nvPr/>
        </p:nvSpPr>
        <p:spPr>
          <a:xfrm>
            <a:off x="6441021" y="4890294"/>
            <a:ext cx="4958829" cy="193774"/>
          </a:xfrm>
          <a:prstGeom prst="rect">
            <a:avLst/>
          </a:prstGeom>
          <a:noFill/>
          <a:ln/>
        </p:spPr>
        <p:txBody>
          <a:bodyPr wrap="none" lIns="0" tIns="0" rIns="0" bIns="0" rtlCol="0" anchor="t"/>
          <a:lstStyle/>
          <a:p>
            <a:pPr algn="l" indent="0" marL="0">
              <a:lnSpc>
                <a:spcPct val="104000"/>
              </a:lnSpc>
              <a:buNone/>
            </a:pPr>
            <a:r>
              <a:rPr lang="en-US" sz="1200" b="1" dirty="0">
                <a:solidFill>
                  <a:srgbClr val="3B4E4E"/>
                </a:solidFill>
                <a:latin typeface="Syne Bold" pitchFamily="34" charset="0"/>
                <a:ea typeface="Syne Bold" pitchFamily="34" charset="-122"/>
                <a:cs typeface="Syne Bold" pitchFamily="34" charset="-120"/>
              </a:rPr>
              <a:t>✗ Cannot Foresee Surprises</a:t>
            </a:r>
            <a:endParaRPr lang="en-US" sz="1200" dirty="0"/>
          </a:p>
        </p:txBody>
      </p:sp>
      <p:sp>
        <p:nvSpPr>
          <p:cNvPr id="26" name="Text 21"/>
          <p:cNvSpPr/>
          <p:nvPr/>
        </p:nvSpPr>
        <p:spPr>
          <a:xfrm>
            <a:off x="6441021" y="5177036"/>
            <a:ext cx="4958829" cy="347266"/>
          </a:xfrm>
          <a:prstGeom prst="rect">
            <a:avLst/>
          </a:prstGeom>
          <a:noFill/>
          <a:ln/>
        </p:spPr>
        <p:txBody>
          <a:bodyPr wrap="square" lIns="0" tIns="0" rIns="0" bIns="0" rtlCol="0" anchor="t">
            <a:normAutofit/>
          </a:bodyPr>
          <a:lstStyle/>
          <a:p>
            <a:pPr algn="l" indent="0" marL="0">
              <a:lnSpc>
                <a:spcPct val="117000"/>
              </a:lnSpc>
              <a:buNone/>
            </a:pPr>
            <a:r>
              <a:rPr lang="en-US" sz="950" dirty="0">
                <a:solidFill>
                  <a:srgbClr val="3B4E4E"/>
                </a:solidFill>
                <a:latin typeface="Overpass Light" pitchFamily="34" charset="0"/>
                <a:ea typeface="Overpass Light" pitchFamily="34" charset="-122"/>
                <a:cs typeface="Overpass Light" pitchFamily="34" charset="-120"/>
              </a:rPr>
              <a:t>A lockdown, a sudden heatwave, or a major policy change will not be forecast correctly unless supplied as an external feature.</a:t>
            </a:r>
            <a:endParaRPr lang="en-US" sz="950" dirty="0"/>
          </a:p>
        </p:txBody>
      </p:sp>
      <p:sp>
        <p:nvSpPr>
          <p:cNvPr id="27" name="Text 22"/>
          <p:cNvSpPr/>
          <p:nvPr/>
        </p:nvSpPr>
        <p:spPr>
          <a:xfrm>
            <a:off x="6253502" y="5767946"/>
            <a:ext cx="5283068" cy="193774"/>
          </a:xfrm>
          <a:prstGeom prst="rect">
            <a:avLst/>
          </a:prstGeom>
          <a:noFill/>
          <a:ln/>
        </p:spPr>
        <p:txBody>
          <a:bodyPr wrap="none" lIns="0" tIns="0" rIns="0" bIns="0" rtlCol="0" anchor="t"/>
          <a:lstStyle/>
          <a:p>
            <a:pPr algn="l" indent="0" marL="0">
              <a:lnSpc>
                <a:spcPct val="104000"/>
              </a:lnSpc>
              <a:buNone/>
            </a:pPr>
            <a:r>
              <a:rPr lang="en-US" sz="1200" b="1" dirty="0">
                <a:solidFill>
                  <a:srgbClr val="233939"/>
                </a:solidFill>
                <a:latin typeface="Syne Bold" pitchFamily="34" charset="0"/>
                <a:ea typeface="Syne Bold" pitchFamily="34" charset="-122"/>
                <a:cs typeface="Syne Bold" pitchFamily="34" charset="-120"/>
              </a:rPr>
              <a:t>Real-World Use</a:t>
            </a:r>
            <a:endParaRPr lang="en-US" sz="1200" dirty="0"/>
          </a:p>
        </p:txBody>
      </p:sp>
      <p:sp>
        <p:nvSpPr>
          <p:cNvPr id="28" name="Text 23"/>
          <p:cNvSpPr/>
          <p:nvPr/>
        </p:nvSpPr>
        <p:spPr>
          <a:xfrm>
            <a:off x="6253502" y="6052344"/>
            <a:ext cx="5892653" cy="173633"/>
          </a:xfrm>
          <a:prstGeom prst="rect">
            <a:avLst/>
          </a:prstGeom>
          <a:noFill/>
          <a:ln/>
        </p:spPr>
        <p:txBody>
          <a:bodyPr wrap="none" lIns="0" tIns="0" rIns="0" bIns="0" rtlCol="0" anchor="t"/>
          <a:lstStyle/>
          <a:p>
            <a:pPr algn="l" indent="0" marL="0">
              <a:lnSpc>
                <a:spcPct val="117000"/>
              </a:lnSpc>
              <a:buNone/>
            </a:pPr>
            <a:r>
              <a:rPr lang="en-US" sz="950" dirty="0">
                <a:solidFill>
                  <a:srgbClr val="3B4E4E"/>
                </a:solidFill>
                <a:latin typeface="Overpass Light" pitchFamily="34" charset="0"/>
                <a:ea typeface="Overpass Light" pitchFamily="34" charset="-122"/>
                <a:cs typeface="Overpass Light" pitchFamily="34" charset="-120"/>
              </a:rPr>
              <a:t>Energy demand forecasting; call-centre and hospital staffing; retail sales and inventory planning.</a:t>
            </a:r>
            <a:endParaRPr lang="en-US" sz="9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DE6"/>
        </a:solidFill>
      </p:bgPr>
    </p:bg>
    <p:spTree>
      <p:nvGrpSpPr>
        <p:cNvPr id="1" name=""/>
        <p:cNvGrpSpPr/>
        <p:nvPr/>
      </p:nvGrpSpPr>
      <p:grpSpPr>
        <a:xfrm>
          <a:off x="0" y="0"/>
          <a:ext cx="0" cy="0"/>
          <a:chOff x="0" y="0"/>
          <a:chExt cx="0" cy="0"/>
        </a:xfrm>
      </p:grpSpPr>
      <p:sp>
        <p:nvSpPr>
          <p:cNvPr id="2" name="Shape 0"/>
          <p:cNvSpPr/>
          <p:nvPr/>
        </p:nvSpPr>
        <p:spPr>
          <a:xfrm>
            <a:off x="661475" y="454819"/>
            <a:ext cx="725271" cy="137319"/>
          </a:xfrm>
          <a:prstGeom prst="roundRect">
            <a:avLst>
              <a:gd name="adj" fmla="val 22131"/>
            </a:avLst>
          </a:prstGeom>
          <a:solidFill>
            <a:srgbClr val="DDEEE6"/>
          </a:solidFill>
          <a:ln/>
        </p:spPr>
      </p:sp>
      <p:sp>
        <p:nvSpPr>
          <p:cNvPr id="3" name="Text 1"/>
          <p:cNvSpPr/>
          <p:nvPr/>
        </p:nvSpPr>
        <p:spPr>
          <a:xfrm>
            <a:off x="715647" y="481905"/>
            <a:ext cx="1226512" cy="83145"/>
          </a:xfrm>
          <a:prstGeom prst="rect">
            <a:avLst/>
          </a:prstGeom>
          <a:noFill/>
          <a:ln/>
        </p:spPr>
        <p:txBody>
          <a:bodyPr wrap="none" lIns="0" tIns="0" rIns="0" bIns="0" rtlCol="0" anchor="t"/>
          <a:lstStyle/>
          <a:p>
            <a:pPr algn="l" indent="0" marL="0">
              <a:lnSpc>
                <a:spcPct val="96000"/>
              </a:lnSpc>
              <a:buNone/>
            </a:pPr>
            <a:r>
              <a:rPr lang="en-US" sz="550" dirty="0">
                <a:solidFill>
                  <a:srgbClr val="3B4E4E"/>
                </a:solidFill>
                <a:latin typeface="Overpass Light" pitchFamily="34" charset="0"/>
                <a:ea typeface="Overpass Light" pitchFamily="34" charset="-122"/>
                <a:cs typeface="Overpass Light" pitchFamily="34" charset="-120"/>
              </a:rPr>
              <a:t>BUSINESS CASE 15</a:t>
            </a:r>
            <a:endParaRPr lang="en-US" sz="550" dirty="0"/>
          </a:p>
        </p:txBody>
      </p:sp>
      <p:sp>
        <p:nvSpPr>
          <p:cNvPr id="4" name="Text 2"/>
          <p:cNvSpPr/>
          <p:nvPr/>
        </p:nvSpPr>
        <p:spPr>
          <a:xfrm>
            <a:off x="661475" y="614242"/>
            <a:ext cx="10868745" cy="282575"/>
          </a:xfrm>
          <a:prstGeom prst="rect">
            <a:avLst/>
          </a:prstGeom>
          <a:noFill/>
          <a:ln/>
        </p:spPr>
        <p:txBody>
          <a:bodyPr wrap="none" lIns="0" tIns="0" rIns="0" bIns="0" rtlCol="0" anchor="t"/>
          <a:lstStyle/>
          <a:p>
            <a:pPr algn="l" indent="0" marL="0">
              <a:lnSpc>
                <a:spcPct val="104000"/>
              </a:lnSpc>
              <a:buNone/>
            </a:pPr>
            <a:r>
              <a:rPr lang="en-US" sz="1750" b="1" dirty="0">
                <a:solidFill>
                  <a:srgbClr val="233939"/>
                </a:solidFill>
                <a:latin typeface="Syne Bold" pitchFamily="34" charset="0"/>
                <a:ea typeface="Syne Bold" pitchFamily="34" charset="-122"/>
                <a:cs typeface="Syne Bold" pitchFamily="34" charset="-120"/>
              </a:rPr>
              <a:t>What Should We Suggest to This User?</a:t>
            </a:r>
            <a:endParaRPr lang="en-US" sz="1750" dirty="0"/>
          </a:p>
        </p:txBody>
      </p:sp>
      <p:pic>
        <p:nvPicPr>
          <p:cNvPr id="5" name="Image 0" descr="preencoded.png">    </p:cNvPr>
          <p:cNvPicPr>
            <a:picLocks noChangeAspect="1"/>
          </p:cNvPicPr>
          <p:nvPr/>
        </p:nvPicPr>
        <p:blipFill>
          <a:blip r:embed="rId1"/>
          <a:stretch>
            <a:fillRect/>
          </a:stretch>
        </p:blipFill>
        <p:spPr>
          <a:xfrm>
            <a:off x="661475" y="1024136"/>
            <a:ext cx="5324044" cy="5324177"/>
          </a:xfrm>
          <a:prstGeom prst="rect">
            <a:avLst/>
          </a:prstGeom>
        </p:spPr>
      </p:pic>
      <p:sp>
        <p:nvSpPr>
          <p:cNvPr id="6" name="Text 3"/>
          <p:cNvSpPr/>
          <p:nvPr/>
        </p:nvSpPr>
        <p:spPr>
          <a:xfrm>
            <a:off x="6212526" y="1017984"/>
            <a:ext cx="5324044" cy="141387"/>
          </a:xfrm>
          <a:prstGeom prst="rect">
            <a:avLst/>
          </a:prstGeom>
          <a:noFill/>
          <a:ln/>
        </p:spPr>
        <p:txBody>
          <a:bodyPr wrap="none" lIns="0" tIns="0" rIns="0" bIns="0" rtlCol="0" anchor="t"/>
          <a:lstStyle/>
          <a:p>
            <a:pPr algn="l" indent="0" marL="0">
              <a:lnSpc>
                <a:spcPct val="104000"/>
              </a:lnSpc>
              <a:buNone/>
            </a:pPr>
            <a:r>
              <a:rPr lang="en-US" sz="850" b="1" dirty="0">
                <a:solidFill>
                  <a:srgbClr val="233939"/>
                </a:solidFill>
                <a:latin typeface="Syne Bold" pitchFamily="34" charset="0"/>
                <a:ea typeface="Syne Bold" pitchFamily="34" charset="-122"/>
                <a:cs typeface="Syne Bold" pitchFamily="34" charset="-120"/>
              </a:rPr>
              <a:t>The Situation</a:t>
            </a:r>
            <a:endParaRPr lang="en-US" sz="850" dirty="0"/>
          </a:p>
        </p:txBody>
      </p:sp>
      <p:sp>
        <p:nvSpPr>
          <p:cNvPr id="7" name="Text 4"/>
          <p:cNvSpPr/>
          <p:nvPr/>
        </p:nvSpPr>
        <p:spPr>
          <a:xfrm>
            <a:off x="6212526" y="1208782"/>
            <a:ext cx="5324044" cy="335756"/>
          </a:xfrm>
          <a:prstGeom prst="rect">
            <a:avLst/>
          </a:prstGeom>
          <a:noFill/>
          <a:ln/>
        </p:spPr>
        <p:txBody>
          <a:bodyPr wrap="square" lIns="0" tIns="0" rIns="0" bIns="0" rtlCol="0" anchor="t">
            <a:normAutofit/>
          </a:bodyPr>
          <a:lstStyle/>
          <a:p>
            <a:pPr algn="l" indent="0" marL="0">
              <a:lnSpc>
                <a:spcPct val="103000"/>
              </a:lnSpc>
              <a:buNone/>
            </a:pPr>
            <a:r>
              <a:rPr lang="en-US" sz="700" dirty="0">
                <a:solidFill>
                  <a:srgbClr val="3B4E4E"/>
                </a:solidFill>
                <a:latin typeface="Overpass Light" pitchFamily="34" charset="0"/>
                <a:ea typeface="Overpass Light" pitchFamily="34" charset="-122"/>
                <a:cs typeface="Overpass Light" pitchFamily="34" charset="-120"/>
              </a:rPr>
              <a:t>A video streaming service has tens of thousands of titles. Showing every user the same list would be useless. The service wants to personalise the first row of suggestions for each user — increasing watch time and reducing the chance that a frustrated user cancels their subscription.</a:t>
            </a:r>
            <a:endParaRPr lang="en-US" sz="700" dirty="0"/>
          </a:p>
        </p:txBody>
      </p:sp>
      <p:sp>
        <p:nvSpPr>
          <p:cNvPr id="8" name="Text 5"/>
          <p:cNvSpPr/>
          <p:nvPr/>
        </p:nvSpPr>
        <p:spPr>
          <a:xfrm>
            <a:off x="6212526" y="1593949"/>
            <a:ext cx="5324044" cy="141387"/>
          </a:xfrm>
          <a:prstGeom prst="rect">
            <a:avLst/>
          </a:prstGeom>
          <a:noFill/>
          <a:ln/>
        </p:spPr>
        <p:txBody>
          <a:bodyPr wrap="none" lIns="0" tIns="0" rIns="0" bIns="0" rtlCol="0" anchor="t"/>
          <a:lstStyle/>
          <a:p>
            <a:pPr algn="l" indent="0" marL="0">
              <a:lnSpc>
                <a:spcPct val="104000"/>
              </a:lnSpc>
              <a:buNone/>
            </a:pPr>
            <a:r>
              <a:rPr lang="en-US" sz="850" b="1" dirty="0">
                <a:solidFill>
                  <a:srgbClr val="233939"/>
                </a:solidFill>
                <a:latin typeface="Syne Bold" pitchFamily="34" charset="0"/>
                <a:ea typeface="Syne Bold" pitchFamily="34" charset="-122"/>
                <a:cs typeface="Syne Bold" pitchFamily="34" charset="-120"/>
              </a:rPr>
              <a:t>Thinking It Through</a:t>
            </a:r>
            <a:endParaRPr lang="en-US" sz="850" dirty="0"/>
          </a:p>
        </p:txBody>
      </p:sp>
      <p:pic>
        <p:nvPicPr>
          <p:cNvPr id="9"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199826" y="1778198"/>
            <a:ext cx="2643816" cy="551954"/>
          </a:xfrm>
          <a:prstGeom prst="rect">
            <a:avLst/>
          </a:prstGeom>
        </p:spPr>
      </p:pic>
      <p:sp>
        <p:nvSpPr>
          <p:cNvPr id="10" name="Text 6"/>
          <p:cNvSpPr/>
          <p:nvPr/>
        </p:nvSpPr>
        <p:spPr>
          <a:xfrm>
            <a:off x="6328311" y="1790898"/>
            <a:ext cx="2515331" cy="141387"/>
          </a:xfrm>
          <a:prstGeom prst="rect">
            <a:avLst/>
          </a:prstGeom>
          <a:noFill/>
          <a:ln/>
        </p:spPr>
        <p:txBody>
          <a:bodyPr wrap="none" lIns="0" tIns="0" rIns="0" bIns="0" rtlCol="0" anchor="t"/>
          <a:lstStyle/>
          <a:p>
            <a:pPr algn="l" indent="0" marL="0">
              <a:lnSpc>
                <a:spcPct val="104000"/>
              </a:lnSpc>
              <a:buNone/>
            </a:pPr>
            <a:r>
              <a:rPr lang="en-US" sz="850" b="1" dirty="0">
                <a:solidFill>
                  <a:srgbClr val="3B4E4E"/>
                </a:solidFill>
                <a:latin typeface="Syne Bold" pitchFamily="34" charset="0"/>
                <a:ea typeface="Syne Bold" pitchFamily="34" charset="-122"/>
                <a:cs typeface="Syne Bold" pitchFamily="34" charset="-120"/>
              </a:rPr>
              <a:t>What data do we have?</a:t>
            </a:r>
            <a:endParaRPr lang="en-US" sz="850" dirty="0"/>
          </a:p>
        </p:txBody>
      </p:sp>
      <p:sp>
        <p:nvSpPr>
          <p:cNvPr id="11" name="Text 7"/>
          <p:cNvSpPr/>
          <p:nvPr/>
        </p:nvSpPr>
        <p:spPr>
          <a:xfrm>
            <a:off x="6328311" y="1981696"/>
            <a:ext cx="2515331" cy="335756"/>
          </a:xfrm>
          <a:prstGeom prst="rect">
            <a:avLst/>
          </a:prstGeom>
          <a:noFill/>
          <a:ln/>
        </p:spPr>
        <p:txBody>
          <a:bodyPr wrap="square" lIns="0" tIns="0" rIns="0" bIns="0" rtlCol="0" anchor="t">
            <a:normAutofit/>
          </a:bodyPr>
          <a:lstStyle/>
          <a:p>
            <a:pPr algn="l" indent="0" marL="0">
              <a:lnSpc>
                <a:spcPct val="103000"/>
              </a:lnSpc>
              <a:buNone/>
            </a:pPr>
            <a:r>
              <a:rPr lang="en-US" sz="700" dirty="0">
                <a:solidFill>
                  <a:srgbClr val="3B4E4E"/>
                </a:solidFill>
                <a:latin typeface="Overpass Light" pitchFamily="34" charset="0"/>
                <a:ea typeface="Overpass Light" pitchFamily="34" charset="-122"/>
                <a:cs typeface="Overpass Light" pitchFamily="34" charset="-120"/>
              </a:rPr>
              <a:t>A large matrix: which user watched, rated, or added which title to their watchlist. We may know very little about a user personally, but we know a great deal about their behaviour.</a:t>
            </a:r>
            <a:endParaRPr lang="en-US" sz="700" dirty="0"/>
          </a:p>
        </p:txBody>
      </p:sp>
      <p:pic>
        <p:nvPicPr>
          <p:cNvPr id="12" name="Image 2" descr="preencoded.png">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892754" y="1778198"/>
            <a:ext cx="2643816" cy="551954"/>
          </a:xfrm>
          <a:prstGeom prst="rect">
            <a:avLst/>
          </a:prstGeom>
        </p:spPr>
      </p:pic>
      <p:sp>
        <p:nvSpPr>
          <p:cNvPr id="13" name="Text 8"/>
          <p:cNvSpPr/>
          <p:nvPr/>
        </p:nvSpPr>
        <p:spPr>
          <a:xfrm>
            <a:off x="9021239" y="1790898"/>
            <a:ext cx="2515331" cy="141387"/>
          </a:xfrm>
          <a:prstGeom prst="rect">
            <a:avLst/>
          </a:prstGeom>
          <a:noFill/>
          <a:ln/>
        </p:spPr>
        <p:txBody>
          <a:bodyPr wrap="none" lIns="0" tIns="0" rIns="0" bIns="0" rtlCol="0" anchor="t"/>
          <a:lstStyle/>
          <a:p>
            <a:pPr algn="l" indent="0" marL="0">
              <a:lnSpc>
                <a:spcPct val="104000"/>
              </a:lnSpc>
              <a:buNone/>
            </a:pPr>
            <a:r>
              <a:rPr lang="en-US" sz="850" b="1" dirty="0">
                <a:solidFill>
                  <a:srgbClr val="3B4E4E"/>
                </a:solidFill>
                <a:latin typeface="Syne Bold" pitchFamily="34" charset="0"/>
                <a:ea typeface="Syne Bold" pitchFamily="34" charset="-122"/>
                <a:cs typeface="Syne Bold" pitchFamily="34" charset="-120"/>
              </a:rPr>
              <a:t>Goal</a:t>
            </a:r>
            <a:endParaRPr lang="en-US" sz="850" dirty="0"/>
          </a:p>
        </p:txBody>
      </p:sp>
      <p:sp>
        <p:nvSpPr>
          <p:cNvPr id="14" name="Text 9"/>
          <p:cNvSpPr/>
          <p:nvPr/>
        </p:nvSpPr>
        <p:spPr>
          <a:xfrm>
            <a:off x="9021239" y="1981696"/>
            <a:ext cx="2515331" cy="223838"/>
          </a:xfrm>
          <a:prstGeom prst="rect">
            <a:avLst/>
          </a:prstGeom>
          <a:noFill/>
          <a:ln/>
        </p:spPr>
        <p:txBody>
          <a:bodyPr wrap="square" lIns="0" tIns="0" rIns="0" bIns="0" rtlCol="0" anchor="t">
            <a:normAutofit/>
          </a:bodyPr>
          <a:lstStyle/>
          <a:p>
            <a:pPr algn="l" indent="0" marL="0">
              <a:lnSpc>
                <a:spcPct val="103000"/>
              </a:lnSpc>
              <a:buNone/>
            </a:pPr>
            <a:r>
              <a:rPr lang="en-US" sz="700" dirty="0">
                <a:solidFill>
                  <a:srgbClr val="3B4E4E"/>
                </a:solidFill>
                <a:latin typeface="Overpass Light" pitchFamily="34" charset="0"/>
                <a:ea typeface="Overpass Light" pitchFamily="34" charset="-122"/>
                <a:cs typeface="Overpass Light" pitchFamily="34" charset="-120"/>
              </a:rPr>
              <a:t>Predict which unseen titles each user is most likely to enjoy, then rank and display those titles.</a:t>
            </a:r>
            <a:endParaRPr lang="en-US" sz="700" dirty="0"/>
          </a:p>
        </p:txBody>
      </p:sp>
      <p:pic>
        <p:nvPicPr>
          <p:cNvPr id="15" name="Image 3" descr="preencoded.png">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199826" y="2403673"/>
            <a:ext cx="5336744" cy="328116"/>
          </a:xfrm>
          <a:prstGeom prst="rect">
            <a:avLst/>
          </a:prstGeom>
        </p:spPr>
      </p:pic>
      <p:sp>
        <p:nvSpPr>
          <p:cNvPr id="16" name="Text 10"/>
          <p:cNvSpPr/>
          <p:nvPr/>
        </p:nvSpPr>
        <p:spPr>
          <a:xfrm>
            <a:off x="6328311" y="2416373"/>
            <a:ext cx="5208259" cy="141387"/>
          </a:xfrm>
          <a:prstGeom prst="rect">
            <a:avLst/>
          </a:prstGeom>
          <a:noFill/>
          <a:ln/>
        </p:spPr>
        <p:txBody>
          <a:bodyPr wrap="none" lIns="0" tIns="0" rIns="0" bIns="0" rtlCol="0" anchor="t"/>
          <a:lstStyle/>
          <a:p>
            <a:pPr algn="l" indent="0" marL="0">
              <a:lnSpc>
                <a:spcPct val="104000"/>
              </a:lnSpc>
              <a:buNone/>
            </a:pPr>
            <a:r>
              <a:rPr lang="en-US" sz="850" b="1" dirty="0">
                <a:solidFill>
                  <a:srgbClr val="3B4E4E"/>
                </a:solidFill>
                <a:latin typeface="Syne Bold" pitchFamily="34" charset="0"/>
                <a:ea typeface="Syne Bold" pitchFamily="34" charset="-122"/>
                <a:cs typeface="Syne Bold" pitchFamily="34" charset="-120"/>
              </a:rPr>
              <a:t>Problem type</a:t>
            </a:r>
            <a:endParaRPr lang="en-US" sz="850" dirty="0"/>
          </a:p>
        </p:txBody>
      </p:sp>
      <p:sp>
        <p:nvSpPr>
          <p:cNvPr id="17" name="Text 11"/>
          <p:cNvSpPr/>
          <p:nvPr/>
        </p:nvSpPr>
        <p:spPr>
          <a:xfrm>
            <a:off x="6328311" y="2607171"/>
            <a:ext cx="5208259" cy="111919"/>
          </a:xfrm>
          <a:prstGeom prst="rect">
            <a:avLst/>
          </a:prstGeom>
          <a:noFill/>
          <a:ln/>
        </p:spPr>
        <p:txBody>
          <a:bodyPr wrap="none" lIns="0" tIns="0" rIns="0" bIns="0" rtlCol="0" anchor="t"/>
          <a:lstStyle/>
          <a:p>
            <a:pPr algn="l" indent="0" marL="0">
              <a:lnSpc>
                <a:spcPct val="103000"/>
              </a:lnSpc>
              <a:buNone/>
            </a:pPr>
            <a:r>
              <a:rPr lang="en-US" sz="700" b="1" dirty="0">
                <a:solidFill>
                  <a:srgbClr val="3B4E4E"/>
                </a:solidFill>
                <a:latin typeface="Overpass Bold" pitchFamily="34" charset="0"/>
                <a:ea typeface="Overpass Bold" pitchFamily="34" charset="-122"/>
                <a:cs typeface="Overpass Bold" pitchFamily="34" charset="-120"/>
              </a:rPr>
              <a:t>Recommendation (collaborative filtering).</a:t>
            </a:r>
            <a:endParaRPr lang="en-US" sz="700" dirty="0"/>
          </a:p>
        </p:txBody>
      </p:sp>
      <p:sp>
        <p:nvSpPr>
          <p:cNvPr id="18" name="Shape 12"/>
          <p:cNvSpPr/>
          <p:nvPr/>
        </p:nvSpPr>
        <p:spPr>
          <a:xfrm>
            <a:off x="6212526" y="2774652"/>
            <a:ext cx="5324044" cy="357783"/>
          </a:xfrm>
          <a:prstGeom prst="roundRect">
            <a:avLst>
              <a:gd name="adj" fmla="val 10618"/>
            </a:avLst>
          </a:prstGeom>
          <a:solidFill>
            <a:srgbClr val="DDEEE6"/>
          </a:solidFill>
          <a:ln/>
        </p:spPr>
      </p:sp>
      <p:pic>
        <p:nvPicPr>
          <p:cNvPr id="19" name="Image 4" descr="preencoded.png">    </p:cNvPr>
          <p:cNvPicPr>
            <a:picLocks noChangeAspect="1"/>
          </p:cNvPicPr>
          <p:nvPr/>
        </p:nvPicPr>
        <p:blipFill>
          <a:blip r:embed="rId8"/>
          <a:stretch>
            <a:fillRect/>
          </a:stretch>
        </p:blipFill>
        <p:spPr>
          <a:xfrm>
            <a:off x="6302912" y="2846586"/>
            <a:ext cx="113007" cy="90388"/>
          </a:xfrm>
          <a:prstGeom prst="rect">
            <a:avLst/>
          </a:prstGeom>
        </p:spPr>
      </p:pic>
      <p:sp>
        <p:nvSpPr>
          <p:cNvPr id="20" name="Text 13"/>
          <p:cNvSpPr/>
          <p:nvPr/>
        </p:nvSpPr>
        <p:spPr>
          <a:xfrm>
            <a:off x="6506305" y="2841625"/>
            <a:ext cx="4939879" cy="223838"/>
          </a:xfrm>
          <a:prstGeom prst="rect">
            <a:avLst/>
          </a:prstGeom>
          <a:noFill/>
          <a:ln/>
        </p:spPr>
        <p:txBody>
          <a:bodyPr wrap="square" lIns="0" tIns="0" rIns="0" bIns="0" rtlCol="0" anchor="t">
            <a:normAutofit/>
          </a:bodyPr>
          <a:lstStyle/>
          <a:p>
            <a:pPr algn="l" indent="0" marL="0">
              <a:lnSpc>
                <a:spcPct val="103000"/>
              </a:lnSpc>
              <a:buNone/>
            </a:pPr>
            <a:r>
              <a:rPr lang="en-US" sz="700" b="1" dirty="0">
                <a:solidFill>
                  <a:srgbClr val="000000"/>
                </a:solidFill>
                <a:latin typeface="Overpass Bold" pitchFamily="34" charset="0"/>
                <a:ea typeface="Overpass Bold" pitchFamily="34" charset="-122"/>
                <a:cs typeface="Overpass Bold" pitchFamily="34" charset="-120"/>
              </a:rPr>
              <a:t>Class discussion:</a:t>
            </a:r>
            <a:pPr algn="l" indent="0" marL="0">
              <a:lnSpc>
                <a:spcPct val="103000"/>
              </a:lnSpc>
              <a:buNone/>
            </a:pPr>
            <a:r>
              <a:rPr lang="en-US" sz="700" dirty="0">
                <a:solidFill>
                  <a:srgbClr val="000000"/>
                </a:solidFill>
                <a:latin typeface="Overpass Light" pitchFamily="34" charset="0"/>
                <a:ea typeface="Overpass Light" pitchFamily="34" charset="-122"/>
                <a:cs typeface="Overpass Light" pitchFamily="34" charset="-120"/>
              </a:rPr>
              <a:t> Open any streaming or shopping app right now. Look at your personalised homepage. What behaviour of yours do you think the app used to generate those suggestions?</a:t>
            </a:r>
            <a:endParaRPr lang="en-US" sz="7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DE6"/>
        </a:solidFill>
      </p:bgPr>
    </p:bg>
    <p:spTree>
      <p:nvGrpSpPr>
        <p:cNvPr id="1" name=""/>
        <p:cNvGrpSpPr/>
        <p:nvPr/>
      </p:nvGrpSpPr>
      <p:grpSpPr>
        <a:xfrm>
          <a:off x="0" y="0"/>
          <a:ext cx="0" cy="0"/>
          <a:chOff x="0" y="0"/>
          <a:chExt cx="0" cy="0"/>
        </a:xfrm>
      </p:grpSpPr>
      <p:sp>
        <p:nvSpPr>
          <p:cNvPr id="2" name="Text 0"/>
          <p:cNvSpPr/>
          <p:nvPr/>
        </p:nvSpPr>
        <p:spPr>
          <a:xfrm>
            <a:off x="661475" y="529814"/>
            <a:ext cx="10868745" cy="419894"/>
          </a:xfrm>
          <a:prstGeom prst="rect">
            <a:avLst/>
          </a:prstGeom>
          <a:noFill/>
          <a:ln/>
        </p:spPr>
        <p:txBody>
          <a:bodyPr wrap="none" lIns="0" tIns="0" rIns="0" bIns="0" rtlCol="0" anchor="t"/>
          <a:lstStyle/>
          <a:p>
            <a:pPr algn="l" indent="0" marL="0">
              <a:lnSpc>
                <a:spcPct val="104000"/>
              </a:lnSpc>
              <a:buNone/>
            </a:pPr>
            <a:r>
              <a:rPr lang="en-US" sz="2600" b="1" dirty="0">
                <a:solidFill>
                  <a:srgbClr val="233939"/>
                </a:solidFill>
                <a:latin typeface="Syne Bold" pitchFamily="34" charset="0"/>
                <a:ea typeface="Syne Bold" pitchFamily="34" charset="-122"/>
                <a:cs typeface="Syne Bold" pitchFamily="34" charset="-120"/>
              </a:rPr>
              <a:t>Algorithm: Collaborative Filtering</a:t>
            </a:r>
            <a:endParaRPr lang="en-US" sz="2600" dirty="0"/>
          </a:p>
        </p:txBody>
      </p:sp>
      <p:sp>
        <p:nvSpPr>
          <p:cNvPr id="3" name="Text 1"/>
          <p:cNvSpPr/>
          <p:nvPr/>
        </p:nvSpPr>
        <p:spPr>
          <a:xfrm>
            <a:off x="661475" y="1165027"/>
            <a:ext cx="10868745" cy="389533"/>
          </a:xfrm>
          <a:prstGeom prst="rect">
            <a:avLst/>
          </a:prstGeom>
          <a:noFill/>
          <a:ln/>
        </p:spPr>
        <p:txBody>
          <a:bodyPr wrap="square" lIns="0" tIns="0" rIns="0" bIns="0" rtlCol="0" anchor="t">
            <a:normAutofit/>
          </a:bodyPr>
          <a:lstStyle/>
          <a:p>
            <a:pPr algn="l" indent="0" marL="0">
              <a:lnSpc>
                <a:spcPct val="121000"/>
              </a:lnSpc>
              <a:buNone/>
            </a:pPr>
            <a:r>
              <a:rPr lang="en-US" sz="1050" dirty="0">
                <a:solidFill>
                  <a:srgbClr val="3B4E4E"/>
                </a:solidFill>
                <a:latin typeface="Overpass Light" pitchFamily="34" charset="0"/>
                <a:ea typeface="Overpass Light" pitchFamily="34" charset="-122"/>
                <a:cs typeface="Overpass Light" pitchFamily="34" charset="-120"/>
              </a:rPr>
              <a:t>Collaborative filtering is the backbone of modern recommendation systems. The key insight is simple: people who agreed on what they liked in the past will likely agree in the future. No knowledge about the content of the items themselves is needed.</a:t>
            </a:r>
            <a:endParaRPr lang="en-US" sz="1050" dirty="0"/>
          </a:p>
        </p:txBody>
      </p:sp>
      <p:sp>
        <p:nvSpPr>
          <p:cNvPr id="4" name="Text 2"/>
          <p:cNvSpPr/>
          <p:nvPr/>
        </p:nvSpPr>
        <p:spPr>
          <a:xfrm>
            <a:off x="661475" y="1788014"/>
            <a:ext cx="5270467" cy="209947"/>
          </a:xfrm>
          <a:prstGeom prst="rect">
            <a:avLst/>
          </a:prstGeom>
          <a:noFill/>
          <a:ln/>
        </p:spPr>
        <p:txBody>
          <a:bodyPr wrap="none" lIns="0" tIns="0" rIns="0" bIns="0" rtlCol="0" anchor="t"/>
          <a:lstStyle/>
          <a:p>
            <a:pPr algn="l" indent="0" marL="0">
              <a:lnSpc>
                <a:spcPct val="104000"/>
              </a:lnSpc>
              <a:buNone/>
            </a:pPr>
            <a:r>
              <a:rPr lang="en-US" sz="1300" b="1" dirty="0">
                <a:solidFill>
                  <a:srgbClr val="233939"/>
                </a:solidFill>
                <a:latin typeface="Syne Bold" pitchFamily="34" charset="0"/>
                <a:ea typeface="Syne Bold" pitchFamily="34" charset="-122"/>
                <a:cs typeface="Syne Bold" pitchFamily="34" charset="-120"/>
              </a:rPr>
              <a:t>Two Approaches</a:t>
            </a:r>
            <a:endParaRPr lang="en-US" sz="1300" dirty="0"/>
          </a:p>
        </p:txBody>
      </p:sp>
      <p:sp>
        <p:nvSpPr>
          <p:cNvPr id="5" name="Shape 3"/>
          <p:cNvSpPr/>
          <p:nvPr/>
        </p:nvSpPr>
        <p:spPr>
          <a:xfrm>
            <a:off x="661475" y="2119313"/>
            <a:ext cx="2580615" cy="1794470"/>
          </a:xfrm>
          <a:prstGeom prst="roundRect">
            <a:avLst>
              <a:gd name="adj" fmla="val 3145"/>
            </a:avLst>
          </a:prstGeom>
          <a:solidFill>
            <a:srgbClr val="FFFDE6"/>
          </a:solidFill>
          <a:ln w="19050">
            <a:solidFill>
              <a:srgbClr val="C3D4CC"/>
            </a:solidFill>
            <a:prstDash val="solid"/>
          </a:ln>
        </p:spPr>
      </p:sp>
      <p:sp>
        <p:nvSpPr>
          <p:cNvPr id="6" name="Text 4"/>
          <p:cNvSpPr/>
          <p:nvPr/>
        </p:nvSpPr>
        <p:spPr>
          <a:xfrm>
            <a:off x="814863" y="2272705"/>
            <a:ext cx="2273838" cy="209947"/>
          </a:xfrm>
          <a:prstGeom prst="rect">
            <a:avLst/>
          </a:prstGeom>
          <a:noFill/>
          <a:ln/>
        </p:spPr>
        <p:txBody>
          <a:bodyPr wrap="none" lIns="0" tIns="0" rIns="0" bIns="0" rtlCol="0" anchor="t"/>
          <a:lstStyle/>
          <a:p>
            <a:pPr algn="l" indent="0" marL="0">
              <a:lnSpc>
                <a:spcPct val="104000"/>
              </a:lnSpc>
              <a:buNone/>
            </a:pPr>
            <a:r>
              <a:rPr lang="en-US" sz="1300" b="1" dirty="0">
                <a:solidFill>
                  <a:srgbClr val="3B4E4E"/>
                </a:solidFill>
                <a:latin typeface="Syne Bold" pitchFamily="34" charset="0"/>
                <a:ea typeface="Syne Bold" pitchFamily="34" charset="-122"/>
                <a:cs typeface="Syne Bold" pitchFamily="34" charset="-120"/>
              </a:rPr>
              <a:t>User-Based Filtering</a:t>
            </a:r>
            <a:endParaRPr lang="en-US" sz="1300" dirty="0"/>
          </a:p>
        </p:txBody>
      </p:sp>
      <p:sp>
        <p:nvSpPr>
          <p:cNvPr id="7" name="Text 5"/>
          <p:cNvSpPr/>
          <p:nvPr/>
        </p:nvSpPr>
        <p:spPr>
          <a:xfrm>
            <a:off x="814863" y="2591792"/>
            <a:ext cx="2273838" cy="1168598"/>
          </a:xfrm>
          <a:prstGeom prst="rect">
            <a:avLst/>
          </a:prstGeom>
          <a:noFill/>
          <a:ln/>
        </p:spPr>
        <p:txBody>
          <a:bodyPr wrap="square" lIns="0" tIns="0" rIns="0" bIns="0" rtlCol="0" anchor="t">
            <a:normAutofit/>
          </a:bodyPr>
          <a:lstStyle/>
          <a:p>
            <a:pPr algn="l" indent="0" marL="0">
              <a:lnSpc>
                <a:spcPct val="121000"/>
              </a:lnSpc>
              <a:buNone/>
            </a:pPr>
            <a:r>
              <a:rPr lang="en-US" sz="1050" dirty="0">
                <a:solidFill>
                  <a:srgbClr val="3B4E4E"/>
                </a:solidFill>
                <a:latin typeface="Overpass Light" pitchFamily="34" charset="0"/>
                <a:ea typeface="Overpass Light" pitchFamily="34" charset="-122"/>
                <a:cs typeface="Overpass Light" pitchFamily="34" charset="-120"/>
              </a:rPr>
              <a:t>Find users whose past viewing behaviour matches yours most closely. Then recommend titles those users loved that you have not yet watched. "Users like you also watched…"</a:t>
            </a:r>
            <a:endParaRPr lang="en-US" sz="1050" dirty="0"/>
          </a:p>
        </p:txBody>
      </p:sp>
      <p:sp>
        <p:nvSpPr>
          <p:cNvPr id="8" name="Shape 6"/>
          <p:cNvSpPr/>
          <p:nvPr/>
        </p:nvSpPr>
        <p:spPr>
          <a:xfrm>
            <a:off x="3351228" y="2119313"/>
            <a:ext cx="2580714" cy="1794470"/>
          </a:xfrm>
          <a:prstGeom prst="roundRect">
            <a:avLst>
              <a:gd name="adj" fmla="val 3145"/>
            </a:avLst>
          </a:prstGeom>
          <a:solidFill>
            <a:srgbClr val="FFFDE6"/>
          </a:solidFill>
          <a:ln w="19050">
            <a:solidFill>
              <a:srgbClr val="C3D4CC"/>
            </a:solidFill>
            <a:prstDash val="solid"/>
          </a:ln>
        </p:spPr>
      </p:sp>
      <p:sp>
        <p:nvSpPr>
          <p:cNvPr id="9" name="Text 7"/>
          <p:cNvSpPr/>
          <p:nvPr/>
        </p:nvSpPr>
        <p:spPr>
          <a:xfrm>
            <a:off x="3504616" y="2272705"/>
            <a:ext cx="2273938" cy="209947"/>
          </a:xfrm>
          <a:prstGeom prst="rect">
            <a:avLst/>
          </a:prstGeom>
          <a:noFill/>
          <a:ln/>
        </p:spPr>
        <p:txBody>
          <a:bodyPr wrap="none" lIns="0" tIns="0" rIns="0" bIns="0" rtlCol="0" anchor="t"/>
          <a:lstStyle/>
          <a:p>
            <a:pPr algn="l" indent="0" marL="0">
              <a:lnSpc>
                <a:spcPct val="104000"/>
              </a:lnSpc>
              <a:buNone/>
            </a:pPr>
            <a:r>
              <a:rPr lang="en-US" sz="1300" b="1" dirty="0">
                <a:solidFill>
                  <a:srgbClr val="3B4E4E"/>
                </a:solidFill>
                <a:latin typeface="Syne Bold" pitchFamily="34" charset="0"/>
                <a:ea typeface="Syne Bold" pitchFamily="34" charset="-122"/>
                <a:cs typeface="Syne Bold" pitchFamily="34" charset="-120"/>
              </a:rPr>
              <a:t>Item-Based Filtering</a:t>
            </a:r>
            <a:endParaRPr lang="en-US" sz="1300" dirty="0"/>
          </a:p>
        </p:txBody>
      </p:sp>
      <p:sp>
        <p:nvSpPr>
          <p:cNvPr id="10" name="Text 8"/>
          <p:cNvSpPr/>
          <p:nvPr/>
        </p:nvSpPr>
        <p:spPr>
          <a:xfrm>
            <a:off x="3504616" y="2591792"/>
            <a:ext cx="2273938" cy="1168598"/>
          </a:xfrm>
          <a:prstGeom prst="rect">
            <a:avLst/>
          </a:prstGeom>
          <a:noFill/>
          <a:ln/>
        </p:spPr>
        <p:txBody>
          <a:bodyPr wrap="square" lIns="0" tIns="0" rIns="0" bIns="0" rtlCol="0" anchor="t">
            <a:normAutofit/>
          </a:bodyPr>
          <a:lstStyle/>
          <a:p>
            <a:pPr algn="l" indent="0" marL="0">
              <a:lnSpc>
                <a:spcPct val="121000"/>
              </a:lnSpc>
              <a:buNone/>
            </a:pPr>
            <a:r>
              <a:rPr lang="en-US" sz="1050" dirty="0">
                <a:solidFill>
                  <a:srgbClr val="3B4E4E"/>
                </a:solidFill>
                <a:latin typeface="Overpass Light" pitchFamily="34" charset="0"/>
                <a:ea typeface="Overpass Light" pitchFamily="34" charset="-122"/>
                <a:cs typeface="Overpass Light" pitchFamily="34" charset="-120"/>
              </a:rPr>
              <a:t>Find titles that tend to be watched by the same people. If many users who watched Film A also watched Film B, recommend Film B to anyone who has just finished Film A. "Because you watched…"</a:t>
            </a:r>
            <a:endParaRPr lang="en-US" sz="1050" dirty="0"/>
          </a:p>
        </p:txBody>
      </p:sp>
      <p:sp>
        <p:nvSpPr>
          <p:cNvPr id="11" name="Text 9"/>
          <p:cNvSpPr/>
          <p:nvPr/>
        </p:nvSpPr>
        <p:spPr>
          <a:xfrm>
            <a:off x="661475" y="4038097"/>
            <a:ext cx="5270467" cy="209947"/>
          </a:xfrm>
          <a:prstGeom prst="rect">
            <a:avLst/>
          </a:prstGeom>
          <a:noFill/>
          <a:ln/>
        </p:spPr>
        <p:txBody>
          <a:bodyPr wrap="none" lIns="0" tIns="0" rIns="0" bIns="0" rtlCol="0" anchor="t"/>
          <a:lstStyle/>
          <a:p>
            <a:pPr algn="l" indent="0" marL="0">
              <a:lnSpc>
                <a:spcPct val="104000"/>
              </a:lnSpc>
              <a:buNone/>
            </a:pPr>
            <a:r>
              <a:rPr lang="en-US" sz="1300" b="1" dirty="0">
                <a:solidFill>
                  <a:srgbClr val="233939"/>
                </a:solidFill>
                <a:latin typeface="Syne Bold" pitchFamily="34" charset="0"/>
                <a:ea typeface="Syne Bold" pitchFamily="34" charset="-122"/>
                <a:cs typeface="Syne Bold" pitchFamily="34" charset="-120"/>
              </a:rPr>
              <a:t>What to Expect as Output</a:t>
            </a:r>
            <a:endParaRPr lang="en-US" sz="1300" dirty="0"/>
          </a:p>
        </p:txBody>
      </p:sp>
      <p:sp>
        <p:nvSpPr>
          <p:cNvPr id="12" name="Text 10"/>
          <p:cNvSpPr/>
          <p:nvPr/>
        </p:nvSpPr>
        <p:spPr>
          <a:xfrm>
            <a:off x="661475" y="4355703"/>
            <a:ext cx="5270467" cy="389533"/>
          </a:xfrm>
          <a:prstGeom prst="rect">
            <a:avLst/>
          </a:prstGeom>
          <a:noFill/>
          <a:ln/>
        </p:spPr>
        <p:txBody>
          <a:bodyPr wrap="square" lIns="0" tIns="0" rIns="0" bIns="0" rtlCol="0" anchor="t">
            <a:normAutofit/>
          </a:bodyPr>
          <a:lstStyle/>
          <a:p>
            <a:pPr algn="l" indent="0" marL="0">
              <a:lnSpc>
                <a:spcPct val="121000"/>
              </a:lnSpc>
              <a:buNone/>
            </a:pPr>
            <a:r>
              <a:rPr lang="en-US" sz="1050" dirty="0">
                <a:solidFill>
                  <a:srgbClr val="3B4E4E"/>
                </a:solidFill>
                <a:latin typeface="Overpass Light" pitchFamily="34" charset="0"/>
                <a:ea typeface="Overpass Light" pitchFamily="34" charset="-122"/>
                <a:cs typeface="Overpass Light" pitchFamily="34" charset="-120"/>
              </a:rPr>
              <a:t>A personalised ranked list of titles for each user, refreshed as their behaviour changes. The list can be computed in advance (batch) or in real time as the user browses.</a:t>
            </a:r>
            <a:endParaRPr lang="en-US" sz="1050" dirty="0"/>
          </a:p>
        </p:txBody>
      </p:sp>
      <p:sp>
        <p:nvSpPr>
          <p:cNvPr id="13" name="Text 11"/>
          <p:cNvSpPr/>
          <p:nvPr/>
        </p:nvSpPr>
        <p:spPr>
          <a:xfrm>
            <a:off x="6266103" y="1788014"/>
            <a:ext cx="5270467" cy="209947"/>
          </a:xfrm>
          <a:prstGeom prst="rect">
            <a:avLst/>
          </a:prstGeom>
          <a:noFill/>
          <a:ln/>
        </p:spPr>
        <p:txBody>
          <a:bodyPr wrap="none" lIns="0" tIns="0" rIns="0" bIns="0" rtlCol="0" anchor="t"/>
          <a:lstStyle/>
          <a:p>
            <a:pPr algn="l" indent="0" marL="0">
              <a:lnSpc>
                <a:spcPct val="104000"/>
              </a:lnSpc>
              <a:buNone/>
            </a:pPr>
            <a:r>
              <a:rPr lang="en-US" sz="1300" b="1" dirty="0">
                <a:solidFill>
                  <a:srgbClr val="233939"/>
                </a:solidFill>
                <a:latin typeface="Syne Bold" pitchFamily="34" charset="0"/>
                <a:ea typeface="Syne Bold" pitchFamily="34" charset="-122"/>
                <a:cs typeface="Syne Bold" pitchFamily="34" charset="-120"/>
              </a:rPr>
              <a:t>The Cold Start Problem</a:t>
            </a:r>
            <a:endParaRPr lang="en-US" sz="1300" dirty="0"/>
          </a:p>
        </p:txBody>
      </p:sp>
      <p:sp>
        <p:nvSpPr>
          <p:cNvPr id="14" name="Text 12"/>
          <p:cNvSpPr/>
          <p:nvPr/>
        </p:nvSpPr>
        <p:spPr>
          <a:xfrm>
            <a:off x="6266103" y="2105620"/>
            <a:ext cx="5270467" cy="1168598"/>
          </a:xfrm>
          <a:prstGeom prst="rect">
            <a:avLst/>
          </a:prstGeom>
          <a:noFill/>
          <a:ln/>
        </p:spPr>
        <p:txBody>
          <a:bodyPr wrap="square" lIns="0" tIns="0" rIns="0" bIns="0" rtlCol="0" anchor="t">
            <a:normAutofit/>
          </a:bodyPr>
          <a:lstStyle/>
          <a:p>
            <a:pPr algn="l" indent="0" marL="0">
              <a:lnSpc>
                <a:spcPct val="121000"/>
              </a:lnSpc>
              <a:buNone/>
            </a:pPr>
            <a:r>
              <a:rPr lang="en-US" sz="1050" dirty="0">
                <a:solidFill>
                  <a:srgbClr val="3B4E4E"/>
                </a:solidFill>
                <a:latin typeface="Overpass Light" pitchFamily="34" charset="0"/>
                <a:ea typeface="Overpass Light" pitchFamily="34" charset="-122"/>
                <a:cs typeface="Overpass Light" pitchFamily="34" charset="-120"/>
              </a:rPr>
              <a:t>Collaborative filtering has one significant weakness: it relies entirely on historical behaviour. A brand-new user who has not yet watched anything, or a newly added title that nobody has watched yet, cannot benefit from collaborative filtering. This is called the </a:t>
            </a:r>
            <a:pPr algn="l" indent="0" marL="0">
              <a:lnSpc>
                <a:spcPct val="121000"/>
              </a:lnSpc>
              <a:buNone/>
            </a:pPr>
            <a:r>
              <a:rPr lang="en-US" sz="1050" b="1" dirty="0">
                <a:solidFill>
                  <a:srgbClr val="3B4E4E"/>
                </a:solidFill>
                <a:latin typeface="Overpass Bold" pitchFamily="34" charset="0"/>
                <a:ea typeface="Overpass Bold" pitchFamily="34" charset="-122"/>
                <a:cs typeface="Overpass Bold" pitchFamily="34" charset="-120"/>
              </a:rPr>
              <a:t>"cold start" problem</a:t>
            </a:r>
            <a:pPr algn="l" indent="0" marL="0">
              <a:lnSpc>
                <a:spcPct val="121000"/>
              </a:lnSpc>
              <a:buNone/>
            </a:pPr>
            <a:r>
              <a:rPr lang="en-US" sz="1050" dirty="0">
                <a:solidFill>
                  <a:srgbClr val="3B4E4E"/>
                </a:solidFill>
                <a:latin typeface="Overpass Light" pitchFamily="34" charset="0"/>
                <a:ea typeface="Overpass Light" pitchFamily="34" charset="-122"/>
                <a:cs typeface="Overpass Light" pitchFamily="34" charset="-120"/>
              </a:rPr>
              <a:t>. In practice, streaming services combine collaborative filtering with </a:t>
            </a:r>
            <a:pPr algn="l" indent="0" marL="0">
              <a:lnSpc>
                <a:spcPct val="121000"/>
              </a:lnSpc>
              <a:buNone/>
            </a:pPr>
            <a:r>
              <a:rPr lang="en-US" sz="1050" b="1" dirty="0">
                <a:solidFill>
                  <a:srgbClr val="3B4E4E"/>
                </a:solidFill>
                <a:latin typeface="Overpass Bold" pitchFamily="34" charset="0"/>
                <a:ea typeface="Overpass Bold" pitchFamily="34" charset="-122"/>
                <a:cs typeface="Overpass Bold" pitchFamily="34" charset="-120"/>
              </a:rPr>
              <a:t>content-based filtering</a:t>
            </a:r>
            <a:pPr algn="l" indent="0" marL="0">
              <a:lnSpc>
                <a:spcPct val="121000"/>
              </a:lnSpc>
              <a:buNone/>
            </a:pPr>
            <a:r>
              <a:rPr lang="en-US" sz="1050" dirty="0">
                <a:solidFill>
                  <a:srgbClr val="3B4E4E"/>
                </a:solidFill>
                <a:latin typeface="Overpass Light" pitchFamily="34" charset="0"/>
                <a:ea typeface="Overpass Light" pitchFamily="34" charset="-122"/>
                <a:cs typeface="Overpass Light" pitchFamily="34" charset="-120"/>
              </a:rPr>
              <a:t> (using the genre, cast, and director of a title) to handle new users and new content.</a:t>
            </a:r>
            <a:endParaRPr lang="en-US" sz="1050" dirty="0"/>
          </a:p>
        </p:txBody>
      </p:sp>
      <p:pic>
        <p:nvPicPr>
          <p:cNvPr id="15"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266103" y="3397052"/>
            <a:ext cx="2580615" cy="1614884"/>
          </a:xfrm>
          <a:prstGeom prst="rect">
            <a:avLst/>
          </a:prstGeom>
        </p:spPr>
      </p:pic>
      <p:sp>
        <p:nvSpPr>
          <p:cNvPr id="16" name="Text 13"/>
          <p:cNvSpPr/>
          <p:nvPr/>
        </p:nvSpPr>
        <p:spPr>
          <a:xfrm>
            <a:off x="6495689" y="3550444"/>
            <a:ext cx="2197640" cy="419894"/>
          </a:xfrm>
          <a:prstGeom prst="rect">
            <a:avLst/>
          </a:prstGeom>
          <a:noFill/>
          <a:ln/>
        </p:spPr>
        <p:txBody>
          <a:bodyPr wrap="square" lIns="0" tIns="0" rIns="0" bIns="0" rtlCol="0" anchor="t">
            <a:normAutofit/>
          </a:bodyPr>
          <a:lstStyle/>
          <a:p>
            <a:pPr algn="l" indent="0" marL="0">
              <a:lnSpc>
                <a:spcPct val="104000"/>
              </a:lnSpc>
              <a:buNone/>
            </a:pPr>
            <a:r>
              <a:rPr lang="en-US" sz="1300" b="1" dirty="0">
                <a:solidFill>
                  <a:srgbClr val="3B4E4E"/>
                </a:solidFill>
                <a:latin typeface="Syne Bold" pitchFamily="34" charset="0"/>
                <a:ea typeface="Syne Bold" pitchFamily="34" charset="-122"/>
                <a:cs typeface="Syne Bold" pitchFamily="34" charset="-120"/>
              </a:rPr>
              <a:t>✓ Discovers Non-Obvious Connections</a:t>
            </a:r>
            <a:endParaRPr lang="en-US" sz="1300" dirty="0"/>
          </a:p>
        </p:txBody>
      </p:sp>
      <p:sp>
        <p:nvSpPr>
          <p:cNvPr id="17" name="Text 14"/>
          <p:cNvSpPr/>
          <p:nvPr/>
        </p:nvSpPr>
        <p:spPr>
          <a:xfrm>
            <a:off x="6495689" y="4079478"/>
            <a:ext cx="2197640" cy="779066"/>
          </a:xfrm>
          <a:prstGeom prst="rect">
            <a:avLst/>
          </a:prstGeom>
          <a:noFill/>
          <a:ln/>
        </p:spPr>
        <p:txBody>
          <a:bodyPr wrap="square" lIns="0" tIns="0" rIns="0" bIns="0" rtlCol="0" anchor="t">
            <a:normAutofit/>
          </a:bodyPr>
          <a:lstStyle/>
          <a:p>
            <a:pPr algn="l" indent="0" marL="0">
              <a:lnSpc>
                <a:spcPct val="121000"/>
              </a:lnSpc>
              <a:buNone/>
            </a:pPr>
            <a:r>
              <a:rPr lang="en-US" sz="1050" dirty="0">
                <a:solidFill>
                  <a:srgbClr val="3B4E4E"/>
                </a:solidFill>
                <a:latin typeface="Overpass Light" pitchFamily="34" charset="0"/>
                <a:ea typeface="Overpass Light" pitchFamily="34" charset="-122"/>
                <a:cs typeface="Overpass Light" pitchFamily="34" charset="-120"/>
              </a:rPr>
              <a:t>Finds suggestions a rule-based system would never think of — linking users by taste rather than by demographics.</a:t>
            </a:r>
            <a:endParaRPr lang="en-US" sz="1050" dirty="0"/>
          </a:p>
        </p:txBody>
      </p:sp>
      <p:pic>
        <p:nvPicPr>
          <p:cNvPr id="18"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955856" y="3397052"/>
            <a:ext cx="2580714" cy="1614884"/>
          </a:xfrm>
          <a:prstGeom prst="rect">
            <a:avLst/>
          </a:prstGeom>
        </p:spPr>
      </p:pic>
      <p:sp>
        <p:nvSpPr>
          <p:cNvPr id="19" name="Text 15"/>
          <p:cNvSpPr/>
          <p:nvPr/>
        </p:nvSpPr>
        <p:spPr>
          <a:xfrm>
            <a:off x="9185442" y="3550444"/>
            <a:ext cx="2197740" cy="209947"/>
          </a:xfrm>
          <a:prstGeom prst="rect">
            <a:avLst/>
          </a:prstGeom>
          <a:noFill/>
          <a:ln/>
        </p:spPr>
        <p:txBody>
          <a:bodyPr wrap="none" lIns="0" tIns="0" rIns="0" bIns="0" rtlCol="0" anchor="t"/>
          <a:lstStyle/>
          <a:p>
            <a:pPr algn="l" indent="0" marL="0">
              <a:lnSpc>
                <a:spcPct val="104000"/>
              </a:lnSpc>
              <a:buNone/>
            </a:pPr>
            <a:r>
              <a:rPr lang="en-US" sz="1300" b="1" dirty="0">
                <a:solidFill>
                  <a:srgbClr val="3B4E4E"/>
                </a:solidFill>
                <a:latin typeface="Syne Bold" pitchFamily="34" charset="0"/>
                <a:ea typeface="Syne Bold" pitchFamily="34" charset="-122"/>
                <a:cs typeface="Syne Bold" pitchFamily="34" charset="-120"/>
              </a:rPr>
              <a:t>✗ Cold Start</a:t>
            </a:r>
            <a:endParaRPr lang="en-US" sz="1300" dirty="0"/>
          </a:p>
        </p:txBody>
      </p:sp>
      <p:sp>
        <p:nvSpPr>
          <p:cNvPr id="20" name="Text 16"/>
          <p:cNvSpPr/>
          <p:nvPr/>
        </p:nvSpPr>
        <p:spPr>
          <a:xfrm>
            <a:off x="9185442" y="3869531"/>
            <a:ext cx="2197740" cy="389533"/>
          </a:xfrm>
          <a:prstGeom prst="rect">
            <a:avLst/>
          </a:prstGeom>
          <a:noFill/>
          <a:ln/>
        </p:spPr>
        <p:txBody>
          <a:bodyPr wrap="square" lIns="0" tIns="0" rIns="0" bIns="0" rtlCol="0" anchor="t">
            <a:normAutofit/>
          </a:bodyPr>
          <a:lstStyle/>
          <a:p>
            <a:pPr algn="l" indent="0" marL="0">
              <a:lnSpc>
                <a:spcPct val="121000"/>
              </a:lnSpc>
              <a:buNone/>
            </a:pPr>
            <a:r>
              <a:rPr lang="en-US" sz="1050" dirty="0">
                <a:solidFill>
                  <a:srgbClr val="3B4E4E"/>
                </a:solidFill>
                <a:latin typeface="Overpass Light" pitchFamily="34" charset="0"/>
                <a:ea typeface="Overpass Light" pitchFamily="34" charset="-122"/>
                <a:cs typeface="Overpass Light" pitchFamily="34" charset="-120"/>
              </a:rPr>
              <a:t>Works poorly for new users and new items with no interaction history.</a:t>
            </a:r>
            <a:endParaRPr lang="en-US" sz="1050" dirty="0"/>
          </a:p>
        </p:txBody>
      </p:sp>
      <p:sp>
        <p:nvSpPr>
          <p:cNvPr id="21" name="Text 17"/>
          <p:cNvSpPr/>
          <p:nvPr/>
        </p:nvSpPr>
        <p:spPr>
          <a:xfrm>
            <a:off x="6266103" y="5136250"/>
            <a:ext cx="5270467" cy="209947"/>
          </a:xfrm>
          <a:prstGeom prst="rect">
            <a:avLst/>
          </a:prstGeom>
          <a:noFill/>
          <a:ln/>
        </p:spPr>
        <p:txBody>
          <a:bodyPr wrap="none" lIns="0" tIns="0" rIns="0" bIns="0" rtlCol="0" anchor="t"/>
          <a:lstStyle/>
          <a:p>
            <a:pPr algn="l" indent="0" marL="0">
              <a:lnSpc>
                <a:spcPct val="104000"/>
              </a:lnSpc>
              <a:buNone/>
            </a:pPr>
            <a:r>
              <a:rPr lang="en-US" sz="1300" b="1" dirty="0">
                <a:solidFill>
                  <a:srgbClr val="233939"/>
                </a:solidFill>
                <a:latin typeface="Syne Bold" pitchFamily="34" charset="0"/>
                <a:ea typeface="Syne Bold" pitchFamily="34" charset="-122"/>
                <a:cs typeface="Syne Bold" pitchFamily="34" charset="-120"/>
              </a:rPr>
              <a:t>Real-World Use</a:t>
            </a:r>
            <a:endParaRPr lang="en-US" sz="1300" dirty="0"/>
          </a:p>
        </p:txBody>
      </p:sp>
      <p:sp>
        <p:nvSpPr>
          <p:cNvPr id="22" name="Text 18"/>
          <p:cNvSpPr/>
          <p:nvPr/>
        </p:nvSpPr>
        <p:spPr>
          <a:xfrm>
            <a:off x="6266103" y="5453856"/>
            <a:ext cx="5270467" cy="779066"/>
          </a:xfrm>
          <a:prstGeom prst="rect">
            <a:avLst/>
          </a:prstGeom>
          <a:noFill/>
          <a:ln/>
        </p:spPr>
        <p:txBody>
          <a:bodyPr wrap="square" lIns="0" tIns="0" rIns="0" bIns="0" rtlCol="0" anchor="t">
            <a:normAutofit/>
          </a:bodyPr>
          <a:lstStyle/>
          <a:p>
            <a:pPr algn="l" indent="0" marL="0">
              <a:lnSpc>
                <a:spcPct val="121000"/>
              </a:lnSpc>
              <a:buNone/>
            </a:pPr>
            <a:r>
              <a:rPr lang="en-US" sz="1050" b="1" dirty="0">
                <a:solidFill>
                  <a:srgbClr val="3B4E4E"/>
                </a:solidFill>
                <a:latin typeface="Overpass Bold" pitchFamily="34" charset="0"/>
                <a:ea typeface="Overpass Bold" pitchFamily="34" charset="-122"/>
                <a:cs typeface="Overpass Bold" pitchFamily="34" charset="-120"/>
              </a:rPr>
              <a:t>Amazon</a:t>
            </a:r>
            <a:pPr algn="l" indent="0" marL="0">
              <a:lnSpc>
                <a:spcPct val="121000"/>
              </a:lnSpc>
              <a:buNone/>
            </a:pPr>
            <a:r>
              <a:rPr lang="en-US" sz="1050" dirty="0">
                <a:solidFill>
                  <a:srgbClr val="3B4E4E"/>
                </a:solidFill>
                <a:latin typeface="Overpass Light" pitchFamily="34" charset="0"/>
                <a:ea typeface="Overpass Light" pitchFamily="34" charset="-122"/>
                <a:cs typeface="Overpass Light" pitchFamily="34" charset="-120"/>
              </a:rPr>
              <a:t> published its item-to-item collaborative filtering method in 2003 — it is still the basis of their "Frequently Bought Together" suggestions. </a:t>
            </a:r>
            <a:pPr algn="l" indent="0" marL="0">
              <a:lnSpc>
                <a:spcPct val="121000"/>
              </a:lnSpc>
              <a:buNone/>
            </a:pPr>
            <a:r>
              <a:rPr lang="en-US" sz="1050" b="1" dirty="0">
                <a:solidFill>
                  <a:srgbClr val="3B4E4E"/>
                </a:solidFill>
                <a:latin typeface="Overpass Bold" pitchFamily="34" charset="0"/>
                <a:ea typeface="Overpass Bold" pitchFamily="34" charset="-122"/>
                <a:cs typeface="Overpass Bold" pitchFamily="34" charset="-120"/>
              </a:rPr>
              <a:t>Netflix</a:t>
            </a:r>
            <a:pPr algn="l" indent="0" marL="0">
              <a:lnSpc>
                <a:spcPct val="121000"/>
              </a:lnSpc>
              <a:buNone/>
            </a:pPr>
            <a:r>
              <a:rPr lang="en-US" sz="1050" dirty="0">
                <a:solidFill>
                  <a:srgbClr val="3B4E4E"/>
                </a:solidFill>
                <a:latin typeface="Overpass Light" pitchFamily="34" charset="0"/>
                <a:ea typeface="Overpass Light" pitchFamily="34" charset="-122"/>
                <a:cs typeface="Overpass Light" pitchFamily="34" charset="-120"/>
              </a:rPr>
              <a:t> ran the Netflix Prize competition (2006–2009) to improve its rating predictions. </a:t>
            </a:r>
            <a:pPr algn="l" indent="0" marL="0">
              <a:lnSpc>
                <a:spcPct val="121000"/>
              </a:lnSpc>
              <a:buNone/>
            </a:pPr>
            <a:r>
              <a:rPr lang="en-US" sz="1050" b="1" dirty="0">
                <a:solidFill>
                  <a:srgbClr val="3B4E4E"/>
                </a:solidFill>
                <a:latin typeface="Overpass Bold" pitchFamily="34" charset="0"/>
                <a:ea typeface="Overpass Bold" pitchFamily="34" charset="-122"/>
                <a:cs typeface="Overpass Bold" pitchFamily="34" charset="-120"/>
              </a:rPr>
              <a:t>Spotify</a:t>
            </a:r>
            <a:pPr algn="l" indent="0" marL="0">
              <a:lnSpc>
                <a:spcPct val="121000"/>
              </a:lnSpc>
              <a:buNone/>
            </a:pPr>
            <a:r>
              <a:rPr lang="en-US" sz="1050" dirty="0">
                <a:solidFill>
                  <a:srgbClr val="3B4E4E"/>
                </a:solidFill>
                <a:latin typeface="Overpass Light" pitchFamily="34" charset="0"/>
                <a:ea typeface="Overpass Light" pitchFamily="34" charset="-122"/>
                <a:cs typeface="Overpass Light" pitchFamily="34" charset="-120"/>
              </a:rPr>
              <a:t> uses collaborative filtering as a core component of its Discover Weekly playlist.</a:t>
            </a:r>
            <a:endParaRPr lang="en-US" sz="10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DE6"/>
        </a:solidFill>
      </p:bgPr>
    </p:bg>
    <p:spTree>
      <p:nvGrpSpPr>
        <p:cNvPr id="1" name=""/>
        <p:cNvGrpSpPr/>
        <p:nvPr/>
      </p:nvGrpSpPr>
      <p:grpSpPr>
        <a:xfrm>
          <a:off x="0" y="0"/>
          <a:ext cx="0" cy="0"/>
          <a:chOff x="0" y="0"/>
          <a:chExt cx="0" cy="0"/>
        </a:xfrm>
      </p:grpSpPr>
      <p:sp>
        <p:nvSpPr>
          <p:cNvPr id="2" name="Shape 0"/>
          <p:cNvSpPr/>
          <p:nvPr/>
        </p:nvSpPr>
        <p:spPr>
          <a:xfrm>
            <a:off x="661475" y="542230"/>
            <a:ext cx="1137217" cy="215801"/>
          </a:xfrm>
          <a:prstGeom prst="roundRect">
            <a:avLst>
              <a:gd name="adj" fmla="val 22130"/>
            </a:avLst>
          </a:prstGeom>
          <a:solidFill>
            <a:srgbClr val="DDEEE6"/>
          </a:solidFill>
          <a:ln/>
        </p:spPr>
      </p:sp>
      <p:sp>
        <p:nvSpPr>
          <p:cNvPr id="3" name="Text 1"/>
          <p:cNvSpPr/>
          <p:nvPr/>
        </p:nvSpPr>
        <p:spPr>
          <a:xfrm>
            <a:off x="746702" y="584795"/>
            <a:ext cx="1576348" cy="130671"/>
          </a:xfrm>
          <a:prstGeom prst="rect">
            <a:avLst/>
          </a:prstGeom>
          <a:noFill/>
          <a:ln/>
        </p:spPr>
        <p:txBody>
          <a:bodyPr wrap="none" lIns="0" tIns="0" rIns="0" bIns="0" rtlCol="0" anchor="t"/>
          <a:lstStyle/>
          <a:p>
            <a:pPr algn="l" indent="0" marL="0">
              <a:lnSpc>
                <a:spcPct val="96000"/>
              </a:lnSpc>
              <a:buNone/>
            </a:pPr>
            <a:r>
              <a:rPr lang="en-US" sz="850" dirty="0">
                <a:solidFill>
                  <a:srgbClr val="3B4E4E"/>
                </a:solidFill>
                <a:latin typeface="Overpass Light" pitchFamily="34" charset="0"/>
                <a:ea typeface="Overpass Light" pitchFamily="34" charset="-122"/>
                <a:cs typeface="Overpass Light" pitchFamily="34" charset="-120"/>
              </a:rPr>
              <a:t>BUSINESS CASE 16</a:t>
            </a:r>
            <a:endParaRPr lang="en-US" sz="850" dirty="0"/>
          </a:p>
        </p:txBody>
      </p:sp>
      <p:sp>
        <p:nvSpPr>
          <p:cNvPr id="4" name="Text 2"/>
          <p:cNvSpPr/>
          <p:nvPr/>
        </p:nvSpPr>
        <p:spPr>
          <a:xfrm>
            <a:off x="661475" y="813278"/>
            <a:ext cx="10868745" cy="444103"/>
          </a:xfrm>
          <a:prstGeom prst="rect">
            <a:avLst/>
          </a:prstGeom>
          <a:noFill/>
          <a:ln/>
        </p:spPr>
        <p:txBody>
          <a:bodyPr wrap="none" lIns="0" tIns="0" rIns="0" bIns="0" rtlCol="0" anchor="t"/>
          <a:lstStyle/>
          <a:p>
            <a:pPr algn="l" indent="0" marL="0">
              <a:lnSpc>
                <a:spcPct val="104000"/>
              </a:lnSpc>
              <a:buNone/>
            </a:pPr>
            <a:r>
              <a:rPr lang="en-US" sz="2750" b="1" dirty="0">
                <a:solidFill>
                  <a:srgbClr val="233939"/>
                </a:solidFill>
                <a:latin typeface="Syne Bold" pitchFamily="34" charset="0"/>
                <a:ea typeface="Syne Bold" pitchFamily="34" charset="-122"/>
                <a:cs typeface="Syne Bold" pitchFamily="34" charset="-120"/>
              </a:rPr>
              <a:t>Finding Defective Products From Photos</a:t>
            </a:r>
            <a:endParaRPr lang="en-US" sz="2750" dirty="0"/>
          </a:p>
        </p:txBody>
      </p:sp>
      <p:sp>
        <p:nvSpPr>
          <p:cNvPr id="5" name="Text 3"/>
          <p:cNvSpPr/>
          <p:nvPr/>
        </p:nvSpPr>
        <p:spPr>
          <a:xfrm>
            <a:off x="661475" y="1434108"/>
            <a:ext cx="10868745" cy="422870"/>
          </a:xfrm>
          <a:prstGeom prst="rect">
            <a:avLst/>
          </a:prstGeom>
          <a:noFill/>
          <a:ln/>
        </p:spPr>
        <p:txBody>
          <a:bodyPr wrap="square" lIns="0" tIns="0" rIns="0" bIns="0" rtlCol="0" anchor="t">
            <a:normAutofit/>
          </a:bodyPr>
          <a:lstStyle/>
          <a:p>
            <a:pPr algn="l" indent="0" marL="0">
              <a:lnSpc>
                <a:spcPct val="124000"/>
              </a:lnSpc>
              <a:buNone/>
            </a:pPr>
            <a:r>
              <a:rPr lang="en-US" sz="1100" dirty="0">
                <a:solidFill>
                  <a:srgbClr val="3B4E4E"/>
                </a:solidFill>
                <a:latin typeface="Overpass Light" pitchFamily="34" charset="0"/>
                <a:ea typeface="Overpass Light" pitchFamily="34" charset="-122"/>
                <a:cs typeface="Overpass Light" pitchFamily="34" charset="-120"/>
              </a:rPr>
              <a:t>A factory photographs every product coming off the assembly line and wants to automatically reject defective units — without a human inspector reviewing each photo. The system must be fast, accurate, and scalable to thousands of units per hour.</a:t>
            </a:r>
            <a:endParaRPr lang="en-US" sz="1100" dirty="0"/>
          </a:p>
        </p:txBody>
      </p:sp>
      <p:sp>
        <p:nvSpPr>
          <p:cNvPr id="6" name="Text 4"/>
          <p:cNvSpPr/>
          <p:nvPr/>
        </p:nvSpPr>
        <p:spPr>
          <a:xfrm>
            <a:off x="661475" y="2118063"/>
            <a:ext cx="5261042" cy="222052"/>
          </a:xfrm>
          <a:prstGeom prst="rect">
            <a:avLst/>
          </a:prstGeom>
          <a:noFill/>
          <a:ln/>
        </p:spPr>
        <p:txBody>
          <a:bodyPr wrap="none" lIns="0" tIns="0" rIns="0" bIns="0" rtlCol="0" anchor="t"/>
          <a:lstStyle/>
          <a:p>
            <a:pPr algn="l" indent="0" marL="0">
              <a:lnSpc>
                <a:spcPct val="104000"/>
              </a:lnSpc>
              <a:buNone/>
            </a:pPr>
            <a:r>
              <a:rPr lang="en-US" sz="1350" b="1" dirty="0">
                <a:solidFill>
                  <a:srgbClr val="233939"/>
                </a:solidFill>
                <a:latin typeface="Syne Bold" pitchFamily="34" charset="0"/>
                <a:ea typeface="Syne Bold" pitchFamily="34" charset="-122"/>
                <a:cs typeface="Syne Bold" pitchFamily="34" charset="-120"/>
              </a:rPr>
              <a:t>Thinking It Through</a:t>
            </a:r>
            <a:endParaRPr lang="en-US" sz="1350" dirty="0"/>
          </a:p>
        </p:txBody>
      </p:sp>
      <p:pic>
        <p:nvPicPr>
          <p:cNvPr id="7"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42425" y="2456755"/>
            <a:ext cx="2573273" cy="1238647"/>
          </a:xfrm>
          <a:prstGeom prst="rect">
            <a:avLst/>
          </a:prstGeom>
        </p:spPr>
      </p:pic>
      <p:sp>
        <p:nvSpPr>
          <p:cNvPr id="8" name="Text 5"/>
          <p:cNvSpPr/>
          <p:nvPr/>
        </p:nvSpPr>
        <p:spPr>
          <a:xfrm>
            <a:off x="841652" y="2475805"/>
            <a:ext cx="2374047" cy="444103"/>
          </a:xfrm>
          <a:prstGeom prst="rect">
            <a:avLst/>
          </a:prstGeom>
          <a:noFill/>
          <a:ln/>
        </p:spPr>
        <p:txBody>
          <a:bodyPr wrap="square" lIns="0" tIns="0" rIns="0" bIns="0" rtlCol="0" anchor="t">
            <a:normAutofit/>
          </a:bodyPr>
          <a:lstStyle/>
          <a:p>
            <a:pPr algn="l" indent="0" marL="0">
              <a:lnSpc>
                <a:spcPct val="104000"/>
              </a:lnSpc>
              <a:buNone/>
            </a:pPr>
            <a:r>
              <a:rPr lang="en-US" sz="1350" b="1" dirty="0">
                <a:solidFill>
                  <a:srgbClr val="3B4E4E"/>
                </a:solidFill>
                <a:latin typeface="Syne Bold" pitchFamily="34" charset="0"/>
                <a:ea typeface="Syne Bold" pitchFamily="34" charset="-122"/>
                <a:cs typeface="Syne Bold" pitchFamily="34" charset="-120"/>
              </a:rPr>
              <a:t>Past data with correct answers?</a:t>
            </a:r>
            <a:endParaRPr lang="en-US" sz="1350" dirty="0"/>
          </a:p>
        </p:txBody>
      </p:sp>
      <p:sp>
        <p:nvSpPr>
          <p:cNvPr id="9" name="Text 6"/>
          <p:cNvSpPr/>
          <p:nvPr/>
        </p:nvSpPr>
        <p:spPr>
          <a:xfrm>
            <a:off x="841652" y="3042047"/>
            <a:ext cx="2374047" cy="634305"/>
          </a:xfrm>
          <a:prstGeom prst="rect">
            <a:avLst/>
          </a:prstGeom>
          <a:noFill/>
          <a:ln/>
        </p:spPr>
        <p:txBody>
          <a:bodyPr wrap="square" lIns="0" tIns="0" rIns="0" bIns="0" rtlCol="0" anchor="t">
            <a:normAutofit/>
          </a:bodyPr>
          <a:lstStyle/>
          <a:p>
            <a:pPr algn="l" indent="0" marL="0">
              <a:lnSpc>
                <a:spcPct val="124000"/>
              </a:lnSpc>
              <a:buNone/>
            </a:pPr>
            <a:r>
              <a:rPr lang="en-US" sz="1100" dirty="0">
                <a:solidFill>
                  <a:srgbClr val="3B4E4E"/>
                </a:solidFill>
                <a:latin typeface="Overpass Light" pitchFamily="34" charset="0"/>
                <a:ea typeface="Overpass Light" pitchFamily="34" charset="-122"/>
                <a:cs typeface="Overpass Light" pitchFamily="34" charset="-120"/>
              </a:rPr>
              <a:t>Yes — thousands of past photos labelled "defective" or "fine" by human inspectors.</a:t>
            </a:r>
            <a:endParaRPr lang="en-US" sz="1100" dirty="0"/>
          </a:p>
        </p:txBody>
      </p:sp>
      <p:pic>
        <p:nvPicPr>
          <p:cNvPr id="10"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349244" y="2456755"/>
            <a:ext cx="2573273" cy="1238647"/>
          </a:xfrm>
          <a:prstGeom prst="rect">
            <a:avLst/>
          </a:prstGeom>
        </p:spPr>
      </p:pic>
      <p:sp>
        <p:nvSpPr>
          <p:cNvPr id="11" name="Text 7"/>
          <p:cNvSpPr/>
          <p:nvPr/>
        </p:nvSpPr>
        <p:spPr>
          <a:xfrm>
            <a:off x="3548470" y="2475805"/>
            <a:ext cx="2374047" cy="222052"/>
          </a:xfrm>
          <a:prstGeom prst="rect">
            <a:avLst/>
          </a:prstGeom>
          <a:noFill/>
          <a:ln/>
        </p:spPr>
        <p:txBody>
          <a:bodyPr wrap="none" lIns="0" tIns="0" rIns="0" bIns="0" rtlCol="0" anchor="t"/>
          <a:lstStyle/>
          <a:p>
            <a:pPr algn="l" indent="0" marL="0">
              <a:lnSpc>
                <a:spcPct val="104000"/>
              </a:lnSpc>
              <a:buNone/>
            </a:pPr>
            <a:r>
              <a:rPr lang="en-US" sz="1350" b="1" dirty="0">
                <a:solidFill>
                  <a:srgbClr val="3B4E4E"/>
                </a:solidFill>
                <a:latin typeface="Syne Bold" pitchFamily="34" charset="0"/>
                <a:ea typeface="Syne Bold" pitchFamily="34" charset="-122"/>
                <a:cs typeface="Syne Bold" pitchFamily="34" charset="-120"/>
              </a:rPr>
              <a:t>Number or category?</a:t>
            </a:r>
            <a:endParaRPr lang="en-US" sz="1350" dirty="0"/>
          </a:p>
        </p:txBody>
      </p:sp>
      <p:sp>
        <p:nvSpPr>
          <p:cNvPr id="12" name="Text 8"/>
          <p:cNvSpPr/>
          <p:nvPr/>
        </p:nvSpPr>
        <p:spPr>
          <a:xfrm>
            <a:off x="3548470" y="2819995"/>
            <a:ext cx="2374047" cy="211435"/>
          </a:xfrm>
          <a:prstGeom prst="rect">
            <a:avLst/>
          </a:prstGeom>
          <a:noFill/>
          <a:ln/>
        </p:spPr>
        <p:txBody>
          <a:bodyPr wrap="none" lIns="0" tIns="0" rIns="0" bIns="0" rtlCol="0" anchor="t"/>
          <a:lstStyle/>
          <a:p>
            <a:pPr algn="l" indent="0" marL="0">
              <a:lnSpc>
                <a:spcPct val="124000"/>
              </a:lnSpc>
              <a:buNone/>
            </a:pPr>
            <a:r>
              <a:rPr lang="en-US" sz="1100" dirty="0">
                <a:solidFill>
                  <a:srgbClr val="3B4E4E"/>
                </a:solidFill>
                <a:latin typeface="Overpass Light" pitchFamily="34" charset="0"/>
                <a:ea typeface="Overpass Light" pitchFamily="34" charset="-122"/>
                <a:cs typeface="Overpass Light" pitchFamily="34" charset="-120"/>
              </a:rPr>
              <a:t>Category: defective / fine.</a:t>
            </a:r>
            <a:endParaRPr lang="en-US" sz="1100" dirty="0"/>
          </a:p>
        </p:txBody>
      </p:sp>
      <p:pic>
        <p:nvPicPr>
          <p:cNvPr id="13"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42425" y="3901579"/>
            <a:ext cx="2573273" cy="2295823"/>
          </a:xfrm>
          <a:prstGeom prst="rect">
            <a:avLst/>
          </a:prstGeom>
        </p:spPr>
      </p:pic>
      <p:sp>
        <p:nvSpPr>
          <p:cNvPr id="14" name="Text 9"/>
          <p:cNvSpPr/>
          <p:nvPr/>
        </p:nvSpPr>
        <p:spPr>
          <a:xfrm>
            <a:off x="841652" y="3920629"/>
            <a:ext cx="2374047" cy="444103"/>
          </a:xfrm>
          <a:prstGeom prst="rect">
            <a:avLst/>
          </a:prstGeom>
          <a:noFill/>
          <a:ln/>
        </p:spPr>
        <p:txBody>
          <a:bodyPr wrap="square" lIns="0" tIns="0" rIns="0" bIns="0" rtlCol="0" anchor="t">
            <a:normAutofit/>
          </a:bodyPr>
          <a:lstStyle/>
          <a:p>
            <a:pPr algn="l" indent="0" marL="0">
              <a:lnSpc>
                <a:spcPct val="104000"/>
              </a:lnSpc>
              <a:buNone/>
            </a:pPr>
            <a:r>
              <a:rPr lang="en-US" sz="1350" b="1" dirty="0">
                <a:solidFill>
                  <a:srgbClr val="3B4E4E"/>
                </a:solidFill>
                <a:latin typeface="Syne Bold" pitchFamily="34" charset="0"/>
                <a:ea typeface="Syne Bold" pitchFamily="34" charset="-122"/>
                <a:cs typeface="Syne Bold" pitchFamily="34" charset="-120"/>
              </a:rPr>
              <a:t>Why standard algorithms fail</a:t>
            </a:r>
            <a:endParaRPr lang="en-US" sz="1350" dirty="0"/>
          </a:p>
        </p:txBody>
      </p:sp>
      <p:sp>
        <p:nvSpPr>
          <p:cNvPr id="15" name="Text 10"/>
          <p:cNvSpPr/>
          <p:nvPr/>
        </p:nvSpPr>
        <p:spPr>
          <a:xfrm>
            <a:off x="841652" y="4486870"/>
            <a:ext cx="2374047" cy="1691481"/>
          </a:xfrm>
          <a:prstGeom prst="rect">
            <a:avLst/>
          </a:prstGeom>
          <a:noFill/>
          <a:ln/>
        </p:spPr>
        <p:txBody>
          <a:bodyPr wrap="square" lIns="0" tIns="0" rIns="0" bIns="0" rtlCol="0" anchor="t">
            <a:normAutofit/>
          </a:bodyPr>
          <a:lstStyle/>
          <a:p>
            <a:pPr algn="l" indent="0" marL="0">
              <a:lnSpc>
                <a:spcPct val="124000"/>
              </a:lnSpc>
              <a:buNone/>
            </a:pPr>
            <a:r>
              <a:rPr lang="en-US" sz="1100" dirty="0">
                <a:solidFill>
                  <a:srgbClr val="3B4E4E"/>
                </a:solidFill>
                <a:latin typeface="Overpass Light" pitchFamily="34" charset="0"/>
                <a:ea typeface="Overpass Light" pitchFamily="34" charset="-122"/>
                <a:cs typeface="Overpass Light" pitchFamily="34" charset="-120"/>
              </a:rPr>
              <a:t>An image of 500×500 pixels has 250,000 input values. More importantly, </a:t>
            </a:r>
            <a:pPr algn="l" indent="0" marL="0">
              <a:lnSpc>
                <a:spcPct val="124000"/>
              </a:lnSpc>
              <a:buNone/>
            </a:pPr>
            <a:r>
              <a:rPr lang="en-US" sz="1100" i="1" dirty="0">
                <a:solidFill>
                  <a:srgbClr val="3B4E4E"/>
                </a:solidFill>
                <a:latin typeface="Overpass Light" pitchFamily="34" charset="0"/>
                <a:ea typeface="Overpass Light" pitchFamily="34" charset="-122"/>
                <a:cs typeface="Overpass Light" pitchFamily="34" charset="-120"/>
              </a:rPr>
              <a:t>where</a:t>
            </a:r>
            <a:pPr algn="l" indent="0" marL="0">
              <a:lnSpc>
                <a:spcPct val="124000"/>
              </a:lnSpc>
              <a:buNone/>
            </a:pPr>
            <a:r>
              <a:rPr lang="en-US" sz="1100" dirty="0">
                <a:solidFill>
                  <a:srgbClr val="3B4E4E"/>
                </a:solidFill>
                <a:latin typeface="Overpass Light" pitchFamily="34" charset="0"/>
                <a:ea typeface="Overpass Light" pitchFamily="34" charset="-122"/>
                <a:cs typeface="Overpass Light" pitchFamily="34" charset="-120"/>
              </a:rPr>
              <a:t> those values are positioned matters — a scratch in the top-left corner means the same thing as a scratch in the bottom-right corner. Standard tabular algorithms have no concept of spatial position.</a:t>
            </a:r>
            <a:endParaRPr lang="en-US" sz="1100" dirty="0"/>
          </a:p>
        </p:txBody>
      </p:sp>
      <p:pic>
        <p:nvPicPr>
          <p:cNvPr id="16"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3349244" y="3901579"/>
            <a:ext cx="2573273" cy="2295823"/>
          </a:xfrm>
          <a:prstGeom prst="rect">
            <a:avLst/>
          </a:prstGeom>
        </p:spPr>
      </p:pic>
      <p:sp>
        <p:nvSpPr>
          <p:cNvPr id="17" name="Text 11"/>
          <p:cNvSpPr/>
          <p:nvPr/>
        </p:nvSpPr>
        <p:spPr>
          <a:xfrm>
            <a:off x="3548470" y="3920629"/>
            <a:ext cx="2374047" cy="222052"/>
          </a:xfrm>
          <a:prstGeom prst="rect">
            <a:avLst/>
          </a:prstGeom>
          <a:noFill/>
          <a:ln/>
        </p:spPr>
        <p:txBody>
          <a:bodyPr wrap="none" lIns="0" tIns="0" rIns="0" bIns="0" rtlCol="0" anchor="t"/>
          <a:lstStyle/>
          <a:p>
            <a:pPr algn="l" indent="0" marL="0">
              <a:lnSpc>
                <a:spcPct val="104000"/>
              </a:lnSpc>
              <a:buNone/>
            </a:pPr>
            <a:r>
              <a:rPr lang="en-US" sz="1350" b="1" dirty="0">
                <a:solidFill>
                  <a:srgbClr val="3B4E4E"/>
                </a:solidFill>
                <a:latin typeface="Syne Bold" pitchFamily="34" charset="0"/>
                <a:ea typeface="Syne Bold" pitchFamily="34" charset="-122"/>
                <a:cs typeface="Syne Bold" pitchFamily="34" charset="-120"/>
              </a:rPr>
              <a:t>Problem type</a:t>
            </a:r>
            <a:endParaRPr lang="en-US" sz="1350" dirty="0"/>
          </a:p>
        </p:txBody>
      </p:sp>
      <p:sp>
        <p:nvSpPr>
          <p:cNvPr id="18" name="Text 12"/>
          <p:cNvSpPr/>
          <p:nvPr/>
        </p:nvSpPr>
        <p:spPr>
          <a:xfrm>
            <a:off x="3548470" y="4264819"/>
            <a:ext cx="2374047" cy="422870"/>
          </a:xfrm>
          <a:prstGeom prst="rect">
            <a:avLst/>
          </a:prstGeom>
          <a:noFill/>
          <a:ln/>
        </p:spPr>
        <p:txBody>
          <a:bodyPr wrap="square" lIns="0" tIns="0" rIns="0" bIns="0" rtlCol="0" anchor="t">
            <a:normAutofit/>
          </a:bodyPr>
          <a:lstStyle/>
          <a:p>
            <a:pPr algn="l" indent="0" marL="0">
              <a:lnSpc>
                <a:spcPct val="124000"/>
              </a:lnSpc>
              <a:buNone/>
            </a:pPr>
            <a:r>
              <a:rPr lang="en-US" sz="1100" b="1" dirty="0">
                <a:solidFill>
                  <a:srgbClr val="3B4E4E"/>
                </a:solidFill>
                <a:latin typeface="Overpass Bold" pitchFamily="34" charset="0"/>
                <a:ea typeface="Overpass Bold" pitchFamily="34" charset="-122"/>
                <a:cs typeface="Overpass Bold" pitchFamily="34" charset="-120"/>
              </a:rPr>
              <a:t>Image classification — requires a neural network.</a:t>
            </a:r>
            <a:endParaRPr lang="en-US" sz="1100" dirty="0"/>
          </a:p>
        </p:txBody>
      </p:sp>
      <p:sp>
        <p:nvSpPr>
          <p:cNvPr id="19" name="Shape 13"/>
          <p:cNvSpPr/>
          <p:nvPr/>
        </p:nvSpPr>
        <p:spPr>
          <a:xfrm>
            <a:off x="6275528" y="2131616"/>
            <a:ext cx="5261042" cy="1136452"/>
          </a:xfrm>
          <a:prstGeom prst="roundRect">
            <a:avLst>
              <a:gd name="adj" fmla="val 5253"/>
            </a:avLst>
          </a:prstGeom>
          <a:solidFill>
            <a:srgbClr val="DDEEE6"/>
          </a:solidFill>
          <a:ln/>
        </p:spPr>
      </p:sp>
      <p:pic>
        <p:nvPicPr>
          <p:cNvPr id="20" name="Image 4" descr="preencoded.png">    </p:cNvPr>
          <p:cNvPicPr>
            <a:picLocks noChangeAspect="1"/>
          </p:cNvPicPr>
          <p:nvPr/>
        </p:nvPicPr>
        <p:blipFill>
          <a:blip r:embed="rId9"/>
          <a:stretch>
            <a:fillRect/>
          </a:stretch>
        </p:blipFill>
        <p:spPr>
          <a:xfrm>
            <a:off x="6417606" y="2304653"/>
            <a:ext cx="177597" cy="142081"/>
          </a:xfrm>
          <a:prstGeom prst="rect">
            <a:avLst/>
          </a:prstGeom>
        </p:spPr>
      </p:pic>
      <p:sp>
        <p:nvSpPr>
          <p:cNvPr id="21" name="Text 14"/>
          <p:cNvSpPr/>
          <p:nvPr/>
        </p:nvSpPr>
        <p:spPr>
          <a:xfrm>
            <a:off x="6737281" y="2276971"/>
            <a:ext cx="4657212" cy="845741"/>
          </a:xfrm>
          <a:prstGeom prst="rect">
            <a:avLst/>
          </a:prstGeom>
          <a:noFill/>
          <a:ln/>
        </p:spPr>
        <p:txBody>
          <a:bodyPr wrap="square" lIns="0" tIns="0" rIns="0" bIns="0" rtlCol="0" anchor="t">
            <a:normAutofit/>
          </a:bodyPr>
          <a:lstStyle/>
          <a:p>
            <a:pPr algn="l" indent="0" marL="0">
              <a:lnSpc>
                <a:spcPct val="124000"/>
              </a:lnSpc>
              <a:buNone/>
            </a:pPr>
            <a:r>
              <a:rPr lang="en-US" sz="1100" b="1" dirty="0">
                <a:solidFill>
                  <a:srgbClr val="000000"/>
                </a:solidFill>
                <a:latin typeface="Overpass Bold" pitchFamily="34" charset="0"/>
                <a:ea typeface="Overpass Bold" pitchFamily="34" charset="-122"/>
                <a:cs typeface="Overpass Bold" pitchFamily="34" charset="-120"/>
              </a:rPr>
              <a:t>Class discussion:</a:t>
            </a:r>
            <a:pPr algn="l" indent="0" marL="0">
              <a:lnSpc>
                <a:spcPct val="124000"/>
              </a:lnSpc>
              <a:buNone/>
            </a:pPr>
            <a:r>
              <a:rPr lang="en-US" sz="1100" dirty="0">
                <a:solidFill>
                  <a:srgbClr val="000000"/>
                </a:solidFill>
                <a:latin typeface="Overpass Light" pitchFamily="34" charset="0"/>
                <a:ea typeface="Overpass Light" pitchFamily="34" charset="-122"/>
                <a:cs typeface="Overpass Light" pitchFamily="34" charset="-120"/>
              </a:rPr>
              <a:t> How does a human inspector decide a product is defective? Could you write down all those rules in advance, completely and precisely? What does this tell you about why rule-based systems fail at visual inspection?</a:t>
            </a:r>
            <a:endParaRPr lang="en-US" sz="11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DE6"/>
        </a:solidFill>
      </p:bgPr>
    </p:bg>
    <p:spTree>
      <p:nvGrpSpPr>
        <p:cNvPr id="1" name=""/>
        <p:cNvGrpSpPr/>
        <p:nvPr/>
      </p:nvGrpSpPr>
      <p:grpSpPr>
        <a:xfrm>
          <a:off x="0" y="0"/>
          <a:ext cx="0" cy="0"/>
          <a:chOff x="0" y="0"/>
          <a:chExt cx="0" cy="0"/>
        </a:xfrm>
      </p:grpSpPr>
      <p:sp>
        <p:nvSpPr>
          <p:cNvPr id="2" name="Text 0"/>
          <p:cNvSpPr/>
          <p:nvPr/>
        </p:nvSpPr>
        <p:spPr>
          <a:xfrm>
            <a:off x="661475" y="550129"/>
            <a:ext cx="10868745" cy="379512"/>
          </a:xfrm>
          <a:prstGeom prst="rect">
            <a:avLst/>
          </a:prstGeom>
          <a:noFill/>
          <a:ln/>
        </p:spPr>
        <p:txBody>
          <a:bodyPr wrap="none" lIns="0" tIns="0" rIns="0" bIns="0" rtlCol="0" anchor="t"/>
          <a:lstStyle/>
          <a:p>
            <a:pPr algn="l" indent="0" marL="0">
              <a:lnSpc>
                <a:spcPct val="104000"/>
              </a:lnSpc>
              <a:buNone/>
            </a:pPr>
            <a:r>
              <a:rPr lang="en-US" sz="2350" b="1" dirty="0">
                <a:solidFill>
                  <a:srgbClr val="233939"/>
                </a:solidFill>
                <a:latin typeface="Syne Bold" pitchFamily="34" charset="0"/>
                <a:ea typeface="Syne Bold" pitchFamily="34" charset="-122"/>
                <a:cs typeface="Syne Bold" pitchFamily="34" charset="-120"/>
              </a:rPr>
              <a:t>Algorithm: Neural Networks and CNNs</a:t>
            </a:r>
            <a:endParaRPr lang="en-US" sz="2350" dirty="0"/>
          </a:p>
        </p:txBody>
      </p:sp>
      <p:sp>
        <p:nvSpPr>
          <p:cNvPr id="3" name="Text 1"/>
          <p:cNvSpPr/>
          <p:nvPr/>
        </p:nvSpPr>
        <p:spPr>
          <a:xfrm>
            <a:off x="661475" y="1104503"/>
            <a:ext cx="10868745" cy="336947"/>
          </a:xfrm>
          <a:prstGeom prst="rect">
            <a:avLst/>
          </a:prstGeom>
          <a:noFill/>
          <a:ln/>
        </p:spPr>
        <p:txBody>
          <a:bodyPr wrap="square" lIns="0" tIns="0" rIns="0" bIns="0" rtlCol="0" anchor="t">
            <a:normAutofit/>
          </a:bodyPr>
          <a:lstStyle/>
          <a:p>
            <a:pPr algn="l" indent="0" marL="0">
              <a:lnSpc>
                <a:spcPct val="116000"/>
              </a:lnSpc>
              <a:buNone/>
            </a:pPr>
            <a:r>
              <a:rPr lang="en-US" sz="950" dirty="0">
                <a:solidFill>
                  <a:srgbClr val="3B4E4E"/>
                </a:solidFill>
                <a:latin typeface="Overpass Light" pitchFamily="34" charset="0"/>
                <a:ea typeface="Overpass Light" pitchFamily="34" charset="-122"/>
                <a:cs typeface="Overpass Light" pitchFamily="34" charset="-120"/>
              </a:rPr>
              <a:t>Convolutional Neural Networks (CNNs) are the standard algorithm for any task where the input is an image, video frame, or audio spectrogram. They learn to recognise increasingly complex visual patterns through multiple layers of learned filters.</a:t>
            </a:r>
            <a:endParaRPr lang="en-US" sz="950" dirty="0"/>
          </a:p>
        </p:txBody>
      </p:sp>
      <p:sp>
        <p:nvSpPr>
          <p:cNvPr id="4" name="Text 2"/>
          <p:cNvSpPr/>
          <p:nvPr/>
        </p:nvSpPr>
        <p:spPr>
          <a:xfrm>
            <a:off x="661475" y="1631137"/>
            <a:ext cx="5286243" cy="189706"/>
          </a:xfrm>
          <a:prstGeom prst="rect">
            <a:avLst/>
          </a:prstGeom>
          <a:noFill/>
          <a:ln/>
        </p:spPr>
        <p:txBody>
          <a:bodyPr wrap="none" lIns="0" tIns="0" rIns="0" bIns="0" rtlCol="0" anchor="t"/>
          <a:lstStyle/>
          <a:p>
            <a:pPr algn="l" indent="0" marL="0">
              <a:lnSpc>
                <a:spcPct val="104000"/>
              </a:lnSpc>
              <a:buNone/>
            </a:pPr>
            <a:r>
              <a:rPr lang="en-US" sz="1150" b="1" dirty="0">
                <a:solidFill>
                  <a:srgbClr val="233939"/>
                </a:solidFill>
                <a:latin typeface="Syne Bold" pitchFamily="34" charset="0"/>
                <a:ea typeface="Syne Bold" pitchFamily="34" charset="-122"/>
                <a:cs typeface="Syne Bold" pitchFamily="34" charset="-120"/>
              </a:rPr>
              <a:t>How a CNN Works</a:t>
            </a:r>
            <a:endParaRPr lang="en-US" sz="1150" dirty="0"/>
          </a:p>
        </p:txBody>
      </p:sp>
      <p:sp>
        <p:nvSpPr>
          <p:cNvPr id="5" name="Shape 3"/>
          <p:cNvSpPr/>
          <p:nvPr/>
        </p:nvSpPr>
        <p:spPr>
          <a:xfrm>
            <a:off x="661475" y="1920974"/>
            <a:ext cx="121441" cy="858738"/>
          </a:xfrm>
          <a:prstGeom prst="roundRect">
            <a:avLst>
              <a:gd name="adj" fmla="val 42006"/>
            </a:avLst>
          </a:prstGeom>
          <a:solidFill>
            <a:srgbClr val="DDEEE6"/>
          </a:solidFill>
          <a:ln w="6350">
            <a:solidFill>
              <a:srgbClr val="C3D4CC"/>
            </a:solidFill>
            <a:prstDash val="solid"/>
          </a:ln>
        </p:spPr>
      </p:sp>
      <p:sp>
        <p:nvSpPr>
          <p:cNvPr id="6" name="Text 4"/>
          <p:cNvSpPr/>
          <p:nvPr/>
        </p:nvSpPr>
        <p:spPr>
          <a:xfrm>
            <a:off x="872111" y="2042418"/>
            <a:ext cx="5075607" cy="189706"/>
          </a:xfrm>
          <a:prstGeom prst="rect">
            <a:avLst/>
          </a:prstGeom>
          <a:noFill/>
          <a:ln/>
        </p:spPr>
        <p:txBody>
          <a:bodyPr wrap="none" lIns="0" tIns="0" rIns="0" bIns="0" rtlCol="0" anchor="t"/>
          <a:lstStyle/>
          <a:p>
            <a:pPr algn="l" indent="0" marL="0">
              <a:lnSpc>
                <a:spcPct val="104000"/>
              </a:lnSpc>
              <a:buNone/>
            </a:pPr>
            <a:r>
              <a:rPr lang="en-US" sz="1150" b="1" dirty="0">
                <a:solidFill>
                  <a:srgbClr val="3B4E4E"/>
                </a:solidFill>
                <a:latin typeface="Syne Bold" pitchFamily="34" charset="0"/>
                <a:ea typeface="Syne Bold" pitchFamily="34" charset="-122"/>
                <a:cs typeface="Syne Bold" pitchFamily="34" charset="-120"/>
              </a:rPr>
              <a:t>Input Layer: Raw Pixels</a:t>
            </a:r>
            <a:endParaRPr lang="en-US" sz="1150" dirty="0"/>
          </a:p>
        </p:txBody>
      </p:sp>
      <p:sp>
        <p:nvSpPr>
          <p:cNvPr id="7" name="Text 5"/>
          <p:cNvSpPr/>
          <p:nvPr/>
        </p:nvSpPr>
        <p:spPr>
          <a:xfrm>
            <a:off x="872111" y="2321322"/>
            <a:ext cx="5075607" cy="336947"/>
          </a:xfrm>
          <a:prstGeom prst="rect">
            <a:avLst/>
          </a:prstGeom>
          <a:noFill/>
          <a:ln/>
        </p:spPr>
        <p:txBody>
          <a:bodyPr wrap="square" lIns="0" tIns="0" rIns="0" bIns="0" rtlCol="0" anchor="t">
            <a:normAutofit/>
          </a:bodyPr>
          <a:lstStyle/>
          <a:p>
            <a:pPr algn="l" indent="0" marL="0">
              <a:lnSpc>
                <a:spcPct val="116000"/>
              </a:lnSpc>
              <a:buNone/>
            </a:pPr>
            <a:r>
              <a:rPr lang="en-US" sz="950" dirty="0">
                <a:solidFill>
                  <a:srgbClr val="3B4E4E"/>
                </a:solidFill>
                <a:latin typeface="Overpass Light" pitchFamily="34" charset="0"/>
                <a:ea typeface="Overpass Light" pitchFamily="34" charset="-122"/>
                <a:cs typeface="Overpass Light" pitchFamily="34" charset="-120"/>
              </a:rPr>
              <a:t>The image enters as a grid of pixel values. Each pixel has three values (Red, Green, Blue). No manual feature engineering is done.</a:t>
            </a:r>
            <a:endParaRPr lang="en-US" sz="950" dirty="0"/>
          </a:p>
        </p:txBody>
      </p:sp>
      <p:sp>
        <p:nvSpPr>
          <p:cNvPr id="8" name="Shape 6"/>
          <p:cNvSpPr/>
          <p:nvPr/>
        </p:nvSpPr>
        <p:spPr>
          <a:xfrm>
            <a:off x="843636" y="2868910"/>
            <a:ext cx="121441" cy="858738"/>
          </a:xfrm>
          <a:prstGeom prst="roundRect">
            <a:avLst>
              <a:gd name="adj" fmla="val 42006"/>
            </a:avLst>
          </a:prstGeom>
          <a:solidFill>
            <a:srgbClr val="DDEEE6"/>
          </a:solidFill>
          <a:ln w="6350">
            <a:solidFill>
              <a:srgbClr val="C3D4CC"/>
            </a:solidFill>
            <a:prstDash val="solid"/>
          </a:ln>
        </p:spPr>
      </p:sp>
      <p:sp>
        <p:nvSpPr>
          <p:cNvPr id="9" name="Text 7"/>
          <p:cNvSpPr/>
          <p:nvPr/>
        </p:nvSpPr>
        <p:spPr>
          <a:xfrm>
            <a:off x="1054272" y="2990354"/>
            <a:ext cx="4893446" cy="189706"/>
          </a:xfrm>
          <a:prstGeom prst="rect">
            <a:avLst/>
          </a:prstGeom>
          <a:noFill/>
          <a:ln/>
        </p:spPr>
        <p:txBody>
          <a:bodyPr wrap="none" lIns="0" tIns="0" rIns="0" bIns="0" rtlCol="0" anchor="t"/>
          <a:lstStyle/>
          <a:p>
            <a:pPr algn="l" indent="0" marL="0">
              <a:lnSpc>
                <a:spcPct val="104000"/>
              </a:lnSpc>
              <a:buNone/>
            </a:pPr>
            <a:r>
              <a:rPr lang="en-US" sz="1150" b="1" dirty="0">
                <a:solidFill>
                  <a:srgbClr val="3B4E4E"/>
                </a:solidFill>
                <a:latin typeface="Syne Bold" pitchFamily="34" charset="0"/>
                <a:ea typeface="Syne Bold" pitchFamily="34" charset="-122"/>
                <a:cs typeface="Syne Bold" pitchFamily="34" charset="-120"/>
              </a:rPr>
              <a:t>Early Layers: Edges and Colours</a:t>
            </a:r>
            <a:endParaRPr lang="en-US" sz="1150" dirty="0"/>
          </a:p>
        </p:txBody>
      </p:sp>
      <p:sp>
        <p:nvSpPr>
          <p:cNvPr id="10" name="Text 8"/>
          <p:cNvSpPr/>
          <p:nvPr/>
        </p:nvSpPr>
        <p:spPr>
          <a:xfrm>
            <a:off x="1054272" y="3269258"/>
            <a:ext cx="4893446" cy="336947"/>
          </a:xfrm>
          <a:prstGeom prst="rect">
            <a:avLst/>
          </a:prstGeom>
          <a:noFill/>
          <a:ln/>
        </p:spPr>
        <p:txBody>
          <a:bodyPr wrap="square" lIns="0" tIns="0" rIns="0" bIns="0" rtlCol="0" anchor="t">
            <a:normAutofit/>
          </a:bodyPr>
          <a:lstStyle/>
          <a:p>
            <a:pPr algn="l" indent="0" marL="0">
              <a:lnSpc>
                <a:spcPct val="116000"/>
              </a:lnSpc>
              <a:buNone/>
            </a:pPr>
            <a:r>
              <a:rPr lang="en-US" sz="950" dirty="0">
                <a:solidFill>
                  <a:srgbClr val="3B4E4E"/>
                </a:solidFill>
                <a:latin typeface="Overpass Light" pitchFamily="34" charset="0"/>
                <a:ea typeface="Overpass Light" pitchFamily="34" charset="-122"/>
                <a:cs typeface="Overpass Light" pitchFamily="34" charset="-120"/>
              </a:rPr>
              <a:t>Small convolutional filters slide across the image, detecting edges, colour gradients, and simple textures — the basic visual vocabulary.</a:t>
            </a:r>
            <a:endParaRPr lang="en-US" sz="950" dirty="0"/>
          </a:p>
        </p:txBody>
      </p:sp>
      <p:sp>
        <p:nvSpPr>
          <p:cNvPr id="11" name="Shape 9"/>
          <p:cNvSpPr/>
          <p:nvPr/>
        </p:nvSpPr>
        <p:spPr>
          <a:xfrm>
            <a:off x="1025797" y="3816846"/>
            <a:ext cx="121441" cy="858738"/>
          </a:xfrm>
          <a:prstGeom prst="roundRect">
            <a:avLst>
              <a:gd name="adj" fmla="val 42006"/>
            </a:avLst>
          </a:prstGeom>
          <a:solidFill>
            <a:srgbClr val="DDEEE6"/>
          </a:solidFill>
          <a:ln w="6350">
            <a:solidFill>
              <a:srgbClr val="C3D4CC"/>
            </a:solidFill>
            <a:prstDash val="solid"/>
          </a:ln>
        </p:spPr>
      </p:sp>
      <p:sp>
        <p:nvSpPr>
          <p:cNvPr id="12" name="Text 10"/>
          <p:cNvSpPr/>
          <p:nvPr/>
        </p:nvSpPr>
        <p:spPr>
          <a:xfrm>
            <a:off x="1236433" y="3938290"/>
            <a:ext cx="4711284" cy="189706"/>
          </a:xfrm>
          <a:prstGeom prst="rect">
            <a:avLst/>
          </a:prstGeom>
          <a:noFill/>
          <a:ln/>
        </p:spPr>
        <p:txBody>
          <a:bodyPr wrap="none" lIns="0" tIns="0" rIns="0" bIns="0" rtlCol="0" anchor="t"/>
          <a:lstStyle/>
          <a:p>
            <a:pPr algn="l" indent="0" marL="0">
              <a:lnSpc>
                <a:spcPct val="104000"/>
              </a:lnSpc>
              <a:buNone/>
            </a:pPr>
            <a:r>
              <a:rPr lang="en-US" sz="1150" b="1" dirty="0">
                <a:solidFill>
                  <a:srgbClr val="3B4E4E"/>
                </a:solidFill>
                <a:latin typeface="Syne Bold" pitchFamily="34" charset="0"/>
                <a:ea typeface="Syne Bold" pitchFamily="34" charset="-122"/>
                <a:cs typeface="Syne Bold" pitchFamily="34" charset="-120"/>
              </a:rPr>
              <a:t>Middle Layers: Shapes and Patterns</a:t>
            </a:r>
            <a:endParaRPr lang="en-US" sz="1150" dirty="0"/>
          </a:p>
        </p:txBody>
      </p:sp>
      <p:sp>
        <p:nvSpPr>
          <p:cNvPr id="13" name="Text 11"/>
          <p:cNvSpPr/>
          <p:nvPr/>
        </p:nvSpPr>
        <p:spPr>
          <a:xfrm>
            <a:off x="1236433" y="4217194"/>
            <a:ext cx="4711284" cy="336947"/>
          </a:xfrm>
          <a:prstGeom prst="rect">
            <a:avLst/>
          </a:prstGeom>
          <a:noFill/>
          <a:ln/>
        </p:spPr>
        <p:txBody>
          <a:bodyPr wrap="square" lIns="0" tIns="0" rIns="0" bIns="0" rtlCol="0" anchor="t">
            <a:normAutofit/>
          </a:bodyPr>
          <a:lstStyle/>
          <a:p>
            <a:pPr algn="l" indent="0" marL="0">
              <a:lnSpc>
                <a:spcPct val="116000"/>
              </a:lnSpc>
              <a:buNone/>
            </a:pPr>
            <a:r>
              <a:rPr lang="en-US" sz="950" dirty="0">
                <a:solidFill>
                  <a:srgbClr val="3B4E4E"/>
                </a:solidFill>
                <a:latin typeface="Overpass Light" pitchFamily="34" charset="0"/>
                <a:ea typeface="Overpass Light" pitchFamily="34" charset="-122"/>
                <a:cs typeface="Overpass Light" pitchFamily="34" charset="-120"/>
              </a:rPr>
              <a:t>Later layers combine the low-level detections into higher-level shapes: a scratch, a dent, a discolouration, a missing component.</a:t>
            </a:r>
            <a:endParaRPr lang="en-US" sz="950" dirty="0"/>
          </a:p>
        </p:txBody>
      </p:sp>
      <p:sp>
        <p:nvSpPr>
          <p:cNvPr id="14" name="Shape 12"/>
          <p:cNvSpPr/>
          <p:nvPr/>
        </p:nvSpPr>
        <p:spPr>
          <a:xfrm>
            <a:off x="1207958" y="4764782"/>
            <a:ext cx="121441" cy="858738"/>
          </a:xfrm>
          <a:prstGeom prst="roundRect">
            <a:avLst>
              <a:gd name="adj" fmla="val 42006"/>
            </a:avLst>
          </a:prstGeom>
          <a:solidFill>
            <a:srgbClr val="DDEEE6"/>
          </a:solidFill>
          <a:ln w="6350">
            <a:solidFill>
              <a:srgbClr val="C3D4CC"/>
            </a:solidFill>
            <a:prstDash val="solid"/>
          </a:ln>
        </p:spPr>
      </p:sp>
      <p:sp>
        <p:nvSpPr>
          <p:cNvPr id="15" name="Text 13"/>
          <p:cNvSpPr/>
          <p:nvPr/>
        </p:nvSpPr>
        <p:spPr>
          <a:xfrm>
            <a:off x="1418594" y="4886226"/>
            <a:ext cx="4529123" cy="189706"/>
          </a:xfrm>
          <a:prstGeom prst="rect">
            <a:avLst/>
          </a:prstGeom>
          <a:noFill/>
          <a:ln/>
        </p:spPr>
        <p:txBody>
          <a:bodyPr wrap="none" lIns="0" tIns="0" rIns="0" bIns="0" rtlCol="0" anchor="t"/>
          <a:lstStyle/>
          <a:p>
            <a:pPr algn="l" indent="0" marL="0">
              <a:lnSpc>
                <a:spcPct val="104000"/>
              </a:lnSpc>
              <a:buNone/>
            </a:pPr>
            <a:r>
              <a:rPr lang="en-US" sz="1150" b="1" dirty="0">
                <a:solidFill>
                  <a:srgbClr val="3B4E4E"/>
                </a:solidFill>
                <a:latin typeface="Syne Bold" pitchFamily="34" charset="0"/>
                <a:ea typeface="Syne Bold" pitchFamily="34" charset="-122"/>
                <a:cs typeface="Syne Bold" pitchFamily="34" charset="-120"/>
              </a:rPr>
              <a:t>Output Layer: Decision</a:t>
            </a:r>
            <a:endParaRPr lang="en-US" sz="1150" dirty="0"/>
          </a:p>
        </p:txBody>
      </p:sp>
      <p:sp>
        <p:nvSpPr>
          <p:cNvPr id="16" name="Text 14"/>
          <p:cNvSpPr/>
          <p:nvPr/>
        </p:nvSpPr>
        <p:spPr>
          <a:xfrm>
            <a:off x="1418594" y="5165130"/>
            <a:ext cx="4529123" cy="336947"/>
          </a:xfrm>
          <a:prstGeom prst="rect">
            <a:avLst/>
          </a:prstGeom>
          <a:noFill/>
          <a:ln/>
        </p:spPr>
        <p:txBody>
          <a:bodyPr wrap="square" lIns="0" tIns="0" rIns="0" bIns="0" rtlCol="0" anchor="t">
            <a:normAutofit/>
          </a:bodyPr>
          <a:lstStyle/>
          <a:p>
            <a:pPr algn="l" indent="0" marL="0">
              <a:lnSpc>
                <a:spcPct val="116000"/>
              </a:lnSpc>
              <a:buNone/>
            </a:pPr>
            <a:r>
              <a:rPr lang="en-US" sz="950" dirty="0">
                <a:solidFill>
                  <a:srgbClr val="3B4E4E"/>
                </a:solidFill>
                <a:latin typeface="Overpass Light" pitchFamily="34" charset="0"/>
                <a:ea typeface="Overpass Light" pitchFamily="34" charset="-122"/>
                <a:cs typeface="Overpass Light" pitchFamily="34" charset="-120"/>
              </a:rPr>
              <a:t>The final layer combines all detected shapes into a single decision: defective (with a probability score) or fine.</a:t>
            </a:r>
            <a:endParaRPr lang="en-US" sz="950" dirty="0"/>
          </a:p>
        </p:txBody>
      </p:sp>
      <p:sp>
        <p:nvSpPr>
          <p:cNvPr id="17" name="Text 15"/>
          <p:cNvSpPr/>
          <p:nvPr/>
        </p:nvSpPr>
        <p:spPr>
          <a:xfrm>
            <a:off x="6250327" y="1631137"/>
            <a:ext cx="5286243" cy="189706"/>
          </a:xfrm>
          <a:prstGeom prst="rect">
            <a:avLst/>
          </a:prstGeom>
          <a:noFill/>
          <a:ln/>
        </p:spPr>
        <p:txBody>
          <a:bodyPr wrap="none" lIns="0" tIns="0" rIns="0" bIns="0" rtlCol="0" anchor="t"/>
          <a:lstStyle/>
          <a:p>
            <a:pPr algn="l" indent="0" marL="0">
              <a:lnSpc>
                <a:spcPct val="104000"/>
              </a:lnSpc>
              <a:buNone/>
            </a:pPr>
            <a:r>
              <a:rPr lang="en-US" sz="1150" b="1" dirty="0">
                <a:solidFill>
                  <a:srgbClr val="233939"/>
                </a:solidFill>
                <a:latin typeface="Syne Bold" pitchFamily="34" charset="0"/>
                <a:ea typeface="Syne Bold" pitchFamily="34" charset="-122"/>
                <a:cs typeface="Syne Bold" pitchFamily="34" charset="-120"/>
              </a:rPr>
              <a:t>What the Model Learns</a:t>
            </a:r>
            <a:endParaRPr lang="en-US" sz="1150" dirty="0"/>
          </a:p>
        </p:txBody>
      </p:sp>
      <p:sp>
        <p:nvSpPr>
          <p:cNvPr id="18" name="Text 16"/>
          <p:cNvSpPr/>
          <p:nvPr/>
        </p:nvSpPr>
        <p:spPr>
          <a:xfrm>
            <a:off x="6250327" y="1909862"/>
            <a:ext cx="5286243" cy="505420"/>
          </a:xfrm>
          <a:prstGeom prst="rect">
            <a:avLst/>
          </a:prstGeom>
          <a:noFill/>
          <a:ln/>
        </p:spPr>
        <p:txBody>
          <a:bodyPr wrap="square" lIns="0" tIns="0" rIns="0" bIns="0" rtlCol="0" anchor="t">
            <a:normAutofit/>
          </a:bodyPr>
          <a:lstStyle/>
          <a:p>
            <a:pPr algn="l" indent="0" marL="0">
              <a:lnSpc>
                <a:spcPct val="116000"/>
              </a:lnSpc>
              <a:buNone/>
            </a:pPr>
            <a:r>
              <a:rPr lang="en-US" sz="950" dirty="0">
                <a:solidFill>
                  <a:srgbClr val="3B4E4E"/>
                </a:solidFill>
                <a:latin typeface="Overpass Light" pitchFamily="34" charset="0"/>
                <a:ea typeface="Overpass Light" pitchFamily="34" charset="-122"/>
                <a:cs typeface="Overpass Light" pitchFamily="34" charset="-120"/>
              </a:rPr>
              <a:t>Crucially, the network learns </a:t>
            </a:r>
            <a:pPr algn="l" indent="0" marL="0">
              <a:lnSpc>
                <a:spcPct val="116000"/>
              </a:lnSpc>
              <a:buNone/>
            </a:pPr>
            <a:r>
              <a:rPr lang="en-US" sz="950" i="1" dirty="0">
                <a:solidFill>
                  <a:srgbClr val="3B4E4E"/>
                </a:solidFill>
                <a:latin typeface="Overpass Light" pitchFamily="34" charset="0"/>
                <a:ea typeface="Overpass Light" pitchFamily="34" charset="-122"/>
                <a:cs typeface="Overpass Light" pitchFamily="34" charset="-120"/>
              </a:rPr>
              <a:t>what to look for by itself</a:t>
            </a:r>
            <a:pPr algn="l" indent="0" marL="0">
              <a:lnSpc>
                <a:spcPct val="116000"/>
              </a:lnSpc>
              <a:buNone/>
            </a:pPr>
            <a:r>
              <a:rPr lang="en-US" sz="950" dirty="0">
                <a:solidFill>
                  <a:srgbClr val="3B4E4E"/>
                </a:solidFill>
                <a:latin typeface="Overpass Light" pitchFamily="34" charset="0"/>
                <a:ea typeface="Overpass Light" pitchFamily="34" charset="-122"/>
                <a:cs typeface="Overpass Light" pitchFamily="34" charset="-120"/>
              </a:rPr>
              <a:t> from thousands of labelled photos — no human defines the rules. The patterns it discovers are often ones that a human could not articulate in words, which is part of why it outperforms rule-based systems.</a:t>
            </a:r>
            <a:endParaRPr lang="en-US" sz="950" dirty="0"/>
          </a:p>
        </p:txBody>
      </p:sp>
      <p:pic>
        <p:nvPicPr>
          <p:cNvPr id="19"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250327" y="2515592"/>
            <a:ext cx="5286243" cy="884138"/>
          </a:xfrm>
          <a:prstGeom prst="rect">
            <a:avLst/>
          </a:prstGeom>
        </p:spPr>
      </p:pic>
      <p:sp>
        <p:nvSpPr>
          <p:cNvPr id="20" name="Text 17"/>
          <p:cNvSpPr/>
          <p:nvPr/>
        </p:nvSpPr>
        <p:spPr>
          <a:xfrm>
            <a:off x="6435266" y="2649736"/>
            <a:ext cx="4967163" cy="189706"/>
          </a:xfrm>
          <a:prstGeom prst="rect">
            <a:avLst/>
          </a:prstGeom>
          <a:noFill/>
          <a:ln/>
        </p:spPr>
        <p:txBody>
          <a:bodyPr wrap="none" lIns="0" tIns="0" rIns="0" bIns="0" rtlCol="0" anchor="t"/>
          <a:lstStyle/>
          <a:p>
            <a:pPr algn="l" indent="0" marL="0">
              <a:lnSpc>
                <a:spcPct val="104000"/>
              </a:lnSpc>
              <a:buNone/>
            </a:pPr>
            <a:r>
              <a:rPr lang="en-US" sz="1150" b="1" dirty="0">
                <a:solidFill>
                  <a:srgbClr val="3B4E4E"/>
                </a:solidFill>
                <a:latin typeface="Syne Bold" pitchFamily="34" charset="0"/>
                <a:ea typeface="Syne Bold" pitchFamily="34" charset="-122"/>
                <a:cs typeface="Syne Bold" pitchFamily="34" charset="-120"/>
              </a:rPr>
              <a:t>✓ Handles Complex Visual Input</a:t>
            </a:r>
            <a:endParaRPr lang="en-US" sz="1150" dirty="0"/>
          </a:p>
        </p:txBody>
      </p:sp>
      <p:sp>
        <p:nvSpPr>
          <p:cNvPr id="21" name="Text 18"/>
          <p:cNvSpPr/>
          <p:nvPr/>
        </p:nvSpPr>
        <p:spPr>
          <a:xfrm>
            <a:off x="6435266" y="2928640"/>
            <a:ext cx="4967163" cy="336947"/>
          </a:xfrm>
          <a:prstGeom prst="rect">
            <a:avLst/>
          </a:prstGeom>
          <a:noFill/>
          <a:ln/>
        </p:spPr>
        <p:txBody>
          <a:bodyPr wrap="square" lIns="0" tIns="0" rIns="0" bIns="0" rtlCol="0" anchor="t">
            <a:normAutofit/>
          </a:bodyPr>
          <a:lstStyle/>
          <a:p>
            <a:pPr algn="l" indent="0" marL="0">
              <a:lnSpc>
                <a:spcPct val="116000"/>
              </a:lnSpc>
              <a:buNone/>
            </a:pPr>
            <a:r>
              <a:rPr lang="en-US" sz="950" dirty="0">
                <a:solidFill>
                  <a:srgbClr val="3B4E4E"/>
                </a:solidFill>
                <a:latin typeface="Overpass Light" pitchFamily="34" charset="0"/>
                <a:ea typeface="Overpass Light" pitchFamily="34" charset="-122"/>
                <a:cs typeface="Overpass Light" pitchFamily="34" charset="-120"/>
              </a:rPr>
              <a:t>Outperforms all other algorithms on images, audio, and video. Matches or exceeds human accuracy on many visual tasks.</a:t>
            </a:r>
            <a:endParaRPr lang="en-US" sz="950" dirty="0"/>
          </a:p>
        </p:txBody>
      </p:sp>
      <p:pic>
        <p:nvPicPr>
          <p:cNvPr id="22"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250327" y="3488928"/>
            <a:ext cx="5286243" cy="884138"/>
          </a:xfrm>
          <a:prstGeom prst="rect">
            <a:avLst/>
          </a:prstGeom>
        </p:spPr>
      </p:pic>
      <p:sp>
        <p:nvSpPr>
          <p:cNvPr id="23" name="Text 19"/>
          <p:cNvSpPr/>
          <p:nvPr/>
        </p:nvSpPr>
        <p:spPr>
          <a:xfrm>
            <a:off x="6435266" y="3623072"/>
            <a:ext cx="4967163" cy="189706"/>
          </a:xfrm>
          <a:prstGeom prst="rect">
            <a:avLst/>
          </a:prstGeom>
          <a:noFill/>
          <a:ln/>
        </p:spPr>
        <p:txBody>
          <a:bodyPr wrap="none" lIns="0" tIns="0" rIns="0" bIns="0" rtlCol="0" anchor="t"/>
          <a:lstStyle/>
          <a:p>
            <a:pPr algn="l" indent="0" marL="0">
              <a:lnSpc>
                <a:spcPct val="104000"/>
              </a:lnSpc>
              <a:buNone/>
            </a:pPr>
            <a:r>
              <a:rPr lang="en-US" sz="1150" b="1" dirty="0">
                <a:solidFill>
                  <a:srgbClr val="3B4E4E"/>
                </a:solidFill>
                <a:latin typeface="Syne Bold" pitchFamily="34" charset="0"/>
                <a:ea typeface="Syne Bold" pitchFamily="34" charset="-122"/>
                <a:cs typeface="Syne Bold" pitchFamily="34" charset="-120"/>
              </a:rPr>
              <a:t>✗ Data Hungry</a:t>
            </a:r>
            <a:endParaRPr lang="en-US" sz="1150" dirty="0"/>
          </a:p>
        </p:txBody>
      </p:sp>
      <p:sp>
        <p:nvSpPr>
          <p:cNvPr id="24" name="Text 20"/>
          <p:cNvSpPr/>
          <p:nvPr/>
        </p:nvSpPr>
        <p:spPr>
          <a:xfrm>
            <a:off x="6435266" y="3901976"/>
            <a:ext cx="4967163" cy="336947"/>
          </a:xfrm>
          <a:prstGeom prst="rect">
            <a:avLst/>
          </a:prstGeom>
          <a:noFill/>
          <a:ln/>
        </p:spPr>
        <p:txBody>
          <a:bodyPr wrap="square" lIns="0" tIns="0" rIns="0" bIns="0" rtlCol="0" anchor="t">
            <a:normAutofit/>
          </a:bodyPr>
          <a:lstStyle/>
          <a:p>
            <a:pPr algn="l" indent="0" marL="0">
              <a:lnSpc>
                <a:spcPct val="116000"/>
              </a:lnSpc>
              <a:buNone/>
            </a:pPr>
            <a:r>
              <a:rPr lang="en-US" sz="950" dirty="0">
                <a:solidFill>
                  <a:srgbClr val="3B4E4E"/>
                </a:solidFill>
                <a:latin typeface="Overpass Light" pitchFamily="34" charset="0"/>
                <a:ea typeface="Overpass Light" pitchFamily="34" charset="-122"/>
                <a:cs typeface="Overpass Light" pitchFamily="34" charset="-120"/>
              </a:rPr>
              <a:t>Typically needs thousands to millions of labelled examples to train well. Small datasets lead to overfitting.</a:t>
            </a:r>
            <a:endParaRPr lang="en-US" sz="950" dirty="0"/>
          </a:p>
        </p:txBody>
      </p:sp>
      <p:pic>
        <p:nvPicPr>
          <p:cNvPr id="25"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250327" y="4462264"/>
            <a:ext cx="5286243" cy="884138"/>
          </a:xfrm>
          <a:prstGeom prst="rect">
            <a:avLst/>
          </a:prstGeom>
        </p:spPr>
      </p:pic>
      <p:sp>
        <p:nvSpPr>
          <p:cNvPr id="26" name="Text 21"/>
          <p:cNvSpPr/>
          <p:nvPr/>
        </p:nvSpPr>
        <p:spPr>
          <a:xfrm>
            <a:off x="6435266" y="4596408"/>
            <a:ext cx="4967163" cy="189706"/>
          </a:xfrm>
          <a:prstGeom prst="rect">
            <a:avLst/>
          </a:prstGeom>
          <a:noFill/>
          <a:ln/>
        </p:spPr>
        <p:txBody>
          <a:bodyPr wrap="none" lIns="0" tIns="0" rIns="0" bIns="0" rtlCol="0" anchor="t"/>
          <a:lstStyle/>
          <a:p>
            <a:pPr algn="l" indent="0" marL="0">
              <a:lnSpc>
                <a:spcPct val="104000"/>
              </a:lnSpc>
              <a:buNone/>
            </a:pPr>
            <a:r>
              <a:rPr lang="en-US" sz="1150" b="1" dirty="0">
                <a:solidFill>
                  <a:srgbClr val="3B4E4E"/>
                </a:solidFill>
                <a:latin typeface="Syne Bold" pitchFamily="34" charset="0"/>
                <a:ea typeface="Syne Bold" pitchFamily="34" charset="-122"/>
                <a:cs typeface="Syne Bold" pitchFamily="34" charset="-120"/>
              </a:rPr>
              <a:t>✗ Hard to Explain</a:t>
            </a:r>
            <a:endParaRPr lang="en-US" sz="1150" dirty="0"/>
          </a:p>
        </p:txBody>
      </p:sp>
      <p:sp>
        <p:nvSpPr>
          <p:cNvPr id="27" name="Text 22"/>
          <p:cNvSpPr/>
          <p:nvPr/>
        </p:nvSpPr>
        <p:spPr>
          <a:xfrm>
            <a:off x="6435266" y="4875312"/>
            <a:ext cx="4967163" cy="336947"/>
          </a:xfrm>
          <a:prstGeom prst="rect">
            <a:avLst/>
          </a:prstGeom>
          <a:noFill/>
          <a:ln/>
        </p:spPr>
        <p:txBody>
          <a:bodyPr wrap="square" lIns="0" tIns="0" rIns="0" bIns="0" rtlCol="0" anchor="t">
            <a:normAutofit/>
          </a:bodyPr>
          <a:lstStyle/>
          <a:p>
            <a:pPr algn="l" indent="0" marL="0">
              <a:lnSpc>
                <a:spcPct val="116000"/>
              </a:lnSpc>
              <a:buNone/>
            </a:pPr>
            <a:r>
              <a:rPr lang="en-US" sz="950" dirty="0">
                <a:solidFill>
                  <a:srgbClr val="3B4E4E"/>
                </a:solidFill>
                <a:latin typeface="Overpass Light" pitchFamily="34" charset="0"/>
                <a:ea typeface="Overpass Light" pitchFamily="34" charset="-122"/>
                <a:cs typeface="Overpass Light" pitchFamily="34" charset="-120"/>
              </a:rPr>
              <a:t>The internal representations are not human-readable. Increasingly, "explainability" techniques like Grad-CAM are used to highlight which parts of an image drove the decision.</a:t>
            </a:r>
            <a:endParaRPr lang="en-US" sz="950" dirty="0"/>
          </a:p>
        </p:txBody>
      </p:sp>
      <p:sp>
        <p:nvSpPr>
          <p:cNvPr id="28" name="Text 23"/>
          <p:cNvSpPr/>
          <p:nvPr/>
        </p:nvSpPr>
        <p:spPr>
          <a:xfrm>
            <a:off x="6250327" y="5446891"/>
            <a:ext cx="5286243" cy="189706"/>
          </a:xfrm>
          <a:prstGeom prst="rect">
            <a:avLst/>
          </a:prstGeom>
          <a:noFill/>
          <a:ln/>
        </p:spPr>
        <p:txBody>
          <a:bodyPr wrap="none" lIns="0" tIns="0" rIns="0" bIns="0" rtlCol="0" anchor="t"/>
          <a:lstStyle/>
          <a:p>
            <a:pPr algn="l" indent="0" marL="0">
              <a:lnSpc>
                <a:spcPct val="104000"/>
              </a:lnSpc>
              <a:buNone/>
            </a:pPr>
            <a:r>
              <a:rPr lang="en-US" sz="1150" b="1" dirty="0">
                <a:solidFill>
                  <a:srgbClr val="233939"/>
                </a:solidFill>
                <a:latin typeface="Syne Bold" pitchFamily="34" charset="0"/>
                <a:ea typeface="Syne Bold" pitchFamily="34" charset="-122"/>
                <a:cs typeface="Syne Bold" pitchFamily="34" charset="-120"/>
              </a:rPr>
              <a:t>Real-World Use</a:t>
            </a:r>
            <a:endParaRPr lang="en-US" sz="1150" dirty="0"/>
          </a:p>
        </p:txBody>
      </p:sp>
      <p:sp>
        <p:nvSpPr>
          <p:cNvPr id="29" name="Text 24"/>
          <p:cNvSpPr/>
          <p:nvPr/>
        </p:nvSpPr>
        <p:spPr>
          <a:xfrm>
            <a:off x="6250327" y="5725616"/>
            <a:ext cx="5286243" cy="505420"/>
          </a:xfrm>
          <a:prstGeom prst="rect">
            <a:avLst/>
          </a:prstGeom>
          <a:noFill/>
          <a:ln/>
        </p:spPr>
        <p:txBody>
          <a:bodyPr wrap="square" lIns="0" tIns="0" rIns="0" bIns="0" rtlCol="0" anchor="t">
            <a:normAutofit/>
          </a:bodyPr>
          <a:lstStyle/>
          <a:p>
            <a:pPr algn="l" indent="0" marL="0">
              <a:lnSpc>
                <a:spcPct val="116000"/>
              </a:lnSpc>
              <a:buNone/>
            </a:pPr>
            <a:r>
              <a:rPr lang="en-US" sz="950" dirty="0">
                <a:solidFill>
                  <a:srgbClr val="3B4E4E"/>
                </a:solidFill>
                <a:latin typeface="Overpass Light" pitchFamily="34" charset="0"/>
                <a:ea typeface="Overpass Light" pitchFamily="34" charset="-122"/>
                <a:cs typeface="Overpass Light" pitchFamily="34" charset="-120"/>
              </a:rPr>
              <a:t>Photo search in Google Photos; PCB defect detection in electronics manufacturing; detecting diabetic retinopathy from retinal scans (Google research, 2016 — matching ophthalmologist accuracy).</a:t>
            </a:r>
            <a:endParaRPr lang="en-US" sz="9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DE6"/>
        </a:solidFill>
      </p:bgPr>
    </p:bg>
    <p:spTree>
      <p:nvGrpSpPr>
        <p:cNvPr id="1" name=""/>
        <p:cNvGrpSpPr/>
        <p:nvPr/>
      </p:nvGrpSpPr>
      <p:grpSpPr>
        <a:xfrm>
          <a:off x="0" y="0"/>
          <a:ext cx="0" cy="0"/>
          <a:chOff x="0" y="0"/>
          <a:chExt cx="0" cy="0"/>
        </a:xfrm>
      </p:grpSpPr>
      <p:sp>
        <p:nvSpPr>
          <p:cNvPr id="2" name="Text 0"/>
          <p:cNvSpPr/>
          <p:nvPr/>
        </p:nvSpPr>
        <p:spPr>
          <a:xfrm>
            <a:off x="661475" y="532096"/>
            <a:ext cx="10868745" cy="419894"/>
          </a:xfrm>
          <a:prstGeom prst="rect">
            <a:avLst/>
          </a:prstGeom>
          <a:noFill/>
          <a:ln/>
        </p:spPr>
        <p:txBody>
          <a:bodyPr wrap="none" lIns="0" tIns="0" rIns="0" bIns="0" rtlCol="0" anchor="t"/>
          <a:lstStyle/>
          <a:p>
            <a:pPr algn="l" indent="0" marL="0">
              <a:lnSpc>
                <a:spcPct val="104000"/>
              </a:lnSpc>
              <a:buNone/>
            </a:pPr>
            <a:r>
              <a:rPr lang="en-US" sz="2600" b="1" dirty="0">
                <a:solidFill>
                  <a:srgbClr val="233939"/>
                </a:solidFill>
                <a:latin typeface="Syne Bold" pitchFamily="34" charset="0"/>
                <a:ea typeface="Syne Bold" pitchFamily="34" charset="-122"/>
                <a:cs typeface="Syne Bold" pitchFamily="34" charset="-120"/>
              </a:rPr>
              <a:t>How Do I Know If My Model Is Good?</a:t>
            </a:r>
            <a:endParaRPr lang="en-US" sz="2600" dirty="0"/>
          </a:p>
        </p:txBody>
      </p:sp>
      <p:sp>
        <p:nvSpPr>
          <p:cNvPr id="3" name="Text 1"/>
          <p:cNvSpPr/>
          <p:nvPr/>
        </p:nvSpPr>
        <p:spPr>
          <a:xfrm>
            <a:off x="661475" y="1167309"/>
            <a:ext cx="10868745" cy="389533"/>
          </a:xfrm>
          <a:prstGeom prst="rect">
            <a:avLst/>
          </a:prstGeom>
          <a:noFill/>
          <a:ln/>
        </p:spPr>
        <p:txBody>
          <a:bodyPr wrap="square" lIns="0" tIns="0" rIns="0" bIns="0" rtlCol="0" anchor="t">
            <a:normAutofit/>
          </a:bodyPr>
          <a:lstStyle/>
          <a:p>
            <a:pPr algn="l" indent="0" marL="0">
              <a:lnSpc>
                <a:spcPct val="121000"/>
              </a:lnSpc>
              <a:buNone/>
            </a:pPr>
            <a:r>
              <a:rPr lang="en-US" sz="1050" dirty="0">
                <a:solidFill>
                  <a:srgbClr val="3B4E4E"/>
                </a:solidFill>
                <a:latin typeface="Overpass Light" pitchFamily="34" charset="0"/>
                <a:ea typeface="Overpass Light" pitchFamily="34" charset="-122"/>
                <a:cs typeface="Overpass Light" pitchFamily="34" charset="-120"/>
              </a:rPr>
              <a:t>Choosing the right evaluation metric is just as important as choosing the right algorithm. Using the wrong metric can make a useless model look excellent — as the fraud example illustrated.</a:t>
            </a:r>
            <a:endParaRPr lang="en-US" sz="1050" dirty="0"/>
          </a:p>
        </p:txBody>
      </p:sp>
      <p:sp>
        <p:nvSpPr>
          <p:cNvPr id="4" name="Text 2"/>
          <p:cNvSpPr/>
          <p:nvPr/>
        </p:nvSpPr>
        <p:spPr>
          <a:xfrm>
            <a:off x="661475" y="1790296"/>
            <a:ext cx="5270467" cy="209947"/>
          </a:xfrm>
          <a:prstGeom prst="rect">
            <a:avLst/>
          </a:prstGeom>
          <a:noFill/>
          <a:ln/>
        </p:spPr>
        <p:txBody>
          <a:bodyPr wrap="none" lIns="0" tIns="0" rIns="0" bIns="0" rtlCol="0" anchor="t"/>
          <a:lstStyle/>
          <a:p>
            <a:pPr algn="l" indent="0" marL="0">
              <a:lnSpc>
                <a:spcPct val="104000"/>
              </a:lnSpc>
              <a:buNone/>
            </a:pPr>
            <a:r>
              <a:rPr lang="en-US" sz="1300" b="1" dirty="0">
                <a:solidFill>
                  <a:srgbClr val="233939"/>
                </a:solidFill>
                <a:latin typeface="Syne Bold" pitchFamily="34" charset="0"/>
                <a:ea typeface="Syne Bold" pitchFamily="34" charset="-122"/>
                <a:cs typeface="Syne Bold" pitchFamily="34" charset="-120"/>
              </a:rPr>
              <a:t>For Regression (Predicting Numbers)</a:t>
            </a:r>
            <a:endParaRPr lang="en-US" sz="1300" dirty="0"/>
          </a:p>
        </p:txBody>
      </p:sp>
      <p:sp>
        <p:nvSpPr>
          <p:cNvPr id="5" name="Shape 3"/>
          <p:cNvSpPr/>
          <p:nvPr/>
        </p:nvSpPr>
        <p:spPr>
          <a:xfrm>
            <a:off x="661475" y="2121595"/>
            <a:ext cx="2580615" cy="2004417"/>
          </a:xfrm>
          <a:prstGeom prst="roundRect">
            <a:avLst>
              <a:gd name="adj" fmla="val 2816"/>
            </a:avLst>
          </a:prstGeom>
          <a:solidFill>
            <a:srgbClr val="FFFDE6"/>
          </a:solidFill>
          <a:ln w="19050">
            <a:solidFill>
              <a:srgbClr val="C3D4CC"/>
            </a:solidFill>
            <a:prstDash val="solid"/>
          </a:ln>
        </p:spPr>
      </p:sp>
      <p:sp>
        <p:nvSpPr>
          <p:cNvPr id="6" name="Text 4"/>
          <p:cNvSpPr/>
          <p:nvPr/>
        </p:nvSpPr>
        <p:spPr>
          <a:xfrm>
            <a:off x="814863" y="2274987"/>
            <a:ext cx="2273838" cy="419894"/>
          </a:xfrm>
          <a:prstGeom prst="rect">
            <a:avLst/>
          </a:prstGeom>
          <a:noFill/>
          <a:ln/>
        </p:spPr>
        <p:txBody>
          <a:bodyPr wrap="square" lIns="0" tIns="0" rIns="0" bIns="0" rtlCol="0" anchor="t">
            <a:normAutofit/>
          </a:bodyPr>
          <a:lstStyle/>
          <a:p>
            <a:pPr algn="l" indent="0" marL="0">
              <a:lnSpc>
                <a:spcPct val="104000"/>
              </a:lnSpc>
              <a:buNone/>
            </a:pPr>
            <a:r>
              <a:rPr lang="en-US" sz="1300" b="1" dirty="0">
                <a:solidFill>
                  <a:srgbClr val="3B4E4E"/>
                </a:solidFill>
                <a:latin typeface="Syne Bold" pitchFamily="34" charset="0"/>
                <a:ea typeface="Syne Bold" pitchFamily="34" charset="-122"/>
                <a:cs typeface="Syne Bold" pitchFamily="34" charset="-120"/>
              </a:rPr>
              <a:t>MAE — Mean Absolute Error</a:t>
            </a:r>
            <a:endParaRPr lang="en-US" sz="1300" dirty="0"/>
          </a:p>
        </p:txBody>
      </p:sp>
      <p:sp>
        <p:nvSpPr>
          <p:cNvPr id="7" name="Text 5"/>
          <p:cNvSpPr/>
          <p:nvPr/>
        </p:nvSpPr>
        <p:spPr>
          <a:xfrm>
            <a:off x="814863" y="2804021"/>
            <a:ext cx="2273838" cy="1168598"/>
          </a:xfrm>
          <a:prstGeom prst="rect">
            <a:avLst/>
          </a:prstGeom>
          <a:noFill/>
          <a:ln/>
        </p:spPr>
        <p:txBody>
          <a:bodyPr wrap="square" lIns="0" tIns="0" rIns="0" bIns="0" rtlCol="0" anchor="t">
            <a:normAutofit/>
          </a:bodyPr>
          <a:lstStyle/>
          <a:p>
            <a:pPr algn="l" indent="0" marL="0">
              <a:lnSpc>
                <a:spcPct val="121000"/>
              </a:lnSpc>
              <a:buNone/>
            </a:pPr>
            <a:r>
              <a:rPr lang="en-US" sz="1050" dirty="0">
                <a:solidFill>
                  <a:srgbClr val="3B4E4E"/>
                </a:solidFill>
                <a:latin typeface="Overpass Light" pitchFamily="34" charset="0"/>
                <a:ea typeface="Overpass Light" pitchFamily="34" charset="-122"/>
                <a:cs typeface="Overpass Light" pitchFamily="34" charset="-120"/>
              </a:rPr>
              <a:t>The average size of the error, measured in the same units as the target (e.g. ₹50,000 average error on house prices). Easy to explain to non-technical stakeholders. Treats all errors equally regardless of size.</a:t>
            </a:r>
            <a:endParaRPr lang="en-US" sz="1050" dirty="0"/>
          </a:p>
        </p:txBody>
      </p:sp>
      <p:sp>
        <p:nvSpPr>
          <p:cNvPr id="8" name="Shape 6"/>
          <p:cNvSpPr/>
          <p:nvPr/>
        </p:nvSpPr>
        <p:spPr>
          <a:xfrm>
            <a:off x="3351228" y="2121595"/>
            <a:ext cx="2580714" cy="2004417"/>
          </a:xfrm>
          <a:prstGeom prst="roundRect">
            <a:avLst>
              <a:gd name="adj" fmla="val 2816"/>
            </a:avLst>
          </a:prstGeom>
          <a:solidFill>
            <a:srgbClr val="FFFDE6"/>
          </a:solidFill>
          <a:ln w="19050">
            <a:solidFill>
              <a:srgbClr val="C3D4CC"/>
            </a:solidFill>
            <a:prstDash val="solid"/>
          </a:ln>
        </p:spPr>
      </p:sp>
      <p:sp>
        <p:nvSpPr>
          <p:cNvPr id="9" name="Text 7"/>
          <p:cNvSpPr/>
          <p:nvPr/>
        </p:nvSpPr>
        <p:spPr>
          <a:xfrm>
            <a:off x="3504616" y="2274987"/>
            <a:ext cx="2273938" cy="419894"/>
          </a:xfrm>
          <a:prstGeom prst="rect">
            <a:avLst/>
          </a:prstGeom>
          <a:noFill/>
          <a:ln/>
        </p:spPr>
        <p:txBody>
          <a:bodyPr wrap="square" lIns="0" tIns="0" rIns="0" bIns="0" rtlCol="0" anchor="t">
            <a:normAutofit/>
          </a:bodyPr>
          <a:lstStyle/>
          <a:p>
            <a:pPr algn="l" indent="0" marL="0">
              <a:lnSpc>
                <a:spcPct val="104000"/>
              </a:lnSpc>
              <a:buNone/>
            </a:pPr>
            <a:r>
              <a:rPr lang="en-US" sz="1300" b="1" dirty="0">
                <a:solidFill>
                  <a:srgbClr val="3B4E4E"/>
                </a:solidFill>
                <a:latin typeface="Syne Bold" pitchFamily="34" charset="0"/>
                <a:ea typeface="Syne Bold" pitchFamily="34" charset="-122"/>
                <a:cs typeface="Syne Bold" pitchFamily="34" charset="-120"/>
              </a:rPr>
              <a:t>RMSE — Root Mean Squared Error</a:t>
            </a:r>
            <a:endParaRPr lang="en-US" sz="1300" dirty="0"/>
          </a:p>
        </p:txBody>
      </p:sp>
      <p:sp>
        <p:nvSpPr>
          <p:cNvPr id="10" name="Text 8"/>
          <p:cNvSpPr/>
          <p:nvPr/>
        </p:nvSpPr>
        <p:spPr>
          <a:xfrm>
            <a:off x="3504616" y="2804021"/>
            <a:ext cx="2273938" cy="1168598"/>
          </a:xfrm>
          <a:prstGeom prst="rect">
            <a:avLst/>
          </a:prstGeom>
          <a:noFill/>
          <a:ln/>
        </p:spPr>
        <p:txBody>
          <a:bodyPr wrap="square" lIns="0" tIns="0" rIns="0" bIns="0" rtlCol="0" anchor="t">
            <a:normAutofit/>
          </a:bodyPr>
          <a:lstStyle/>
          <a:p>
            <a:pPr algn="l" indent="0" marL="0">
              <a:lnSpc>
                <a:spcPct val="121000"/>
              </a:lnSpc>
              <a:buNone/>
            </a:pPr>
            <a:r>
              <a:rPr lang="en-US" sz="1050" dirty="0">
                <a:solidFill>
                  <a:srgbClr val="3B4E4E"/>
                </a:solidFill>
                <a:latin typeface="Overpass Light" pitchFamily="34" charset="0"/>
                <a:ea typeface="Overpass Light" pitchFamily="34" charset="-122"/>
                <a:cs typeface="Overpass Light" pitchFamily="34" charset="-120"/>
              </a:rPr>
              <a:t>Similar to MAE but penalises large errors more heavily. A model with a few catastrophic predictions will have a much higher RMSE than MAE. Use RMSE when large errors are especially costly.</a:t>
            </a:r>
            <a:endParaRPr lang="en-US" sz="1050" dirty="0"/>
          </a:p>
        </p:txBody>
      </p:sp>
      <p:sp>
        <p:nvSpPr>
          <p:cNvPr id="11" name="Shape 9"/>
          <p:cNvSpPr/>
          <p:nvPr/>
        </p:nvSpPr>
        <p:spPr>
          <a:xfrm>
            <a:off x="661475" y="4235152"/>
            <a:ext cx="5270467" cy="1210171"/>
          </a:xfrm>
          <a:prstGeom prst="roundRect">
            <a:avLst>
              <a:gd name="adj" fmla="val 4664"/>
            </a:avLst>
          </a:prstGeom>
          <a:solidFill>
            <a:srgbClr val="FFFDE6"/>
          </a:solidFill>
          <a:ln w="19050">
            <a:solidFill>
              <a:srgbClr val="C3D4CC"/>
            </a:solidFill>
            <a:prstDash val="solid"/>
          </a:ln>
        </p:spPr>
      </p:sp>
      <p:sp>
        <p:nvSpPr>
          <p:cNvPr id="12" name="Text 10"/>
          <p:cNvSpPr/>
          <p:nvPr/>
        </p:nvSpPr>
        <p:spPr>
          <a:xfrm>
            <a:off x="814863" y="4388545"/>
            <a:ext cx="4963691" cy="209947"/>
          </a:xfrm>
          <a:prstGeom prst="rect">
            <a:avLst/>
          </a:prstGeom>
          <a:noFill/>
          <a:ln/>
        </p:spPr>
        <p:txBody>
          <a:bodyPr wrap="none" lIns="0" tIns="0" rIns="0" bIns="0" rtlCol="0" anchor="t"/>
          <a:lstStyle/>
          <a:p>
            <a:pPr algn="l" indent="0" marL="0">
              <a:lnSpc>
                <a:spcPct val="104000"/>
              </a:lnSpc>
              <a:buNone/>
            </a:pPr>
            <a:r>
              <a:rPr lang="en-US" sz="1300" b="1" dirty="0">
                <a:solidFill>
                  <a:srgbClr val="3B4E4E"/>
                </a:solidFill>
                <a:latin typeface="Syne Bold" pitchFamily="34" charset="0"/>
                <a:ea typeface="Syne Bold" pitchFamily="34" charset="-122"/>
                <a:cs typeface="Syne Bold" pitchFamily="34" charset="-120"/>
              </a:rPr>
              <a:t>R² — Coefficient of Determination</a:t>
            </a:r>
            <a:endParaRPr lang="en-US" sz="1300" dirty="0"/>
          </a:p>
        </p:txBody>
      </p:sp>
      <p:sp>
        <p:nvSpPr>
          <p:cNvPr id="13" name="Text 11"/>
          <p:cNvSpPr/>
          <p:nvPr/>
        </p:nvSpPr>
        <p:spPr>
          <a:xfrm>
            <a:off x="814863" y="4707632"/>
            <a:ext cx="4963691" cy="584299"/>
          </a:xfrm>
          <a:prstGeom prst="rect">
            <a:avLst/>
          </a:prstGeom>
          <a:noFill/>
          <a:ln/>
        </p:spPr>
        <p:txBody>
          <a:bodyPr wrap="square" lIns="0" tIns="0" rIns="0" bIns="0" rtlCol="0" anchor="t">
            <a:normAutofit/>
          </a:bodyPr>
          <a:lstStyle/>
          <a:p>
            <a:pPr algn="l" indent="0" marL="0">
              <a:lnSpc>
                <a:spcPct val="121000"/>
              </a:lnSpc>
              <a:buNone/>
            </a:pPr>
            <a:r>
              <a:rPr lang="en-US" sz="1050" dirty="0">
                <a:solidFill>
                  <a:srgbClr val="3B4E4E"/>
                </a:solidFill>
                <a:latin typeface="Overpass Light" pitchFamily="34" charset="0"/>
                <a:ea typeface="Overpass Light" pitchFamily="34" charset="-122"/>
                <a:cs typeface="Overpass Light" pitchFamily="34" charset="-120"/>
              </a:rPr>
              <a:t>Ranges from 0 to 1 (higher is better). Tells you what fraction of the variation in the target the model successfully explains. An R² of 0.85 means the model explains 85% of the variation; 15% remains unexplained.</a:t>
            </a:r>
            <a:endParaRPr lang="en-US" sz="1050" dirty="0"/>
          </a:p>
        </p:txBody>
      </p:sp>
      <p:sp>
        <p:nvSpPr>
          <p:cNvPr id="14" name="Text 12"/>
          <p:cNvSpPr/>
          <p:nvPr/>
        </p:nvSpPr>
        <p:spPr>
          <a:xfrm>
            <a:off x="6266103" y="1790296"/>
            <a:ext cx="5270467" cy="209947"/>
          </a:xfrm>
          <a:prstGeom prst="rect">
            <a:avLst/>
          </a:prstGeom>
          <a:noFill/>
          <a:ln/>
        </p:spPr>
        <p:txBody>
          <a:bodyPr wrap="none" lIns="0" tIns="0" rIns="0" bIns="0" rtlCol="0" anchor="t"/>
          <a:lstStyle/>
          <a:p>
            <a:pPr algn="l" indent="0" marL="0">
              <a:lnSpc>
                <a:spcPct val="104000"/>
              </a:lnSpc>
              <a:buNone/>
            </a:pPr>
            <a:r>
              <a:rPr lang="en-US" sz="1300" b="1" dirty="0">
                <a:solidFill>
                  <a:srgbClr val="233939"/>
                </a:solidFill>
                <a:latin typeface="Syne Bold" pitchFamily="34" charset="0"/>
                <a:ea typeface="Syne Bold" pitchFamily="34" charset="-122"/>
                <a:cs typeface="Syne Bold" pitchFamily="34" charset="-120"/>
              </a:rPr>
              <a:t>For Classification (Predicting Categories)</a:t>
            </a:r>
            <a:endParaRPr lang="en-US" sz="1300" dirty="0"/>
          </a:p>
        </p:txBody>
      </p:sp>
      <p:sp>
        <p:nvSpPr>
          <p:cNvPr id="15" name="Shape 13"/>
          <p:cNvSpPr/>
          <p:nvPr/>
        </p:nvSpPr>
        <p:spPr>
          <a:xfrm>
            <a:off x="6266103" y="2121595"/>
            <a:ext cx="2580615" cy="1794470"/>
          </a:xfrm>
          <a:prstGeom prst="roundRect">
            <a:avLst>
              <a:gd name="adj" fmla="val 3145"/>
            </a:avLst>
          </a:prstGeom>
          <a:solidFill>
            <a:srgbClr val="FFFDE6"/>
          </a:solidFill>
          <a:ln w="19050">
            <a:solidFill>
              <a:srgbClr val="C3D4CC"/>
            </a:solidFill>
            <a:prstDash val="solid"/>
          </a:ln>
        </p:spPr>
      </p:sp>
      <p:sp>
        <p:nvSpPr>
          <p:cNvPr id="16" name="Text 14"/>
          <p:cNvSpPr/>
          <p:nvPr/>
        </p:nvSpPr>
        <p:spPr>
          <a:xfrm>
            <a:off x="6419491" y="2274987"/>
            <a:ext cx="2273838" cy="209947"/>
          </a:xfrm>
          <a:prstGeom prst="rect">
            <a:avLst/>
          </a:prstGeom>
          <a:noFill/>
          <a:ln/>
        </p:spPr>
        <p:txBody>
          <a:bodyPr wrap="none" lIns="0" tIns="0" rIns="0" bIns="0" rtlCol="0" anchor="t"/>
          <a:lstStyle/>
          <a:p>
            <a:pPr algn="l" indent="0" marL="0">
              <a:lnSpc>
                <a:spcPct val="104000"/>
              </a:lnSpc>
              <a:buNone/>
            </a:pPr>
            <a:r>
              <a:rPr lang="en-US" sz="1300" b="1" dirty="0">
                <a:solidFill>
                  <a:srgbClr val="3B4E4E"/>
                </a:solidFill>
                <a:latin typeface="Syne Bold" pitchFamily="34" charset="0"/>
                <a:ea typeface="Syne Bold" pitchFamily="34" charset="-122"/>
                <a:cs typeface="Syne Bold" pitchFamily="34" charset="-120"/>
              </a:rPr>
              <a:t>Accuracy</a:t>
            </a:r>
            <a:endParaRPr lang="en-US" sz="1300" dirty="0"/>
          </a:p>
        </p:txBody>
      </p:sp>
      <p:sp>
        <p:nvSpPr>
          <p:cNvPr id="17" name="Text 15"/>
          <p:cNvSpPr/>
          <p:nvPr/>
        </p:nvSpPr>
        <p:spPr>
          <a:xfrm>
            <a:off x="6419491" y="2594074"/>
            <a:ext cx="2273838" cy="973832"/>
          </a:xfrm>
          <a:prstGeom prst="rect">
            <a:avLst/>
          </a:prstGeom>
          <a:noFill/>
          <a:ln/>
        </p:spPr>
        <p:txBody>
          <a:bodyPr wrap="square" lIns="0" tIns="0" rIns="0" bIns="0" rtlCol="0" anchor="t">
            <a:normAutofit/>
          </a:bodyPr>
          <a:lstStyle/>
          <a:p>
            <a:pPr algn="l" indent="0" marL="0">
              <a:lnSpc>
                <a:spcPct val="121000"/>
              </a:lnSpc>
              <a:buNone/>
            </a:pPr>
            <a:r>
              <a:rPr lang="en-US" sz="1050" dirty="0">
                <a:solidFill>
                  <a:srgbClr val="3B4E4E"/>
                </a:solidFill>
                <a:latin typeface="Overpass Light" pitchFamily="34" charset="0"/>
                <a:ea typeface="Overpass Light" pitchFamily="34" charset="-122"/>
                <a:cs typeface="Overpass Light" pitchFamily="34" charset="-120"/>
              </a:rPr>
              <a:t>Share of all predictions that are correct. Misleading when categories are imbalanced (e.g. 99.9% genuine transactions). Often not the metric you want for high-stakes problems.</a:t>
            </a:r>
            <a:endParaRPr lang="en-US" sz="1050" dirty="0"/>
          </a:p>
        </p:txBody>
      </p:sp>
      <p:sp>
        <p:nvSpPr>
          <p:cNvPr id="18" name="Shape 16"/>
          <p:cNvSpPr/>
          <p:nvPr/>
        </p:nvSpPr>
        <p:spPr>
          <a:xfrm>
            <a:off x="8955856" y="2121595"/>
            <a:ext cx="2580714" cy="1794470"/>
          </a:xfrm>
          <a:prstGeom prst="roundRect">
            <a:avLst>
              <a:gd name="adj" fmla="val 3145"/>
            </a:avLst>
          </a:prstGeom>
          <a:solidFill>
            <a:srgbClr val="FFFDE6"/>
          </a:solidFill>
          <a:ln w="19050">
            <a:solidFill>
              <a:srgbClr val="C3D4CC"/>
            </a:solidFill>
            <a:prstDash val="solid"/>
          </a:ln>
        </p:spPr>
      </p:sp>
      <p:sp>
        <p:nvSpPr>
          <p:cNvPr id="19" name="Text 17"/>
          <p:cNvSpPr/>
          <p:nvPr/>
        </p:nvSpPr>
        <p:spPr>
          <a:xfrm>
            <a:off x="9109244" y="2274987"/>
            <a:ext cx="2273938" cy="209947"/>
          </a:xfrm>
          <a:prstGeom prst="rect">
            <a:avLst/>
          </a:prstGeom>
          <a:noFill/>
          <a:ln/>
        </p:spPr>
        <p:txBody>
          <a:bodyPr wrap="none" lIns="0" tIns="0" rIns="0" bIns="0" rtlCol="0" anchor="t"/>
          <a:lstStyle/>
          <a:p>
            <a:pPr algn="l" indent="0" marL="0">
              <a:lnSpc>
                <a:spcPct val="104000"/>
              </a:lnSpc>
              <a:buNone/>
            </a:pPr>
            <a:r>
              <a:rPr lang="en-US" sz="1300" b="1" dirty="0">
                <a:solidFill>
                  <a:srgbClr val="3B4E4E"/>
                </a:solidFill>
                <a:latin typeface="Syne Bold" pitchFamily="34" charset="0"/>
                <a:ea typeface="Syne Bold" pitchFamily="34" charset="-122"/>
                <a:cs typeface="Syne Bold" pitchFamily="34" charset="-120"/>
              </a:rPr>
              <a:t>Precision</a:t>
            </a:r>
            <a:endParaRPr lang="en-US" sz="1300" dirty="0"/>
          </a:p>
        </p:txBody>
      </p:sp>
      <p:sp>
        <p:nvSpPr>
          <p:cNvPr id="20" name="Text 18"/>
          <p:cNvSpPr/>
          <p:nvPr/>
        </p:nvSpPr>
        <p:spPr>
          <a:xfrm>
            <a:off x="9109244" y="2594074"/>
            <a:ext cx="2273938" cy="1168598"/>
          </a:xfrm>
          <a:prstGeom prst="rect">
            <a:avLst/>
          </a:prstGeom>
          <a:noFill/>
          <a:ln/>
        </p:spPr>
        <p:txBody>
          <a:bodyPr wrap="square" lIns="0" tIns="0" rIns="0" bIns="0" rtlCol="0" anchor="t">
            <a:normAutofit/>
          </a:bodyPr>
          <a:lstStyle/>
          <a:p>
            <a:pPr algn="l" indent="0" marL="0">
              <a:lnSpc>
                <a:spcPct val="121000"/>
              </a:lnSpc>
              <a:buNone/>
            </a:pPr>
            <a:r>
              <a:rPr lang="en-US" sz="1050" dirty="0">
                <a:solidFill>
                  <a:srgbClr val="3B4E4E"/>
                </a:solidFill>
                <a:latin typeface="Overpass Light" pitchFamily="34" charset="0"/>
                <a:ea typeface="Overpass Light" pitchFamily="34" charset="-122"/>
                <a:cs typeface="Overpass Light" pitchFamily="34" charset="-120"/>
              </a:rPr>
              <a:t>Of all the cases the model flagged as positive (e.g. "fraud"), what fraction were genuinely positive? High precision = few false alarms. Important when acting on a false alarm is expensive.</a:t>
            </a:r>
            <a:endParaRPr lang="en-US" sz="1050" dirty="0"/>
          </a:p>
        </p:txBody>
      </p:sp>
      <p:sp>
        <p:nvSpPr>
          <p:cNvPr id="21" name="Shape 19"/>
          <p:cNvSpPr/>
          <p:nvPr/>
        </p:nvSpPr>
        <p:spPr>
          <a:xfrm>
            <a:off x="6266103" y="4025205"/>
            <a:ext cx="5270467" cy="1210171"/>
          </a:xfrm>
          <a:prstGeom prst="roundRect">
            <a:avLst>
              <a:gd name="adj" fmla="val 4664"/>
            </a:avLst>
          </a:prstGeom>
          <a:solidFill>
            <a:srgbClr val="FFFDE6"/>
          </a:solidFill>
          <a:ln w="19050">
            <a:solidFill>
              <a:srgbClr val="C3D4CC"/>
            </a:solidFill>
            <a:prstDash val="solid"/>
          </a:ln>
        </p:spPr>
      </p:sp>
      <p:sp>
        <p:nvSpPr>
          <p:cNvPr id="22" name="Text 20"/>
          <p:cNvSpPr/>
          <p:nvPr/>
        </p:nvSpPr>
        <p:spPr>
          <a:xfrm>
            <a:off x="6419491" y="4178598"/>
            <a:ext cx="4963691" cy="209947"/>
          </a:xfrm>
          <a:prstGeom prst="rect">
            <a:avLst/>
          </a:prstGeom>
          <a:noFill/>
          <a:ln/>
        </p:spPr>
        <p:txBody>
          <a:bodyPr wrap="none" lIns="0" tIns="0" rIns="0" bIns="0" rtlCol="0" anchor="t"/>
          <a:lstStyle/>
          <a:p>
            <a:pPr algn="l" indent="0" marL="0">
              <a:lnSpc>
                <a:spcPct val="104000"/>
              </a:lnSpc>
              <a:buNone/>
            </a:pPr>
            <a:r>
              <a:rPr lang="en-US" sz="1300" b="1" dirty="0">
                <a:solidFill>
                  <a:srgbClr val="3B4E4E"/>
                </a:solidFill>
                <a:latin typeface="Syne Bold" pitchFamily="34" charset="0"/>
                <a:ea typeface="Syne Bold" pitchFamily="34" charset="-122"/>
                <a:cs typeface="Syne Bold" pitchFamily="34" charset="-120"/>
              </a:rPr>
              <a:t>Recall (Sensitivity)</a:t>
            </a:r>
            <a:endParaRPr lang="en-US" sz="1300" dirty="0"/>
          </a:p>
        </p:txBody>
      </p:sp>
      <p:sp>
        <p:nvSpPr>
          <p:cNvPr id="23" name="Text 21"/>
          <p:cNvSpPr/>
          <p:nvPr/>
        </p:nvSpPr>
        <p:spPr>
          <a:xfrm>
            <a:off x="6419491" y="4497685"/>
            <a:ext cx="4963691" cy="584299"/>
          </a:xfrm>
          <a:prstGeom prst="rect">
            <a:avLst/>
          </a:prstGeom>
          <a:noFill/>
          <a:ln/>
        </p:spPr>
        <p:txBody>
          <a:bodyPr wrap="square" lIns="0" tIns="0" rIns="0" bIns="0" rtlCol="0" anchor="t">
            <a:normAutofit/>
          </a:bodyPr>
          <a:lstStyle/>
          <a:p>
            <a:pPr algn="l" indent="0" marL="0">
              <a:lnSpc>
                <a:spcPct val="121000"/>
              </a:lnSpc>
              <a:buNone/>
            </a:pPr>
            <a:r>
              <a:rPr lang="en-US" sz="1050" dirty="0">
                <a:solidFill>
                  <a:srgbClr val="3B4E4E"/>
                </a:solidFill>
                <a:latin typeface="Overpass Light" pitchFamily="34" charset="0"/>
                <a:ea typeface="Overpass Light" pitchFamily="34" charset="-122"/>
                <a:cs typeface="Overpass Light" pitchFamily="34" charset="-120"/>
              </a:rPr>
              <a:t>Of all the true positives in the data, what fraction did the model correctly catch? High recall = few missed cases. Critical when missing a real case is very costly — cancer screening, fraud, equipment failure.</a:t>
            </a:r>
            <a:endParaRPr lang="en-US" sz="1050" dirty="0"/>
          </a:p>
        </p:txBody>
      </p:sp>
      <p:sp>
        <p:nvSpPr>
          <p:cNvPr id="24" name="Shape 22"/>
          <p:cNvSpPr/>
          <p:nvPr/>
        </p:nvSpPr>
        <p:spPr>
          <a:xfrm>
            <a:off x="6266103" y="5358209"/>
            <a:ext cx="5270467" cy="847824"/>
          </a:xfrm>
          <a:prstGeom prst="roundRect">
            <a:avLst>
              <a:gd name="adj" fmla="val 6657"/>
            </a:avLst>
          </a:prstGeom>
          <a:solidFill>
            <a:srgbClr val="DDEEE6"/>
          </a:solidFill>
          <a:ln/>
        </p:spPr>
      </p:sp>
      <p:pic>
        <p:nvPicPr>
          <p:cNvPr id="25" name="Image 0" descr="preencoded.png">    </p:cNvPr>
          <p:cNvPicPr>
            <a:picLocks noChangeAspect="1"/>
          </p:cNvPicPr>
          <p:nvPr/>
        </p:nvPicPr>
        <p:blipFill>
          <a:blip r:embed="rId1"/>
          <a:stretch>
            <a:fillRect/>
          </a:stretch>
        </p:blipFill>
        <p:spPr>
          <a:xfrm>
            <a:off x="6400441" y="5510312"/>
            <a:ext cx="167973" cy="134342"/>
          </a:xfrm>
          <a:prstGeom prst="rect">
            <a:avLst/>
          </a:prstGeom>
        </p:spPr>
      </p:pic>
      <p:sp>
        <p:nvSpPr>
          <p:cNvPr id="26" name="Text 23"/>
          <p:cNvSpPr/>
          <p:nvPr/>
        </p:nvSpPr>
        <p:spPr>
          <a:xfrm>
            <a:off x="6702753" y="5489972"/>
            <a:ext cx="4699478" cy="584299"/>
          </a:xfrm>
          <a:prstGeom prst="rect">
            <a:avLst/>
          </a:prstGeom>
          <a:noFill/>
          <a:ln/>
        </p:spPr>
        <p:txBody>
          <a:bodyPr wrap="square" lIns="0" tIns="0" rIns="0" bIns="0" rtlCol="0" anchor="t">
            <a:normAutofit/>
          </a:bodyPr>
          <a:lstStyle/>
          <a:p>
            <a:pPr algn="l" indent="0" marL="0">
              <a:lnSpc>
                <a:spcPct val="121000"/>
              </a:lnSpc>
              <a:buNone/>
            </a:pPr>
            <a:r>
              <a:rPr lang="en-US" sz="1050" b="1" dirty="0">
                <a:solidFill>
                  <a:srgbClr val="000000"/>
                </a:solidFill>
                <a:latin typeface="Overpass Bold" pitchFamily="34" charset="0"/>
                <a:ea typeface="Overpass Bold" pitchFamily="34" charset="-122"/>
                <a:cs typeface="Overpass Bold" pitchFamily="34" charset="-120"/>
              </a:rPr>
              <a:t>Class discussion:</a:t>
            </a:r>
            <a:pPr algn="l" indent="0" marL="0">
              <a:lnSpc>
                <a:spcPct val="121000"/>
              </a:lnSpc>
              <a:buNone/>
            </a:pPr>
            <a:r>
              <a:rPr lang="en-US" sz="1050" dirty="0">
                <a:solidFill>
                  <a:srgbClr val="000000"/>
                </a:solidFill>
                <a:latin typeface="Overpass Light" pitchFamily="34" charset="0"/>
                <a:ea typeface="Overpass Light" pitchFamily="34" charset="-122"/>
                <a:cs typeface="Overpass Light" pitchFamily="34" charset="-120"/>
              </a:rPr>
              <a:t> For a cancer screening model, which matters more — precision or recall? What is the cost of a false positive (healthy patient told they might have cancer)? What is the cost of a false negative (cancer missed)?</a:t>
            </a:r>
            <a:endParaRPr lang="en-US" sz="10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DE6"/>
        </a:solidFill>
      </p:bgPr>
    </p:bg>
    <p:spTree>
      <p:nvGrpSpPr>
        <p:cNvPr id="1" name=""/>
        <p:cNvGrpSpPr/>
        <p:nvPr/>
      </p:nvGrpSpPr>
      <p:grpSpPr>
        <a:xfrm>
          <a:off x="0" y="0"/>
          <a:ext cx="0" cy="0"/>
          <a:chOff x="0" y="0"/>
          <a:chExt cx="0" cy="0"/>
        </a:xfrm>
      </p:grpSpPr>
      <p:sp>
        <p:nvSpPr>
          <p:cNvPr id="2" name="Text 0"/>
          <p:cNvSpPr/>
          <p:nvPr/>
        </p:nvSpPr>
        <p:spPr>
          <a:xfrm>
            <a:off x="661475" y="578526"/>
            <a:ext cx="10868745" cy="444103"/>
          </a:xfrm>
          <a:prstGeom prst="rect">
            <a:avLst/>
          </a:prstGeom>
          <a:noFill/>
          <a:ln/>
        </p:spPr>
        <p:txBody>
          <a:bodyPr wrap="none" lIns="0" tIns="0" rIns="0" bIns="0" rtlCol="0" anchor="t"/>
          <a:lstStyle/>
          <a:p>
            <a:pPr algn="l" indent="0" marL="0">
              <a:lnSpc>
                <a:spcPct val="104000"/>
              </a:lnSpc>
              <a:buNone/>
            </a:pPr>
            <a:r>
              <a:rPr lang="en-US" sz="2750" b="1" dirty="0">
                <a:solidFill>
                  <a:srgbClr val="233939"/>
                </a:solidFill>
                <a:latin typeface="Syne Bold" pitchFamily="34" charset="0"/>
                <a:ea typeface="Syne Bold" pitchFamily="34" charset="-122"/>
                <a:cs typeface="Syne Bold" pitchFamily="34" charset="-120"/>
              </a:rPr>
              <a:t>Two Common Problems: Overfitting and Underfitting</a:t>
            </a:r>
            <a:endParaRPr lang="en-US" sz="2750" dirty="0"/>
          </a:p>
        </p:txBody>
      </p:sp>
      <p:sp>
        <p:nvSpPr>
          <p:cNvPr id="3" name="Text 1"/>
          <p:cNvSpPr/>
          <p:nvPr/>
        </p:nvSpPr>
        <p:spPr>
          <a:xfrm>
            <a:off x="661475" y="1260475"/>
            <a:ext cx="11478330" cy="211435"/>
          </a:xfrm>
          <a:prstGeom prst="rect">
            <a:avLst/>
          </a:prstGeom>
          <a:noFill/>
          <a:ln/>
        </p:spPr>
        <p:txBody>
          <a:bodyPr wrap="none" lIns="0" tIns="0" rIns="0" bIns="0" rtlCol="0" anchor="t"/>
          <a:lstStyle/>
          <a:p>
            <a:pPr algn="l" indent="0" marL="0">
              <a:lnSpc>
                <a:spcPct val="124000"/>
              </a:lnSpc>
              <a:buNone/>
            </a:pPr>
            <a:r>
              <a:rPr lang="en-US" sz="1100" dirty="0">
                <a:solidFill>
                  <a:srgbClr val="3B4E4E"/>
                </a:solidFill>
                <a:latin typeface="Overpass Light" pitchFamily="34" charset="0"/>
                <a:ea typeface="Overpass Light" pitchFamily="34" charset="-122"/>
                <a:cs typeface="Overpass Light" pitchFamily="34" charset="-120"/>
              </a:rPr>
              <a:t>Every data scientist encounters these two failure modes. Recognising them early — before deploying a model — is one of the most important practical skills you will develop.</a:t>
            </a:r>
            <a:endParaRPr lang="en-US" sz="1100" dirty="0"/>
          </a:p>
        </p:txBody>
      </p:sp>
      <p:sp>
        <p:nvSpPr>
          <p:cNvPr id="4" name="Shape 2"/>
          <p:cNvSpPr/>
          <p:nvPr/>
        </p:nvSpPr>
        <p:spPr>
          <a:xfrm>
            <a:off x="559183" y="1609229"/>
            <a:ext cx="5465626" cy="4676676"/>
          </a:xfrm>
          <a:prstGeom prst="roundRect">
            <a:avLst>
              <a:gd name="adj" fmla="val 2188"/>
            </a:avLst>
          </a:prstGeom>
          <a:solidFill>
            <a:srgbClr val="224435"/>
          </a:solidFill>
          <a:ln/>
        </p:spPr>
      </p:sp>
      <p:sp>
        <p:nvSpPr>
          <p:cNvPr id="5" name="Text 3"/>
          <p:cNvSpPr/>
          <p:nvPr/>
        </p:nvSpPr>
        <p:spPr>
          <a:xfrm>
            <a:off x="701261" y="1732995"/>
            <a:ext cx="5181470" cy="222052"/>
          </a:xfrm>
          <a:prstGeom prst="rect">
            <a:avLst/>
          </a:prstGeom>
          <a:noFill/>
          <a:ln/>
        </p:spPr>
        <p:txBody>
          <a:bodyPr wrap="none" lIns="0" tIns="0" rIns="0" bIns="0" rtlCol="0" anchor="t"/>
          <a:lstStyle/>
          <a:p>
            <a:pPr algn="l" indent="0" marL="0">
              <a:lnSpc>
                <a:spcPct val="104000"/>
              </a:lnSpc>
              <a:buNone/>
            </a:pPr>
            <a:r>
              <a:rPr lang="en-US" sz="1350" b="1" dirty="0">
                <a:solidFill>
                  <a:srgbClr val="FFFFFF"/>
                </a:solidFill>
                <a:latin typeface="Syne Bold" pitchFamily="34" charset="0"/>
                <a:ea typeface="Syne Bold" pitchFamily="34" charset="-122"/>
                <a:cs typeface="Syne Bold" pitchFamily="34" charset="-120"/>
              </a:rPr>
              <a:t>Overfitting</a:t>
            </a:r>
            <a:endParaRPr lang="en-US" sz="1350" dirty="0"/>
          </a:p>
        </p:txBody>
      </p:sp>
      <p:sp>
        <p:nvSpPr>
          <p:cNvPr id="6" name="Text 4"/>
          <p:cNvSpPr/>
          <p:nvPr/>
        </p:nvSpPr>
        <p:spPr>
          <a:xfrm>
            <a:off x="701261" y="2075557"/>
            <a:ext cx="5181470" cy="1488281"/>
          </a:xfrm>
          <a:prstGeom prst="rect">
            <a:avLst/>
          </a:prstGeom>
          <a:noFill/>
          <a:ln/>
        </p:spPr>
        <p:txBody>
          <a:bodyPr wrap="square" lIns="0" tIns="0" rIns="0" bIns="0" rtlCol="0" anchor="t">
            <a:normAutofit/>
          </a:bodyPr>
          <a:lstStyle/>
          <a:p>
            <a:pPr algn="l" indent="0" marL="0">
              <a:lnSpc>
                <a:spcPct val="124000"/>
              </a:lnSpc>
              <a:spcAft>
                <a:spcPts val="850"/>
              </a:spcAft>
              <a:buNone/>
            </a:pPr>
            <a:r>
              <a:rPr lang="en-US" sz="1100" dirty="0">
                <a:solidFill>
                  <a:srgbClr val="FFFFFF"/>
                </a:solidFill>
                <a:latin typeface="Overpass Light" pitchFamily="34" charset="0"/>
                <a:ea typeface="Overpass Light" pitchFamily="34" charset="-122"/>
                <a:cs typeface="Overpass Light" pitchFamily="34" charset="-120"/>
              </a:rPr>
              <a:t>The model has memorised the training data in too much detail — including its random noise and outliers. It performs brilliantly on data it has seen, but fails when presented with new data it has never encountered.</a:t>
            </a:r>
            <a:endParaRPr lang="en-US" sz="1100" dirty="0"/>
          </a:p>
          <a:p>
            <a:pPr algn="l" indent="0" marL="0">
              <a:lnSpc>
                <a:spcPct val="124000"/>
              </a:lnSpc>
              <a:spcAft>
                <a:spcPts val="850"/>
              </a:spcAft>
              <a:buNone/>
            </a:pPr>
            <a:r>
              <a:rPr lang="en-US" sz="1100" b="1" dirty="0">
                <a:solidFill>
                  <a:srgbClr val="FFFFFF"/>
                </a:solidFill>
                <a:latin typeface="Overpass Bold" pitchFamily="34" charset="0"/>
                <a:ea typeface="Overpass Bold" pitchFamily="34" charset="-122"/>
                <a:cs typeface="Overpass Bold" pitchFamily="34" charset="-120"/>
              </a:rPr>
              <a:t>How to spot it:</a:t>
            </a:r>
            <a:pPr algn="l" indent="0" marL="0">
              <a:lnSpc>
                <a:spcPct val="124000"/>
              </a:lnSpc>
              <a:spcAft>
                <a:spcPts val="850"/>
              </a:spcAft>
              <a:buNone/>
            </a:pPr>
            <a:r>
              <a:rPr lang="en-US" sz="1100" dirty="0">
                <a:solidFill>
                  <a:srgbClr val="FFFFFF"/>
                </a:solidFill>
                <a:latin typeface="Overpass Light" pitchFamily="34" charset="0"/>
                <a:ea typeface="Overpass Light" pitchFamily="34" charset="-122"/>
                <a:cs typeface="Overpass Light" pitchFamily="34" charset="-120"/>
              </a:rPr>
              <a:t> Training accuracy is very high (e.g. 99%), but test accuracy is much lower (e.g. 72%). The gap between training and test performance is the red flag.</a:t>
            </a:r>
            <a:endParaRPr lang="en-US" sz="1100" dirty="0"/>
          </a:p>
          <a:p>
            <a:pPr algn="l" indent="0" marL="0">
              <a:lnSpc>
                <a:spcPct val="124000"/>
              </a:lnSpc>
              <a:buNone/>
            </a:pPr>
            <a:r>
              <a:rPr lang="en-US" sz="1100" b="1" dirty="0">
                <a:solidFill>
                  <a:srgbClr val="FFFFFF"/>
                </a:solidFill>
                <a:latin typeface="Overpass Bold" pitchFamily="34" charset="0"/>
                <a:ea typeface="Overpass Bold" pitchFamily="34" charset="-122"/>
                <a:cs typeface="Overpass Bold" pitchFamily="34" charset="-120"/>
              </a:rPr>
              <a:t>What to do:</a:t>
            </a:r>
            <a:endParaRPr lang="en-US" sz="1100" dirty="0"/>
          </a:p>
        </p:txBody>
      </p:sp>
      <p:sp>
        <p:nvSpPr>
          <p:cNvPr id="7" name="Text 5"/>
          <p:cNvSpPr/>
          <p:nvPr/>
        </p:nvSpPr>
        <p:spPr>
          <a:xfrm>
            <a:off x="701261" y="3673673"/>
            <a:ext cx="5181470" cy="1227832"/>
          </a:xfrm>
          <a:prstGeom prst="rect">
            <a:avLst/>
          </a:prstGeom>
          <a:noFill/>
          <a:ln/>
        </p:spPr>
        <p:txBody>
          <a:bodyPr wrap="square" lIns="0" tIns="0" rIns="0" bIns="0" rtlCol="0" anchor="t">
            <a:normAutofit/>
          </a:bodyPr>
          <a:lstStyle/>
          <a:p>
            <a:pPr algn="l" marL="223520" indent="-223520">
              <a:lnSpc>
                <a:spcPct val="124000"/>
              </a:lnSpc>
              <a:buSzPct val="100000"/>
              <a:buChar char="•"/>
            </a:pPr>
            <a:r>
              <a:rPr lang="en-US" sz="1100" dirty="0">
                <a:solidFill>
                  <a:srgbClr val="FFFFFF"/>
                </a:solidFill>
                <a:latin typeface="Overpass Light" pitchFamily="34" charset="0"/>
                <a:ea typeface="Overpass Light" pitchFamily="34" charset="-122"/>
                <a:cs typeface="Overpass Light" pitchFamily="34" charset="-120"/>
              </a:rPr>
              <a:t>Use more training data if available</a:t>
            </a:r>
            <a:endParaRPr lang="en-US" sz="1100" dirty="0"/>
          </a:p>
          <a:p>
            <a:pPr algn="l" marL="223520" indent="-223520">
              <a:lnSpc>
                <a:spcPct val="124000"/>
              </a:lnSpc>
              <a:buSzPct val="100000"/>
              <a:buChar char="•"/>
            </a:pPr>
            <a:r>
              <a:rPr lang="en-US" sz="1100" dirty="0">
                <a:solidFill>
                  <a:srgbClr val="FFFFFF"/>
                </a:solidFill>
                <a:latin typeface="Overpass Light" pitchFamily="34" charset="0"/>
                <a:ea typeface="Overpass Light" pitchFamily="34" charset="-122"/>
                <a:cs typeface="Overpass Light" pitchFamily="34" charset="-120"/>
              </a:rPr>
              <a:t>Switch to a simpler model (fewer parameters)</a:t>
            </a:r>
            <a:endParaRPr lang="en-US" sz="1100" dirty="0"/>
          </a:p>
          <a:p>
            <a:pPr algn="l" marL="223520" indent="-223520">
              <a:lnSpc>
                <a:spcPct val="124000"/>
              </a:lnSpc>
              <a:buSzPct val="100000"/>
              <a:buChar char="•"/>
            </a:pPr>
            <a:r>
              <a:rPr lang="en-US" sz="1100" dirty="0">
                <a:solidFill>
                  <a:srgbClr val="FFFFFF"/>
                </a:solidFill>
                <a:latin typeface="Overpass Light" pitchFamily="34" charset="0"/>
                <a:ea typeface="Overpass Light" pitchFamily="34" charset="-122"/>
                <a:cs typeface="Overpass Light" pitchFamily="34" charset="-120"/>
              </a:rPr>
              <a:t>Remove low-quality or irrelevant features</a:t>
            </a:r>
            <a:endParaRPr lang="en-US" sz="1100" dirty="0"/>
          </a:p>
          <a:p>
            <a:pPr algn="l" marL="223520" indent="-223520">
              <a:lnSpc>
                <a:spcPct val="124000"/>
              </a:lnSpc>
              <a:buSzPct val="100000"/>
              <a:buChar char="•"/>
            </a:pPr>
            <a:r>
              <a:rPr lang="en-US" sz="1100" dirty="0">
                <a:solidFill>
                  <a:srgbClr val="FFFFFF"/>
                </a:solidFill>
                <a:latin typeface="Overpass Light" pitchFamily="34" charset="0"/>
                <a:ea typeface="Overpass Light" pitchFamily="34" charset="-122"/>
                <a:cs typeface="Overpass Light" pitchFamily="34" charset="-120"/>
              </a:rPr>
              <a:t>Apply regularisation techniques (L1, L2, dropout)</a:t>
            </a:r>
            <a:endParaRPr lang="en-US" sz="1100" dirty="0"/>
          </a:p>
          <a:p>
            <a:pPr algn="l" marL="223520" indent="-223520">
              <a:lnSpc>
                <a:spcPct val="124000"/>
              </a:lnSpc>
              <a:buSzPct val="100000"/>
              <a:buChar char="•"/>
            </a:pPr>
            <a:r>
              <a:rPr lang="en-US" sz="1100" dirty="0">
                <a:solidFill>
                  <a:srgbClr val="FFFFFF"/>
                </a:solidFill>
                <a:latin typeface="Overpass Light" pitchFamily="34" charset="0"/>
                <a:ea typeface="Overpass Light" pitchFamily="34" charset="-122"/>
                <a:cs typeface="Overpass Light" pitchFamily="34" charset="-120"/>
              </a:rPr>
              <a:t>For trees: limit tree depth or use pruning</a:t>
            </a:r>
            <a:endParaRPr lang="en-US" sz="1100" dirty="0"/>
          </a:p>
        </p:txBody>
      </p:sp>
      <p:sp>
        <p:nvSpPr>
          <p:cNvPr id="8" name="Text 6"/>
          <p:cNvSpPr/>
          <p:nvPr/>
        </p:nvSpPr>
        <p:spPr>
          <a:xfrm>
            <a:off x="6275528" y="1732995"/>
            <a:ext cx="5261042" cy="222052"/>
          </a:xfrm>
          <a:prstGeom prst="rect">
            <a:avLst/>
          </a:prstGeom>
          <a:noFill/>
          <a:ln/>
        </p:spPr>
        <p:txBody>
          <a:bodyPr wrap="none" lIns="0" tIns="0" rIns="0" bIns="0" rtlCol="0" anchor="t"/>
          <a:lstStyle/>
          <a:p>
            <a:pPr algn="l" indent="0" marL="0">
              <a:lnSpc>
                <a:spcPct val="104000"/>
              </a:lnSpc>
              <a:buNone/>
            </a:pPr>
            <a:r>
              <a:rPr lang="en-US" sz="1350" b="1" dirty="0">
                <a:solidFill>
                  <a:srgbClr val="233939"/>
                </a:solidFill>
                <a:latin typeface="Syne Bold" pitchFamily="34" charset="0"/>
                <a:ea typeface="Syne Bold" pitchFamily="34" charset="-122"/>
                <a:cs typeface="Syne Bold" pitchFamily="34" charset="-120"/>
              </a:rPr>
              <a:t>Underfitting</a:t>
            </a:r>
            <a:endParaRPr lang="en-US" sz="1350" dirty="0"/>
          </a:p>
        </p:txBody>
      </p:sp>
      <p:sp>
        <p:nvSpPr>
          <p:cNvPr id="9" name="Text 7"/>
          <p:cNvSpPr/>
          <p:nvPr/>
        </p:nvSpPr>
        <p:spPr>
          <a:xfrm>
            <a:off x="6275528" y="2075557"/>
            <a:ext cx="5261042" cy="1488281"/>
          </a:xfrm>
          <a:prstGeom prst="rect">
            <a:avLst/>
          </a:prstGeom>
          <a:noFill/>
          <a:ln/>
        </p:spPr>
        <p:txBody>
          <a:bodyPr wrap="square" lIns="0" tIns="0" rIns="0" bIns="0" rtlCol="0" anchor="t">
            <a:normAutofit/>
          </a:bodyPr>
          <a:lstStyle/>
          <a:p>
            <a:pPr algn="l" indent="0" marL="0">
              <a:lnSpc>
                <a:spcPct val="124000"/>
              </a:lnSpc>
              <a:spcAft>
                <a:spcPts val="850"/>
              </a:spcAft>
              <a:buNone/>
            </a:pPr>
            <a:r>
              <a:rPr lang="en-US" sz="1100" dirty="0">
                <a:solidFill>
                  <a:srgbClr val="3B4E4E"/>
                </a:solidFill>
                <a:latin typeface="Overpass Light" pitchFamily="34" charset="0"/>
                <a:ea typeface="Overpass Light" pitchFamily="34" charset="-122"/>
                <a:cs typeface="Overpass Light" pitchFamily="34" charset="-120"/>
              </a:rPr>
              <a:t>The model is too simple to capture the genuine patterns in the data. It makes the same types of errors on both training and test data because it never learned the relationship in the first place.</a:t>
            </a:r>
            <a:endParaRPr lang="en-US" sz="1100" dirty="0"/>
          </a:p>
          <a:p>
            <a:pPr algn="l" indent="0" marL="0">
              <a:lnSpc>
                <a:spcPct val="124000"/>
              </a:lnSpc>
              <a:spcAft>
                <a:spcPts val="850"/>
              </a:spcAft>
              <a:buNone/>
            </a:pPr>
            <a:r>
              <a:rPr lang="en-US" sz="1100" b="1" dirty="0">
                <a:solidFill>
                  <a:srgbClr val="3B4E4E"/>
                </a:solidFill>
                <a:latin typeface="Overpass Bold" pitchFamily="34" charset="0"/>
                <a:ea typeface="Overpass Bold" pitchFamily="34" charset="-122"/>
                <a:cs typeface="Overpass Bold" pitchFamily="34" charset="-120"/>
              </a:rPr>
              <a:t>How to spot it:</a:t>
            </a:r>
            <a:pPr algn="l" indent="0" marL="0">
              <a:lnSpc>
                <a:spcPct val="124000"/>
              </a:lnSpc>
              <a:spcAft>
                <a:spcPts val="850"/>
              </a:spcAft>
              <a:buNone/>
            </a:pPr>
            <a:r>
              <a:rPr lang="en-US" sz="1100" dirty="0">
                <a:solidFill>
                  <a:srgbClr val="3B4E4E"/>
                </a:solidFill>
                <a:latin typeface="Overpass Light" pitchFamily="34" charset="0"/>
                <a:ea typeface="Overpass Light" pitchFamily="34" charset="-122"/>
                <a:cs typeface="Overpass Light" pitchFamily="34" charset="-120"/>
              </a:rPr>
              <a:t> Both training accuracy and test accuracy are poor. There is no gap between the two — because the model is performing badly on everything.</a:t>
            </a:r>
            <a:endParaRPr lang="en-US" sz="1100" dirty="0"/>
          </a:p>
          <a:p>
            <a:pPr algn="l" indent="0" marL="0">
              <a:lnSpc>
                <a:spcPct val="124000"/>
              </a:lnSpc>
              <a:buNone/>
            </a:pPr>
            <a:r>
              <a:rPr lang="en-US" sz="1100" b="1" dirty="0">
                <a:solidFill>
                  <a:srgbClr val="3B4E4E"/>
                </a:solidFill>
                <a:latin typeface="Overpass Bold" pitchFamily="34" charset="0"/>
                <a:ea typeface="Overpass Bold" pitchFamily="34" charset="-122"/>
                <a:cs typeface="Overpass Bold" pitchFamily="34" charset="-120"/>
              </a:rPr>
              <a:t>What to do:</a:t>
            </a:r>
            <a:endParaRPr lang="en-US" sz="1100" dirty="0"/>
          </a:p>
        </p:txBody>
      </p:sp>
      <p:sp>
        <p:nvSpPr>
          <p:cNvPr id="10" name="Text 8"/>
          <p:cNvSpPr/>
          <p:nvPr/>
        </p:nvSpPr>
        <p:spPr>
          <a:xfrm>
            <a:off x="6275528" y="3673673"/>
            <a:ext cx="5261042" cy="1185168"/>
          </a:xfrm>
          <a:prstGeom prst="rect">
            <a:avLst/>
          </a:prstGeom>
          <a:noFill/>
          <a:ln/>
        </p:spPr>
        <p:txBody>
          <a:bodyPr wrap="square" lIns="0" tIns="0" rIns="0" bIns="0" rtlCol="0" anchor="t">
            <a:normAutofit/>
          </a:bodyPr>
          <a:lstStyle/>
          <a:p>
            <a:pPr algn="l" marL="223520" indent="-223520">
              <a:lnSpc>
                <a:spcPct val="124000"/>
              </a:lnSpc>
              <a:buSzPct val="100000"/>
              <a:buChar char="•"/>
            </a:pPr>
            <a:r>
              <a:rPr lang="en-US" sz="1100" dirty="0">
                <a:solidFill>
                  <a:srgbClr val="3B4E4E"/>
                </a:solidFill>
                <a:latin typeface="Overpass Light" pitchFamily="34" charset="0"/>
                <a:ea typeface="Overpass Light" pitchFamily="34" charset="-122"/>
                <a:cs typeface="Overpass Light" pitchFamily="34" charset="-120"/>
              </a:rPr>
              <a:t>Use a more capable algorithm (e.g. gradient boosting instead of linear regression)</a:t>
            </a:r>
            <a:endParaRPr lang="en-US" sz="1100" dirty="0"/>
          </a:p>
          <a:p>
            <a:pPr algn="l" marL="223520" indent="-223520">
              <a:lnSpc>
                <a:spcPct val="124000"/>
              </a:lnSpc>
              <a:buSzPct val="100000"/>
              <a:buChar char="•"/>
            </a:pPr>
            <a:r>
              <a:rPr lang="en-US" sz="1100" dirty="0">
                <a:solidFill>
                  <a:srgbClr val="3B4E4E"/>
                </a:solidFill>
                <a:latin typeface="Overpass Light" pitchFamily="34" charset="0"/>
                <a:ea typeface="Overpass Light" pitchFamily="34" charset="-122"/>
                <a:cs typeface="Overpass Light" pitchFamily="34" charset="-120"/>
              </a:rPr>
              <a:t>Engineer better, more informative features</a:t>
            </a:r>
            <a:endParaRPr lang="en-US" sz="1100" dirty="0"/>
          </a:p>
          <a:p>
            <a:pPr algn="l" marL="223520" indent="-223520">
              <a:lnSpc>
                <a:spcPct val="124000"/>
              </a:lnSpc>
              <a:buSzPct val="100000"/>
              <a:buChar char="•"/>
            </a:pPr>
            <a:r>
              <a:rPr lang="en-US" sz="1100" dirty="0">
                <a:solidFill>
                  <a:srgbClr val="3B4E4E"/>
                </a:solidFill>
                <a:latin typeface="Overpass Light" pitchFamily="34" charset="0"/>
                <a:ea typeface="Overpass Light" pitchFamily="34" charset="-122"/>
                <a:cs typeface="Overpass Light" pitchFamily="34" charset="-120"/>
              </a:rPr>
              <a:t>Remove constraints that are preventing the model from learning</a:t>
            </a:r>
            <a:endParaRPr lang="en-US" sz="1100" dirty="0"/>
          </a:p>
          <a:p>
            <a:pPr algn="l" marL="223520" indent="-223520">
              <a:lnSpc>
                <a:spcPct val="124000"/>
              </a:lnSpc>
              <a:buSzPct val="100000"/>
              <a:buChar char="•"/>
            </a:pPr>
            <a:r>
              <a:rPr lang="en-US" sz="1100" dirty="0">
                <a:solidFill>
                  <a:srgbClr val="3B4E4E"/>
                </a:solidFill>
                <a:latin typeface="Overpass Light" pitchFamily="34" charset="0"/>
                <a:ea typeface="Overpass Light" pitchFamily="34" charset="-122"/>
                <a:cs typeface="Overpass Light" pitchFamily="34" charset="-120"/>
              </a:rPr>
              <a:t>Train for longer (for neural networks)</a:t>
            </a:r>
            <a:endParaRPr lang="en-US" sz="1100" dirty="0"/>
          </a:p>
        </p:txBody>
      </p:sp>
      <p:sp>
        <p:nvSpPr>
          <p:cNvPr id="11" name="Shape 9"/>
          <p:cNvSpPr/>
          <p:nvPr/>
        </p:nvSpPr>
        <p:spPr>
          <a:xfrm>
            <a:off x="6275528" y="5031680"/>
            <a:ext cx="5261042" cy="19050"/>
          </a:xfrm>
          <a:prstGeom prst="roundRect">
            <a:avLst>
              <a:gd name="adj" fmla="val 49999"/>
            </a:avLst>
          </a:prstGeom>
          <a:solidFill>
            <a:srgbClr val="3B4E4E">
              <a:alpha val="50000"/>
            </a:srgbClr>
          </a:solidFill>
          <a:ln/>
        </p:spPr>
      </p:sp>
      <p:sp>
        <p:nvSpPr>
          <p:cNvPr id="12" name="Shape 10"/>
          <p:cNvSpPr/>
          <p:nvPr/>
        </p:nvSpPr>
        <p:spPr>
          <a:xfrm>
            <a:off x="6275528" y="5223570"/>
            <a:ext cx="5261042" cy="925016"/>
          </a:xfrm>
          <a:prstGeom prst="roundRect">
            <a:avLst>
              <a:gd name="adj" fmla="val 6453"/>
            </a:avLst>
          </a:prstGeom>
          <a:solidFill>
            <a:srgbClr val="DDEEE6"/>
          </a:solidFill>
          <a:ln/>
        </p:spPr>
      </p:sp>
      <p:pic>
        <p:nvPicPr>
          <p:cNvPr id="13" name="Image 0" descr="preencoded.png">    </p:cNvPr>
          <p:cNvPicPr>
            <a:picLocks noChangeAspect="1"/>
          </p:cNvPicPr>
          <p:nvPr/>
        </p:nvPicPr>
        <p:blipFill>
          <a:blip r:embed="rId1"/>
          <a:stretch>
            <a:fillRect/>
          </a:stretch>
        </p:blipFill>
        <p:spPr>
          <a:xfrm>
            <a:off x="6417606" y="5396607"/>
            <a:ext cx="177597" cy="142081"/>
          </a:xfrm>
          <a:prstGeom prst="rect">
            <a:avLst/>
          </a:prstGeom>
        </p:spPr>
      </p:pic>
      <p:sp>
        <p:nvSpPr>
          <p:cNvPr id="14" name="Text 11"/>
          <p:cNvSpPr/>
          <p:nvPr/>
        </p:nvSpPr>
        <p:spPr>
          <a:xfrm>
            <a:off x="6737281" y="5368925"/>
            <a:ext cx="4657212" cy="634305"/>
          </a:xfrm>
          <a:prstGeom prst="rect">
            <a:avLst/>
          </a:prstGeom>
          <a:noFill/>
          <a:ln/>
        </p:spPr>
        <p:txBody>
          <a:bodyPr wrap="square" lIns="0" tIns="0" rIns="0" bIns="0" rtlCol="0" anchor="t">
            <a:normAutofit/>
          </a:bodyPr>
          <a:lstStyle/>
          <a:p>
            <a:pPr algn="l" indent="0" marL="0">
              <a:lnSpc>
                <a:spcPct val="124000"/>
              </a:lnSpc>
              <a:buNone/>
            </a:pPr>
            <a:r>
              <a:rPr lang="en-US" sz="1100" b="1" dirty="0">
                <a:solidFill>
                  <a:srgbClr val="000000"/>
                </a:solidFill>
                <a:latin typeface="Overpass Bold" pitchFamily="34" charset="0"/>
                <a:ea typeface="Overpass Bold" pitchFamily="34" charset="-122"/>
                <a:cs typeface="Overpass Bold" pitchFamily="34" charset="-120"/>
              </a:rPr>
              <a:t>Golden Rule:</a:t>
            </a:r>
            <a:pPr algn="l" indent="0" marL="0">
              <a:lnSpc>
                <a:spcPct val="124000"/>
              </a:lnSpc>
              <a:buNone/>
            </a:pPr>
            <a:r>
              <a:rPr lang="en-US" sz="1100" dirty="0">
                <a:solidFill>
                  <a:srgbClr val="000000"/>
                </a:solidFill>
                <a:latin typeface="Overpass Light" pitchFamily="34" charset="0"/>
                <a:ea typeface="Overpass Light" pitchFamily="34" charset="-122"/>
                <a:cs typeface="Overpass Light" pitchFamily="34" charset="-120"/>
              </a:rPr>
              <a:t> Always split your data into a training set and a test set </a:t>
            </a:r>
            <a:pPr algn="l" indent="0" marL="0">
              <a:lnSpc>
                <a:spcPct val="124000"/>
              </a:lnSpc>
              <a:buNone/>
            </a:pPr>
            <a:r>
              <a:rPr lang="en-US" sz="1100" i="1" dirty="0">
                <a:solidFill>
                  <a:srgbClr val="000000"/>
                </a:solidFill>
                <a:latin typeface="Overpass Light" pitchFamily="34" charset="0"/>
                <a:ea typeface="Overpass Light" pitchFamily="34" charset="-122"/>
                <a:cs typeface="Overpass Light" pitchFamily="34" charset="-120"/>
              </a:rPr>
              <a:t>before</a:t>
            </a:r>
            <a:pPr algn="l" indent="0" marL="0">
              <a:lnSpc>
                <a:spcPct val="124000"/>
              </a:lnSpc>
              <a:buNone/>
            </a:pPr>
            <a:r>
              <a:rPr lang="en-US" sz="1100" dirty="0">
                <a:solidFill>
                  <a:srgbClr val="000000"/>
                </a:solidFill>
                <a:latin typeface="Overpass Light" pitchFamily="34" charset="0"/>
                <a:ea typeface="Overpass Light" pitchFamily="34" charset="-122"/>
                <a:cs typeface="Overpass Light" pitchFamily="34" charset="-120"/>
              </a:rPr>
              <a:t> you begin. Judge model quality only on the test set — data the model has never seen during training. This rule is non-negotiable.</a:t>
            </a:r>
            <a:endParaRPr lang="en-US" sz="11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DE6"/>
        </a:solidFill>
      </p:bgPr>
    </p:bg>
    <p:spTree>
      <p:nvGrpSpPr>
        <p:cNvPr id="1" name=""/>
        <p:cNvGrpSpPr/>
        <p:nvPr/>
      </p:nvGrpSpPr>
      <p:grpSpPr>
        <a:xfrm>
          <a:off x="0" y="0"/>
          <a:ext cx="0" cy="0"/>
          <a:chOff x="0" y="0"/>
          <a:chExt cx="0" cy="0"/>
        </a:xfrm>
      </p:grpSpPr>
      <p:sp>
        <p:nvSpPr>
          <p:cNvPr id="2" name="Text 0"/>
          <p:cNvSpPr/>
          <p:nvPr/>
        </p:nvSpPr>
        <p:spPr>
          <a:xfrm>
            <a:off x="661475" y="469628"/>
            <a:ext cx="10868745" cy="387648"/>
          </a:xfrm>
          <a:prstGeom prst="rect">
            <a:avLst/>
          </a:prstGeom>
          <a:noFill/>
          <a:ln/>
        </p:spPr>
        <p:txBody>
          <a:bodyPr wrap="none" lIns="0" tIns="0" rIns="0" bIns="0" rtlCol="0" anchor="t"/>
          <a:lstStyle/>
          <a:p>
            <a:pPr algn="l" indent="0" marL="0">
              <a:lnSpc>
                <a:spcPct val="104000"/>
              </a:lnSpc>
              <a:buNone/>
            </a:pPr>
            <a:r>
              <a:rPr lang="en-US" sz="2400" b="1" dirty="0">
                <a:solidFill>
                  <a:srgbClr val="233939"/>
                </a:solidFill>
                <a:latin typeface="Syne Bold" pitchFamily="34" charset="0"/>
                <a:ea typeface="Syne Bold" pitchFamily="34" charset="-122"/>
                <a:cs typeface="Syne Bold" pitchFamily="34" charset="-120"/>
              </a:rPr>
              <a:t>Cheat Sheet: Business Case to Algorithm</a:t>
            </a:r>
            <a:endParaRPr lang="en-US" sz="2400" dirty="0"/>
          </a:p>
        </p:txBody>
      </p:sp>
      <p:sp>
        <p:nvSpPr>
          <p:cNvPr id="3" name="Text 1"/>
          <p:cNvSpPr/>
          <p:nvPr/>
        </p:nvSpPr>
        <p:spPr>
          <a:xfrm>
            <a:off x="661475" y="1038622"/>
            <a:ext cx="11478330" cy="173633"/>
          </a:xfrm>
          <a:prstGeom prst="rect">
            <a:avLst/>
          </a:prstGeom>
          <a:noFill/>
          <a:ln/>
        </p:spPr>
        <p:txBody>
          <a:bodyPr wrap="none" lIns="0" tIns="0" rIns="0" bIns="0" rtlCol="0" anchor="t"/>
          <a:lstStyle/>
          <a:p>
            <a:pPr algn="l" indent="0" marL="0">
              <a:lnSpc>
                <a:spcPct val="117000"/>
              </a:lnSpc>
              <a:buNone/>
            </a:pPr>
            <a:r>
              <a:rPr lang="en-US" sz="950" dirty="0">
                <a:solidFill>
                  <a:srgbClr val="3B4E4E"/>
                </a:solidFill>
                <a:latin typeface="Overpass Light" pitchFamily="34" charset="0"/>
                <a:ea typeface="Overpass Light" pitchFamily="34" charset="-122"/>
                <a:cs typeface="Overpass Light" pitchFamily="34" charset="-120"/>
              </a:rPr>
              <a:t>Keep this table as a quick reference. Start simple, validate on a test set, and only move to a more complex algorithm if the simpler one does not meet the business requirement.</a:t>
            </a:r>
            <a:endParaRPr lang="en-US" sz="950" dirty="0"/>
          </a:p>
        </p:txBody>
      </p:sp>
      <p:graphicFrame>
        <p:nvGraphicFramePr>
          <p:cNvPr id="44" name="Table 0"/>
          <p:cNvGraphicFramePr>
            <a:graphicFrameLocks noGrp="1"/>
          </p:cNvGraphicFramePr>
          <p:nvPr>
            <p:extLst>
              <p:ext uri="{D42A27DB-BD31-4B8C-83A1-F6EECF244321}">
                <p14:modId xmlns:p14="http://schemas.microsoft.com/office/powerpoint/2010/main" val="1579011935"/>
              </p:ext>
            </p:extLst>
          </p:nvPr>
        </p:nvGraphicFramePr>
        <p:xfrm>
          <a:off x="661475" y="1316831"/>
          <a:ext cx="10868745" cy="914400"/>
        </p:xfrm>
        <a:graphic>
          <a:graphicData uri="http://schemas.openxmlformats.org/drawingml/2006/table">
            <a:tbl>
              <a:tblPr/>
              <a:tblGrid>
                <a:gridCol w="3260644"/>
                <a:gridCol w="2717186"/>
                <a:gridCol w="3260644"/>
                <a:gridCol w="1630272"/>
              </a:tblGrid>
              <a:tr h="297847">
                <a:tc>
                  <a:txBody>
                    <a:bodyPr/>
                    <a:lstStyle/>
                    <a:p>
                      <a:pPr algn="l" indent="0" marL="0">
                        <a:buNone/>
                      </a:pPr>
                      <a:r>
                        <a:rPr lang="en-US" sz="950" b="1" dirty="0">
                          <a:solidFill>
                            <a:srgbClr val="FFFFFF"/>
                          </a:solidFill>
                          <a:latin typeface="Overpass" pitchFamily="34" charset="0"/>
                          <a:ea typeface="Overpass" pitchFamily="34" charset="-122"/>
                          <a:cs typeface="Overpass" pitchFamily="34" charset="-120"/>
                        </a:rPr>
                        <a:t>Business Case</a:t>
                      </a:r>
                      <a:endParaRPr lang="en-US" sz="950" dirty="0">
                        <a:latin typeface="Overpass" charset="0"/>
                        <a:ea typeface="Overpass" charset="0"/>
                        <a:cs typeface="Overpass" charset="0"/>
                      </a:endParaRPr>
                    </a:p>
                  </a:txBody>
                  <a:tcPr marL="124044" marR="124044" marT="6350" marB="6350" anchor="ctr">
                    <a:lnL w="12700" cap="flat" cmpd="sng" algn="ctr">
                      <a:solidFill>
                        <a:srgbClr val="C3D4CC"/>
                      </a:solidFill>
                      <a:prstDash val="solid"/>
                      <a:round/>
                      <a:headEnd type="none" w="med" len="med"/>
                      <a:tailEnd type="none" w="med" len="med"/>
                    </a:lnL>
                    <a:lnR w="12700" cap="flat" cmpd="sng" algn="ctr">
                      <a:solidFill>
                        <a:srgbClr val="224435"/>
                      </a:solidFill>
                      <a:prstDash val="solid"/>
                      <a:round/>
                      <a:headEnd type="none" w="med" len="med"/>
                      <a:tailEnd type="none" w="med" len="med"/>
                    </a:lnR>
                    <a:lnT w="12700" cap="flat" cmpd="sng" algn="ctr">
                      <a:solidFill>
                        <a:srgbClr val="C3D4CC"/>
                      </a:solidFill>
                      <a:prstDash val="solid"/>
                      <a:round/>
                      <a:headEnd type="none" w="med" len="med"/>
                      <a:tailEnd type="none" w="med" len="med"/>
                    </a:lnT>
                    <a:lnB w="12700" cap="flat" cmpd="sng" algn="ctr">
                      <a:solidFill>
                        <a:srgbClr val="224435"/>
                      </a:solidFill>
                      <a:prstDash val="solid"/>
                      <a:round/>
                      <a:headEnd type="none" w="med" len="med"/>
                      <a:tailEnd type="none" w="med" len="med"/>
                    </a:lnB>
                    <a:solidFill>
                      <a:srgbClr val="224435"/>
                    </a:solidFill>
                  </a:tcPr>
                </a:tc>
                <a:tc>
                  <a:txBody>
                    <a:bodyPr/>
                    <a:lstStyle/>
                    <a:p>
                      <a:pPr algn="l" indent="0" marL="0">
                        <a:buNone/>
                      </a:pPr>
                      <a:r>
                        <a:rPr lang="en-US" sz="950" b="1" dirty="0">
                          <a:solidFill>
                            <a:srgbClr val="FFFFFF"/>
                          </a:solidFill>
                          <a:latin typeface="Overpass" pitchFamily="34" charset="0"/>
                          <a:ea typeface="Overpass" pitchFamily="34" charset="-122"/>
                          <a:cs typeface="Overpass" pitchFamily="34" charset="-120"/>
                        </a:rPr>
                        <a:t>Problem Type</a:t>
                      </a:r>
                      <a:endParaRPr lang="en-US" sz="950" dirty="0">
                        <a:latin typeface="Overpass" charset="0"/>
                        <a:ea typeface="Overpass" charset="0"/>
                        <a:cs typeface="Overpass" charset="0"/>
                      </a:endParaRPr>
                    </a:p>
                  </a:txBody>
                  <a:tcPr marL="124044" marR="124044" marT="6350" marB="6350" anchor="ctr">
                    <a:lnL w="12700" cap="flat" cmpd="sng" algn="ctr">
                      <a:solidFill>
                        <a:srgbClr val="224435"/>
                      </a:solidFill>
                      <a:prstDash val="solid"/>
                      <a:round/>
                      <a:headEnd type="none" w="med" len="med"/>
                      <a:tailEnd type="none" w="med" len="med"/>
                    </a:lnL>
                    <a:lnR w="12700" cap="flat" cmpd="sng" algn="ctr">
                      <a:solidFill>
                        <a:srgbClr val="224435"/>
                      </a:solidFill>
                      <a:prstDash val="solid"/>
                      <a:round/>
                      <a:headEnd type="none" w="med" len="med"/>
                      <a:tailEnd type="none" w="med" len="med"/>
                    </a:lnR>
                    <a:lnT w="12700" cap="flat" cmpd="sng" algn="ctr">
                      <a:solidFill>
                        <a:srgbClr val="C3D4CC"/>
                      </a:solidFill>
                      <a:prstDash val="solid"/>
                      <a:round/>
                      <a:headEnd type="none" w="med" len="med"/>
                      <a:tailEnd type="none" w="med" len="med"/>
                    </a:lnT>
                    <a:lnB w="12700" cap="flat" cmpd="sng" algn="ctr">
                      <a:solidFill>
                        <a:srgbClr val="224435"/>
                      </a:solidFill>
                      <a:prstDash val="solid"/>
                      <a:round/>
                      <a:headEnd type="none" w="med" len="med"/>
                      <a:tailEnd type="none" w="med" len="med"/>
                    </a:lnB>
                    <a:solidFill>
                      <a:srgbClr val="224435"/>
                    </a:solidFill>
                  </a:tcPr>
                </a:tc>
                <a:tc>
                  <a:txBody>
                    <a:bodyPr/>
                    <a:lstStyle/>
                    <a:p>
                      <a:pPr algn="l" indent="0" marL="0">
                        <a:buNone/>
                      </a:pPr>
                      <a:r>
                        <a:rPr lang="en-US" sz="950" b="1" dirty="0">
                          <a:solidFill>
                            <a:srgbClr val="FFFFFF"/>
                          </a:solidFill>
                          <a:latin typeface="Overpass" pitchFamily="34" charset="0"/>
                          <a:ea typeface="Overpass" pitchFamily="34" charset="-122"/>
                          <a:cs typeface="Overpass" pitchFamily="34" charset="-120"/>
                        </a:rPr>
                        <a:t>Start With</a:t>
                      </a:r>
                      <a:endParaRPr lang="en-US" sz="950" dirty="0">
                        <a:latin typeface="Overpass" charset="0"/>
                        <a:ea typeface="Overpass" charset="0"/>
                        <a:cs typeface="Overpass" charset="0"/>
                      </a:endParaRPr>
                    </a:p>
                  </a:txBody>
                  <a:tcPr marL="124044" marR="124044" marT="6350" marB="6350" anchor="ctr">
                    <a:lnL w="12700" cap="flat" cmpd="sng" algn="ctr">
                      <a:solidFill>
                        <a:srgbClr val="224435"/>
                      </a:solidFill>
                      <a:prstDash val="solid"/>
                      <a:round/>
                      <a:headEnd type="none" w="med" len="med"/>
                      <a:tailEnd type="none" w="med" len="med"/>
                    </a:lnL>
                    <a:lnR w="12700" cap="flat" cmpd="sng" algn="ctr">
                      <a:solidFill>
                        <a:srgbClr val="224435"/>
                      </a:solidFill>
                      <a:prstDash val="solid"/>
                      <a:round/>
                      <a:headEnd type="none" w="med" len="med"/>
                      <a:tailEnd type="none" w="med" len="med"/>
                    </a:lnR>
                    <a:lnT w="12700" cap="flat" cmpd="sng" algn="ctr">
                      <a:solidFill>
                        <a:srgbClr val="C3D4CC"/>
                      </a:solidFill>
                      <a:prstDash val="solid"/>
                      <a:round/>
                      <a:headEnd type="none" w="med" len="med"/>
                      <a:tailEnd type="none" w="med" len="med"/>
                    </a:lnT>
                    <a:lnB w="12700" cap="flat" cmpd="sng" algn="ctr">
                      <a:solidFill>
                        <a:srgbClr val="224435"/>
                      </a:solidFill>
                      <a:prstDash val="solid"/>
                      <a:round/>
                      <a:headEnd type="none" w="med" len="med"/>
                      <a:tailEnd type="none" w="med" len="med"/>
                    </a:lnB>
                    <a:solidFill>
                      <a:srgbClr val="224435"/>
                    </a:solidFill>
                  </a:tcPr>
                </a:tc>
                <a:tc>
                  <a:txBody>
                    <a:bodyPr/>
                    <a:lstStyle/>
                    <a:p>
                      <a:pPr algn="l" indent="0" marL="0">
                        <a:buNone/>
                      </a:pPr>
                      <a:r>
                        <a:rPr lang="en-US" sz="950" b="1" dirty="0">
                          <a:solidFill>
                            <a:srgbClr val="FFFFFF"/>
                          </a:solidFill>
                          <a:latin typeface="Overpass" pitchFamily="34" charset="0"/>
                          <a:ea typeface="Overpass" pitchFamily="34" charset="-122"/>
                          <a:cs typeface="Overpass" pitchFamily="34" charset="-120"/>
                        </a:rPr>
                        <a:t>Key Reason</a:t>
                      </a:r>
                      <a:endParaRPr lang="en-US" sz="950" dirty="0">
                        <a:latin typeface="Overpass" charset="0"/>
                        <a:ea typeface="Overpass" charset="0"/>
                        <a:cs typeface="Overpass" charset="0"/>
                      </a:endParaRPr>
                    </a:p>
                  </a:txBody>
                  <a:tcPr marL="124044" marR="124044" marT="6350" marB="6350" anchor="ctr">
                    <a:lnL w="12700" cap="flat" cmpd="sng" algn="ctr">
                      <a:solidFill>
                        <a:srgbClr val="224435"/>
                      </a:solidFill>
                      <a:prstDash val="solid"/>
                      <a:round/>
                      <a:headEnd type="none" w="med" len="med"/>
                      <a:tailEnd type="none" w="med" len="med"/>
                    </a:lnL>
                    <a:lnR w="12700" cap="flat" cmpd="sng" algn="ctr">
                      <a:solidFill>
                        <a:srgbClr val="C3D4CC"/>
                      </a:solidFill>
                      <a:prstDash val="solid"/>
                      <a:round/>
                      <a:headEnd type="none" w="med" len="med"/>
                      <a:tailEnd type="none" w="med" len="med"/>
                    </a:lnR>
                    <a:lnT w="12700" cap="flat" cmpd="sng" algn="ctr">
                      <a:solidFill>
                        <a:srgbClr val="C3D4CC"/>
                      </a:solidFill>
                      <a:prstDash val="solid"/>
                      <a:round/>
                      <a:headEnd type="none" w="med" len="med"/>
                      <a:tailEnd type="none" w="med" len="med"/>
                    </a:lnT>
                    <a:lnB w="12700" cap="flat" cmpd="sng" algn="ctr">
                      <a:solidFill>
                        <a:srgbClr val="224435"/>
                      </a:solidFill>
                      <a:prstDash val="solid"/>
                      <a:round/>
                      <a:headEnd type="none" w="med" len="med"/>
                      <a:tailEnd type="none" w="med" len="med"/>
                    </a:lnB>
                    <a:solidFill>
                      <a:srgbClr val="224435"/>
                    </a:solidFill>
                  </a:tcPr>
                </a:tc>
              </a:tr>
              <a:tr h="297847">
                <a:tc>
                  <a:txBody>
                    <a:bodyPr/>
                    <a:lstStyle/>
                    <a:p>
                      <a:pPr algn="l" indent="0" marL="0">
                        <a:buNone/>
                      </a:pPr>
                      <a:r>
                        <a:rPr lang="en-US" sz="950" dirty="0">
                          <a:solidFill>
                            <a:srgbClr val="3B4E4E"/>
                          </a:solidFill>
                          <a:latin typeface="Overpass" pitchFamily="34" charset="0"/>
                          <a:ea typeface="Overpass" pitchFamily="34" charset="-122"/>
                          <a:cs typeface="Overpass" pitchFamily="34" charset="-120"/>
                        </a:rPr>
                        <a:t>Estimate house price</a:t>
                      </a:r>
                      <a:endParaRPr lang="en-US" sz="950" dirty="0">
                        <a:latin typeface="Overpass" charset="0"/>
                        <a:ea typeface="Overpass" charset="0"/>
                        <a:cs typeface="Overpass" charset="0"/>
                      </a:endParaRPr>
                    </a:p>
                  </a:txBody>
                  <a:tcPr marL="124044" marR="124044" marT="6350" marB="6350" anchor="ctr">
                    <a:lnL w="12700" cap="flat" cmpd="sng" algn="ctr">
                      <a:solidFill>
                        <a:srgbClr val="C3D4CC"/>
                      </a:solidFill>
                      <a:prstDash val="solid"/>
                      <a:round/>
                      <a:headEnd type="none" w="med" len="med"/>
                      <a:tailEnd type="none" w="med" len="med"/>
                    </a:lnL>
                    <a:lnR w="12700" cap="flat" cmpd="sng" algn="ctr">
                      <a:solidFill>
                        <a:srgbClr val="F5F3DD"/>
                      </a:solidFill>
                      <a:prstDash val="solid"/>
                      <a:round/>
                      <a:headEnd type="none" w="med" len="med"/>
                      <a:tailEnd type="none" w="med" len="med"/>
                    </a:lnR>
                    <a:lnT w="12700" cap="flat" cmpd="sng" algn="ctr">
                      <a:solidFill>
                        <a:srgbClr val="F5F3DD"/>
                      </a:solidFill>
                      <a:prstDash val="solid"/>
                      <a:round/>
                      <a:headEnd type="none" w="med" len="med"/>
                      <a:tailEnd type="none" w="med" len="med"/>
                    </a:lnT>
                    <a:lnB w="12700" cap="flat" cmpd="sng" algn="ctr">
                      <a:solidFill>
                        <a:srgbClr val="F5F3DD"/>
                      </a:solidFill>
                      <a:prstDash val="solid"/>
                      <a:round/>
                      <a:headEnd type="none" w="med" len="med"/>
                      <a:tailEnd type="none" w="med" len="med"/>
                    </a:lnB>
                    <a:solidFill>
                      <a:srgbClr val="000000">
                        <a:alpha val="4000"/>
                      </a:srgbClr>
                    </a:solidFill>
                  </a:tcPr>
                </a:tc>
                <a:tc>
                  <a:txBody>
                    <a:bodyPr/>
                    <a:lstStyle/>
                    <a:p>
                      <a:pPr algn="l" indent="0" marL="0">
                        <a:buNone/>
                      </a:pPr>
                      <a:r>
                        <a:rPr lang="en-US" sz="950" dirty="0">
                          <a:solidFill>
                            <a:srgbClr val="3B4E4E"/>
                          </a:solidFill>
                          <a:latin typeface="Overpass" pitchFamily="34" charset="0"/>
                          <a:ea typeface="Overpass" pitchFamily="34" charset="-122"/>
                          <a:cs typeface="Overpass" pitchFamily="34" charset="-120"/>
                        </a:rPr>
                        <a:t>Regression</a:t>
                      </a:r>
                      <a:endParaRPr lang="en-US" sz="950" dirty="0">
                        <a:latin typeface="Overpass" charset="0"/>
                        <a:ea typeface="Overpass" charset="0"/>
                        <a:cs typeface="Overpass" charset="0"/>
                      </a:endParaRPr>
                    </a:p>
                  </a:txBody>
                  <a:tcPr marL="124044" marR="124044" marT="6350" marB="6350" anchor="ctr">
                    <a:lnL w="12700" cap="flat" cmpd="sng" algn="ctr">
                      <a:solidFill>
                        <a:srgbClr val="F5F3DD"/>
                      </a:solidFill>
                      <a:prstDash val="solid"/>
                      <a:round/>
                      <a:headEnd type="none" w="med" len="med"/>
                      <a:tailEnd type="none" w="med" len="med"/>
                    </a:lnL>
                    <a:lnR w="12700" cap="flat" cmpd="sng" algn="ctr">
                      <a:solidFill>
                        <a:srgbClr val="F5F3DD"/>
                      </a:solidFill>
                      <a:prstDash val="solid"/>
                      <a:round/>
                      <a:headEnd type="none" w="med" len="med"/>
                      <a:tailEnd type="none" w="med" len="med"/>
                    </a:lnR>
                    <a:lnT w="12700" cap="flat" cmpd="sng" algn="ctr">
                      <a:solidFill>
                        <a:srgbClr val="F5F3DD"/>
                      </a:solidFill>
                      <a:prstDash val="solid"/>
                      <a:round/>
                      <a:headEnd type="none" w="med" len="med"/>
                      <a:tailEnd type="none" w="med" len="med"/>
                    </a:lnT>
                    <a:lnB w="12700" cap="flat" cmpd="sng" algn="ctr">
                      <a:solidFill>
                        <a:srgbClr val="F5F3DD"/>
                      </a:solidFill>
                      <a:prstDash val="solid"/>
                      <a:round/>
                      <a:headEnd type="none" w="med" len="med"/>
                      <a:tailEnd type="none" w="med" len="med"/>
                    </a:lnB>
                    <a:solidFill>
                      <a:srgbClr val="000000">
                        <a:alpha val="4000"/>
                      </a:srgbClr>
                    </a:solidFill>
                  </a:tcPr>
                </a:tc>
                <a:tc>
                  <a:txBody>
                    <a:bodyPr/>
                    <a:lstStyle/>
                    <a:p>
                      <a:pPr algn="l" indent="0" marL="0">
                        <a:buNone/>
                      </a:pPr>
                      <a:r>
                        <a:rPr lang="en-US" sz="950" dirty="0">
                          <a:solidFill>
                            <a:srgbClr val="3B4E4E"/>
                          </a:solidFill>
                          <a:latin typeface="Overpass" pitchFamily="34" charset="0"/>
                          <a:ea typeface="Overpass" pitchFamily="34" charset="-122"/>
                          <a:cs typeface="Overpass" pitchFamily="34" charset="-120"/>
                        </a:rPr>
                        <a:t>Linear Regression</a:t>
                      </a:r>
                      <a:endParaRPr lang="en-US" sz="950" dirty="0">
                        <a:latin typeface="Overpass" charset="0"/>
                        <a:ea typeface="Overpass" charset="0"/>
                        <a:cs typeface="Overpass" charset="0"/>
                      </a:endParaRPr>
                    </a:p>
                  </a:txBody>
                  <a:tcPr marL="124044" marR="124044" marT="6350" marB="6350" anchor="ctr">
                    <a:lnL w="12700" cap="flat" cmpd="sng" algn="ctr">
                      <a:solidFill>
                        <a:srgbClr val="F5F3DD"/>
                      </a:solidFill>
                      <a:prstDash val="solid"/>
                      <a:round/>
                      <a:headEnd type="none" w="med" len="med"/>
                      <a:tailEnd type="none" w="med" len="med"/>
                    </a:lnL>
                    <a:lnR w="12700" cap="flat" cmpd="sng" algn="ctr">
                      <a:solidFill>
                        <a:srgbClr val="F5F3DD"/>
                      </a:solidFill>
                      <a:prstDash val="solid"/>
                      <a:round/>
                      <a:headEnd type="none" w="med" len="med"/>
                      <a:tailEnd type="none" w="med" len="med"/>
                    </a:lnR>
                    <a:lnT w="12700" cap="flat" cmpd="sng" algn="ctr">
                      <a:solidFill>
                        <a:srgbClr val="F5F3DD"/>
                      </a:solidFill>
                      <a:prstDash val="solid"/>
                      <a:round/>
                      <a:headEnd type="none" w="med" len="med"/>
                      <a:tailEnd type="none" w="med" len="med"/>
                    </a:lnT>
                    <a:lnB w="12700" cap="flat" cmpd="sng" algn="ctr">
                      <a:solidFill>
                        <a:srgbClr val="F5F3DD"/>
                      </a:solidFill>
                      <a:prstDash val="solid"/>
                      <a:round/>
                      <a:headEnd type="none" w="med" len="med"/>
                      <a:tailEnd type="none" w="med" len="med"/>
                    </a:lnB>
                    <a:solidFill>
                      <a:srgbClr val="000000">
                        <a:alpha val="4000"/>
                      </a:srgbClr>
                    </a:solidFill>
                  </a:tcPr>
                </a:tc>
                <a:tc>
                  <a:txBody>
                    <a:bodyPr/>
                    <a:lstStyle/>
                    <a:p>
                      <a:pPr algn="l" indent="0" marL="0">
                        <a:buNone/>
                      </a:pPr>
                      <a:r>
                        <a:rPr lang="en-US" sz="950" dirty="0">
                          <a:solidFill>
                            <a:srgbClr val="3B4E4E"/>
                          </a:solidFill>
                          <a:latin typeface="Overpass" pitchFamily="34" charset="0"/>
                          <a:ea typeface="Overpass" pitchFamily="34" charset="-122"/>
                          <a:cs typeface="Overpass" pitchFamily="34" charset="-120"/>
                        </a:rPr>
                        <a:t>Explainable, fast</a:t>
                      </a:r>
                      <a:endParaRPr lang="en-US" sz="950" dirty="0">
                        <a:latin typeface="Overpass" charset="0"/>
                        <a:ea typeface="Overpass" charset="0"/>
                        <a:cs typeface="Overpass" charset="0"/>
                      </a:endParaRPr>
                    </a:p>
                  </a:txBody>
                  <a:tcPr marL="124044" marR="124044" marT="6350" marB="6350" anchor="ctr">
                    <a:lnL w="12700" cap="flat" cmpd="sng" algn="ctr">
                      <a:solidFill>
                        <a:srgbClr val="F5F3DD"/>
                      </a:solidFill>
                      <a:prstDash val="solid"/>
                      <a:round/>
                      <a:headEnd type="none" w="med" len="med"/>
                      <a:tailEnd type="none" w="med" len="med"/>
                    </a:lnL>
                    <a:lnR w="12700" cap="flat" cmpd="sng" algn="ctr">
                      <a:solidFill>
                        <a:srgbClr val="C3D4CC"/>
                      </a:solidFill>
                      <a:prstDash val="solid"/>
                      <a:round/>
                      <a:headEnd type="none" w="med" len="med"/>
                      <a:tailEnd type="none" w="med" len="med"/>
                    </a:lnR>
                    <a:lnT w="12700" cap="flat" cmpd="sng" algn="ctr">
                      <a:solidFill>
                        <a:srgbClr val="F5F3DD"/>
                      </a:solidFill>
                      <a:prstDash val="solid"/>
                      <a:round/>
                      <a:headEnd type="none" w="med" len="med"/>
                      <a:tailEnd type="none" w="med" len="med"/>
                    </a:lnT>
                    <a:lnB w="12700" cap="flat" cmpd="sng" algn="ctr">
                      <a:solidFill>
                        <a:srgbClr val="F5F3DD"/>
                      </a:solidFill>
                      <a:prstDash val="solid"/>
                      <a:round/>
                      <a:headEnd type="none" w="med" len="med"/>
                      <a:tailEnd type="none" w="med" len="med"/>
                    </a:lnB>
                    <a:solidFill>
                      <a:srgbClr val="000000">
                        <a:alpha val="4000"/>
                      </a:srgbClr>
                    </a:solidFill>
                  </a:tcPr>
                </a:tc>
              </a:tr>
              <a:tr h="297847">
                <a:tc>
                  <a:txBody>
                    <a:bodyPr/>
                    <a:lstStyle/>
                    <a:p>
                      <a:pPr algn="l" indent="0" marL="0">
                        <a:buNone/>
                      </a:pPr>
                      <a:r>
                        <a:rPr lang="en-US" sz="950" dirty="0">
                          <a:solidFill>
                            <a:srgbClr val="3B4E4E"/>
                          </a:solidFill>
                          <a:latin typeface="Overpass" pitchFamily="34" charset="0"/>
                          <a:ea typeface="Overpass" pitchFamily="34" charset="-122"/>
                          <a:cs typeface="Overpass" pitchFamily="34" charset="-120"/>
                        </a:rPr>
                        <a:t>Approve or reject a loan</a:t>
                      </a:r>
                      <a:endParaRPr lang="en-US" sz="950" dirty="0">
                        <a:latin typeface="Overpass" charset="0"/>
                        <a:ea typeface="Overpass" charset="0"/>
                        <a:cs typeface="Overpass" charset="0"/>
                      </a:endParaRPr>
                    </a:p>
                  </a:txBody>
                  <a:tcPr marL="124044" marR="124044" marT="6350" marB="6350" anchor="ctr">
                    <a:lnL w="12700" cap="flat" cmpd="sng" algn="ctr">
                      <a:solidFill>
                        <a:srgbClr val="C3D4CC"/>
                      </a:solidFill>
                      <a:prstDash val="solid"/>
                      <a:round/>
                      <a:headEnd type="none" w="med" len="med"/>
                      <a:tailEnd type="none" w="med" len="med"/>
                    </a:lnL>
                    <a:lnR w="12700" cap="flat" cmpd="sng" algn="ctr">
                      <a:solidFill>
                        <a:srgbClr val="FFFDE7"/>
                      </a:solidFill>
                      <a:prstDash val="solid"/>
                      <a:round/>
                      <a:headEnd type="none" w="med" len="med"/>
                      <a:tailEnd type="none" w="med" len="med"/>
                    </a:lnR>
                    <a:lnT w="12700" cap="flat" cmpd="sng" algn="ctr">
                      <a:solidFill>
                        <a:srgbClr val="FFFDE7"/>
                      </a:solidFill>
                      <a:prstDash val="solid"/>
                      <a:round/>
                      <a:headEnd type="none" w="med" len="med"/>
                      <a:tailEnd type="none" w="med" len="med"/>
                    </a:lnT>
                    <a:lnB w="12700" cap="flat" cmpd="sng" algn="ctr">
                      <a:solidFill>
                        <a:srgbClr val="FFFDE7"/>
                      </a:solidFill>
                      <a:prstDash val="solid"/>
                      <a:round/>
                      <a:headEnd type="none" w="med" len="med"/>
                      <a:tailEnd type="none" w="med" len="med"/>
                    </a:lnB>
                    <a:solidFill>
                      <a:srgbClr val="FFFFFF">
                        <a:alpha val="4000"/>
                      </a:srgbClr>
                    </a:solidFill>
                  </a:tcPr>
                </a:tc>
                <a:tc>
                  <a:txBody>
                    <a:bodyPr/>
                    <a:lstStyle/>
                    <a:p>
                      <a:pPr algn="l" indent="0" marL="0">
                        <a:buNone/>
                      </a:pPr>
                      <a:r>
                        <a:rPr lang="en-US" sz="950" dirty="0">
                          <a:solidFill>
                            <a:srgbClr val="3B4E4E"/>
                          </a:solidFill>
                          <a:latin typeface="Overpass" pitchFamily="34" charset="0"/>
                          <a:ea typeface="Overpass" pitchFamily="34" charset="-122"/>
                          <a:cs typeface="Overpass" pitchFamily="34" charset="-120"/>
                        </a:rPr>
                        <a:t>Classification, explainable</a:t>
                      </a:r>
                      <a:endParaRPr lang="en-US" sz="950" dirty="0">
                        <a:latin typeface="Overpass" charset="0"/>
                        <a:ea typeface="Overpass" charset="0"/>
                        <a:cs typeface="Overpass" charset="0"/>
                      </a:endParaRPr>
                    </a:p>
                  </a:txBody>
                  <a:tcPr marL="124044" marR="124044" marT="6350" marB="6350" anchor="ctr">
                    <a:lnL w="12700" cap="flat" cmpd="sng" algn="ctr">
                      <a:solidFill>
                        <a:srgbClr val="FFFDE7"/>
                      </a:solidFill>
                      <a:prstDash val="solid"/>
                      <a:round/>
                      <a:headEnd type="none" w="med" len="med"/>
                      <a:tailEnd type="none" w="med" len="med"/>
                    </a:lnL>
                    <a:lnR w="12700" cap="flat" cmpd="sng" algn="ctr">
                      <a:solidFill>
                        <a:srgbClr val="FFFDE7"/>
                      </a:solidFill>
                      <a:prstDash val="solid"/>
                      <a:round/>
                      <a:headEnd type="none" w="med" len="med"/>
                      <a:tailEnd type="none" w="med" len="med"/>
                    </a:lnR>
                    <a:lnT w="12700" cap="flat" cmpd="sng" algn="ctr">
                      <a:solidFill>
                        <a:srgbClr val="FFFDE7"/>
                      </a:solidFill>
                      <a:prstDash val="solid"/>
                      <a:round/>
                      <a:headEnd type="none" w="med" len="med"/>
                      <a:tailEnd type="none" w="med" len="med"/>
                    </a:lnT>
                    <a:lnB w="12700" cap="flat" cmpd="sng" algn="ctr">
                      <a:solidFill>
                        <a:srgbClr val="FFFDE7"/>
                      </a:solidFill>
                      <a:prstDash val="solid"/>
                      <a:round/>
                      <a:headEnd type="none" w="med" len="med"/>
                      <a:tailEnd type="none" w="med" len="med"/>
                    </a:lnB>
                    <a:solidFill>
                      <a:srgbClr val="FFFFFF">
                        <a:alpha val="4000"/>
                      </a:srgbClr>
                    </a:solidFill>
                  </a:tcPr>
                </a:tc>
                <a:tc>
                  <a:txBody>
                    <a:bodyPr/>
                    <a:lstStyle/>
                    <a:p>
                      <a:pPr algn="l" indent="0" marL="0">
                        <a:buNone/>
                      </a:pPr>
                      <a:r>
                        <a:rPr lang="en-US" sz="950" dirty="0">
                          <a:solidFill>
                            <a:srgbClr val="3B4E4E"/>
                          </a:solidFill>
                          <a:latin typeface="Overpass" pitchFamily="34" charset="0"/>
                          <a:ea typeface="Overpass" pitchFamily="34" charset="-122"/>
                          <a:cs typeface="Overpass" pitchFamily="34" charset="-120"/>
                        </a:rPr>
                        <a:t>Logistic Regression</a:t>
                      </a:r>
                      <a:endParaRPr lang="en-US" sz="950" dirty="0">
                        <a:latin typeface="Overpass" charset="0"/>
                        <a:ea typeface="Overpass" charset="0"/>
                        <a:cs typeface="Overpass" charset="0"/>
                      </a:endParaRPr>
                    </a:p>
                  </a:txBody>
                  <a:tcPr marL="124044" marR="124044" marT="6350" marB="6350" anchor="ctr">
                    <a:lnL w="12700" cap="flat" cmpd="sng" algn="ctr">
                      <a:solidFill>
                        <a:srgbClr val="FFFDE7"/>
                      </a:solidFill>
                      <a:prstDash val="solid"/>
                      <a:round/>
                      <a:headEnd type="none" w="med" len="med"/>
                      <a:tailEnd type="none" w="med" len="med"/>
                    </a:lnL>
                    <a:lnR w="12700" cap="flat" cmpd="sng" algn="ctr">
                      <a:solidFill>
                        <a:srgbClr val="FFFDE7"/>
                      </a:solidFill>
                      <a:prstDash val="solid"/>
                      <a:round/>
                      <a:headEnd type="none" w="med" len="med"/>
                      <a:tailEnd type="none" w="med" len="med"/>
                    </a:lnR>
                    <a:lnT w="12700" cap="flat" cmpd="sng" algn="ctr">
                      <a:solidFill>
                        <a:srgbClr val="FFFDE7"/>
                      </a:solidFill>
                      <a:prstDash val="solid"/>
                      <a:round/>
                      <a:headEnd type="none" w="med" len="med"/>
                      <a:tailEnd type="none" w="med" len="med"/>
                    </a:lnT>
                    <a:lnB w="12700" cap="flat" cmpd="sng" algn="ctr">
                      <a:solidFill>
                        <a:srgbClr val="FFFDE7"/>
                      </a:solidFill>
                      <a:prstDash val="solid"/>
                      <a:round/>
                      <a:headEnd type="none" w="med" len="med"/>
                      <a:tailEnd type="none" w="med" len="med"/>
                    </a:lnB>
                    <a:solidFill>
                      <a:srgbClr val="FFFFFF">
                        <a:alpha val="4000"/>
                      </a:srgbClr>
                    </a:solidFill>
                  </a:tcPr>
                </a:tc>
                <a:tc>
                  <a:txBody>
                    <a:bodyPr/>
                    <a:lstStyle/>
                    <a:p>
                      <a:pPr algn="l" indent="0" marL="0">
                        <a:buNone/>
                      </a:pPr>
                      <a:r>
                        <a:rPr lang="en-US" sz="950" dirty="0">
                          <a:solidFill>
                            <a:srgbClr val="3B4E4E"/>
                          </a:solidFill>
                          <a:latin typeface="Overpass" pitchFamily="34" charset="0"/>
                          <a:ea typeface="Overpass" pitchFamily="34" charset="-122"/>
                          <a:cs typeface="Overpass" pitchFamily="34" charset="-120"/>
                        </a:rPr>
                        <a:t>Probability + weights</a:t>
                      </a:r>
                      <a:endParaRPr lang="en-US" sz="950" dirty="0">
                        <a:latin typeface="Overpass" charset="0"/>
                        <a:ea typeface="Overpass" charset="0"/>
                        <a:cs typeface="Overpass" charset="0"/>
                      </a:endParaRPr>
                    </a:p>
                  </a:txBody>
                  <a:tcPr marL="124044" marR="124044" marT="6350" marB="6350" anchor="ctr">
                    <a:lnL w="12700" cap="flat" cmpd="sng" algn="ctr">
                      <a:solidFill>
                        <a:srgbClr val="FFFDE7"/>
                      </a:solidFill>
                      <a:prstDash val="solid"/>
                      <a:round/>
                      <a:headEnd type="none" w="med" len="med"/>
                      <a:tailEnd type="none" w="med" len="med"/>
                    </a:lnL>
                    <a:lnR w="12700" cap="flat" cmpd="sng" algn="ctr">
                      <a:solidFill>
                        <a:srgbClr val="C3D4CC"/>
                      </a:solidFill>
                      <a:prstDash val="solid"/>
                      <a:round/>
                      <a:headEnd type="none" w="med" len="med"/>
                      <a:tailEnd type="none" w="med" len="med"/>
                    </a:lnR>
                    <a:lnT w="12700" cap="flat" cmpd="sng" algn="ctr">
                      <a:solidFill>
                        <a:srgbClr val="FFFDE7"/>
                      </a:solidFill>
                      <a:prstDash val="solid"/>
                      <a:round/>
                      <a:headEnd type="none" w="med" len="med"/>
                      <a:tailEnd type="none" w="med" len="med"/>
                    </a:lnT>
                    <a:lnB w="12700" cap="flat" cmpd="sng" algn="ctr">
                      <a:solidFill>
                        <a:srgbClr val="FFFDE7"/>
                      </a:solidFill>
                      <a:prstDash val="solid"/>
                      <a:round/>
                      <a:headEnd type="none" w="med" len="med"/>
                      <a:tailEnd type="none" w="med" len="med"/>
                    </a:lnB>
                    <a:solidFill>
                      <a:srgbClr val="FFFFFF">
                        <a:alpha val="4000"/>
                      </a:srgbClr>
                    </a:solidFill>
                  </a:tcPr>
                </a:tc>
              </a:tr>
              <a:tr h="297847">
                <a:tc>
                  <a:txBody>
                    <a:bodyPr/>
                    <a:lstStyle/>
                    <a:p>
                      <a:pPr algn="l" indent="0" marL="0">
                        <a:buNone/>
                      </a:pPr>
                      <a:r>
                        <a:rPr lang="en-US" sz="950" dirty="0">
                          <a:solidFill>
                            <a:srgbClr val="3B4E4E"/>
                          </a:solidFill>
                          <a:latin typeface="Overpass" pitchFamily="34" charset="0"/>
                          <a:ea typeface="Overpass" pitchFamily="34" charset="-122"/>
                          <a:cs typeface="Overpass" pitchFamily="34" charset="-120"/>
                        </a:rPr>
                        <a:t>Predict customer churn with clear rules</a:t>
                      </a:r>
                      <a:endParaRPr lang="en-US" sz="950" dirty="0">
                        <a:latin typeface="Overpass" charset="0"/>
                        <a:ea typeface="Overpass" charset="0"/>
                        <a:cs typeface="Overpass" charset="0"/>
                      </a:endParaRPr>
                    </a:p>
                  </a:txBody>
                  <a:tcPr marL="124044" marR="124044" marT="6350" marB="6350" anchor="ctr">
                    <a:lnL w="12700" cap="flat" cmpd="sng" algn="ctr">
                      <a:solidFill>
                        <a:srgbClr val="C3D4CC"/>
                      </a:solidFill>
                      <a:prstDash val="solid"/>
                      <a:round/>
                      <a:headEnd type="none" w="med" len="med"/>
                      <a:tailEnd type="none" w="med" len="med"/>
                    </a:lnL>
                    <a:lnR w="12700" cap="flat" cmpd="sng" algn="ctr">
                      <a:solidFill>
                        <a:srgbClr val="F5F3DD"/>
                      </a:solidFill>
                      <a:prstDash val="solid"/>
                      <a:round/>
                      <a:headEnd type="none" w="med" len="med"/>
                      <a:tailEnd type="none" w="med" len="med"/>
                    </a:lnR>
                    <a:lnT w="12700" cap="flat" cmpd="sng" algn="ctr">
                      <a:solidFill>
                        <a:srgbClr val="F5F3DD"/>
                      </a:solidFill>
                      <a:prstDash val="solid"/>
                      <a:round/>
                      <a:headEnd type="none" w="med" len="med"/>
                      <a:tailEnd type="none" w="med" len="med"/>
                    </a:lnT>
                    <a:lnB w="12700" cap="flat" cmpd="sng" algn="ctr">
                      <a:solidFill>
                        <a:srgbClr val="F5F3DD"/>
                      </a:solidFill>
                      <a:prstDash val="solid"/>
                      <a:round/>
                      <a:headEnd type="none" w="med" len="med"/>
                      <a:tailEnd type="none" w="med" len="med"/>
                    </a:lnB>
                    <a:solidFill>
                      <a:srgbClr val="000000">
                        <a:alpha val="4000"/>
                      </a:srgbClr>
                    </a:solidFill>
                  </a:tcPr>
                </a:tc>
                <a:tc>
                  <a:txBody>
                    <a:bodyPr/>
                    <a:lstStyle/>
                    <a:p>
                      <a:pPr algn="l" indent="0" marL="0">
                        <a:buNone/>
                      </a:pPr>
                      <a:r>
                        <a:rPr lang="en-US" sz="950" dirty="0">
                          <a:solidFill>
                            <a:srgbClr val="3B4E4E"/>
                          </a:solidFill>
                          <a:latin typeface="Overpass" pitchFamily="34" charset="0"/>
                          <a:ea typeface="Overpass" pitchFamily="34" charset="-122"/>
                          <a:cs typeface="Overpass" pitchFamily="34" charset="-120"/>
                        </a:rPr>
                        <a:t>Classification</a:t>
                      </a:r>
                      <a:endParaRPr lang="en-US" sz="950" dirty="0">
                        <a:latin typeface="Overpass" charset="0"/>
                        <a:ea typeface="Overpass" charset="0"/>
                        <a:cs typeface="Overpass" charset="0"/>
                      </a:endParaRPr>
                    </a:p>
                  </a:txBody>
                  <a:tcPr marL="124044" marR="124044" marT="6350" marB="6350" anchor="ctr">
                    <a:lnL w="12700" cap="flat" cmpd="sng" algn="ctr">
                      <a:solidFill>
                        <a:srgbClr val="F5F3DD"/>
                      </a:solidFill>
                      <a:prstDash val="solid"/>
                      <a:round/>
                      <a:headEnd type="none" w="med" len="med"/>
                      <a:tailEnd type="none" w="med" len="med"/>
                    </a:lnL>
                    <a:lnR w="12700" cap="flat" cmpd="sng" algn="ctr">
                      <a:solidFill>
                        <a:srgbClr val="F5F3DD"/>
                      </a:solidFill>
                      <a:prstDash val="solid"/>
                      <a:round/>
                      <a:headEnd type="none" w="med" len="med"/>
                      <a:tailEnd type="none" w="med" len="med"/>
                    </a:lnR>
                    <a:lnT w="12700" cap="flat" cmpd="sng" algn="ctr">
                      <a:solidFill>
                        <a:srgbClr val="F5F3DD"/>
                      </a:solidFill>
                      <a:prstDash val="solid"/>
                      <a:round/>
                      <a:headEnd type="none" w="med" len="med"/>
                      <a:tailEnd type="none" w="med" len="med"/>
                    </a:lnT>
                    <a:lnB w="12700" cap="flat" cmpd="sng" algn="ctr">
                      <a:solidFill>
                        <a:srgbClr val="F5F3DD"/>
                      </a:solidFill>
                      <a:prstDash val="solid"/>
                      <a:round/>
                      <a:headEnd type="none" w="med" len="med"/>
                      <a:tailEnd type="none" w="med" len="med"/>
                    </a:lnB>
                    <a:solidFill>
                      <a:srgbClr val="000000">
                        <a:alpha val="4000"/>
                      </a:srgbClr>
                    </a:solidFill>
                  </a:tcPr>
                </a:tc>
                <a:tc>
                  <a:txBody>
                    <a:bodyPr/>
                    <a:lstStyle/>
                    <a:p>
                      <a:pPr algn="l" indent="0" marL="0">
                        <a:buNone/>
                      </a:pPr>
                      <a:r>
                        <a:rPr lang="en-US" sz="950" dirty="0">
                          <a:solidFill>
                            <a:srgbClr val="3B4E4E"/>
                          </a:solidFill>
                          <a:latin typeface="Overpass" pitchFamily="34" charset="0"/>
                          <a:ea typeface="Overpass" pitchFamily="34" charset="-122"/>
                          <a:cs typeface="Overpass" pitchFamily="34" charset="-120"/>
                        </a:rPr>
                        <a:t>Decision Tree</a:t>
                      </a:r>
                      <a:endParaRPr lang="en-US" sz="950" dirty="0">
                        <a:latin typeface="Overpass" charset="0"/>
                        <a:ea typeface="Overpass" charset="0"/>
                        <a:cs typeface="Overpass" charset="0"/>
                      </a:endParaRPr>
                    </a:p>
                  </a:txBody>
                  <a:tcPr marL="124044" marR="124044" marT="6350" marB="6350" anchor="ctr">
                    <a:lnL w="12700" cap="flat" cmpd="sng" algn="ctr">
                      <a:solidFill>
                        <a:srgbClr val="F5F3DD"/>
                      </a:solidFill>
                      <a:prstDash val="solid"/>
                      <a:round/>
                      <a:headEnd type="none" w="med" len="med"/>
                      <a:tailEnd type="none" w="med" len="med"/>
                    </a:lnL>
                    <a:lnR w="12700" cap="flat" cmpd="sng" algn="ctr">
                      <a:solidFill>
                        <a:srgbClr val="F5F3DD"/>
                      </a:solidFill>
                      <a:prstDash val="solid"/>
                      <a:round/>
                      <a:headEnd type="none" w="med" len="med"/>
                      <a:tailEnd type="none" w="med" len="med"/>
                    </a:lnR>
                    <a:lnT w="12700" cap="flat" cmpd="sng" algn="ctr">
                      <a:solidFill>
                        <a:srgbClr val="F5F3DD"/>
                      </a:solidFill>
                      <a:prstDash val="solid"/>
                      <a:round/>
                      <a:headEnd type="none" w="med" len="med"/>
                      <a:tailEnd type="none" w="med" len="med"/>
                    </a:lnT>
                    <a:lnB w="12700" cap="flat" cmpd="sng" algn="ctr">
                      <a:solidFill>
                        <a:srgbClr val="F5F3DD"/>
                      </a:solidFill>
                      <a:prstDash val="solid"/>
                      <a:round/>
                      <a:headEnd type="none" w="med" len="med"/>
                      <a:tailEnd type="none" w="med" len="med"/>
                    </a:lnB>
                    <a:solidFill>
                      <a:srgbClr val="000000">
                        <a:alpha val="4000"/>
                      </a:srgbClr>
                    </a:solidFill>
                  </a:tcPr>
                </a:tc>
                <a:tc>
                  <a:txBody>
                    <a:bodyPr/>
                    <a:lstStyle/>
                    <a:p>
                      <a:pPr algn="l" indent="0" marL="0">
                        <a:buNone/>
                      </a:pPr>
                      <a:r>
                        <a:rPr lang="en-US" sz="950" dirty="0">
                          <a:solidFill>
                            <a:srgbClr val="3B4E4E"/>
                          </a:solidFill>
                          <a:latin typeface="Overpass" pitchFamily="34" charset="0"/>
                          <a:ea typeface="Overpass" pitchFamily="34" charset="-122"/>
                          <a:cs typeface="Overpass" pitchFamily="34" charset="-120"/>
                        </a:rPr>
                        <a:t>Human-readable rules</a:t>
                      </a:r>
                      <a:endParaRPr lang="en-US" sz="950" dirty="0">
                        <a:latin typeface="Overpass" charset="0"/>
                        <a:ea typeface="Overpass" charset="0"/>
                        <a:cs typeface="Overpass" charset="0"/>
                      </a:endParaRPr>
                    </a:p>
                  </a:txBody>
                  <a:tcPr marL="124044" marR="124044" marT="6350" marB="6350" anchor="ctr">
                    <a:lnL w="12700" cap="flat" cmpd="sng" algn="ctr">
                      <a:solidFill>
                        <a:srgbClr val="F5F3DD"/>
                      </a:solidFill>
                      <a:prstDash val="solid"/>
                      <a:round/>
                      <a:headEnd type="none" w="med" len="med"/>
                      <a:tailEnd type="none" w="med" len="med"/>
                    </a:lnL>
                    <a:lnR w="12700" cap="flat" cmpd="sng" algn="ctr">
                      <a:solidFill>
                        <a:srgbClr val="C3D4CC"/>
                      </a:solidFill>
                      <a:prstDash val="solid"/>
                      <a:round/>
                      <a:headEnd type="none" w="med" len="med"/>
                      <a:tailEnd type="none" w="med" len="med"/>
                    </a:lnR>
                    <a:lnT w="12700" cap="flat" cmpd="sng" algn="ctr">
                      <a:solidFill>
                        <a:srgbClr val="F5F3DD"/>
                      </a:solidFill>
                      <a:prstDash val="solid"/>
                      <a:round/>
                      <a:headEnd type="none" w="med" len="med"/>
                      <a:tailEnd type="none" w="med" len="med"/>
                    </a:lnT>
                    <a:lnB w="12700" cap="flat" cmpd="sng" algn="ctr">
                      <a:solidFill>
                        <a:srgbClr val="F5F3DD"/>
                      </a:solidFill>
                      <a:prstDash val="solid"/>
                      <a:round/>
                      <a:headEnd type="none" w="med" len="med"/>
                      <a:tailEnd type="none" w="med" len="med"/>
                    </a:lnB>
                    <a:solidFill>
                      <a:srgbClr val="000000">
                        <a:alpha val="4000"/>
                      </a:srgbClr>
                    </a:solidFill>
                  </a:tcPr>
                </a:tc>
              </a:tr>
              <a:tr h="297847">
                <a:tc>
                  <a:txBody>
                    <a:bodyPr/>
                    <a:lstStyle/>
                    <a:p>
                      <a:pPr algn="l" indent="0" marL="0">
                        <a:buNone/>
                      </a:pPr>
                      <a:r>
                        <a:rPr lang="en-US" sz="950" dirty="0">
                          <a:solidFill>
                            <a:srgbClr val="3B4E4E"/>
                          </a:solidFill>
                          <a:latin typeface="Overpass" pitchFamily="34" charset="0"/>
                          <a:ea typeface="Overpass" pitchFamily="34" charset="-122"/>
                          <a:cs typeface="Overpass" pitchFamily="34" charset="-120"/>
                        </a:rPr>
                        <a:t>Detect fraud</a:t>
                      </a:r>
                      <a:endParaRPr lang="en-US" sz="950" dirty="0">
                        <a:latin typeface="Overpass" charset="0"/>
                        <a:ea typeface="Overpass" charset="0"/>
                        <a:cs typeface="Overpass" charset="0"/>
                      </a:endParaRPr>
                    </a:p>
                  </a:txBody>
                  <a:tcPr marL="124044" marR="124044" marT="6350" marB="6350" anchor="ctr">
                    <a:lnL w="12700" cap="flat" cmpd="sng" algn="ctr">
                      <a:solidFill>
                        <a:srgbClr val="C3D4CC"/>
                      </a:solidFill>
                      <a:prstDash val="solid"/>
                      <a:round/>
                      <a:headEnd type="none" w="med" len="med"/>
                      <a:tailEnd type="none" w="med" len="med"/>
                    </a:lnL>
                    <a:lnR w="12700" cap="flat" cmpd="sng" algn="ctr">
                      <a:solidFill>
                        <a:srgbClr val="FFFDE7"/>
                      </a:solidFill>
                      <a:prstDash val="solid"/>
                      <a:round/>
                      <a:headEnd type="none" w="med" len="med"/>
                      <a:tailEnd type="none" w="med" len="med"/>
                    </a:lnR>
                    <a:lnT w="12700" cap="flat" cmpd="sng" algn="ctr">
                      <a:solidFill>
                        <a:srgbClr val="FFFDE7"/>
                      </a:solidFill>
                      <a:prstDash val="solid"/>
                      <a:round/>
                      <a:headEnd type="none" w="med" len="med"/>
                      <a:tailEnd type="none" w="med" len="med"/>
                    </a:lnT>
                    <a:lnB w="12700" cap="flat" cmpd="sng" algn="ctr">
                      <a:solidFill>
                        <a:srgbClr val="FFFDE7"/>
                      </a:solidFill>
                      <a:prstDash val="solid"/>
                      <a:round/>
                      <a:headEnd type="none" w="med" len="med"/>
                      <a:tailEnd type="none" w="med" len="med"/>
                    </a:lnB>
                    <a:solidFill>
                      <a:srgbClr val="FFFFFF">
                        <a:alpha val="4000"/>
                      </a:srgbClr>
                    </a:solidFill>
                  </a:tcPr>
                </a:tc>
                <a:tc>
                  <a:txBody>
                    <a:bodyPr/>
                    <a:lstStyle/>
                    <a:p>
                      <a:pPr algn="l" indent="0" marL="0">
                        <a:buNone/>
                      </a:pPr>
                      <a:r>
                        <a:rPr lang="en-US" sz="950" dirty="0">
                          <a:solidFill>
                            <a:srgbClr val="3B4E4E"/>
                          </a:solidFill>
                          <a:latin typeface="Overpass" pitchFamily="34" charset="0"/>
                          <a:ea typeface="Overpass" pitchFamily="34" charset="-122"/>
                          <a:cs typeface="Overpass" pitchFamily="34" charset="-120"/>
                        </a:rPr>
                        <a:t>Classification, high accuracy</a:t>
                      </a:r>
                      <a:endParaRPr lang="en-US" sz="950" dirty="0">
                        <a:latin typeface="Overpass" charset="0"/>
                        <a:ea typeface="Overpass" charset="0"/>
                        <a:cs typeface="Overpass" charset="0"/>
                      </a:endParaRPr>
                    </a:p>
                  </a:txBody>
                  <a:tcPr marL="124044" marR="124044" marT="6350" marB="6350" anchor="ctr">
                    <a:lnL w="12700" cap="flat" cmpd="sng" algn="ctr">
                      <a:solidFill>
                        <a:srgbClr val="FFFDE7"/>
                      </a:solidFill>
                      <a:prstDash val="solid"/>
                      <a:round/>
                      <a:headEnd type="none" w="med" len="med"/>
                      <a:tailEnd type="none" w="med" len="med"/>
                    </a:lnL>
                    <a:lnR w="12700" cap="flat" cmpd="sng" algn="ctr">
                      <a:solidFill>
                        <a:srgbClr val="FFFDE7"/>
                      </a:solidFill>
                      <a:prstDash val="solid"/>
                      <a:round/>
                      <a:headEnd type="none" w="med" len="med"/>
                      <a:tailEnd type="none" w="med" len="med"/>
                    </a:lnR>
                    <a:lnT w="12700" cap="flat" cmpd="sng" algn="ctr">
                      <a:solidFill>
                        <a:srgbClr val="FFFDE7"/>
                      </a:solidFill>
                      <a:prstDash val="solid"/>
                      <a:round/>
                      <a:headEnd type="none" w="med" len="med"/>
                      <a:tailEnd type="none" w="med" len="med"/>
                    </a:lnT>
                    <a:lnB w="12700" cap="flat" cmpd="sng" algn="ctr">
                      <a:solidFill>
                        <a:srgbClr val="FFFDE7"/>
                      </a:solidFill>
                      <a:prstDash val="solid"/>
                      <a:round/>
                      <a:headEnd type="none" w="med" len="med"/>
                      <a:tailEnd type="none" w="med" len="med"/>
                    </a:lnB>
                    <a:solidFill>
                      <a:srgbClr val="FFFFFF">
                        <a:alpha val="4000"/>
                      </a:srgbClr>
                    </a:solidFill>
                  </a:tcPr>
                </a:tc>
                <a:tc>
                  <a:txBody>
                    <a:bodyPr/>
                    <a:lstStyle/>
                    <a:p>
                      <a:pPr algn="l" indent="0" marL="0">
                        <a:buNone/>
                      </a:pPr>
                      <a:r>
                        <a:rPr lang="en-US" sz="950" dirty="0">
                          <a:solidFill>
                            <a:srgbClr val="3B4E4E"/>
                          </a:solidFill>
                          <a:latin typeface="Overpass" pitchFamily="34" charset="0"/>
                          <a:ea typeface="Overpass" pitchFamily="34" charset="-122"/>
                          <a:cs typeface="Overpass" pitchFamily="34" charset="-120"/>
                        </a:rPr>
                        <a:t>Random Forest</a:t>
                      </a:r>
                      <a:endParaRPr lang="en-US" sz="950" dirty="0">
                        <a:latin typeface="Overpass" charset="0"/>
                        <a:ea typeface="Overpass" charset="0"/>
                        <a:cs typeface="Overpass" charset="0"/>
                      </a:endParaRPr>
                    </a:p>
                  </a:txBody>
                  <a:tcPr marL="124044" marR="124044" marT="6350" marB="6350" anchor="ctr">
                    <a:lnL w="12700" cap="flat" cmpd="sng" algn="ctr">
                      <a:solidFill>
                        <a:srgbClr val="FFFDE7"/>
                      </a:solidFill>
                      <a:prstDash val="solid"/>
                      <a:round/>
                      <a:headEnd type="none" w="med" len="med"/>
                      <a:tailEnd type="none" w="med" len="med"/>
                    </a:lnL>
                    <a:lnR w="12700" cap="flat" cmpd="sng" algn="ctr">
                      <a:solidFill>
                        <a:srgbClr val="FFFDE7"/>
                      </a:solidFill>
                      <a:prstDash val="solid"/>
                      <a:round/>
                      <a:headEnd type="none" w="med" len="med"/>
                      <a:tailEnd type="none" w="med" len="med"/>
                    </a:lnR>
                    <a:lnT w="12700" cap="flat" cmpd="sng" algn="ctr">
                      <a:solidFill>
                        <a:srgbClr val="FFFDE7"/>
                      </a:solidFill>
                      <a:prstDash val="solid"/>
                      <a:round/>
                      <a:headEnd type="none" w="med" len="med"/>
                      <a:tailEnd type="none" w="med" len="med"/>
                    </a:lnT>
                    <a:lnB w="12700" cap="flat" cmpd="sng" algn="ctr">
                      <a:solidFill>
                        <a:srgbClr val="FFFDE7"/>
                      </a:solidFill>
                      <a:prstDash val="solid"/>
                      <a:round/>
                      <a:headEnd type="none" w="med" len="med"/>
                      <a:tailEnd type="none" w="med" len="med"/>
                    </a:lnB>
                    <a:solidFill>
                      <a:srgbClr val="FFFFFF">
                        <a:alpha val="4000"/>
                      </a:srgbClr>
                    </a:solidFill>
                  </a:tcPr>
                </a:tc>
                <a:tc>
                  <a:txBody>
                    <a:bodyPr/>
                    <a:lstStyle/>
                    <a:p>
                      <a:pPr algn="l" indent="0" marL="0">
                        <a:buNone/>
                      </a:pPr>
                      <a:r>
                        <a:rPr lang="en-US" sz="950" dirty="0">
                          <a:solidFill>
                            <a:srgbClr val="3B4E4E"/>
                          </a:solidFill>
                          <a:latin typeface="Overpass" pitchFamily="34" charset="0"/>
                          <a:ea typeface="Overpass" pitchFamily="34" charset="-122"/>
                          <a:cs typeface="Overpass" pitchFamily="34" charset="-120"/>
                        </a:rPr>
                        <a:t>Ensemble accuracy</a:t>
                      </a:r>
                      <a:endParaRPr lang="en-US" sz="950" dirty="0">
                        <a:latin typeface="Overpass" charset="0"/>
                        <a:ea typeface="Overpass" charset="0"/>
                        <a:cs typeface="Overpass" charset="0"/>
                      </a:endParaRPr>
                    </a:p>
                  </a:txBody>
                  <a:tcPr marL="124044" marR="124044" marT="6350" marB="6350" anchor="ctr">
                    <a:lnL w="12700" cap="flat" cmpd="sng" algn="ctr">
                      <a:solidFill>
                        <a:srgbClr val="FFFDE7"/>
                      </a:solidFill>
                      <a:prstDash val="solid"/>
                      <a:round/>
                      <a:headEnd type="none" w="med" len="med"/>
                      <a:tailEnd type="none" w="med" len="med"/>
                    </a:lnL>
                    <a:lnR w="12700" cap="flat" cmpd="sng" algn="ctr">
                      <a:solidFill>
                        <a:srgbClr val="C3D4CC"/>
                      </a:solidFill>
                      <a:prstDash val="solid"/>
                      <a:round/>
                      <a:headEnd type="none" w="med" len="med"/>
                      <a:tailEnd type="none" w="med" len="med"/>
                    </a:lnR>
                    <a:lnT w="12700" cap="flat" cmpd="sng" algn="ctr">
                      <a:solidFill>
                        <a:srgbClr val="FFFDE7"/>
                      </a:solidFill>
                      <a:prstDash val="solid"/>
                      <a:round/>
                      <a:headEnd type="none" w="med" len="med"/>
                      <a:tailEnd type="none" w="med" len="med"/>
                    </a:lnT>
                    <a:lnB w="12700" cap="flat" cmpd="sng" algn="ctr">
                      <a:solidFill>
                        <a:srgbClr val="FFFDE7"/>
                      </a:solidFill>
                      <a:prstDash val="solid"/>
                      <a:round/>
                      <a:headEnd type="none" w="med" len="med"/>
                      <a:tailEnd type="none" w="med" len="med"/>
                    </a:lnB>
                    <a:solidFill>
                      <a:srgbClr val="FFFFFF">
                        <a:alpha val="4000"/>
                      </a:srgbClr>
                    </a:solidFill>
                  </a:tcPr>
                </a:tc>
              </a:tr>
              <a:tr h="297847">
                <a:tc>
                  <a:txBody>
                    <a:bodyPr/>
                    <a:lstStyle/>
                    <a:p>
                      <a:pPr algn="l" indent="0" marL="0">
                        <a:buNone/>
                      </a:pPr>
                      <a:r>
                        <a:rPr lang="en-US" sz="950" dirty="0">
                          <a:solidFill>
                            <a:srgbClr val="3B4E4E"/>
                          </a:solidFill>
                          <a:latin typeface="Overpass" pitchFamily="34" charset="0"/>
                          <a:ea typeface="Overpass" pitchFamily="34" charset="-122"/>
                          <a:cs typeface="Overpass" pitchFamily="34" charset="-120"/>
                        </a:rPr>
                        <a:t>Forecast sales across stores</a:t>
                      </a:r>
                      <a:endParaRPr lang="en-US" sz="950" dirty="0">
                        <a:latin typeface="Overpass" charset="0"/>
                        <a:ea typeface="Overpass" charset="0"/>
                        <a:cs typeface="Overpass" charset="0"/>
                      </a:endParaRPr>
                    </a:p>
                  </a:txBody>
                  <a:tcPr marL="124044" marR="124044" marT="6350" marB="6350" anchor="ctr">
                    <a:lnL w="12700" cap="flat" cmpd="sng" algn="ctr">
                      <a:solidFill>
                        <a:srgbClr val="C3D4CC"/>
                      </a:solidFill>
                      <a:prstDash val="solid"/>
                      <a:round/>
                      <a:headEnd type="none" w="med" len="med"/>
                      <a:tailEnd type="none" w="med" len="med"/>
                    </a:lnL>
                    <a:lnR w="12700" cap="flat" cmpd="sng" algn="ctr">
                      <a:solidFill>
                        <a:srgbClr val="F5F3DD"/>
                      </a:solidFill>
                      <a:prstDash val="solid"/>
                      <a:round/>
                      <a:headEnd type="none" w="med" len="med"/>
                      <a:tailEnd type="none" w="med" len="med"/>
                    </a:lnR>
                    <a:lnT w="12700" cap="flat" cmpd="sng" algn="ctr">
                      <a:solidFill>
                        <a:srgbClr val="F5F3DD"/>
                      </a:solidFill>
                      <a:prstDash val="solid"/>
                      <a:round/>
                      <a:headEnd type="none" w="med" len="med"/>
                      <a:tailEnd type="none" w="med" len="med"/>
                    </a:lnT>
                    <a:lnB w="12700" cap="flat" cmpd="sng" algn="ctr">
                      <a:solidFill>
                        <a:srgbClr val="F5F3DD"/>
                      </a:solidFill>
                      <a:prstDash val="solid"/>
                      <a:round/>
                      <a:headEnd type="none" w="med" len="med"/>
                      <a:tailEnd type="none" w="med" len="med"/>
                    </a:lnB>
                    <a:solidFill>
                      <a:srgbClr val="000000">
                        <a:alpha val="4000"/>
                      </a:srgbClr>
                    </a:solidFill>
                  </a:tcPr>
                </a:tc>
                <a:tc>
                  <a:txBody>
                    <a:bodyPr/>
                    <a:lstStyle/>
                    <a:p>
                      <a:pPr algn="l" indent="0" marL="0">
                        <a:buNone/>
                      </a:pPr>
                      <a:r>
                        <a:rPr lang="en-US" sz="950" dirty="0">
                          <a:solidFill>
                            <a:srgbClr val="3B4E4E"/>
                          </a:solidFill>
                          <a:latin typeface="Overpass" pitchFamily="34" charset="0"/>
                          <a:ea typeface="Overpass" pitchFamily="34" charset="-122"/>
                          <a:cs typeface="Overpass" pitchFamily="34" charset="-120"/>
                        </a:rPr>
                        <a:t>Regression, complex</a:t>
                      </a:r>
                      <a:endParaRPr lang="en-US" sz="950" dirty="0">
                        <a:latin typeface="Overpass" charset="0"/>
                        <a:ea typeface="Overpass" charset="0"/>
                        <a:cs typeface="Overpass" charset="0"/>
                      </a:endParaRPr>
                    </a:p>
                  </a:txBody>
                  <a:tcPr marL="124044" marR="124044" marT="6350" marB="6350" anchor="ctr">
                    <a:lnL w="12700" cap="flat" cmpd="sng" algn="ctr">
                      <a:solidFill>
                        <a:srgbClr val="F5F3DD"/>
                      </a:solidFill>
                      <a:prstDash val="solid"/>
                      <a:round/>
                      <a:headEnd type="none" w="med" len="med"/>
                      <a:tailEnd type="none" w="med" len="med"/>
                    </a:lnL>
                    <a:lnR w="12700" cap="flat" cmpd="sng" algn="ctr">
                      <a:solidFill>
                        <a:srgbClr val="F5F3DD"/>
                      </a:solidFill>
                      <a:prstDash val="solid"/>
                      <a:round/>
                      <a:headEnd type="none" w="med" len="med"/>
                      <a:tailEnd type="none" w="med" len="med"/>
                    </a:lnR>
                    <a:lnT w="12700" cap="flat" cmpd="sng" algn="ctr">
                      <a:solidFill>
                        <a:srgbClr val="F5F3DD"/>
                      </a:solidFill>
                      <a:prstDash val="solid"/>
                      <a:round/>
                      <a:headEnd type="none" w="med" len="med"/>
                      <a:tailEnd type="none" w="med" len="med"/>
                    </a:lnT>
                    <a:lnB w="12700" cap="flat" cmpd="sng" algn="ctr">
                      <a:solidFill>
                        <a:srgbClr val="F5F3DD"/>
                      </a:solidFill>
                      <a:prstDash val="solid"/>
                      <a:round/>
                      <a:headEnd type="none" w="med" len="med"/>
                      <a:tailEnd type="none" w="med" len="med"/>
                    </a:lnB>
                    <a:solidFill>
                      <a:srgbClr val="000000">
                        <a:alpha val="4000"/>
                      </a:srgbClr>
                    </a:solidFill>
                  </a:tcPr>
                </a:tc>
                <a:tc>
                  <a:txBody>
                    <a:bodyPr/>
                    <a:lstStyle/>
                    <a:p>
                      <a:pPr algn="l" indent="0" marL="0">
                        <a:buNone/>
                      </a:pPr>
                      <a:r>
                        <a:rPr lang="en-US" sz="950" dirty="0">
                          <a:solidFill>
                            <a:srgbClr val="3B4E4E"/>
                          </a:solidFill>
                          <a:latin typeface="Overpass" pitchFamily="34" charset="0"/>
                          <a:ea typeface="Overpass" pitchFamily="34" charset="-122"/>
                          <a:cs typeface="Overpass" pitchFamily="34" charset="-120"/>
                        </a:rPr>
                        <a:t>Gradient Boosting</a:t>
                      </a:r>
                      <a:endParaRPr lang="en-US" sz="950" dirty="0">
                        <a:latin typeface="Overpass" charset="0"/>
                        <a:ea typeface="Overpass" charset="0"/>
                        <a:cs typeface="Overpass" charset="0"/>
                      </a:endParaRPr>
                    </a:p>
                  </a:txBody>
                  <a:tcPr marL="124044" marR="124044" marT="6350" marB="6350" anchor="ctr">
                    <a:lnL w="12700" cap="flat" cmpd="sng" algn="ctr">
                      <a:solidFill>
                        <a:srgbClr val="F5F3DD"/>
                      </a:solidFill>
                      <a:prstDash val="solid"/>
                      <a:round/>
                      <a:headEnd type="none" w="med" len="med"/>
                      <a:tailEnd type="none" w="med" len="med"/>
                    </a:lnL>
                    <a:lnR w="12700" cap="flat" cmpd="sng" algn="ctr">
                      <a:solidFill>
                        <a:srgbClr val="F5F3DD"/>
                      </a:solidFill>
                      <a:prstDash val="solid"/>
                      <a:round/>
                      <a:headEnd type="none" w="med" len="med"/>
                      <a:tailEnd type="none" w="med" len="med"/>
                    </a:lnR>
                    <a:lnT w="12700" cap="flat" cmpd="sng" algn="ctr">
                      <a:solidFill>
                        <a:srgbClr val="F5F3DD"/>
                      </a:solidFill>
                      <a:prstDash val="solid"/>
                      <a:round/>
                      <a:headEnd type="none" w="med" len="med"/>
                      <a:tailEnd type="none" w="med" len="med"/>
                    </a:lnT>
                    <a:lnB w="12700" cap="flat" cmpd="sng" algn="ctr">
                      <a:solidFill>
                        <a:srgbClr val="F5F3DD"/>
                      </a:solidFill>
                      <a:prstDash val="solid"/>
                      <a:round/>
                      <a:headEnd type="none" w="med" len="med"/>
                      <a:tailEnd type="none" w="med" len="med"/>
                    </a:lnB>
                    <a:solidFill>
                      <a:srgbClr val="000000">
                        <a:alpha val="4000"/>
                      </a:srgbClr>
                    </a:solidFill>
                  </a:tcPr>
                </a:tc>
                <a:tc>
                  <a:txBody>
                    <a:bodyPr/>
                    <a:lstStyle/>
                    <a:p>
                      <a:pPr algn="l" indent="0" marL="0">
                        <a:buNone/>
                      </a:pPr>
                      <a:r>
                        <a:rPr lang="en-US" sz="950" dirty="0">
                          <a:solidFill>
                            <a:srgbClr val="3B4E4E"/>
                          </a:solidFill>
                          <a:latin typeface="Overpass" pitchFamily="34" charset="0"/>
                          <a:ea typeface="Overpass" pitchFamily="34" charset="-122"/>
                          <a:cs typeface="Overpass" pitchFamily="34" charset="-120"/>
                        </a:rPr>
                        <a:t>Best tabular accuracy</a:t>
                      </a:r>
                      <a:endParaRPr lang="en-US" sz="950" dirty="0">
                        <a:latin typeface="Overpass" charset="0"/>
                        <a:ea typeface="Overpass" charset="0"/>
                        <a:cs typeface="Overpass" charset="0"/>
                      </a:endParaRPr>
                    </a:p>
                  </a:txBody>
                  <a:tcPr marL="124044" marR="124044" marT="6350" marB="6350" anchor="ctr">
                    <a:lnL w="12700" cap="flat" cmpd="sng" algn="ctr">
                      <a:solidFill>
                        <a:srgbClr val="F5F3DD"/>
                      </a:solidFill>
                      <a:prstDash val="solid"/>
                      <a:round/>
                      <a:headEnd type="none" w="med" len="med"/>
                      <a:tailEnd type="none" w="med" len="med"/>
                    </a:lnL>
                    <a:lnR w="12700" cap="flat" cmpd="sng" algn="ctr">
                      <a:solidFill>
                        <a:srgbClr val="C3D4CC"/>
                      </a:solidFill>
                      <a:prstDash val="solid"/>
                      <a:round/>
                      <a:headEnd type="none" w="med" len="med"/>
                      <a:tailEnd type="none" w="med" len="med"/>
                    </a:lnR>
                    <a:lnT w="12700" cap="flat" cmpd="sng" algn="ctr">
                      <a:solidFill>
                        <a:srgbClr val="F5F3DD"/>
                      </a:solidFill>
                      <a:prstDash val="solid"/>
                      <a:round/>
                      <a:headEnd type="none" w="med" len="med"/>
                      <a:tailEnd type="none" w="med" len="med"/>
                    </a:lnT>
                    <a:lnB w="12700" cap="flat" cmpd="sng" algn="ctr">
                      <a:solidFill>
                        <a:srgbClr val="F5F3DD"/>
                      </a:solidFill>
                      <a:prstDash val="solid"/>
                      <a:round/>
                      <a:headEnd type="none" w="med" len="med"/>
                      <a:tailEnd type="none" w="med" len="med"/>
                    </a:lnB>
                    <a:solidFill>
                      <a:srgbClr val="000000">
                        <a:alpha val="4000"/>
                      </a:srgbClr>
                    </a:solidFill>
                  </a:tcPr>
                </a:tc>
              </a:tr>
              <a:tr h="297847">
                <a:tc>
                  <a:txBody>
                    <a:bodyPr/>
                    <a:lstStyle/>
                    <a:p>
                      <a:pPr algn="l" indent="0" marL="0">
                        <a:buNone/>
                      </a:pPr>
                      <a:r>
                        <a:rPr lang="en-US" sz="950" dirty="0">
                          <a:solidFill>
                            <a:srgbClr val="3B4E4E"/>
                          </a:solidFill>
                          <a:latin typeface="Overpass" pitchFamily="34" charset="0"/>
                          <a:ea typeface="Overpass" pitchFamily="34" charset="-122"/>
                          <a:cs typeface="Overpass" pitchFamily="34" charset="-120"/>
                        </a:rPr>
                        <a:t>Filter spam emails</a:t>
                      </a:r>
                      <a:endParaRPr lang="en-US" sz="950" dirty="0">
                        <a:latin typeface="Overpass" charset="0"/>
                        <a:ea typeface="Overpass" charset="0"/>
                        <a:cs typeface="Overpass" charset="0"/>
                      </a:endParaRPr>
                    </a:p>
                  </a:txBody>
                  <a:tcPr marL="124044" marR="124044" marT="6350" marB="6350" anchor="ctr">
                    <a:lnL w="12700" cap="flat" cmpd="sng" algn="ctr">
                      <a:solidFill>
                        <a:srgbClr val="C3D4CC"/>
                      </a:solidFill>
                      <a:prstDash val="solid"/>
                      <a:round/>
                      <a:headEnd type="none" w="med" len="med"/>
                      <a:tailEnd type="none" w="med" len="med"/>
                    </a:lnL>
                    <a:lnR w="12700" cap="flat" cmpd="sng" algn="ctr">
                      <a:solidFill>
                        <a:srgbClr val="FFFDE7"/>
                      </a:solidFill>
                      <a:prstDash val="solid"/>
                      <a:round/>
                      <a:headEnd type="none" w="med" len="med"/>
                      <a:tailEnd type="none" w="med" len="med"/>
                    </a:lnR>
                    <a:lnT w="12700" cap="flat" cmpd="sng" algn="ctr">
                      <a:solidFill>
                        <a:srgbClr val="FFFDE7"/>
                      </a:solidFill>
                      <a:prstDash val="solid"/>
                      <a:round/>
                      <a:headEnd type="none" w="med" len="med"/>
                      <a:tailEnd type="none" w="med" len="med"/>
                    </a:lnT>
                    <a:lnB w="12700" cap="flat" cmpd="sng" algn="ctr">
                      <a:solidFill>
                        <a:srgbClr val="FFFDE7"/>
                      </a:solidFill>
                      <a:prstDash val="solid"/>
                      <a:round/>
                      <a:headEnd type="none" w="med" len="med"/>
                      <a:tailEnd type="none" w="med" len="med"/>
                    </a:lnB>
                    <a:solidFill>
                      <a:srgbClr val="FFFFFF">
                        <a:alpha val="4000"/>
                      </a:srgbClr>
                    </a:solidFill>
                  </a:tcPr>
                </a:tc>
                <a:tc>
                  <a:txBody>
                    <a:bodyPr/>
                    <a:lstStyle/>
                    <a:p>
                      <a:pPr algn="l" indent="0" marL="0">
                        <a:buNone/>
                      </a:pPr>
                      <a:r>
                        <a:rPr lang="en-US" sz="950" dirty="0">
                          <a:solidFill>
                            <a:srgbClr val="3B4E4E"/>
                          </a:solidFill>
                          <a:latin typeface="Overpass" pitchFamily="34" charset="0"/>
                          <a:ea typeface="Overpass" pitchFamily="34" charset="-122"/>
                          <a:cs typeface="Overpass" pitchFamily="34" charset="-120"/>
                        </a:rPr>
                        <a:t>Text classification</a:t>
                      </a:r>
                      <a:endParaRPr lang="en-US" sz="950" dirty="0">
                        <a:latin typeface="Overpass" charset="0"/>
                        <a:ea typeface="Overpass" charset="0"/>
                        <a:cs typeface="Overpass" charset="0"/>
                      </a:endParaRPr>
                    </a:p>
                  </a:txBody>
                  <a:tcPr marL="124044" marR="124044" marT="6350" marB="6350" anchor="ctr">
                    <a:lnL w="12700" cap="flat" cmpd="sng" algn="ctr">
                      <a:solidFill>
                        <a:srgbClr val="FFFDE7"/>
                      </a:solidFill>
                      <a:prstDash val="solid"/>
                      <a:round/>
                      <a:headEnd type="none" w="med" len="med"/>
                      <a:tailEnd type="none" w="med" len="med"/>
                    </a:lnL>
                    <a:lnR w="12700" cap="flat" cmpd="sng" algn="ctr">
                      <a:solidFill>
                        <a:srgbClr val="FFFDE7"/>
                      </a:solidFill>
                      <a:prstDash val="solid"/>
                      <a:round/>
                      <a:headEnd type="none" w="med" len="med"/>
                      <a:tailEnd type="none" w="med" len="med"/>
                    </a:lnR>
                    <a:lnT w="12700" cap="flat" cmpd="sng" algn="ctr">
                      <a:solidFill>
                        <a:srgbClr val="FFFDE7"/>
                      </a:solidFill>
                      <a:prstDash val="solid"/>
                      <a:round/>
                      <a:headEnd type="none" w="med" len="med"/>
                      <a:tailEnd type="none" w="med" len="med"/>
                    </a:lnT>
                    <a:lnB w="12700" cap="flat" cmpd="sng" algn="ctr">
                      <a:solidFill>
                        <a:srgbClr val="FFFDE7"/>
                      </a:solidFill>
                      <a:prstDash val="solid"/>
                      <a:round/>
                      <a:headEnd type="none" w="med" len="med"/>
                      <a:tailEnd type="none" w="med" len="med"/>
                    </a:lnB>
                    <a:solidFill>
                      <a:srgbClr val="FFFFFF">
                        <a:alpha val="4000"/>
                      </a:srgbClr>
                    </a:solidFill>
                  </a:tcPr>
                </a:tc>
                <a:tc>
                  <a:txBody>
                    <a:bodyPr/>
                    <a:lstStyle/>
                    <a:p>
                      <a:pPr algn="l" indent="0" marL="0">
                        <a:buNone/>
                      </a:pPr>
                      <a:r>
                        <a:rPr lang="en-US" sz="950" dirty="0">
                          <a:solidFill>
                            <a:srgbClr val="3B4E4E"/>
                          </a:solidFill>
                          <a:latin typeface="Overpass" pitchFamily="34" charset="0"/>
                          <a:ea typeface="Overpass" pitchFamily="34" charset="-122"/>
                          <a:cs typeface="Overpass" pitchFamily="34" charset="-120"/>
                        </a:rPr>
                        <a:t>Naive Bayes</a:t>
                      </a:r>
                      <a:endParaRPr lang="en-US" sz="950" dirty="0">
                        <a:latin typeface="Overpass" charset="0"/>
                        <a:ea typeface="Overpass" charset="0"/>
                        <a:cs typeface="Overpass" charset="0"/>
                      </a:endParaRPr>
                    </a:p>
                  </a:txBody>
                  <a:tcPr marL="124044" marR="124044" marT="6350" marB="6350" anchor="ctr">
                    <a:lnL w="12700" cap="flat" cmpd="sng" algn="ctr">
                      <a:solidFill>
                        <a:srgbClr val="FFFDE7"/>
                      </a:solidFill>
                      <a:prstDash val="solid"/>
                      <a:round/>
                      <a:headEnd type="none" w="med" len="med"/>
                      <a:tailEnd type="none" w="med" len="med"/>
                    </a:lnL>
                    <a:lnR w="12700" cap="flat" cmpd="sng" algn="ctr">
                      <a:solidFill>
                        <a:srgbClr val="FFFDE7"/>
                      </a:solidFill>
                      <a:prstDash val="solid"/>
                      <a:round/>
                      <a:headEnd type="none" w="med" len="med"/>
                      <a:tailEnd type="none" w="med" len="med"/>
                    </a:lnR>
                    <a:lnT w="12700" cap="flat" cmpd="sng" algn="ctr">
                      <a:solidFill>
                        <a:srgbClr val="FFFDE7"/>
                      </a:solidFill>
                      <a:prstDash val="solid"/>
                      <a:round/>
                      <a:headEnd type="none" w="med" len="med"/>
                      <a:tailEnd type="none" w="med" len="med"/>
                    </a:lnT>
                    <a:lnB w="12700" cap="flat" cmpd="sng" algn="ctr">
                      <a:solidFill>
                        <a:srgbClr val="FFFDE7"/>
                      </a:solidFill>
                      <a:prstDash val="solid"/>
                      <a:round/>
                      <a:headEnd type="none" w="med" len="med"/>
                      <a:tailEnd type="none" w="med" len="med"/>
                    </a:lnB>
                    <a:solidFill>
                      <a:srgbClr val="FFFFFF">
                        <a:alpha val="4000"/>
                      </a:srgbClr>
                    </a:solidFill>
                  </a:tcPr>
                </a:tc>
                <a:tc>
                  <a:txBody>
                    <a:bodyPr/>
                    <a:lstStyle/>
                    <a:p>
                      <a:pPr algn="l" indent="0" marL="0">
                        <a:buNone/>
                      </a:pPr>
                      <a:r>
                        <a:rPr lang="en-US" sz="950" dirty="0">
                          <a:solidFill>
                            <a:srgbClr val="3B4E4E"/>
                          </a:solidFill>
                          <a:latin typeface="Overpass" pitchFamily="34" charset="0"/>
                          <a:ea typeface="Overpass" pitchFamily="34" charset="-122"/>
                          <a:cs typeface="Overpass" pitchFamily="34" charset="-120"/>
                        </a:rPr>
                        <a:t>Fast, low data needed</a:t>
                      </a:r>
                      <a:endParaRPr lang="en-US" sz="950" dirty="0">
                        <a:latin typeface="Overpass" charset="0"/>
                        <a:ea typeface="Overpass" charset="0"/>
                        <a:cs typeface="Overpass" charset="0"/>
                      </a:endParaRPr>
                    </a:p>
                  </a:txBody>
                  <a:tcPr marL="124044" marR="124044" marT="6350" marB="6350" anchor="ctr">
                    <a:lnL w="12700" cap="flat" cmpd="sng" algn="ctr">
                      <a:solidFill>
                        <a:srgbClr val="FFFDE7"/>
                      </a:solidFill>
                      <a:prstDash val="solid"/>
                      <a:round/>
                      <a:headEnd type="none" w="med" len="med"/>
                      <a:tailEnd type="none" w="med" len="med"/>
                    </a:lnL>
                    <a:lnR w="12700" cap="flat" cmpd="sng" algn="ctr">
                      <a:solidFill>
                        <a:srgbClr val="C3D4CC"/>
                      </a:solidFill>
                      <a:prstDash val="solid"/>
                      <a:round/>
                      <a:headEnd type="none" w="med" len="med"/>
                      <a:tailEnd type="none" w="med" len="med"/>
                    </a:lnR>
                    <a:lnT w="12700" cap="flat" cmpd="sng" algn="ctr">
                      <a:solidFill>
                        <a:srgbClr val="FFFDE7"/>
                      </a:solidFill>
                      <a:prstDash val="solid"/>
                      <a:round/>
                      <a:headEnd type="none" w="med" len="med"/>
                      <a:tailEnd type="none" w="med" len="med"/>
                    </a:lnT>
                    <a:lnB w="12700" cap="flat" cmpd="sng" algn="ctr">
                      <a:solidFill>
                        <a:srgbClr val="FFFDE7"/>
                      </a:solidFill>
                      <a:prstDash val="solid"/>
                      <a:round/>
                      <a:headEnd type="none" w="med" len="med"/>
                      <a:tailEnd type="none" w="med" len="med"/>
                    </a:lnB>
                    <a:solidFill>
                      <a:srgbClr val="FFFFFF">
                        <a:alpha val="4000"/>
                      </a:srgbClr>
                    </a:solidFill>
                  </a:tcPr>
                </a:tc>
              </a:tr>
              <a:tr h="297847">
                <a:tc>
                  <a:txBody>
                    <a:bodyPr/>
                    <a:lstStyle/>
                    <a:p>
                      <a:pPr algn="l" indent="0" marL="0">
                        <a:buNone/>
                      </a:pPr>
                      <a:r>
                        <a:rPr lang="en-US" sz="950" dirty="0">
                          <a:solidFill>
                            <a:srgbClr val="3B4E4E"/>
                          </a:solidFill>
                          <a:latin typeface="Overpass" pitchFamily="34" charset="0"/>
                          <a:ea typeface="Overpass" pitchFamily="34" charset="-122"/>
                          <a:cs typeface="Overpass" pitchFamily="34" charset="-120"/>
                        </a:rPr>
                        <a:t>Screen patients on small data</a:t>
                      </a:r>
                      <a:endParaRPr lang="en-US" sz="950" dirty="0">
                        <a:latin typeface="Overpass" charset="0"/>
                        <a:ea typeface="Overpass" charset="0"/>
                        <a:cs typeface="Overpass" charset="0"/>
                      </a:endParaRPr>
                    </a:p>
                  </a:txBody>
                  <a:tcPr marL="124044" marR="124044" marT="6350" marB="6350" anchor="ctr">
                    <a:lnL w="12700" cap="flat" cmpd="sng" algn="ctr">
                      <a:solidFill>
                        <a:srgbClr val="C3D4CC"/>
                      </a:solidFill>
                      <a:prstDash val="solid"/>
                      <a:round/>
                      <a:headEnd type="none" w="med" len="med"/>
                      <a:tailEnd type="none" w="med" len="med"/>
                    </a:lnL>
                    <a:lnR w="12700" cap="flat" cmpd="sng" algn="ctr">
                      <a:solidFill>
                        <a:srgbClr val="F5F3DD"/>
                      </a:solidFill>
                      <a:prstDash val="solid"/>
                      <a:round/>
                      <a:headEnd type="none" w="med" len="med"/>
                      <a:tailEnd type="none" w="med" len="med"/>
                    </a:lnR>
                    <a:lnT w="12700" cap="flat" cmpd="sng" algn="ctr">
                      <a:solidFill>
                        <a:srgbClr val="F5F3DD"/>
                      </a:solidFill>
                      <a:prstDash val="solid"/>
                      <a:round/>
                      <a:headEnd type="none" w="med" len="med"/>
                      <a:tailEnd type="none" w="med" len="med"/>
                    </a:lnT>
                    <a:lnB w="12700" cap="flat" cmpd="sng" algn="ctr">
                      <a:solidFill>
                        <a:srgbClr val="F5F3DD"/>
                      </a:solidFill>
                      <a:prstDash val="solid"/>
                      <a:round/>
                      <a:headEnd type="none" w="med" len="med"/>
                      <a:tailEnd type="none" w="med" len="med"/>
                    </a:lnB>
                    <a:solidFill>
                      <a:srgbClr val="000000">
                        <a:alpha val="4000"/>
                      </a:srgbClr>
                    </a:solidFill>
                  </a:tcPr>
                </a:tc>
                <a:tc>
                  <a:txBody>
                    <a:bodyPr/>
                    <a:lstStyle/>
                    <a:p>
                      <a:pPr algn="l" indent="0" marL="0">
                        <a:buNone/>
                      </a:pPr>
                      <a:r>
                        <a:rPr lang="en-US" sz="950" dirty="0">
                          <a:solidFill>
                            <a:srgbClr val="3B4E4E"/>
                          </a:solidFill>
                          <a:latin typeface="Overpass" pitchFamily="34" charset="0"/>
                          <a:ea typeface="Overpass" pitchFamily="34" charset="-122"/>
                          <a:cs typeface="Overpass" pitchFamily="34" charset="-120"/>
                        </a:rPr>
                        <a:t>Classification</a:t>
                      </a:r>
                      <a:endParaRPr lang="en-US" sz="950" dirty="0">
                        <a:latin typeface="Overpass" charset="0"/>
                        <a:ea typeface="Overpass" charset="0"/>
                        <a:cs typeface="Overpass" charset="0"/>
                      </a:endParaRPr>
                    </a:p>
                  </a:txBody>
                  <a:tcPr marL="124044" marR="124044" marT="6350" marB="6350" anchor="ctr">
                    <a:lnL w="12700" cap="flat" cmpd="sng" algn="ctr">
                      <a:solidFill>
                        <a:srgbClr val="F5F3DD"/>
                      </a:solidFill>
                      <a:prstDash val="solid"/>
                      <a:round/>
                      <a:headEnd type="none" w="med" len="med"/>
                      <a:tailEnd type="none" w="med" len="med"/>
                    </a:lnL>
                    <a:lnR w="12700" cap="flat" cmpd="sng" algn="ctr">
                      <a:solidFill>
                        <a:srgbClr val="F5F3DD"/>
                      </a:solidFill>
                      <a:prstDash val="solid"/>
                      <a:round/>
                      <a:headEnd type="none" w="med" len="med"/>
                      <a:tailEnd type="none" w="med" len="med"/>
                    </a:lnR>
                    <a:lnT w="12700" cap="flat" cmpd="sng" algn="ctr">
                      <a:solidFill>
                        <a:srgbClr val="F5F3DD"/>
                      </a:solidFill>
                      <a:prstDash val="solid"/>
                      <a:round/>
                      <a:headEnd type="none" w="med" len="med"/>
                      <a:tailEnd type="none" w="med" len="med"/>
                    </a:lnT>
                    <a:lnB w="12700" cap="flat" cmpd="sng" algn="ctr">
                      <a:solidFill>
                        <a:srgbClr val="F5F3DD"/>
                      </a:solidFill>
                      <a:prstDash val="solid"/>
                      <a:round/>
                      <a:headEnd type="none" w="med" len="med"/>
                      <a:tailEnd type="none" w="med" len="med"/>
                    </a:lnB>
                    <a:solidFill>
                      <a:srgbClr val="000000">
                        <a:alpha val="4000"/>
                      </a:srgbClr>
                    </a:solidFill>
                  </a:tcPr>
                </a:tc>
                <a:tc>
                  <a:txBody>
                    <a:bodyPr/>
                    <a:lstStyle/>
                    <a:p>
                      <a:pPr algn="l" indent="0" marL="0">
                        <a:buNone/>
                      </a:pPr>
                      <a:r>
                        <a:rPr lang="en-US" sz="950" dirty="0">
                          <a:solidFill>
                            <a:srgbClr val="3B4E4E"/>
                          </a:solidFill>
                          <a:latin typeface="Overpass" pitchFamily="34" charset="0"/>
                          <a:ea typeface="Overpass" pitchFamily="34" charset="-122"/>
                          <a:cs typeface="Overpass" pitchFamily="34" charset="-120"/>
                        </a:rPr>
                        <a:t>KNN</a:t>
                      </a:r>
                      <a:endParaRPr lang="en-US" sz="950" dirty="0">
                        <a:latin typeface="Overpass" charset="0"/>
                        <a:ea typeface="Overpass" charset="0"/>
                        <a:cs typeface="Overpass" charset="0"/>
                      </a:endParaRPr>
                    </a:p>
                  </a:txBody>
                  <a:tcPr marL="124044" marR="124044" marT="6350" marB="6350" anchor="ctr">
                    <a:lnL w="12700" cap="flat" cmpd="sng" algn="ctr">
                      <a:solidFill>
                        <a:srgbClr val="F5F3DD"/>
                      </a:solidFill>
                      <a:prstDash val="solid"/>
                      <a:round/>
                      <a:headEnd type="none" w="med" len="med"/>
                      <a:tailEnd type="none" w="med" len="med"/>
                    </a:lnL>
                    <a:lnR w="12700" cap="flat" cmpd="sng" algn="ctr">
                      <a:solidFill>
                        <a:srgbClr val="F5F3DD"/>
                      </a:solidFill>
                      <a:prstDash val="solid"/>
                      <a:round/>
                      <a:headEnd type="none" w="med" len="med"/>
                      <a:tailEnd type="none" w="med" len="med"/>
                    </a:lnR>
                    <a:lnT w="12700" cap="flat" cmpd="sng" algn="ctr">
                      <a:solidFill>
                        <a:srgbClr val="F5F3DD"/>
                      </a:solidFill>
                      <a:prstDash val="solid"/>
                      <a:round/>
                      <a:headEnd type="none" w="med" len="med"/>
                      <a:tailEnd type="none" w="med" len="med"/>
                    </a:lnT>
                    <a:lnB w="12700" cap="flat" cmpd="sng" algn="ctr">
                      <a:solidFill>
                        <a:srgbClr val="F5F3DD"/>
                      </a:solidFill>
                      <a:prstDash val="solid"/>
                      <a:round/>
                      <a:headEnd type="none" w="med" len="med"/>
                      <a:tailEnd type="none" w="med" len="med"/>
                    </a:lnB>
                    <a:solidFill>
                      <a:srgbClr val="000000">
                        <a:alpha val="4000"/>
                      </a:srgbClr>
                    </a:solidFill>
                  </a:tcPr>
                </a:tc>
                <a:tc>
                  <a:txBody>
                    <a:bodyPr/>
                    <a:lstStyle/>
                    <a:p>
                      <a:pPr algn="l" indent="0" marL="0">
                        <a:buNone/>
                      </a:pPr>
                      <a:r>
                        <a:rPr lang="en-US" sz="950" dirty="0">
                          <a:solidFill>
                            <a:srgbClr val="3B4E4E"/>
                          </a:solidFill>
                          <a:latin typeface="Overpass" pitchFamily="34" charset="0"/>
                          <a:ea typeface="Overpass" pitchFamily="34" charset="-122"/>
                          <a:cs typeface="Overpass" pitchFamily="34" charset="-120"/>
                        </a:rPr>
                        <a:t>Intuitive, no training</a:t>
                      </a:r>
                      <a:endParaRPr lang="en-US" sz="950" dirty="0">
                        <a:latin typeface="Overpass" charset="0"/>
                        <a:ea typeface="Overpass" charset="0"/>
                        <a:cs typeface="Overpass" charset="0"/>
                      </a:endParaRPr>
                    </a:p>
                  </a:txBody>
                  <a:tcPr marL="124044" marR="124044" marT="6350" marB="6350" anchor="ctr">
                    <a:lnL w="12700" cap="flat" cmpd="sng" algn="ctr">
                      <a:solidFill>
                        <a:srgbClr val="F5F3DD"/>
                      </a:solidFill>
                      <a:prstDash val="solid"/>
                      <a:round/>
                      <a:headEnd type="none" w="med" len="med"/>
                      <a:tailEnd type="none" w="med" len="med"/>
                    </a:lnL>
                    <a:lnR w="12700" cap="flat" cmpd="sng" algn="ctr">
                      <a:solidFill>
                        <a:srgbClr val="C3D4CC"/>
                      </a:solidFill>
                      <a:prstDash val="solid"/>
                      <a:round/>
                      <a:headEnd type="none" w="med" len="med"/>
                      <a:tailEnd type="none" w="med" len="med"/>
                    </a:lnR>
                    <a:lnT w="12700" cap="flat" cmpd="sng" algn="ctr">
                      <a:solidFill>
                        <a:srgbClr val="F5F3DD"/>
                      </a:solidFill>
                      <a:prstDash val="solid"/>
                      <a:round/>
                      <a:headEnd type="none" w="med" len="med"/>
                      <a:tailEnd type="none" w="med" len="med"/>
                    </a:lnT>
                    <a:lnB w="12700" cap="flat" cmpd="sng" algn="ctr">
                      <a:solidFill>
                        <a:srgbClr val="F5F3DD"/>
                      </a:solidFill>
                      <a:prstDash val="solid"/>
                      <a:round/>
                      <a:headEnd type="none" w="med" len="med"/>
                      <a:tailEnd type="none" w="med" len="med"/>
                    </a:lnB>
                    <a:solidFill>
                      <a:srgbClr val="000000">
                        <a:alpha val="4000"/>
                      </a:srgbClr>
                    </a:solidFill>
                  </a:tcPr>
                </a:tc>
              </a:tr>
              <a:tr h="297847">
                <a:tc>
                  <a:txBody>
                    <a:bodyPr/>
                    <a:lstStyle/>
                    <a:p>
                      <a:pPr algn="l" indent="0" marL="0">
                        <a:buNone/>
                      </a:pPr>
                      <a:r>
                        <a:rPr lang="en-US" sz="950" dirty="0">
                          <a:solidFill>
                            <a:srgbClr val="3B4E4E"/>
                          </a:solidFill>
                          <a:latin typeface="Overpass" pitchFamily="34" charset="0"/>
                          <a:ea typeface="Overpass" pitchFamily="34" charset="-122"/>
                          <a:cs typeface="Overpass" pitchFamily="34" charset="-120"/>
                        </a:rPr>
                        <a:t>Route support tickets</a:t>
                      </a:r>
                      <a:endParaRPr lang="en-US" sz="950" dirty="0">
                        <a:latin typeface="Overpass" charset="0"/>
                        <a:ea typeface="Overpass" charset="0"/>
                        <a:cs typeface="Overpass" charset="0"/>
                      </a:endParaRPr>
                    </a:p>
                  </a:txBody>
                  <a:tcPr marL="124044" marR="124044" marT="6350" marB="6350" anchor="ctr">
                    <a:lnL w="12700" cap="flat" cmpd="sng" algn="ctr">
                      <a:solidFill>
                        <a:srgbClr val="C3D4CC"/>
                      </a:solidFill>
                      <a:prstDash val="solid"/>
                      <a:round/>
                      <a:headEnd type="none" w="med" len="med"/>
                      <a:tailEnd type="none" w="med" len="med"/>
                    </a:lnL>
                    <a:lnR w="12700" cap="flat" cmpd="sng" algn="ctr">
                      <a:solidFill>
                        <a:srgbClr val="FFFDE7"/>
                      </a:solidFill>
                      <a:prstDash val="solid"/>
                      <a:round/>
                      <a:headEnd type="none" w="med" len="med"/>
                      <a:tailEnd type="none" w="med" len="med"/>
                    </a:lnR>
                    <a:lnT w="12700" cap="flat" cmpd="sng" algn="ctr">
                      <a:solidFill>
                        <a:srgbClr val="FFFDE7"/>
                      </a:solidFill>
                      <a:prstDash val="solid"/>
                      <a:round/>
                      <a:headEnd type="none" w="med" len="med"/>
                      <a:tailEnd type="none" w="med" len="med"/>
                    </a:lnT>
                    <a:lnB w="12700" cap="flat" cmpd="sng" algn="ctr">
                      <a:solidFill>
                        <a:srgbClr val="FFFDE7"/>
                      </a:solidFill>
                      <a:prstDash val="solid"/>
                      <a:round/>
                      <a:headEnd type="none" w="med" len="med"/>
                      <a:tailEnd type="none" w="med" len="med"/>
                    </a:lnB>
                    <a:solidFill>
                      <a:srgbClr val="FFFFFF">
                        <a:alpha val="4000"/>
                      </a:srgbClr>
                    </a:solidFill>
                  </a:tcPr>
                </a:tc>
                <a:tc>
                  <a:txBody>
                    <a:bodyPr/>
                    <a:lstStyle/>
                    <a:p>
                      <a:pPr algn="l" indent="0" marL="0">
                        <a:buNone/>
                      </a:pPr>
                      <a:r>
                        <a:rPr lang="en-US" sz="950" dirty="0">
                          <a:solidFill>
                            <a:srgbClr val="3B4E4E"/>
                          </a:solidFill>
                          <a:latin typeface="Overpass" pitchFamily="34" charset="0"/>
                          <a:ea typeface="Overpass" pitchFamily="34" charset="-122"/>
                          <a:cs typeface="Overpass" pitchFamily="34" charset="-120"/>
                        </a:rPr>
                        <a:t>Text classification</a:t>
                      </a:r>
                      <a:endParaRPr lang="en-US" sz="950" dirty="0">
                        <a:latin typeface="Overpass" charset="0"/>
                        <a:ea typeface="Overpass" charset="0"/>
                        <a:cs typeface="Overpass" charset="0"/>
                      </a:endParaRPr>
                    </a:p>
                  </a:txBody>
                  <a:tcPr marL="124044" marR="124044" marT="6350" marB="6350" anchor="ctr">
                    <a:lnL w="12700" cap="flat" cmpd="sng" algn="ctr">
                      <a:solidFill>
                        <a:srgbClr val="FFFDE7"/>
                      </a:solidFill>
                      <a:prstDash val="solid"/>
                      <a:round/>
                      <a:headEnd type="none" w="med" len="med"/>
                      <a:tailEnd type="none" w="med" len="med"/>
                    </a:lnL>
                    <a:lnR w="12700" cap="flat" cmpd="sng" algn="ctr">
                      <a:solidFill>
                        <a:srgbClr val="FFFDE7"/>
                      </a:solidFill>
                      <a:prstDash val="solid"/>
                      <a:round/>
                      <a:headEnd type="none" w="med" len="med"/>
                      <a:tailEnd type="none" w="med" len="med"/>
                    </a:lnR>
                    <a:lnT w="12700" cap="flat" cmpd="sng" algn="ctr">
                      <a:solidFill>
                        <a:srgbClr val="FFFDE7"/>
                      </a:solidFill>
                      <a:prstDash val="solid"/>
                      <a:round/>
                      <a:headEnd type="none" w="med" len="med"/>
                      <a:tailEnd type="none" w="med" len="med"/>
                    </a:lnT>
                    <a:lnB w="12700" cap="flat" cmpd="sng" algn="ctr">
                      <a:solidFill>
                        <a:srgbClr val="FFFDE7"/>
                      </a:solidFill>
                      <a:prstDash val="solid"/>
                      <a:round/>
                      <a:headEnd type="none" w="med" len="med"/>
                      <a:tailEnd type="none" w="med" len="med"/>
                    </a:lnB>
                    <a:solidFill>
                      <a:srgbClr val="FFFFFF">
                        <a:alpha val="4000"/>
                      </a:srgbClr>
                    </a:solidFill>
                  </a:tcPr>
                </a:tc>
                <a:tc>
                  <a:txBody>
                    <a:bodyPr/>
                    <a:lstStyle/>
                    <a:p>
                      <a:pPr algn="l" indent="0" marL="0">
                        <a:buNone/>
                      </a:pPr>
                      <a:r>
                        <a:rPr lang="en-US" sz="950" dirty="0">
                          <a:solidFill>
                            <a:srgbClr val="3B4E4E"/>
                          </a:solidFill>
                          <a:latin typeface="Overpass" pitchFamily="34" charset="0"/>
                          <a:ea typeface="Overpass" pitchFamily="34" charset="-122"/>
                          <a:cs typeface="Overpass" pitchFamily="34" charset="-120"/>
                        </a:rPr>
                        <a:t>SVM</a:t>
                      </a:r>
                      <a:endParaRPr lang="en-US" sz="950" dirty="0">
                        <a:latin typeface="Overpass" charset="0"/>
                        <a:ea typeface="Overpass" charset="0"/>
                        <a:cs typeface="Overpass" charset="0"/>
                      </a:endParaRPr>
                    </a:p>
                  </a:txBody>
                  <a:tcPr marL="124044" marR="124044" marT="6350" marB="6350" anchor="ctr">
                    <a:lnL w="12700" cap="flat" cmpd="sng" algn="ctr">
                      <a:solidFill>
                        <a:srgbClr val="FFFDE7"/>
                      </a:solidFill>
                      <a:prstDash val="solid"/>
                      <a:round/>
                      <a:headEnd type="none" w="med" len="med"/>
                      <a:tailEnd type="none" w="med" len="med"/>
                    </a:lnL>
                    <a:lnR w="12700" cap="flat" cmpd="sng" algn="ctr">
                      <a:solidFill>
                        <a:srgbClr val="FFFDE7"/>
                      </a:solidFill>
                      <a:prstDash val="solid"/>
                      <a:round/>
                      <a:headEnd type="none" w="med" len="med"/>
                      <a:tailEnd type="none" w="med" len="med"/>
                    </a:lnR>
                    <a:lnT w="12700" cap="flat" cmpd="sng" algn="ctr">
                      <a:solidFill>
                        <a:srgbClr val="FFFDE7"/>
                      </a:solidFill>
                      <a:prstDash val="solid"/>
                      <a:round/>
                      <a:headEnd type="none" w="med" len="med"/>
                      <a:tailEnd type="none" w="med" len="med"/>
                    </a:lnT>
                    <a:lnB w="12700" cap="flat" cmpd="sng" algn="ctr">
                      <a:solidFill>
                        <a:srgbClr val="FFFDE7"/>
                      </a:solidFill>
                      <a:prstDash val="solid"/>
                      <a:round/>
                      <a:headEnd type="none" w="med" len="med"/>
                      <a:tailEnd type="none" w="med" len="med"/>
                    </a:lnB>
                    <a:solidFill>
                      <a:srgbClr val="FFFFFF">
                        <a:alpha val="4000"/>
                      </a:srgbClr>
                    </a:solidFill>
                  </a:tcPr>
                </a:tc>
                <a:tc>
                  <a:txBody>
                    <a:bodyPr/>
                    <a:lstStyle/>
                    <a:p>
                      <a:pPr algn="l" indent="0" marL="0">
                        <a:buNone/>
                      </a:pPr>
                      <a:r>
                        <a:rPr lang="en-US" sz="950" dirty="0">
                          <a:solidFill>
                            <a:srgbClr val="3B4E4E"/>
                          </a:solidFill>
                          <a:latin typeface="Overpass" pitchFamily="34" charset="0"/>
                          <a:ea typeface="Overpass" pitchFamily="34" charset="-122"/>
                          <a:cs typeface="Overpass" pitchFamily="34" charset="-120"/>
                        </a:rPr>
                        <a:t>High-dimensional text</a:t>
                      </a:r>
                      <a:endParaRPr lang="en-US" sz="950" dirty="0">
                        <a:latin typeface="Overpass" charset="0"/>
                        <a:ea typeface="Overpass" charset="0"/>
                        <a:cs typeface="Overpass" charset="0"/>
                      </a:endParaRPr>
                    </a:p>
                  </a:txBody>
                  <a:tcPr marL="124044" marR="124044" marT="6350" marB="6350" anchor="ctr">
                    <a:lnL w="12700" cap="flat" cmpd="sng" algn="ctr">
                      <a:solidFill>
                        <a:srgbClr val="FFFDE7"/>
                      </a:solidFill>
                      <a:prstDash val="solid"/>
                      <a:round/>
                      <a:headEnd type="none" w="med" len="med"/>
                      <a:tailEnd type="none" w="med" len="med"/>
                    </a:lnL>
                    <a:lnR w="12700" cap="flat" cmpd="sng" algn="ctr">
                      <a:solidFill>
                        <a:srgbClr val="C3D4CC"/>
                      </a:solidFill>
                      <a:prstDash val="solid"/>
                      <a:round/>
                      <a:headEnd type="none" w="med" len="med"/>
                      <a:tailEnd type="none" w="med" len="med"/>
                    </a:lnR>
                    <a:lnT w="12700" cap="flat" cmpd="sng" algn="ctr">
                      <a:solidFill>
                        <a:srgbClr val="FFFDE7"/>
                      </a:solidFill>
                      <a:prstDash val="solid"/>
                      <a:round/>
                      <a:headEnd type="none" w="med" len="med"/>
                      <a:tailEnd type="none" w="med" len="med"/>
                    </a:lnT>
                    <a:lnB w="12700" cap="flat" cmpd="sng" algn="ctr">
                      <a:solidFill>
                        <a:srgbClr val="FFFDE7"/>
                      </a:solidFill>
                      <a:prstDash val="solid"/>
                      <a:round/>
                      <a:headEnd type="none" w="med" len="med"/>
                      <a:tailEnd type="none" w="med" len="med"/>
                    </a:lnB>
                    <a:solidFill>
                      <a:srgbClr val="FFFFFF">
                        <a:alpha val="4000"/>
                      </a:srgbClr>
                    </a:solidFill>
                  </a:tcPr>
                </a:tc>
              </a:tr>
              <a:tr h="297847">
                <a:tc>
                  <a:txBody>
                    <a:bodyPr/>
                    <a:lstStyle/>
                    <a:p>
                      <a:pPr algn="l" indent="0" marL="0">
                        <a:buNone/>
                      </a:pPr>
                      <a:r>
                        <a:rPr lang="en-US" sz="950" dirty="0">
                          <a:solidFill>
                            <a:srgbClr val="3B4E4E"/>
                          </a:solidFill>
                          <a:latin typeface="Overpass" pitchFamily="34" charset="0"/>
                          <a:ea typeface="Overpass" pitchFamily="34" charset="-122"/>
                          <a:cs typeface="Overpass" pitchFamily="34" charset="-120"/>
                        </a:rPr>
                        <a:t>Segment customers</a:t>
                      </a:r>
                      <a:endParaRPr lang="en-US" sz="950" dirty="0">
                        <a:latin typeface="Overpass" charset="0"/>
                        <a:ea typeface="Overpass" charset="0"/>
                        <a:cs typeface="Overpass" charset="0"/>
                      </a:endParaRPr>
                    </a:p>
                  </a:txBody>
                  <a:tcPr marL="124044" marR="124044" marT="6350" marB="6350" anchor="ctr">
                    <a:lnL w="12700" cap="flat" cmpd="sng" algn="ctr">
                      <a:solidFill>
                        <a:srgbClr val="C3D4CC"/>
                      </a:solidFill>
                      <a:prstDash val="solid"/>
                      <a:round/>
                      <a:headEnd type="none" w="med" len="med"/>
                      <a:tailEnd type="none" w="med" len="med"/>
                    </a:lnL>
                    <a:lnR w="12700" cap="flat" cmpd="sng" algn="ctr">
                      <a:solidFill>
                        <a:srgbClr val="F5F3DD"/>
                      </a:solidFill>
                      <a:prstDash val="solid"/>
                      <a:round/>
                      <a:headEnd type="none" w="med" len="med"/>
                      <a:tailEnd type="none" w="med" len="med"/>
                    </a:lnR>
                    <a:lnT w="12700" cap="flat" cmpd="sng" algn="ctr">
                      <a:solidFill>
                        <a:srgbClr val="F5F3DD"/>
                      </a:solidFill>
                      <a:prstDash val="solid"/>
                      <a:round/>
                      <a:headEnd type="none" w="med" len="med"/>
                      <a:tailEnd type="none" w="med" len="med"/>
                    </a:lnT>
                    <a:lnB w="12700" cap="flat" cmpd="sng" algn="ctr">
                      <a:solidFill>
                        <a:srgbClr val="F5F3DD"/>
                      </a:solidFill>
                      <a:prstDash val="solid"/>
                      <a:round/>
                      <a:headEnd type="none" w="med" len="med"/>
                      <a:tailEnd type="none" w="med" len="med"/>
                    </a:lnB>
                    <a:solidFill>
                      <a:srgbClr val="000000">
                        <a:alpha val="4000"/>
                      </a:srgbClr>
                    </a:solidFill>
                  </a:tcPr>
                </a:tc>
                <a:tc>
                  <a:txBody>
                    <a:bodyPr/>
                    <a:lstStyle/>
                    <a:p>
                      <a:pPr algn="l" indent="0" marL="0">
                        <a:buNone/>
                      </a:pPr>
                      <a:r>
                        <a:rPr lang="en-US" sz="950" dirty="0">
                          <a:solidFill>
                            <a:srgbClr val="3B4E4E"/>
                          </a:solidFill>
                          <a:latin typeface="Overpass" pitchFamily="34" charset="0"/>
                          <a:ea typeface="Overpass" pitchFamily="34" charset="-122"/>
                          <a:cs typeface="Overpass" pitchFamily="34" charset="-120"/>
                        </a:rPr>
                        <a:t>Clustering</a:t>
                      </a:r>
                      <a:endParaRPr lang="en-US" sz="950" dirty="0">
                        <a:latin typeface="Overpass" charset="0"/>
                        <a:ea typeface="Overpass" charset="0"/>
                        <a:cs typeface="Overpass" charset="0"/>
                      </a:endParaRPr>
                    </a:p>
                  </a:txBody>
                  <a:tcPr marL="124044" marR="124044" marT="6350" marB="6350" anchor="ctr">
                    <a:lnL w="12700" cap="flat" cmpd="sng" algn="ctr">
                      <a:solidFill>
                        <a:srgbClr val="F5F3DD"/>
                      </a:solidFill>
                      <a:prstDash val="solid"/>
                      <a:round/>
                      <a:headEnd type="none" w="med" len="med"/>
                      <a:tailEnd type="none" w="med" len="med"/>
                    </a:lnL>
                    <a:lnR w="12700" cap="flat" cmpd="sng" algn="ctr">
                      <a:solidFill>
                        <a:srgbClr val="F5F3DD"/>
                      </a:solidFill>
                      <a:prstDash val="solid"/>
                      <a:round/>
                      <a:headEnd type="none" w="med" len="med"/>
                      <a:tailEnd type="none" w="med" len="med"/>
                    </a:lnR>
                    <a:lnT w="12700" cap="flat" cmpd="sng" algn="ctr">
                      <a:solidFill>
                        <a:srgbClr val="F5F3DD"/>
                      </a:solidFill>
                      <a:prstDash val="solid"/>
                      <a:round/>
                      <a:headEnd type="none" w="med" len="med"/>
                      <a:tailEnd type="none" w="med" len="med"/>
                    </a:lnT>
                    <a:lnB w="12700" cap="flat" cmpd="sng" algn="ctr">
                      <a:solidFill>
                        <a:srgbClr val="F5F3DD"/>
                      </a:solidFill>
                      <a:prstDash val="solid"/>
                      <a:round/>
                      <a:headEnd type="none" w="med" len="med"/>
                      <a:tailEnd type="none" w="med" len="med"/>
                    </a:lnB>
                    <a:solidFill>
                      <a:srgbClr val="000000">
                        <a:alpha val="4000"/>
                      </a:srgbClr>
                    </a:solidFill>
                  </a:tcPr>
                </a:tc>
                <a:tc>
                  <a:txBody>
                    <a:bodyPr/>
                    <a:lstStyle/>
                    <a:p>
                      <a:pPr algn="l" indent="0" marL="0">
                        <a:buNone/>
                      </a:pPr>
                      <a:r>
                        <a:rPr lang="en-US" sz="950" dirty="0">
                          <a:solidFill>
                            <a:srgbClr val="3B4E4E"/>
                          </a:solidFill>
                          <a:latin typeface="Overpass" pitchFamily="34" charset="0"/>
                          <a:ea typeface="Overpass" pitchFamily="34" charset="-122"/>
                          <a:cs typeface="Overpass" pitchFamily="34" charset="-120"/>
                        </a:rPr>
                        <a:t>K-Means</a:t>
                      </a:r>
                      <a:endParaRPr lang="en-US" sz="950" dirty="0">
                        <a:latin typeface="Overpass" charset="0"/>
                        <a:ea typeface="Overpass" charset="0"/>
                        <a:cs typeface="Overpass" charset="0"/>
                      </a:endParaRPr>
                    </a:p>
                  </a:txBody>
                  <a:tcPr marL="124044" marR="124044" marT="6350" marB="6350" anchor="ctr">
                    <a:lnL w="12700" cap="flat" cmpd="sng" algn="ctr">
                      <a:solidFill>
                        <a:srgbClr val="F5F3DD"/>
                      </a:solidFill>
                      <a:prstDash val="solid"/>
                      <a:round/>
                      <a:headEnd type="none" w="med" len="med"/>
                      <a:tailEnd type="none" w="med" len="med"/>
                    </a:lnL>
                    <a:lnR w="12700" cap="flat" cmpd="sng" algn="ctr">
                      <a:solidFill>
                        <a:srgbClr val="F5F3DD"/>
                      </a:solidFill>
                      <a:prstDash val="solid"/>
                      <a:round/>
                      <a:headEnd type="none" w="med" len="med"/>
                      <a:tailEnd type="none" w="med" len="med"/>
                    </a:lnR>
                    <a:lnT w="12700" cap="flat" cmpd="sng" algn="ctr">
                      <a:solidFill>
                        <a:srgbClr val="F5F3DD"/>
                      </a:solidFill>
                      <a:prstDash val="solid"/>
                      <a:round/>
                      <a:headEnd type="none" w="med" len="med"/>
                      <a:tailEnd type="none" w="med" len="med"/>
                    </a:lnT>
                    <a:lnB w="12700" cap="flat" cmpd="sng" algn="ctr">
                      <a:solidFill>
                        <a:srgbClr val="F5F3DD"/>
                      </a:solidFill>
                      <a:prstDash val="solid"/>
                      <a:round/>
                      <a:headEnd type="none" w="med" len="med"/>
                      <a:tailEnd type="none" w="med" len="med"/>
                    </a:lnB>
                    <a:solidFill>
                      <a:srgbClr val="000000">
                        <a:alpha val="4000"/>
                      </a:srgbClr>
                    </a:solidFill>
                  </a:tcPr>
                </a:tc>
                <a:tc>
                  <a:txBody>
                    <a:bodyPr/>
                    <a:lstStyle/>
                    <a:p>
                      <a:pPr algn="l" indent="0" marL="0">
                        <a:buNone/>
                      </a:pPr>
                      <a:r>
                        <a:rPr lang="en-US" sz="950" dirty="0">
                          <a:solidFill>
                            <a:srgbClr val="3B4E4E"/>
                          </a:solidFill>
                          <a:latin typeface="Overpass" pitchFamily="34" charset="0"/>
                          <a:ea typeface="Overpass" pitchFamily="34" charset="-122"/>
                          <a:cs typeface="Overpass" pitchFamily="34" charset="-120"/>
                        </a:rPr>
                        <a:t>Fast, actionable</a:t>
                      </a:r>
                      <a:endParaRPr lang="en-US" sz="950" dirty="0">
                        <a:latin typeface="Overpass" charset="0"/>
                        <a:ea typeface="Overpass" charset="0"/>
                        <a:cs typeface="Overpass" charset="0"/>
                      </a:endParaRPr>
                    </a:p>
                  </a:txBody>
                  <a:tcPr marL="124044" marR="124044" marT="6350" marB="6350" anchor="ctr">
                    <a:lnL w="12700" cap="flat" cmpd="sng" algn="ctr">
                      <a:solidFill>
                        <a:srgbClr val="F5F3DD"/>
                      </a:solidFill>
                      <a:prstDash val="solid"/>
                      <a:round/>
                      <a:headEnd type="none" w="med" len="med"/>
                      <a:tailEnd type="none" w="med" len="med"/>
                    </a:lnL>
                    <a:lnR w="12700" cap="flat" cmpd="sng" algn="ctr">
                      <a:solidFill>
                        <a:srgbClr val="C3D4CC"/>
                      </a:solidFill>
                      <a:prstDash val="solid"/>
                      <a:round/>
                      <a:headEnd type="none" w="med" len="med"/>
                      <a:tailEnd type="none" w="med" len="med"/>
                    </a:lnR>
                    <a:lnT w="12700" cap="flat" cmpd="sng" algn="ctr">
                      <a:solidFill>
                        <a:srgbClr val="F5F3DD"/>
                      </a:solidFill>
                      <a:prstDash val="solid"/>
                      <a:round/>
                      <a:headEnd type="none" w="med" len="med"/>
                      <a:tailEnd type="none" w="med" len="med"/>
                    </a:lnT>
                    <a:lnB w="12700" cap="flat" cmpd="sng" algn="ctr">
                      <a:solidFill>
                        <a:srgbClr val="F5F3DD"/>
                      </a:solidFill>
                      <a:prstDash val="solid"/>
                      <a:round/>
                      <a:headEnd type="none" w="med" len="med"/>
                      <a:tailEnd type="none" w="med" len="med"/>
                    </a:lnB>
                    <a:solidFill>
                      <a:srgbClr val="000000">
                        <a:alpha val="4000"/>
                      </a:srgbClr>
                    </a:solidFill>
                  </a:tcPr>
                </a:tc>
              </a:tr>
              <a:tr h="297847">
                <a:tc>
                  <a:txBody>
                    <a:bodyPr/>
                    <a:lstStyle/>
                    <a:p>
                      <a:pPr algn="l" indent="0" marL="0">
                        <a:buNone/>
                      </a:pPr>
                      <a:r>
                        <a:rPr lang="en-US" sz="950" dirty="0">
                          <a:solidFill>
                            <a:srgbClr val="3B4E4E"/>
                          </a:solidFill>
                          <a:latin typeface="Overpass" pitchFamily="34" charset="0"/>
                          <a:ea typeface="Overpass" pitchFamily="34" charset="-122"/>
                          <a:cs typeface="Overpass" pitchFamily="34" charset="-120"/>
                        </a:rPr>
                        <a:t>Group stores, K unknown</a:t>
                      </a:r>
                      <a:endParaRPr lang="en-US" sz="950" dirty="0">
                        <a:latin typeface="Overpass" charset="0"/>
                        <a:ea typeface="Overpass" charset="0"/>
                        <a:cs typeface="Overpass" charset="0"/>
                      </a:endParaRPr>
                    </a:p>
                  </a:txBody>
                  <a:tcPr marL="124044" marR="124044" marT="6350" marB="6350" anchor="ctr">
                    <a:lnL w="12700" cap="flat" cmpd="sng" algn="ctr">
                      <a:solidFill>
                        <a:srgbClr val="C3D4CC"/>
                      </a:solidFill>
                      <a:prstDash val="solid"/>
                      <a:round/>
                      <a:headEnd type="none" w="med" len="med"/>
                      <a:tailEnd type="none" w="med" len="med"/>
                    </a:lnL>
                    <a:lnR w="12700" cap="flat" cmpd="sng" algn="ctr">
                      <a:solidFill>
                        <a:srgbClr val="FFFDE7"/>
                      </a:solidFill>
                      <a:prstDash val="solid"/>
                      <a:round/>
                      <a:headEnd type="none" w="med" len="med"/>
                      <a:tailEnd type="none" w="med" len="med"/>
                    </a:lnR>
                    <a:lnT w="12700" cap="flat" cmpd="sng" algn="ctr">
                      <a:solidFill>
                        <a:srgbClr val="FFFDE7"/>
                      </a:solidFill>
                      <a:prstDash val="solid"/>
                      <a:round/>
                      <a:headEnd type="none" w="med" len="med"/>
                      <a:tailEnd type="none" w="med" len="med"/>
                    </a:lnT>
                    <a:lnB w="12700" cap="flat" cmpd="sng" algn="ctr">
                      <a:solidFill>
                        <a:srgbClr val="FFFDE7"/>
                      </a:solidFill>
                      <a:prstDash val="solid"/>
                      <a:round/>
                      <a:headEnd type="none" w="med" len="med"/>
                      <a:tailEnd type="none" w="med" len="med"/>
                    </a:lnB>
                    <a:solidFill>
                      <a:srgbClr val="FFFFFF">
                        <a:alpha val="4000"/>
                      </a:srgbClr>
                    </a:solidFill>
                  </a:tcPr>
                </a:tc>
                <a:tc>
                  <a:txBody>
                    <a:bodyPr/>
                    <a:lstStyle/>
                    <a:p>
                      <a:pPr algn="l" indent="0" marL="0">
                        <a:buNone/>
                      </a:pPr>
                      <a:r>
                        <a:rPr lang="en-US" sz="950" dirty="0">
                          <a:solidFill>
                            <a:srgbClr val="3B4E4E"/>
                          </a:solidFill>
                          <a:latin typeface="Overpass" pitchFamily="34" charset="0"/>
                          <a:ea typeface="Overpass" pitchFamily="34" charset="-122"/>
                          <a:cs typeface="Overpass" pitchFamily="34" charset="-120"/>
                        </a:rPr>
                        <a:t>Clustering</a:t>
                      </a:r>
                      <a:endParaRPr lang="en-US" sz="950" dirty="0">
                        <a:latin typeface="Overpass" charset="0"/>
                        <a:ea typeface="Overpass" charset="0"/>
                        <a:cs typeface="Overpass" charset="0"/>
                      </a:endParaRPr>
                    </a:p>
                  </a:txBody>
                  <a:tcPr marL="124044" marR="124044" marT="6350" marB="6350" anchor="ctr">
                    <a:lnL w="12700" cap="flat" cmpd="sng" algn="ctr">
                      <a:solidFill>
                        <a:srgbClr val="FFFDE7"/>
                      </a:solidFill>
                      <a:prstDash val="solid"/>
                      <a:round/>
                      <a:headEnd type="none" w="med" len="med"/>
                      <a:tailEnd type="none" w="med" len="med"/>
                    </a:lnL>
                    <a:lnR w="12700" cap="flat" cmpd="sng" algn="ctr">
                      <a:solidFill>
                        <a:srgbClr val="FFFDE7"/>
                      </a:solidFill>
                      <a:prstDash val="solid"/>
                      <a:round/>
                      <a:headEnd type="none" w="med" len="med"/>
                      <a:tailEnd type="none" w="med" len="med"/>
                    </a:lnR>
                    <a:lnT w="12700" cap="flat" cmpd="sng" algn="ctr">
                      <a:solidFill>
                        <a:srgbClr val="FFFDE7"/>
                      </a:solidFill>
                      <a:prstDash val="solid"/>
                      <a:round/>
                      <a:headEnd type="none" w="med" len="med"/>
                      <a:tailEnd type="none" w="med" len="med"/>
                    </a:lnT>
                    <a:lnB w="12700" cap="flat" cmpd="sng" algn="ctr">
                      <a:solidFill>
                        <a:srgbClr val="FFFDE7"/>
                      </a:solidFill>
                      <a:prstDash val="solid"/>
                      <a:round/>
                      <a:headEnd type="none" w="med" len="med"/>
                      <a:tailEnd type="none" w="med" len="med"/>
                    </a:lnB>
                    <a:solidFill>
                      <a:srgbClr val="FFFFFF">
                        <a:alpha val="4000"/>
                      </a:srgbClr>
                    </a:solidFill>
                  </a:tcPr>
                </a:tc>
                <a:tc>
                  <a:txBody>
                    <a:bodyPr/>
                    <a:lstStyle/>
                    <a:p>
                      <a:pPr algn="l" indent="0" marL="0">
                        <a:buNone/>
                      </a:pPr>
                      <a:r>
                        <a:rPr lang="en-US" sz="950" dirty="0">
                          <a:solidFill>
                            <a:srgbClr val="3B4E4E"/>
                          </a:solidFill>
                          <a:latin typeface="Overpass" pitchFamily="34" charset="0"/>
                          <a:ea typeface="Overpass" pitchFamily="34" charset="-122"/>
                          <a:cs typeface="Overpass" pitchFamily="34" charset="-120"/>
                        </a:rPr>
                        <a:t>Hierarchical Clustering</a:t>
                      </a:r>
                      <a:endParaRPr lang="en-US" sz="950" dirty="0">
                        <a:latin typeface="Overpass" charset="0"/>
                        <a:ea typeface="Overpass" charset="0"/>
                        <a:cs typeface="Overpass" charset="0"/>
                      </a:endParaRPr>
                    </a:p>
                  </a:txBody>
                  <a:tcPr marL="124044" marR="124044" marT="6350" marB="6350" anchor="ctr">
                    <a:lnL w="12700" cap="flat" cmpd="sng" algn="ctr">
                      <a:solidFill>
                        <a:srgbClr val="FFFDE7"/>
                      </a:solidFill>
                      <a:prstDash val="solid"/>
                      <a:round/>
                      <a:headEnd type="none" w="med" len="med"/>
                      <a:tailEnd type="none" w="med" len="med"/>
                    </a:lnL>
                    <a:lnR w="12700" cap="flat" cmpd="sng" algn="ctr">
                      <a:solidFill>
                        <a:srgbClr val="FFFDE7"/>
                      </a:solidFill>
                      <a:prstDash val="solid"/>
                      <a:round/>
                      <a:headEnd type="none" w="med" len="med"/>
                      <a:tailEnd type="none" w="med" len="med"/>
                    </a:lnR>
                    <a:lnT w="12700" cap="flat" cmpd="sng" algn="ctr">
                      <a:solidFill>
                        <a:srgbClr val="FFFDE7"/>
                      </a:solidFill>
                      <a:prstDash val="solid"/>
                      <a:round/>
                      <a:headEnd type="none" w="med" len="med"/>
                      <a:tailEnd type="none" w="med" len="med"/>
                    </a:lnT>
                    <a:lnB w="12700" cap="flat" cmpd="sng" algn="ctr">
                      <a:solidFill>
                        <a:srgbClr val="FFFDE7"/>
                      </a:solidFill>
                      <a:prstDash val="solid"/>
                      <a:round/>
                      <a:headEnd type="none" w="med" len="med"/>
                      <a:tailEnd type="none" w="med" len="med"/>
                    </a:lnB>
                    <a:solidFill>
                      <a:srgbClr val="FFFFFF">
                        <a:alpha val="4000"/>
                      </a:srgbClr>
                    </a:solidFill>
                  </a:tcPr>
                </a:tc>
                <a:tc>
                  <a:txBody>
                    <a:bodyPr/>
                    <a:lstStyle/>
                    <a:p>
                      <a:pPr algn="l" indent="0" marL="0">
                        <a:buNone/>
                      </a:pPr>
                      <a:r>
                        <a:rPr lang="en-US" sz="950" dirty="0">
                          <a:solidFill>
                            <a:srgbClr val="3B4E4E"/>
                          </a:solidFill>
                          <a:latin typeface="Overpass" pitchFamily="34" charset="0"/>
                          <a:ea typeface="Overpass" pitchFamily="34" charset="-122"/>
                          <a:cs typeface="Overpass" pitchFamily="34" charset="-120"/>
                        </a:rPr>
                        <a:t>No K needed upfront</a:t>
                      </a:r>
                      <a:endParaRPr lang="en-US" sz="950" dirty="0">
                        <a:latin typeface="Overpass" charset="0"/>
                        <a:ea typeface="Overpass" charset="0"/>
                        <a:cs typeface="Overpass" charset="0"/>
                      </a:endParaRPr>
                    </a:p>
                  </a:txBody>
                  <a:tcPr marL="124044" marR="124044" marT="6350" marB="6350" anchor="ctr">
                    <a:lnL w="12700" cap="flat" cmpd="sng" algn="ctr">
                      <a:solidFill>
                        <a:srgbClr val="FFFDE7"/>
                      </a:solidFill>
                      <a:prstDash val="solid"/>
                      <a:round/>
                      <a:headEnd type="none" w="med" len="med"/>
                      <a:tailEnd type="none" w="med" len="med"/>
                    </a:lnL>
                    <a:lnR w="12700" cap="flat" cmpd="sng" algn="ctr">
                      <a:solidFill>
                        <a:srgbClr val="C3D4CC"/>
                      </a:solidFill>
                      <a:prstDash val="solid"/>
                      <a:round/>
                      <a:headEnd type="none" w="med" len="med"/>
                      <a:tailEnd type="none" w="med" len="med"/>
                    </a:lnR>
                    <a:lnT w="12700" cap="flat" cmpd="sng" algn="ctr">
                      <a:solidFill>
                        <a:srgbClr val="FFFDE7"/>
                      </a:solidFill>
                      <a:prstDash val="solid"/>
                      <a:round/>
                      <a:headEnd type="none" w="med" len="med"/>
                      <a:tailEnd type="none" w="med" len="med"/>
                    </a:lnT>
                    <a:lnB w="12700" cap="flat" cmpd="sng" algn="ctr">
                      <a:solidFill>
                        <a:srgbClr val="FFFDE7"/>
                      </a:solidFill>
                      <a:prstDash val="solid"/>
                      <a:round/>
                      <a:headEnd type="none" w="med" len="med"/>
                      <a:tailEnd type="none" w="med" len="med"/>
                    </a:lnB>
                    <a:solidFill>
                      <a:srgbClr val="FFFFFF">
                        <a:alpha val="4000"/>
                      </a:srgbClr>
                    </a:solidFill>
                  </a:tcPr>
                </a:tc>
              </a:tr>
              <a:tr h="297847">
                <a:tc>
                  <a:txBody>
                    <a:bodyPr/>
                    <a:lstStyle/>
                    <a:p>
                      <a:pPr algn="l" indent="0" marL="0">
                        <a:buNone/>
                      </a:pPr>
                      <a:r>
                        <a:rPr lang="en-US" sz="950" dirty="0">
                          <a:solidFill>
                            <a:srgbClr val="3B4E4E"/>
                          </a:solidFill>
                          <a:latin typeface="Overpass" pitchFamily="34" charset="0"/>
                          <a:ea typeface="Overpass" pitchFamily="34" charset="-122"/>
                          <a:cs typeface="Overpass" pitchFamily="34" charset="-120"/>
                        </a:rPr>
                        <a:t>Detect abnormal sensor readings</a:t>
                      </a:r>
                      <a:endParaRPr lang="en-US" sz="950" dirty="0">
                        <a:latin typeface="Overpass" charset="0"/>
                        <a:ea typeface="Overpass" charset="0"/>
                        <a:cs typeface="Overpass" charset="0"/>
                      </a:endParaRPr>
                    </a:p>
                  </a:txBody>
                  <a:tcPr marL="124044" marR="124044" marT="6350" marB="6350" anchor="ctr">
                    <a:lnL w="12700" cap="flat" cmpd="sng" algn="ctr">
                      <a:solidFill>
                        <a:srgbClr val="C3D4CC"/>
                      </a:solidFill>
                      <a:prstDash val="solid"/>
                      <a:round/>
                      <a:headEnd type="none" w="med" len="med"/>
                      <a:tailEnd type="none" w="med" len="med"/>
                    </a:lnL>
                    <a:lnR w="12700" cap="flat" cmpd="sng" algn="ctr">
                      <a:solidFill>
                        <a:srgbClr val="F5F3DD"/>
                      </a:solidFill>
                      <a:prstDash val="solid"/>
                      <a:round/>
                      <a:headEnd type="none" w="med" len="med"/>
                      <a:tailEnd type="none" w="med" len="med"/>
                    </a:lnR>
                    <a:lnT w="12700" cap="flat" cmpd="sng" algn="ctr">
                      <a:solidFill>
                        <a:srgbClr val="F5F3DD"/>
                      </a:solidFill>
                      <a:prstDash val="solid"/>
                      <a:round/>
                      <a:headEnd type="none" w="med" len="med"/>
                      <a:tailEnd type="none" w="med" len="med"/>
                    </a:lnT>
                    <a:lnB w="12700" cap="flat" cmpd="sng" algn="ctr">
                      <a:solidFill>
                        <a:srgbClr val="F5F3DD"/>
                      </a:solidFill>
                      <a:prstDash val="solid"/>
                      <a:round/>
                      <a:headEnd type="none" w="med" len="med"/>
                      <a:tailEnd type="none" w="med" len="med"/>
                    </a:lnB>
                    <a:solidFill>
                      <a:srgbClr val="000000">
                        <a:alpha val="4000"/>
                      </a:srgbClr>
                    </a:solidFill>
                  </a:tcPr>
                </a:tc>
                <a:tc>
                  <a:txBody>
                    <a:bodyPr/>
                    <a:lstStyle/>
                    <a:p>
                      <a:pPr algn="l" indent="0" marL="0">
                        <a:buNone/>
                      </a:pPr>
                      <a:r>
                        <a:rPr lang="en-US" sz="950" dirty="0">
                          <a:solidFill>
                            <a:srgbClr val="3B4E4E"/>
                          </a:solidFill>
                          <a:latin typeface="Overpass" pitchFamily="34" charset="0"/>
                          <a:ea typeface="Overpass" pitchFamily="34" charset="-122"/>
                          <a:cs typeface="Overpass" pitchFamily="34" charset="-120"/>
                        </a:rPr>
                        <a:t>Anomaly detection</a:t>
                      </a:r>
                      <a:endParaRPr lang="en-US" sz="950" dirty="0">
                        <a:latin typeface="Overpass" charset="0"/>
                        <a:ea typeface="Overpass" charset="0"/>
                        <a:cs typeface="Overpass" charset="0"/>
                      </a:endParaRPr>
                    </a:p>
                  </a:txBody>
                  <a:tcPr marL="124044" marR="124044" marT="6350" marB="6350" anchor="ctr">
                    <a:lnL w="12700" cap="flat" cmpd="sng" algn="ctr">
                      <a:solidFill>
                        <a:srgbClr val="F5F3DD"/>
                      </a:solidFill>
                      <a:prstDash val="solid"/>
                      <a:round/>
                      <a:headEnd type="none" w="med" len="med"/>
                      <a:tailEnd type="none" w="med" len="med"/>
                    </a:lnL>
                    <a:lnR w="12700" cap="flat" cmpd="sng" algn="ctr">
                      <a:solidFill>
                        <a:srgbClr val="F5F3DD"/>
                      </a:solidFill>
                      <a:prstDash val="solid"/>
                      <a:round/>
                      <a:headEnd type="none" w="med" len="med"/>
                      <a:tailEnd type="none" w="med" len="med"/>
                    </a:lnR>
                    <a:lnT w="12700" cap="flat" cmpd="sng" algn="ctr">
                      <a:solidFill>
                        <a:srgbClr val="F5F3DD"/>
                      </a:solidFill>
                      <a:prstDash val="solid"/>
                      <a:round/>
                      <a:headEnd type="none" w="med" len="med"/>
                      <a:tailEnd type="none" w="med" len="med"/>
                    </a:lnT>
                    <a:lnB w="12700" cap="flat" cmpd="sng" algn="ctr">
                      <a:solidFill>
                        <a:srgbClr val="F5F3DD"/>
                      </a:solidFill>
                      <a:prstDash val="solid"/>
                      <a:round/>
                      <a:headEnd type="none" w="med" len="med"/>
                      <a:tailEnd type="none" w="med" len="med"/>
                    </a:lnB>
                    <a:solidFill>
                      <a:srgbClr val="000000">
                        <a:alpha val="4000"/>
                      </a:srgbClr>
                    </a:solidFill>
                  </a:tcPr>
                </a:tc>
                <a:tc>
                  <a:txBody>
                    <a:bodyPr/>
                    <a:lstStyle/>
                    <a:p>
                      <a:pPr algn="l" indent="0" marL="0">
                        <a:buNone/>
                      </a:pPr>
                      <a:r>
                        <a:rPr lang="en-US" sz="950" dirty="0">
                          <a:solidFill>
                            <a:srgbClr val="3B4E4E"/>
                          </a:solidFill>
                          <a:latin typeface="Overpass" pitchFamily="34" charset="0"/>
                          <a:ea typeface="Overpass" pitchFamily="34" charset="-122"/>
                          <a:cs typeface="Overpass" pitchFamily="34" charset="-120"/>
                        </a:rPr>
                        <a:t>Isolation Forest</a:t>
                      </a:r>
                      <a:endParaRPr lang="en-US" sz="950" dirty="0">
                        <a:latin typeface="Overpass" charset="0"/>
                        <a:ea typeface="Overpass" charset="0"/>
                        <a:cs typeface="Overpass" charset="0"/>
                      </a:endParaRPr>
                    </a:p>
                  </a:txBody>
                  <a:tcPr marL="124044" marR="124044" marT="6350" marB="6350" anchor="ctr">
                    <a:lnL w="12700" cap="flat" cmpd="sng" algn="ctr">
                      <a:solidFill>
                        <a:srgbClr val="F5F3DD"/>
                      </a:solidFill>
                      <a:prstDash val="solid"/>
                      <a:round/>
                      <a:headEnd type="none" w="med" len="med"/>
                      <a:tailEnd type="none" w="med" len="med"/>
                    </a:lnL>
                    <a:lnR w="12700" cap="flat" cmpd="sng" algn="ctr">
                      <a:solidFill>
                        <a:srgbClr val="F5F3DD"/>
                      </a:solidFill>
                      <a:prstDash val="solid"/>
                      <a:round/>
                      <a:headEnd type="none" w="med" len="med"/>
                      <a:tailEnd type="none" w="med" len="med"/>
                    </a:lnR>
                    <a:lnT w="12700" cap="flat" cmpd="sng" algn="ctr">
                      <a:solidFill>
                        <a:srgbClr val="F5F3DD"/>
                      </a:solidFill>
                      <a:prstDash val="solid"/>
                      <a:round/>
                      <a:headEnd type="none" w="med" len="med"/>
                      <a:tailEnd type="none" w="med" len="med"/>
                    </a:lnT>
                    <a:lnB w="12700" cap="flat" cmpd="sng" algn="ctr">
                      <a:solidFill>
                        <a:srgbClr val="F5F3DD"/>
                      </a:solidFill>
                      <a:prstDash val="solid"/>
                      <a:round/>
                      <a:headEnd type="none" w="med" len="med"/>
                      <a:tailEnd type="none" w="med" len="med"/>
                    </a:lnB>
                    <a:solidFill>
                      <a:srgbClr val="000000">
                        <a:alpha val="4000"/>
                      </a:srgbClr>
                    </a:solidFill>
                  </a:tcPr>
                </a:tc>
                <a:tc>
                  <a:txBody>
                    <a:bodyPr/>
                    <a:lstStyle/>
                    <a:p>
                      <a:pPr algn="l" indent="0" marL="0">
                        <a:buNone/>
                      </a:pPr>
                      <a:r>
                        <a:rPr lang="en-US" sz="950" dirty="0">
                          <a:solidFill>
                            <a:srgbClr val="3B4E4E"/>
                          </a:solidFill>
                          <a:latin typeface="Overpass" pitchFamily="34" charset="0"/>
                          <a:ea typeface="Overpass" pitchFamily="34" charset="-122"/>
                          <a:cs typeface="Overpass" pitchFamily="34" charset="-120"/>
                        </a:rPr>
                        <a:t>No labels required</a:t>
                      </a:r>
                      <a:endParaRPr lang="en-US" sz="950" dirty="0">
                        <a:latin typeface="Overpass" charset="0"/>
                        <a:ea typeface="Overpass" charset="0"/>
                        <a:cs typeface="Overpass" charset="0"/>
                      </a:endParaRPr>
                    </a:p>
                  </a:txBody>
                  <a:tcPr marL="124044" marR="124044" marT="6350" marB="6350" anchor="ctr">
                    <a:lnL w="12700" cap="flat" cmpd="sng" algn="ctr">
                      <a:solidFill>
                        <a:srgbClr val="F5F3DD"/>
                      </a:solidFill>
                      <a:prstDash val="solid"/>
                      <a:round/>
                      <a:headEnd type="none" w="med" len="med"/>
                      <a:tailEnd type="none" w="med" len="med"/>
                    </a:lnL>
                    <a:lnR w="12700" cap="flat" cmpd="sng" algn="ctr">
                      <a:solidFill>
                        <a:srgbClr val="C3D4CC"/>
                      </a:solidFill>
                      <a:prstDash val="solid"/>
                      <a:round/>
                      <a:headEnd type="none" w="med" len="med"/>
                      <a:tailEnd type="none" w="med" len="med"/>
                    </a:lnR>
                    <a:lnT w="12700" cap="flat" cmpd="sng" algn="ctr">
                      <a:solidFill>
                        <a:srgbClr val="F5F3DD"/>
                      </a:solidFill>
                      <a:prstDash val="solid"/>
                      <a:round/>
                      <a:headEnd type="none" w="med" len="med"/>
                      <a:tailEnd type="none" w="med" len="med"/>
                    </a:lnT>
                    <a:lnB w="12700" cap="flat" cmpd="sng" algn="ctr">
                      <a:solidFill>
                        <a:srgbClr val="F5F3DD"/>
                      </a:solidFill>
                      <a:prstDash val="solid"/>
                      <a:round/>
                      <a:headEnd type="none" w="med" len="med"/>
                      <a:tailEnd type="none" w="med" len="med"/>
                    </a:lnB>
                    <a:solidFill>
                      <a:srgbClr val="000000">
                        <a:alpha val="4000"/>
                      </a:srgbClr>
                    </a:solidFill>
                  </a:tcPr>
                </a:tc>
              </a:tr>
              <a:tr h="297847">
                <a:tc>
                  <a:txBody>
                    <a:bodyPr/>
                    <a:lstStyle/>
                    <a:p>
                      <a:pPr algn="l" indent="0" marL="0">
                        <a:buNone/>
                      </a:pPr>
                      <a:r>
                        <a:rPr lang="en-US" sz="950" dirty="0">
                          <a:solidFill>
                            <a:srgbClr val="3B4E4E"/>
                          </a:solidFill>
                          <a:latin typeface="Overpass" pitchFamily="34" charset="0"/>
                          <a:ea typeface="Overpass" pitchFamily="34" charset="-122"/>
                          <a:cs typeface="Overpass" pitchFamily="34" charset="-120"/>
                        </a:rPr>
                        <a:t>Find products bought together</a:t>
                      </a:r>
                      <a:endParaRPr lang="en-US" sz="950" dirty="0">
                        <a:latin typeface="Overpass" charset="0"/>
                        <a:ea typeface="Overpass" charset="0"/>
                        <a:cs typeface="Overpass" charset="0"/>
                      </a:endParaRPr>
                    </a:p>
                  </a:txBody>
                  <a:tcPr marL="124044" marR="124044" marT="6350" marB="6350" anchor="ctr">
                    <a:lnL w="12700" cap="flat" cmpd="sng" algn="ctr">
                      <a:solidFill>
                        <a:srgbClr val="C3D4CC"/>
                      </a:solidFill>
                      <a:prstDash val="solid"/>
                      <a:round/>
                      <a:headEnd type="none" w="med" len="med"/>
                      <a:tailEnd type="none" w="med" len="med"/>
                    </a:lnL>
                    <a:lnR w="12700" cap="flat" cmpd="sng" algn="ctr">
                      <a:solidFill>
                        <a:srgbClr val="FFFDE7"/>
                      </a:solidFill>
                      <a:prstDash val="solid"/>
                      <a:round/>
                      <a:headEnd type="none" w="med" len="med"/>
                      <a:tailEnd type="none" w="med" len="med"/>
                    </a:lnR>
                    <a:lnT w="12700" cap="flat" cmpd="sng" algn="ctr">
                      <a:solidFill>
                        <a:srgbClr val="FFFDE7"/>
                      </a:solidFill>
                      <a:prstDash val="solid"/>
                      <a:round/>
                      <a:headEnd type="none" w="med" len="med"/>
                      <a:tailEnd type="none" w="med" len="med"/>
                    </a:lnT>
                    <a:lnB w="12700" cap="flat" cmpd="sng" algn="ctr">
                      <a:solidFill>
                        <a:srgbClr val="FFFDE7"/>
                      </a:solidFill>
                      <a:prstDash val="solid"/>
                      <a:round/>
                      <a:headEnd type="none" w="med" len="med"/>
                      <a:tailEnd type="none" w="med" len="med"/>
                    </a:lnB>
                    <a:solidFill>
                      <a:srgbClr val="FFFFFF">
                        <a:alpha val="4000"/>
                      </a:srgbClr>
                    </a:solidFill>
                  </a:tcPr>
                </a:tc>
                <a:tc>
                  <a:txBody>
                    <a:bodyPr/>
                    <a:lstStyle/>
                    <a:p>
                      <a:pPr algn="l" indent="0" marL="0">
                        <a:buNone/>
                      </a:pPr>
                      <a:r>
                        <a:rPr lang="en-US" sz="950" dirty="0">
                          <a:solidFill>
                            <a:srgbClr val="3B4E4E"/>
                          </a:solidFill>
                          <a:latin typeface="Overpass" pitchFamily="34" charset="0"/>
                          <a:ea typeface="Overpass" pitchFamily="34" charset="-122"/>
                          <a:cs typeface="Overpass" pitchFamily="34" charset="-120"/>
                        </a:rPr>
                        <a:t>Association rules</a:t>
                      </a:r>
                      <a:endParaRPr lang="en-US" sz="950" dirty="0">
                        <a:latin typeface="Overpass" charset="0"/>
                        <a:ea typeface="Overpass" charset="0"/>
                        <a:cs typeface="Overpass" charset="0"/>
                      </a:endParaRPr>
                    </a:p>
                  </a:txBody>
                  <a:tcPr marL="124044" marR="124044" marT="6350" marB="6350" anchor="ctr">
                    <a:lnL w="12700" cap="flat" cmpd="sng" algn="ctr">
                      <a:solidFill>
                        <a:srgbClr val="FFFDE7"/>
                      </a:solidFill>
                      <a:prstDash val="solid"/>
                      <a:round/>
                      <a:headEnd type="none" w="med" len="med"/>
                      <a:tailEnd type="none" w="med" len="med"/>
                    </a:lnL>
                    <a:lnR w="12700" cap="flat" cmpd="sng" algn="ctr">
                      <a:solidFill>
                        <a:srgbClr val="FFFDE7"/>
                      </a:solidFill>
                      <a:prstDash val="solid"/>
                      <a:round/>
                      <a:headEnd type="none" w="med" len="med"/>
                      <a:tailEnd type="none" w="med" len="med"/>
                    </a:lnR>
                    <a:lnT w="12700" cap="flat" cmpd="sng" algn="ctr">
                      <a:solidFill>
                        <a:srgbClr val="FFFDE7"/>
                      </a:solidFill>
                      <a:prstDash val="solid"/>
                      <a:round/>
                      <a:headEnd type="none" w="med" len="med"/>
                      <a:tailEnd type="none" w="med" len="med"/>
                    </a:lnT>
                    <a:lnB w="12700" cap="flat" cmpd="sng" algn="ctr">
                      <a:solidFill>
                        <a:srgbClr val="FFFDE7"/>
                      </a:solidFill>
                      <a:prstDash val="solid"/>
                      <a:round/>
                      <a:headEnd type="none" w="med" len="med"/>
                      <a:tailEnd type="none" w="med" len="med"/>
                    </a:lnB>
                    <a:solidFill>
                      <a:srgbClr val="FFFFFF">
                        <a:alpha val="4000"/>
                      </a:srgbClr>
                    </a:solidFill>
                  </a:tcPr>
                </a:tc>
                <a:tc>
                  <a:txBody>
                    <a:bodyPr/>
                    <a:lstStyle/>
                    <a:p>
                      <a:pPr algn="l" indent="0" marL="0">
                        <a:buNone/>
                      </a:pPr>
                      <a:r>
                        <a:rPr lang="en-US" sz="950" dirty="0">
                          <a:solidFill>
                            <a:srgbClr val="3B4E4E"/>
                          </a:solidFill>
                          <a:latin typeface="Overpass" pitchFamily="34" charset="0"/>
                          <a:ea typeface="Overpass" pitchFamily="34" charset="-122"/>
                          <a:cs typeface="Overpass" pitchFamily="34" charset="-120"/>
                        </a:rPr>
                        <a:t>Apriori</a:t>
                      </a:r>
                      <a:endParaRPr lang="en-US" sz="950" dirty="0">
                        <a:latin typeface="Overpass" charset="0"/>
                        <a:ea typeface="Overpass" charset="0"/>
                        <a:cs typeface="Overpass" charset="0"/>
                      </a:endParaRPr>
                    </a:p>
                  </a:txBody>
                  <a:tcPr marL="124044" marR="124044" marT="6350" marB="6350" anchor="ctr">
                    <a:lnL w="12700" cap="flat" cmpd="sng" algn="ctr">
                      <a:solidFill>
                        <a:srgbClr val="FFFDE7"/>
                      </a:solidFill>
                      <a:prstDash val="solid"/>
                      <a:round/>
                      <a:headEnd type="none" w="med" len="med"/>
                      <a:tailEnd type="none" w="med" len="med"/>
                    </a:lnL>
                    <a:lnR w="12700" cap="flat" cmpd="sng" algn="ctr">
                      <a:solidFill>
                        <a:srgbClr val="FFFDE7"/>
                      </a:solidFill>
                      <a:prstDash val="solid"/>
                      <a:round/>
                      <a:headEnd type="none" w="med" len="med"/>
                      <a:tailEnd type="none" w="med" len="med"/>
                    </a:lnR>
                    <a:lnT w="12700" cap="flat" cmpd="sng" algn="ctr">
                      <a:solidFill>
                        <a:srgbClr val="FFFDE7"/>
                      </a:solidFill>
                      <a:prstDash val="solid"/>
                      <a:round/>
                      <a:headEnd type="none" w="med" len="med"/>
                      <a:tailEnd type="none" w="med" len="med"/>
                    </a:lnT>
                    <a:lnB w="12700" cap="flat" cmpd="sng" algn="ctr">
                      <a:solidFill>
                        <a:srgbClr val="FFFDE7"/>
                      </a:solidFill>
                      <a:prstDash val="solid"/>
                      <a:round/>
                      <a:headEnd type="none" w="med" len="med"/>
                      <a:tailEnd type="none" w="med" len="med"/>
                    </a:lnB>
                    <a:solidFill>
                      <a:srgbClr val="FFFFFF">
                        <a:alpha val="4000"/>
                      </a:srgbClr>
                    </a:solidFill>
                  </a:tcPr>
                </a:tc>
                <a:tc>
                  <a:txBody>
                    <a:bodyPr/>
                    <a:lstStyle/>
                    <a:p>
                      <a:pPr algn="l" indent="0" marL="0">
                        <a:buNone/>
                      </a:pPr>
                      <a:r>
                        <a:rPr lang="en-US" sz="950" dirty="0">
                          <a:solidFill>
                            <a:srgbClr val="3B4E4E"/>
                          </a:solidFill>
                          <a:latin typeface="Overpass" pitchFamily="34" charset="0"/>
                          <a:ea typeface="Overpass" pitchFamily="34" charset="-122"/>
                          <a:cs typeface="Overpass" pitchFamily="34" charset="-120"/>
                        </a:rPr>
                        <a:t>"If this, then that"</a:t>
                      </a:r>
                      <a:endParaRPr lang="en-US" sz="950" dirty="0">
                        <a:latin typeface="Overpass" charset="0"/>
                        <a:ea typeface="Overpass" charset="0"/>
                        <a:cs typeface="Overpass" charset="0"/>
                      </a:endParaRPr>
                    </a:p>
                  </a:txBody>
                  <a:tcPr marL="124044" marR="124044" marT="6350" marB="6350" anchor="ctr">
                    <a:lnL w="12700" cap="flat" cmpd="sng" algn="ctr">
                      <a:solidFill>
                        <a:srgbClr val="FFFDE7"/>
                      </a:solidFill>
                      <a:prstDash val="solid"/>
                      <a:round/>
                      <a:headEnd type="none" w="med" len="med"/>
                      <a:tailEnd type="none" w="med" len="med"/>
                    </a:lnL>
                    <a:lnR w="12700" cap="flat" cmpd="sng" algn="ctr">
                      <a:solidFill>
                        <a:srgbClr val="C3D4CC"/>
                      </a:solidFill>
                      <a:prstDash val="solid"/>
                      <a:round/>
                      <a:headEnd type="none" w="med" len="med"/>
                      <a:tailEnd type="none" w="med" len="med"/>
                    </a:lnR>
                    <a:lnT w="12700" cap="flat" cmpd="sng" algn="ctr">
                      <a:solidFill>
                        <a:srgbClr val="FFFDE7"/>
                      </a:solidFill>
                      <a:prstDash val="solid"/>
                      <a:round/>
                      <a:headEnd type="none" w="med" len="med"/>
                      <a:tailEnd type="none" w="med" len="med"/>
                    </a:lnT>
                    <a:lnB w="12700" cap="flat" cmpd="sng" algn="ctr">
                      <a:solidFill>
                        <a:srgbClr val="FFFDE7"/>
                      </a:solidFill>
                      <a:prstDash val="solid"/>
                      <a:round/>
                      <a:headEnd type="none" w="med" len="med"/>
                      <a:tailEnd type="none" w="med" len="med"/>
                    </a:lnB>
                    <a:solidFill>
                      <a:srgbClr val="FFFFFF">
                        <a:alpha val="4000"/>
                      </a:srgbClr>
                    </a:solidFill>
                  </a:tcPr>
                </a:tc>
              </a:tr>
              <a:tr h="297847">
                <a:tc>
                  <a:txBody>
                    <a:bodyPr/>
                    <a:lstStyle/>
                    <a:p>
                      <a:pPr algn="l" indent="0" marL="0">
                        <a:buNone/>
                      </a:pPr>
                      <a:r>
                        <a:rPr lang="en-US" sz="950" dirty="0">
                          <a:solidFill>
                            <a:srgbClr val="3B4E4E"/>
                          </a:solidFill>
                          <a:latin typeface="Overpass" pitchFamily="34" charset="0"/>
                          <a:ea typeface="Overpass" pitchFamily="34" charset="-122"/>
                          <a:cs typeface="Overpass" pitchFamily="34" charset="-120"/>
                        </a:rPr>
                        <a:t>Reduce too many columns</a:t>
                      </a:r>
                      <a:endParaRPr lang="en-US" sz="950" dirty="0">
                        <a:latin typeface="Overpass" charset="0"/>
                        <a:ea typeface="Overpass" charset="0"/>
                        <a:cs typeface="Overpass" charset="0"/>
                      </a:endParaRPr>
                    </a:p>
                  </a:txBody>
                  <a:tcPr marL="124044" marR="124044" marT="6350" marB="6350" anchor="ctr">
                    <a:lnL w="12700" cap="flat" cmpd="sng" algn="ctr">
                      <a:solidFill>
                        <a:srgbClr val="C3D4CC"/>
                      </a:solidFill>
                      <a:prstDash val="solid"/>
                      <a:round/>
                      <a:headEnd type="none" w="med" len="med"/>
                      <a:tailEnd type="none" w="med" len="med"/>
                    </a:lnL>
                    <a:lnR w="12700" cap="flat" cmpd="sng" algn="ctr">
                      <a:solidFill>
                        <a:srgbClr val="F5F3DD"/>
                      </a:solidFill>
                      <a:prstDash val="solid"/>
                      <a:round/>
                      <a:headEnd type="none" w="med" len="med"/>
                      <a:tailEnd type="none" w="med" len="med"/>
                    </a:lnR>
                    <a:lnT w="12700" cap="flat" cmpd="sng" algn="ctr">
                      <a:solidFill>
                        <a:srgbClr val="F5F3DD"/>
                      </a:solidFill>
                      <a:prstDash val="solid"/>
                      <a:round/>
                      <a:headEnd type="none" w="med" len="med"/>
                      <a:tailEnd type="none" w="med" len="med"/>
                    </a:lnT>
                    <a:lnB w="12700" cap="flat" cmpd="sng" algn="ctr">
                      <a:solidFill>
                        <a:srgbClr val="F5F3DD"/>
                      </a:solidFill>
                      <a:prstDash val="solid"/>
                      <a:round/>
                      <a:headEnd type="none" w="med" len="med"/>
                      <a:tailEnd type="none" w="med" len="med"/>
                    </a:lnB>
                    <a:solidFill>
                      <a:srgbClr val="000000">
                        <a:alpha val="4000"/>
                      </a:srgbClr>
                    </a:solidFill>
                  </a:tcPr>
                </a:tc>
                <a:tc>
                  <a:txBody>
                    <a:bodyPr/>
                    <a:lstStyle/>
                    <a:p>
                      <a:pPr algn="l" indent="0" marL="0">
                        <a:buNone/>
                      </a:pPr>
                      <a:r>
                        <a:rPr lang="en-US" sz="950" dirty="0">
                          <a:solidFill>
                            <a:srgbClr val="3B4E4E"/>
                          </a:solidFill>
                          <a:latin typeface="Overpass" pitchFamily="34" charset="0"/>
                          <a:ea typeface="Overpass" pitchFamily="34" charset="-122"/>
                          <a:cs typeface="Overpass" pitchFamily="34" charset="-120"/>
                        </a:rPr>
                        <a:t>Dimensionality reduction</a:t>
                      </a:r>
                      <a:endParaRPr lang="en-US" sz="950" dirty="0">
                        <a:latin typeface="Overpass" charset="0"/>
                        <a:ea typeface="Overpass" charset="0"/>
                        <a:cs typeface="Overpass" charset="0"/>
                      </a:endParaRPr>
                    </a:p>
                  </a:txBody>
                  <a:tcPr marL="124044" marR="124044" marT="6350" marB="6350" anchor="ctr">
                    <a:lnL w="12700" cap="flat" cmpd="sng" algn="ctr">
                      <a:solidFill>
                        <a:srgbClr val="F5F3DD"/>
                      </a:solidFill>
                      <a:prstDash val="solid"/>
                      <a:round/>
                      <a:headEnd type="none" w="med" len="med"/>
                      <a:tailEnd type="none" w="med" len="med"/>
                    </a:lnL>
                    <a:lnR w="12700" cap="flat" cmpd="sng" algn="ctr">
                      <a:solidFill>
                        <a:srgbClr val="F5F3DD"/>
                      </a:solidFill>
                      <a:prstDash val="solid"/>
                      <a:round/>
                      <a:headEnd type="none" w="med" len="med"/>
                      <a:tailEnd type="none" w="med" len="med"/>
                    </a:lnR>
                    <a:lnT w="12700" cap="flat" cmpd="sng" algn="ctr">
                      <a:solidFill>
                        <a:srgbClr val="F5F3DD"/>
                      </a:solidFill>
                      <a:prstDash val="solid"/>
                      <a:round/>
                      <a:headEnd type="none" w="med" len="med"/>
                      <a:tailEnd type="none" w="med" len="med"/>
                    </a:lnT>
                    <a:lnB w="12700" cap="flat" cmpd="sng" algn="ctr">
                      <a:solidFill>
                        <a:srgbClr val="F5F3DD"/>
                      </a:solidFill>
                      <a:prstDash val="solid"/>
                      <a:round/>
                      <a:headEnd type="none" w="med" len="med"/>
                      <a:tailEnd type="none" w="med" len="med"/>
                    </a:lnB>
                    <a:solidFill>
                      <a:srgbClr val="000000">
                        <a:alpha val="4000"/>
                      </a:srgbClr>
                    </a:solidFill>
                  </a:tcPr>
                </a:tc>
                <a:tc>
                  <a:txBody>
                    <a:bodyPr/>
                    <a:lstStyle/>
                    <a:p>
                      <a:pPr algn="l" indent="0" marL="0">
                        <a:buNone/>
                      </a:pPr>
                      <a:r>
                        <a:rPr lang="en-US" sz="950" dirty="0">
                          <a:solidFill>
                            <a:srgbClr val="3B4E4E"/>
                          </a:solidFill>
                          <a:latin typeface="Overpass" pitchFamily="34" charset="0"/>
                          <a:ea typeface="Overpass" pitchFamily="34" charset="-122"/>
                          <a:cs typeface="Overpass" pitchFamily="34" charset="-120"/>
                        </a:rPr>
                        <a:t>PCA</a:t>
                      </a:r>
                      <a:endParaRPr lang="en-US" sz="950" dirty="0">
                        <a:latin typeface="Overpass" charset="0"/>
                        <a:ea typeface="Overpass" charset="0"/>
                        <a:cs typeface="Overpass" charset="0"/>
                      </a:endParaRPr>
                    </a:p>
                  </a:txBody>
                  <a:tcPr marL="124044" marR="124044" marT="6350" marB="6350" anchor="ctr">
                    <a:lnL w="12700" cap="flat" cmpd="sng" algn="ctr">
                      <a:solidFill>
                        <a:srgbClr val="F5F3DD"/>
                      </a:solidFill>
                      <a:prstDash val="solid"/>
                      <a:round/>
                      <a:headEnd type="none" w="med" len="med"/>
                      <a:tailEnd type="none" w="med" len="med"/>
                    </a:lnL>
                    <a:lnR w="12700" cap="flat" cmpd="sng" algn="ctr">
                      <a:solidFill>
                        <a:srgbClr val="F5F3DD"/>
                      </a:solidFill>
                      <a:prstDash val="solid"/>
                      <a:round/>
                      <a:headEnd type="none" w="med" len="med"/>
                      <a:tailEnd type="none" w="med" len="med"/>
                    </a:lnR>
                    <a:lnT w="12700" cap="flat" cmpd="sng" algn="ctr">
                      <a:solidFill>
                        <a:srgbClr val="F5F3DD"/>
                      </a:solidFill>
                      <a:prstDash val="solid"/>
                      <a:round/>
                      <a:headEnd type="none" w="med" len="med"/>
                      <a:tailEnd type="none" w="med" len="med"/>
                    </a:lnT>
                    <a:lnB w="12700" cap="flat" cmpd="sng" algn="ctr">
                      <a:solidFill>
                        <a:srgbClr val="F5F3DD"/>
                      </a:solidFill>
                      <a:prstDash val="solid"/>
                      <a:round/>
                      <a:headEnd type="none" w="med" len="med"/>
                      <a:tailEnd type="none" w="med" len="med"/>
                    </a:lnB>
                    <a:solidFill>
                      <a:srgbClr val="000000">
                        <a:alpha val="4000"/>
                      </a:srgbClr>
                    </a:solidFill>
                  </a:tcPr>
                </a:tc>
                <a:tc>
                  <a:txBody>
                    <a:bodyPr/>
                    <a:lstStyle/>
                    <a:p>
                      <a:pPr algn="l" indent="0" marL="0">
                        <a:buNone/>
                      </a:pPr>
                      <a:r>
                        <a:rPr lang="en-US" sz="950" dirty="0">
                          <a:solidFill>
                            <a:srgbClr val="3B4E4E"/>
                          </a:solidFill>
                          <a:latin typeface="Overpass" pitchFamily="34" charset="0"/>
                          <a:ea typeface="Overpass" pitchFamily="34" charset="-122"/>
                          <a:cs typeface="Overpass" pitchFamily="34" charset="-120"/>
                        </a:rPr>
                        <a:t>Remove redundancy</a:t>
                      </a:r>
                      <a:endParaRPr lang="en-US" sz="950" dirty="0">
                        <a:latin typeface="Overpass" charset="0"/>
                        <a:ea typeface="Overpass" charset="0"/>
                        <a:cs typeface="Overpass" charset="0"/>
                      </a:endParaRPr>
                    </a:p>
                  </a:txBody>
                  <a:tcPr marL="124044" marR="124044" marT="6350" marB="6350" anchor="ctr">
                    <a:lnL w="12700" cap="flat" cmpd="sng" algn="ctr">
                      <a:solidFill>
                        <a:srgbClr val="F5F3DD"/>
                      </a:solidFill>
                      <a:prstDash val="solid"/>
                      <a:round/>
                      <a:headEnd type="none" w="med" len="med"/>
                      <a:tailEnd type="none" w="med" len="med"/>
                    </a:lnL>
                    <a:lnR w="12700" cap="flat" cmpd="sng" algn="ctr">
                      <a:solidFill>
                        <a:srgbClr val="C3D4CC"/>
                      </a:solidFill>
                      <a:prstDash val="solid"/>
                      <a:round/>
                      <a:headEnd type="none" w="med" len="med"/>
                      <a:tailEnd type="none" w="med" len="med"/>
                    </a:lnR>
                    <a:lnT w="12700" cap="flat" cmpd="sng" algn="ctr">
                      <a:solidFill>
                        <a:srgbClr val="F5F3DD"/>
                      </a:solidFill>
                      <a:prstDash val="solid"/>
                      <a:round/>
                      <a:headEnd type="none" w="med" len="med"/>
                      <a:tailEnd type="none" w="med" len="med"/>
                    </a:lnT>
                    <a:lnB w="12700" cap="flat" cmpd="sng" algn="ctr">
                      <a:solidFill>
                        <a:srgbClr val="F5F3DD"/>
                      </a:solidFill>
                      <a:prstDash val="solid"/>
                      <a:round/>
                      <a:headEnd type="none" w="med" len="med"/>
                      <a:tailEnd type="none" w="med" len="med"/>
                    </a:lnB>
                    <a:solidFill>
                      <a:srgbClr val="000000">
                        <a:alpha val="4000"/>
                      </a:srgbClr>
                    </a:solidFill>
                  </a:tcPr>
                </a:tc>
              </a:tr>
              <a:tr h="297847">
                <a:tc>
                  <a:txBody>
                    <a:bodyPr/>
                    <a:lstStyle/>
                    <a:p>
                      <a:pPr algn="l" indent="0" marL="0">
                        <a:buNone/>
                      </a:pPr>
                      <a:r>
                        <a:rPr lang="en-US" sz="950" dirty="0">
                          <a:solidFill>
                            <a:srgbClr val="3B4E4E"/>
                          </a:solidFill>
                          <a:latin typeface="Overpass" pitchFamily="34" charset="0"/>
                          <a:ea typeface="Overpass" pitchFamily="34" charset="-122"/>
                          <a:cs typeface="Overpass" pitchFamily="34" charset="-120"/>
                        </a:rPr>
                        <a:t>Forecast demand over time</a:t>
                      </a:r>
                      <a:endParaRPr lang="en-US" sz="950" dirty="0">
                        <a:latin typeface="Overpass" charset="0"/>
                        <a:ea typeface="Overpass" charset="0"/>
                        <a:cs typeface="Overpass" charset="0"/>
                      </a:endParaRPr>
                    </a:p>
                  </a:txBody>
                  <a:tcPr marL="124044" marR="124044" marT="6350" marB="6350" anchor="ctr">
                    <a:lnL w="12700" cap="flat" cmpd="sng" algn="ctr">
                      <a:solidFill>
                        <a:srgbClr val="C3D4CC"/>
                      </a:solidFill>
                      <a:prstDash val="solid"/>
                      <a:round/>
                      <a:headEnd type="none" w="med" len="med"/>
                      <a:tailEnd type="none" w="med" len="med"/>
                    </a:lnL>
                    <a:lnR w="12700" cap="flat" cmpd="sng" algn="ctr">
                      <a:solidFill>
                        <a:srgbClr val="FFFDE7"/>
                      </a:solidFill>
                      <a:prstDash val="solid"/>
                      <a:round/>
                      <a:headEnd type="none" w="med" len="med"/>
                      <a:tailEnd type="none" w="med" len="med"/>
                    </a:lnR>
                    <a:lnT w="12700" cap="flat" cmpd="sng" algn="ctr">
                      <a:solidFill>
                        <a:srgbClr val="FFFDE7"/>
                      </a:solidFill>
                      <a:prstDash val="solid"/>
                      <a:round/>
                      <a:headEnd type="none" w="med" len="med"/>
                      <a:tailEnd type="none" w="med" len="med"/>
                    </a:lnT>
                    <a:lnB w="12700" cap="flat" cmpd="sng" algn="ctr">
                      <a:solidFill>
                        <a:srgbClr val="FFFDE7"/>
                      </a:solidFill>
                      <a:prstDash val="solid"/>
                      <a:round/>
                      <a:headEnd type="none" w="med" len="med"/>
                      <a:tailEnd type="none" w="med" len="med"/>
                    </a:lnB>
                    <a:solidFill>
                      <a:srgbClr val="FFFFFF">
                        <a:alpha val="4000"/>
                      </a:srgbClr>
                    </a:solidFill>
                  </a:tcPr>
                </a:tc>
                <a:tc>
                  <a:txBody>
                    <a:bodyPr/>
                    <a:lstStyle/>
                    <a:p>
                      <a:pPr algn="l" indent="0" marL="0">
                        <a:buNone/>
                      </a:pPr>
                      <a:r>
                        <a:rPr lang="en-US" sz="950" dirty="0">
                          <a:solidFill>
                            <a:srgbClr val="3B4E4E"/>
                          </a:solidFill>
                          <a:latin typeface="Overpass" pitchFamily="34" charset="0"/>
                          <a:ea typeface="Overpass" pitchFamily="34" charset="-122"/>
                          <a:cs typeface="Overpass" pitchFamily="34" charset="-120"/>
                        </a:rPr>
                        <a:t>Time series</a:t>
                      </a:r>
                      <a:endParaRPr lang="en-US" sz="950" dirty="0">
                        <a:latin typeface="Overpass" charset="0"/>
                        <a:ea typeface="Overpass" charset="0"/>
                        <a:cs typeface="Overpass" charset="0"/>
                      </a:endParaRPr>
                    </a:p>
                  </a:txBody>
                  <a:tcPr marL="124044" marR="124044" marT="6350" marB="6350" anchor="ctr">
                    <a:lnL w="12700" cap="flat" cmpd="sng" algn="ctr">
                      <a:solidFill>
                        <a:srgbClr val="FFFDE7"/>
                      </a:solidFill>
                      <a:prstDash val="solid"/>
                      <a:round/>
                      <a:headEnd type="none" w="med" len="med"/>
                      <a:tailEnd type="none" w="med" len="med"/>
                    </a:lnL>
                    <a:lnR w="12700" cap="flat" cmpd="sng" algn="ctr">
                      <a:solidFill>
                        <a:srgbClr val="FFFDE7"/>
                      </a:solidFill>
                      <a:prstDash val="solid"/>
                      <a:round/>
                      <a:headEnd type="none" w="med" len="med"/>
                      <a:tailEnd type="none" w="med" len="med"/>
                    </a:lnR>
                    <a:lnT w="12700" cap="flat" cmpd="sng" algn="ctr">
                      <a:solidFill>
                        <a:srgbClr val="FFFDE7"/>
                      </a:solidFill>
                      <a:prstDash val="solid"/>
                      <a:round/>
                      <a:headEnd type="none" w="med" len="med"/>
                      <a:tailEnd type="none" w="med" len="med"/>
                    </a:lnT>
                    <a:lnB w="12700" cap="flat" cmpd="sng" algn="ctr">
                      <a:solidFill>
                        <a:srgbClr val="FFFDE7"/>
                      </a:solidFill>
                      <a:prstDash val="solid"/>
                      <a:round/>
                      <a:headEnd type="none" w="med" len="med"/>
                      <a:tailEnd type="none" w="med" len="med"/>
                    </a:lnB>
                    <a:solidFill>
                      <a:srgbClr val="FFFFFF">
                        <a:alpha val="4000"/>
                      </a:srgbClr>
                    </a:solidFill>
                  </a:tcPr>
                </a:tc>
                <a:tc>
                  <a:txBody>
                    <a:bodyPr/>
                    <a:lstStyle/>
                    <a:p>
                      <a:pPr algn="l" indent="0" marL="0">
                        <a:buNone/>
                      </a:pPr>
                      <a:r>
                        <a:rPr lang="en-US" sz="950" dirty="0">
                          <a:solidFill>
                            <a:srgbClr val="3B4E4E"/>
                          </a:solidFill>
                          <a:latin typeface="Overpass" pitchFamily="34" charset="0"/>
                          <a:ea typeface="Overpass" pitchFamily="34" charset="-122"/>
                          <a:cs typeface="Overpass" pitchFamily="34" charset="-120"/>
                        </a:rPr>
                        <a:t>ARIMA / Prophet</a:t>
                      </a:r>
                      <a:endParaRPr lang="en-US" sz="950" dirty="0">
                        <a:latin typeface="Overpass" charset="0"/>
                        <a:ea typeface="Overpass" charset="0"/>
                        <a:cs typeface="Overpass" charset="0"/>
                      </a:endParaRPr>
                    </a:p>
                  </a:txBody>
                  <a:tcPr marL="124044" marR="124044" marT="6350" marB="6350" anchor="ctr">
                    <a:lnL w="12700" cap="flat" cmpd="sng" algn="ctr">
                      <a:solidFill>
                        <a:srgbClr val="FFFDE7"/>
                      </a:solidFill>
                      <a:prstDash val="solid"/>
                      <a:round/>
                      <a:headEnd type="none" w="med" len="med"/>
                      <a:tailEnd type="none" w="med" len="med"/>
                    </a:lnL>
                    <a:lnR w="12700" cap="flat" cmpd="sng" algn="ctr">
                      <a:solidFill>
                        <a:srgbClr val="FFFDE7"/>
                      </a:solidFill>
                      <a:prstDash val="solid"/>
                      <a:round/>
                      <a:headEnd type="none" w="med" len="med"/>
                      <a:tailEnd type="none" w="med" len="med"/>
                    </a:lnR>
                    <a:lnT w="12700" cap="flat" cmpd="sng" algn="ctr">
                      <a:solidFill>
                        <a:srgbClr val="FFFDE7"/>
                      </a:solidFill>
                      <a:prstDash val="solid"/>
                      <a:round/>
                      <a:headEnd type="none" w="med" len="med"/>
                      <a:tailEnd type="none" w="med" len="med"/>
                    </a:lnT>
                    <a:lnB w="12700" cap="flat" cmpd="sng" algn="ctr">
                      <a:solidFill>
                        <a:srgbClr val="FFFDE7"/>
                      </a:solidFill>
                      <a:prstDash val="solid"/>
                      <a:round/>
                      <a:headEnd type="none" w="med" len="med"/>
                      <a:tailEnd type="none" w="med" len="med"/>
                    </a:lnB>
                    <a:solidFill>
                      <a:srgbClr val="FFFFFF">
                        <a:alpha val="4000"/>
                      </a:srgbClr>
                    </a:solidFill>
                  </a:tcPr>
                </a:tc>
                <a:tc>
                  <a:txBody>
                    <a:bodyPr/>
                    <a:lstStyle/>
                    <a:p>
                      <a:pPr algn="l" indent="0" marL="0">
                        <a:buNone/>
                      </a:pPr>
                      <a:r>
                        <a:rPr lang="en-US" sz="950" dirty="0">
                          <a:solidFill>
                            <a:srgbClr val="3B4E4E"/>
                          </a:solidFill>
                          <a:latin typeface="Overpass" pitchFamily="34" charset="0"/>
                          <a:ea typeface="Overpass" pitchFamily="34" charset="-122"/>
                          <a:cs typeface="Overpass" pitchFamily="34" charset="-120"/>
                        </a:rPr>
                        <a:t>Dates + trend + season</a:t>
                      </a:r>
                      <a:endParaRPr lang="en-US" sz="950" dirty="0">
                        <a:latin typeface="Overpass" charset="0"/>
                        <a:ea typeface="Overpass" charset="0"/>
                        <a:cs typeface="Overpass" charset="0"/>
                      </a:endParaRPr>
                    </a:p>
                  </a:txBody>
                  <a:tcPr marL="124044" marR="124044" marT="6350" marB="6350" anchor="ctr">
                    <a:lnL w="12700" cap="flat" cmpd="sng" algn="ctr">
                      <a:solidFill>
                        <a:srgbClr val="FFFDE7"/>
                      </a:solidFill>
                      <a:prstDash val="solid"/>
                      <a:round/>
                      <a:headEnd type="none" w="med" len="med"/>
                      <a:tailEnd type="none" w="med" len="med"/>
                    </a:lnL>
                    <a:lnR w="12700" cap="flat" cmpd="sng" algn="ctr">
                      <a:solidFill>
                        <a:srgbClr val="C3D4CC"/>
                      </a:solidFill>
                      <a:prstDash val="solid"/>
                      <a:round/>
                      <a:headEnd type="none" w="med" len="med"/>
                      <a:tailEnd type="none" w="med" len="med"/>
                    </a:lnR>
                    <a:lnT w="12700" cap="flat" cmpd="sng" algn="ctr">
                      <a:solidFill>
                        <a:srgbClr val="FFFDE7"/>
                      </a:solidFill>
                      <a:prstDash val="solid"/>
                      <a:round/>
                      <a:headEnd type="none" w="med" len="med"/>
                      <a:tailEnd type="none" w="med" len="med"/>
                    </a:lnT>
                    <a:lnB w="12700" cap="flat" cmpd="sng" algn="ctr">
                      <a:solidFill>
                        <a:srgbClr val="FFFDE7"/>
                      </a:solidFill>
                      <a:prstDash val="solid"/>
                      <a:round/>
                      <a:headEnd type="none" w="med" len="med"/>
                      <a:tailEnd type="none" w="med" len="med"/>
                    </a:lnB>
                    <a:solidFill>
                      <a:srgbClr val="FFFFFF">
                        <a:alpha val="4000"/>
                      </a:srgbClr>
                    </a:solidFill>
                  </a:tcPr>
                </a:tc>
              </a:tr>
              <a:tr h="297847">
                <a:tc>
                  <a:txBody>
                    <a:bodyPr/>
                    <a:lstStyle/>
                    <a:p>
                      <a:pPr algn="l" indent="0" marL="0">
                        <a:buNone/>
                      </a:pPr>
                      <a:r>
                        <a:rPr lang="en-US" sz="950" dirty="0">
                          <a:solidFill>
                            <a:srgbClr val="3B4E4E"/>
                          </a:solidFill>
                          <a:latin typeface="Overpass" pitchFamily="34" charset="0"/>
                          <a:ea typeface="Overpass" pitchFamily="34" charset="-122"/>
                          <a:cs typeface="Overpass" pitchFamily="34" charset="-120"/>
                        </a:rPr>
                        <a:t>Suggest items to users</a:t>
                      </a:r>
                      <a:endParaRPr lang="en-US" sz="950" dirty="0">
                        <a:latin typeface="Overpass" charset="0"/>
                        <a:ea typeface="Overpass" charset="0"/>
                        <a:cs typeface="Overpass" charset="0"/>
                      </a:endParaRPr>
                    </a:p>
                  </a:txBody>
                  <a:tcPr marL="124044" marR="124044" marT="6350" marB="6350" anchor="ctr">
                    <a:lnL w="12700" cap="flat" cmpd="sng" algn="ctr">
                      <a:solidFill>
                        <a:srgbClr val="C3D4CC"/>
                      </a:solidFill>
                      <a:prstDash val="solid"/>
                      <a:round/>
                      <a:headEnd type="none" w="med" len="med"/>
                      <a:tailEnd type="none" w="med" len="med"/>
                    </a:lnL>
                    <a:lnR w="12700" cap="flat" cmpd="sng" algn="ctr">
                      <a:solidFill>
                        <a:srgbClr val="F5F3DD"/>
                      </a:solidFill>
                      <a:prstDash val="solid"/>
                      <a:round/>
                      <a:headEnd type="none" w="med" len="med"/>
                      <a:tailEnd type="none" w="med" len="med"/>
                    </a:lnR>
                    <a:lnT w="12700" cap="flat" cmpd="sng" algn="ctr">
                      <a:solidFill>
                        <a:srgbClr val="F5F3DD"/>
                      </a:solidFill>
                      <a:prstDash val="solid"/>
                      <a:round/>
                      <a:headEnd type="none" w="med" len="med"/>
                      <a:tailEnd type="none" w="med" len="med"/>
                    </a:lnT>
                    <a:lnB w="12700" cap="flat" cmpd="sng" algn="ctr">
                      <a:solidFill>
                        <a:srgbClr val="F5F3DD"/>
                      </a:solidFill>
                      <a:prstDash val="solid"/>
                      <a:round/>
                      <a:headEnd type="none" w="med" len="med"/>
                      <a:tailEnd type="none" w="med" len="med"/>
                    </a:lnB>
                    <a:solidFill>
                      <a:srgbClr val="000000">
                        <a:alpha val="4000"/>
                      </a:srgbClr>
                    </a:solidFill>
                  </a:tcPr>
                </a:tc>
                <a:tc>
                  <a:txBody>
                    <a:bodyPr/>
                    <a:lstStyle/>
                    <a:p>
                      <a:pPr algn="l" indent="0" marL="0">
                        <a:buNone/>
                      </a:pPr>
                      <a:r>
                        <a:rPr lang="en-US" sz="950" dirty="0">
                          <a:solidFill>
                            <a:srgbClr val="3B4E4E"/>
                          </a:solidFill>
                          <a:latin typeface="Overpass" pitchFamily="34" charset="0"/>
                          <a:ea typeface="Overpass" pitchFamily="34" charset="-122"/>
                          <a:cs typeface="Overpass" pitchFamily="34" charset="-120"/>
                        </a:rPr>
                        <a:t>Recommendation</a:t>
                      </a:r>
                      <a:endParaRPr lang="en-US" sz="950" dirty="0">
                        <a:latin typeface="Overpass" charset="0"/>
                        <a:ea typeface="Overpass" charset="0"/>
                        <a:cs typeface="Overpass" charset="0"/>
                      </a:endParaRPr>
                    </a:p>
                  </a:txBody>
                  <a:tcPr marL="124044" marR="124044" marT="6350" marB="6350" anchor="ctr">
                    <a:lnL w="12700" cap="flat" cmpd="sng" algn="ctr">
                      <a:solidFill>
                        <a:srgbClr val="F5F3DD"/>
                      </a:solidFill>
                      <a:prstDash val="solid"/>
                      <a:round/>
                      <a:headEnd type="none" w="med" len="med"/>
                      <a:tailEnd type="none" w="med" len="med"/>
                    </a:lnL>
                    <a:lnR w="12700" cap="flat" cmpd="sng" algn="ctr">
                      <a:solidFill>
                        <a:srgbClr val="F5F3DD"/>
                      </a:solidFill>
                      <a:prstDash val="solid"/>
                      <a:round/>
                      <a:headEnd type="none" w="med" len="med"/>
                      <a:tailEnd type="none" w="med" len="med"/>
                    </a:lnR>
                    <a:lnT w="12700" cap="flat" cmpd="sng" algn="ctr">
                      <a:solidFill>
                        <a:srgbClr val="F5F3DD"/>
                      </a:solidFill>
                      <a:prstDash val="solid"/>
                      <a:round/>
                      <a:headEnd type="none" w="med" len="med"/>
                      <a:tailEnd type="none" w="med" len="med"/>
                    </a:lnT>
                    <a:lnB w="12700" cap="flat" cmpd="sng" algn="ctr">
                      <a:solidFill>
                        <a:srgbClr val="F5F3DD"/>
                      </a:solidFill>
                      <a:prstDash val="solid"/>
                      <a:round/>
                      <a:headEnd type="none" w="med" len="med"/>
                      <a:tailEnd type="none" w="med" len="med"/>
                    </a:lnB>
                    <a:solidFill>
                      <a:srgbClr val="000000">
                        <a:alpha val="4000"/>
                      </a:srgbClr>
                    </a:solidFill>
                  </a:tcPr>
                </a:tc>
                <a:tc>
                  <a:txBody>
                    <a:bodyPr/>
                    <a:lstStyle/>
                    <a:p>
                      <a:pPr algn="l" indent="0" marL="0">
                        <a:buNone/>
                      </a:pPr>
                      <a:r>
                        <a:rPr lang="en-US" sz="950" dirty="0">
                          <a:solidFill>
                            <a:srgbClr val="3B4E4E"/>
                          </a:solidFill>
                          <a:latin typeface="Overpass" pitchFamily="34" charset="0"/>
                          <a:ea typeface="Overpass" pitchFamily="34" charset="-122"/>
                          <a:cs typeface="Overpass" pitchFamily="34" charset="-120"/>
                        </a:rPr>
                        <a:t>Collaborative Filtering</a:t>
                      </a:r>
                      <a:endParaRPr lang="en-US" sz="950" dirty="0">
                        <a:latin typeface="Overpass" charset="0"/>
                        <a:ea typeface="Overpass" charset="0"/>
                        <a:cs typeface="Overpass" charset="0"/>
                      </a:endParaRPr>
                    </a:p>
                  </a:txBody>
                  <a:tcPr marL="124044" marR="124044" marT="6350" marB="6350" anchor="ctr">
                    <a:lnL w="12700" cap="flat" cmpd="sng" algn="ctr">
                      <a:solidFill>
                        <a:srgbClr val="F5F3DD"/>
                      </a:solidFill>
                      <a:prstDash val="solid"/>
                      <a:round/>
                      <a:headEnd type="none" w="med" len="med"/>
                      <a:tailEnd type="none" w="med" len="med"/>
                    </a:lnL>
                    <a:lnR w="12700" cap="flat" cmpd="sng" algn="ctr">
                      <a:solidFill>
                        <a:srgbClr val="F5F3DD"/>
                      </a:solidFill>
                      <a:prstDash val="solid"/>
                      <a:round/>
                      <a:headEnd type="none" w="med" len="med"/>
                      <a:tailEnd type="none" w="med" len="med"/>
                    </a:lnR>
                    <a:lnT w="12700" cap="flat" cmpd="sng" algn="ctr">
                      <a:solidFill>
                        <a:srgbClr val="F5F3DD"/>
                      </a:solidFill>
                      <a:prstDash val="solid"/>
                      <a:round/>
                      <a:headEnd type="none" w="med" len="med"/>
                      <a:tailEnd type="none" w="med" len="med"/>
                    </a:lnT>
                    <a:lnB w="12700" cap="flat" cmpd="sng" algn="ctr">
                      <a:solidFill>
                        <a:srgbClr val="F5F3DD"/>
                      </a:solidFill>
                      <a:prstDash val="solid"/>
                      <a:round/>
                      <a:headEnd type="none" w="med" len="med"/>
                      <a:tailEnd type="none" w="med" len="med"/>
                    </a:lnB>
                    <a:solidFill>
                      <a:srgbClr val="000000">
                        <a:alpha val="4000"/>
                      </a:srgbClr>
                    </a:solidFill>
                  </a:tcPr>
                </a:tc>
                <a:tc>
                  <a:txBody>
                    <a:bodyPr/>
                    <a:lstStyle/>
                    <a:p>
                      <a:pPr algn="l" indent="0" marL="0">
                        <a:buNone/>
                      </a:pPr>
                      <a:r>
                        <a:rPr lang="en-US" sz="950" dirty="0">
                          <a:solidFill>
                            <a:srgbClr val="3B4E4E"/>
                          </a:solidFill>
                          <a:latin typeface="Overpass" pitchFamily="34" charset="0"/>
                          <a:ea typeface="Overpass" pitchFamily="34" charset="-122"/>
                          <a:cs typeface="Overpass" pitchFamily="34" charset="-120"/>
                        </a:rPr>
                        <a:t>Behaviour-based</a:t>
                      </a:r>
                      <a:endParaRPr lang="en-US" sz="950" dirty="0">
                        <a:latin typeface="Overpass" charset="0"/>
                        <a:ea typeface="Overpass" charset="0"/>
                        <a:cs typeface="Overpass" charset="0"/>
                      </a:endParaRPr>
                    </a:p>
                  </a:txBody>
                  <a:tcPr marL="124044" marR="124044" marT="6350" marB="6350" anchor="ctr">
                    <a:lnL w="12700" cap="flat" cmpd="sng" algn="ctr">
                      <a:solidFill>
                        <a:srgbClr val="F5F3DD"/>
                      </a:solidFill>
                      <a:prstDash val="solid"/>
                      <a:round/>
                      <a:headEnd type="none" w="med" len="med"/>
                      <a:tailEnd type="none" w="med" len="med"/>
                    </a:lnL>
                    <a:lnR w="12700" cap="flat" cmpd="sng" algn="ctr">
                      <a:solidFill>
                        <a:srgbClr val="C3D4CC"/>
                      </a:solidFill>
                      <a:prstDash val="solid"/>
                      <a:round/>
                      <a:headEnd type="none" w="med" len="med"/>
                      <a:tailEnd type="none" w="med" len="med"/>
                    </a:lnR>
                    <a:lnT w="12700" cap="flat" cmpd="sng" algn="ctr">
                      <a:solidFill>
                        <a:srgbClr val="F5F3DD"/>
                      </a:solidFill>
                      <a:prstDash val="solid"/>
                      <a:round/>
                      <a:headEnd type="none" w="med" len="med"/>
                      <a:tailEnd type="none" w="med" len="med"/>
                    </a:lnT>
                    <a:lnB w="12700" cap="flat" cmpd="sng" algn="ctr">
                      <a:solidFill>
                        <a:srgbClr val="F5F3DD"/>
                      </a:solidFill>
                      <a:prstDash val="solid"/>
                      <a:round/>
                      <a:headEnd type="none" w="med" len="med"/>
                      <a:tailEnd type="none" w="med" len="med"/>
                    </a:lnB>
                    <a:solidFill>
                      <a:srgbClr val="000000">
                        <a:alpha val="4000"/>
                      </a:srgbClr>
                    </a:solidFill>
                  </a:tcPr>
                </a:tc>
              </a:tr>
              <a:tr h="297847">
                <a:tc>
                  <a:txBody>
                    <a:bodyPr/>
                    <a:lstStyle/>
                    <a:p>
                      <a:pPr algn="l" indent="0" marL="0">
                        <a:buNone/>
                      </a:pPr>
                      <a:r>
                        <a:rPr lang="en-US" sz="950" dirty="0">
                          <a:solidFill>
                            <a:srgbClr val="3B4E4E"/>
                          </a:solidFill>
                          <a:latin typeface="Overpass" pitchFamily="34" charset="0"/>
                          <a:ea typeface="Overpass" pitchFamily="34" charset="-122"/>
                          <a:cs typeface="Overpass" pitchFamily="34" charset="-120"/>
                        </a:rPr>
                        <a:t>Classify images for quality control</a:t>
                      </a:r>
                      <a:endParaRPr lang="en-US" sz="950" dirty="0">
                        <a:latin typeface="Overpass" charset="0"/>
                        <a:ea typeface="Overpass" charset="0"/>
                        <a:cs typeface="Overpass" charset="0"/>
                      </a:endParaRPr>
                    </a:p>
                  </a:txBody>
                  <a:tcPr marL="124044" marR="124044" marT="6350" marB="6350" anchor="ctr">
                    <a:lnL w="12700" cap="flat" cmpd="sng" algn="ctr">
                      <a:solidFill>
                        <a:srgbClr val="C3D4CC"/>
                      </a:solidFill>
                      <a:prstDash val="solid"/>
                      <a:round/>
                      <a:headEnd type="none" w="med" len="med"/>
                      <a:tailEnd type="none" w="med" len="med"/>
                    </a:lnL>
                    <a:lnR w="12700" cap="flat" cmpd="sng" algn="ctr">
                      <a:solidFill>
                        <a:srgbClr val="FFFDE7"/>
                      </a:solidFill>
                      <a:prstDash val="solid"/>
                      <a:round/>
                      <a:headEnd type="none" w="med" len="med"/>
                      <a:tailEnd type="none" w="med" len="med"/>
                    </a:lnR>
                    <a:lnT w="12700" cap="flat" cmpd="sng" algn="ctr">
                      <a:solidFill>
                        <a:srgbClr val="FFFDE7"/>
                      </a:solidFill>
                      <a:prstDash val="solid"/>
                      <a:round/>
                      <a:headEnd type="none" w="med" len="med"/>
                      <a:tailEnd type="none" w="med" len="med"/>
                    </a:lnT>
                    <a:lnB w="12700" cap="flat" cmpd="sng" algn="ctr">
                      <a:solidFill>
                        <a:srgbClr val="C3D4CC"/>
                      </a:solidFill>
                      <a:prstDash val="solid"/>
                      <a:round/>
                      <a:headEnd type="none" w="med" len="med"/>
                      <a:tailEnd type="none" w="med" len="med"/>
                    </a:lnB>
                    <a:solidFill>
                      <a:srgbClr val="FFFFFF">
                        <a:alpha val="4000"/>
                      </a:srgbClr>
                    </a:solidFill>
                  </a:tcPr>
                </a:tc>
                <a:tc>
                  <a:txBody>
                    <a:bodyPr/>
                    <a:lstStyle/>
                    <a:p>
                      <a:pPr algn="l" indent="0" marL="0">
                        <a:buNone/>
                      </a:pPr>
                      <a:r>
                        <a:rPr lang="en-US" sz="950" dirty="0">
                          <a:solidFill>
                            <a:srgbClr val="3B4E4E"/>
                          </a:solidFill>
                          <a:latin typeface="Overpass" pitchFamily="34" charset="0"/>
                          <a:ea typeface="Overpass" pitchFamily="34" charset="-122"/>
                          <a:cs typeface="Overpass" pitchFamily="34" charset="-120"/>
                        </a:rPr>
                        <a:t>Image classification</a:t>
                      </a:r>
                      <a:endParaRPr lang="en-US" sz="950" dirty="0">
                        <a:latin typeface="Overpass" charset="0"/>
                        <a:ea typeface="Overpass" charset="0"/>
                        <a:cs typeface="Overpass" charset="0"/>
                      </a:endParaRPr>
                    </a:p>
                  </a:txBody>
                  <a:tcPr marL="124044" marR="124044" marT="6350" marB="6350" anchor="ctr">
                    <a:lnL w="12700" cap="flat" cmpd="sng" algn="ctr">
                      <a:solidFill>
                        <a:srgbClr val="FFFDE7"/>
                      </a:solidFill>
                      <a:prstDash val="solid"/>
                      <a:round/>
                      <a:headEnd type="none" w="med" len="med"/>
                      <a:tailEnd type="none" w="med" len="med"/>
                    </a:lnL>
                    <a:lnR w="12700" cap="flat" cmpd="sng" algn="ctr">
                      <a:solidFill>
                        <a:srgbClr val="FFFDE7"/>
                      </a:solidFill>
                      <a:prstDash val="solid"/>
                      <a:round/>
                      <a:headEnd type="none" w="med" len="med"/>
                      <a:tailEnd type="none" w="med" len="med"/>
                    </a:lnR>
                    <a:lnT w="12700" cap="flat" cmpd="sng" algn="ctr">
                      <a:solidFill>
                        <a:srgbClr val="FFFDE7"/>
                      </a:solidFill>
                      <a:prstDash val="solid"/>
                      <a:round/>
                      <a:headEnd type="none" w="med" len="med"/>
                      <a:tailEnd type="none" w="med" len="med"/>
                    </a:lnT>
                    <a:lnB w="12700" cap="flat" cmpd="sng" algn="ctr">
                      <a:solidFill>
                        <a:srgbClr val="C3D4CC"/>
                      </a:solidFill>
                      <a:prstDash val="solid"/>
                      <a:round/>
                      <a:headEnd type="none" w="med" len="med"/>
                      <a:tailEnd type="none" w="med" len="med"/>
                    </a:lnB>
                    <a:solidFill>
                      <a:srgbClr val="FFFFFF">
                        <a:alpha val="4000"/>
                      </a:srgbClr>
                    </a:solidFill>
                  </a:tcPr>
                </a:tc>
                <a:tc>
                  <a:txBody>
                    <a:bodyPr/>
                    <a:lstStyle/>
                    <a:p>
                      <a:pPr algn="l" indent="0" marL="0">
                        <a:buNone/>
                      </a:pPr>
                      <a:r>
                        <a:rPr lang="en-US" sz="950" dirty="0">
                          <a:solidFill>
                            <a:srgbClr val="3B4E4E"/>
                          </a:solidFill>
                          <a:latin typeface="Overpass" pitchFamily="34" charset="0"/>
                          <a:ea typeface="Overpass" pitchFamily="34" charset="-122"/>
                          <a:cs typeface="Overpass" pitchFamily="34" charset="-120"/>
                        </a:rPr>
                        <a:t>CNN</a:t>
                      </a:r>
                      <a:endParaRPr lang="en-US" sz="950" dirty="0">
                        <a:latin typeface="Overpass" charset="0"/>
                        <a:ea typeface="Overpass" charset="0"/>
                        <a:cs typeface="Overpass" charset="0"/>
                      </a:endParaRPr>
                    </a:p>
                  </a:txBody>
                  <a:tcPr marL="124044" marR="124044" marT="6350" marB="6350" anchor="ctr">
                    <a:lnL w="12700" cap="flat" cmpd="sng" algn="ctr">
                      <a:solidFill>
                        <a:srgbClr val="FFFDE7"/>
                      </a:solidFill>
                      <a:prstDash val="solid"/>
                      <a:round/>
                      <a:headEnd type="none" w="med" len="med"/>
                      <a:tailEnd type="none" w="med" len="med"/>
                    </a:lnL>
                    <a:lnR w="12700" cap="flat" cmpd="sng" algn="ctr">
                      <a:solidFill>
                        <a:srgbClr val="FFFDE7"/>
                      </a:solidFill>
                      <a:prstDash val="solid"/>
                      <a:round/>
                      <a:headEnd type="none" w="med" len="med"/>
                      <a:tailEnd type="none" w="med" len="med"/>
                    </a:lnR>
                    <a:lnT w="12700" cap="flat" cmpd="sng" algn="ctr">
                      <a:solidFill>
                        <a:srgbClr val="FFFDE7"/>
                      </a:solidFill>
                      <a:prstDash val="solid"/>
                      <a:round/>
                      <a:headEnd type="none" w="med" len="med"/>
                      <a:tailEnd type="none" w="med" len="med"/>
                    </a:lnT>
                    <a:lnB w="12700" cap="flat" cmpd="sng" algn="ctr">
                      <a:solidFill>
                        <a:srgbClr val="C3D4CC"/>
                      </a:solidFill>
                      <a:prstDash val="solid"/>
                      <a:round/>
                      <a:headEnd type="none" w="med" len="med"/>
                      <a:tailEnd type="none" w="med" len="med"/>
                    </a:lnB>
                    <a:solidFill>
                      <a:srgbClr val="FFFFFF">
                        <a:alpha val="4000"/>
                      </a:srgbClr>
                    </a:solidFill>
                  </a:tcPr>
                </a:tc>
                <a:tc>
                  <a:txBody>
                    <a:bodyPr/>
                    <a:lstStyle/>
                    <a:p>
                      <a:pPr algn="l" indent="0" marL="0">
                        <a:buNone/>
                      </a:pPr>
                      <a:r>
                        <a:rPr lang="en-US" sz="950" dirty="0">
                          <a:solidFill>
                            <a:srgbClr val="3B4E4E"/>
                          </a:solidFill>
                          <a:latin typeface="Overpass" pitchFamily="34" charset="0"/>
                          <a:ea typeface="Overpass" pitchFamily="34" charset="-122"/>
                          <a:cs typeface="Overpass" pitchFamily="34" charset="-120"/>
                        </a:rPr>
                        <a:t>Spatial patterns</a:t>
                      </a:r>
                      <a:endParaRPr lang="en-US" sz="950" dirty="0">
                        <a:latin typeface="Overpass" charset="0"/>
                        <a:ea typeface="Overpass" charset="0"/>
                        <a:cs typeface="Overpass" charset="0"/>
                      </a:endParaRPr>
                    </a:p>
                  </a:txBody>
                  <a:tcPr marL="124044" marR="124044" marT="6350" marB="6350" anchor="ctr">
                    <a:lnL w="12700" cap="flat" cmpd="sng" algn="ctr">
                      <a:solidFill>
                        <a:srgbClr val="FFFDE7"/>
                      </a:solidFill>
                      <a:prstDash val="solid"/>
                      <a:round/>
                      <a:headEnd type="none" w="med" len="med"/>
                      <a:tailEnd type="none" w="med" len="med"/>
                    </a:lnL>
                    <a:lnR w="12700" cap="flat" cmpd="sng" algn="ctr">
                      <a:solidFill>
                        <a:srgbClr val="C3D4CC"/>
                      </a:solidFill>
                      <a:prstDash val="solid"/>
                      <a:round/>
                      <a:headEnd type="none" w="med" len="med"/>
                      <a:tailEnd type="none" w="med" len="med"/>
                    </a:lnR>
                    <a:lnT w="12700" cap="flat" cmpd="sng" algn="ctr">
                      <a:solidFill>
                        <a:srgbClr val="FFFDE7"/>
                      </a:solidFill>
                      <a:prstDash val="solid"/>
                      <a:round/>
                      <a:headEnd type="none" w="med" len="med"/>
                      <a:tailEnd type="none" w="med" len="med"/>
                    </a:lnT>
                    <a:lnB w="12700" cap="flat" cmpd="sng" algn="ctr">
                      <a:solidFill>
                        <a:srgbClr val="C3D4CC"/>
                      </a:solidFill>
                      <a:prstDash val="solid"/>
                      <a:round/>
                      <a:headEnd type="none" w="med" len="med"/>
                      <a:tailEnd type="none" w="med" len="med"/>
                    </a:lnB>
                    <a:solidFill>
                      <a:srgbClr val="FFFFFF">
                        <a:alpha val="4000"/>
                      </a:srgbClr>
                    </a:solidFill>
                  </a:tcPr>
                </a:tc>
              </a:tr>
            </a:tbl>
          </a:graphicData>
        </a:graphic>
      </p:graphicFrame>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DE6"/>
        </a:solidFill>
      </p:bgPr>
    </p:bg>
    <p:spTree>
      <p:nvGrpSpPr>
        <p:cNvPr id="1" name=""/>
        <p:cNvGrpSpPr/>
        <p:nvPr/>
      </p:nvGrpSpPr>
      <p:grpSpPr>
        <a:xfrm>
          <a:off x="0" y="0"/>
          <a:ext cx="0" cy="0"/>
          <a:chOff x="0" y="0"/>
          <a:chExt cx="0" cy="0"/>
        </a:xfrm>
      </p:grpSpPr>
      <p:sp>
        <p:nvSpPr>
          <p:cNvPr id="2" name="Text 0"/>
          <p:cNvSpPr/>
          <p:nvPr/>
        </p:nvSpPr>
        <p:spPr>
          <a:xfrm>
            <a:off x="661475" y="525622"/>
            <a:ext cx="10868745" cy="379512"/>
          </a:xfrm>
          <a:prstGeom prst="rect">
            <a:avLst/>
          </a:prstGeom>
          <a:noFill/>
          <a:ln/>
        </p:spPr>
        <p:txBody>
          <a:bodyPr wrap="none" lIns="0" tIns="0" rIns="0" bIns="0" rtlCol="0" anchor="t"/>
          <a:lstStyle/>
          <a:p>
            <a:pPr algn="l" indent="0" marL="0">
              <a:lnSpc>
                <a:spcPct val="104000"/>
              </a:lnSpc>
              <a:buNone/>
            </a:pPr>
            <a:r>
              <a:rPr lang="en-US" sz="2350" b="1" dirty="0">
                <a:solidFill>
                  <a:srgbClr val="233939"/>
                </a:solidFill>
                <a:latin typeface="Syne Bold" pitchFamily="34" charset="0"/>
                <a:ea typeface="Syne Bold" pitchFamily="34" charset="-122"/>
                <a:cs typeface="Syne Bold" pitchFamily="34" charset="-120"/>
              </a:rPr>
              <a:t>Class Activity: You Are the Data Scientist</a:t>
            </a:r>
            <a:endParaRPr lang="en-US" sz="2350" dirty="0"/>
          </a:p>
        </p:txBody>
      </p:sp>
      <p:sp>
        <p:nvSpPr>
          <p:cNvPr id="3" name="Text 1"/>
          <p:cNvSpPr/>
          <p:nvPr/>
        </p:nvSpPr>
        <p:spPr>
          <a:xfrm>
            <a:off x="661475" y="1079996"/>
            <a:ext cx="10868745" cy="336947"/>
          </a:xfrm>
          <a:prstGeom prst="rect">
            <a:avLst/>
          </a:prstGeom>
          <a:noFill/>
          <a:ln/>
        </p:spPr>
        <p:txBody>
          <a:bodyPr wrap="square" lIns="0" tIns="0" rIns="0" bIns="0" rtlCol="0" anchor="t">
            <a:normAutofit/>
          </a:bodyPr>
          <a:lstStyle/>
          <a:p>
            <a:pPr algn="l" indent="0" marL="0">
              <a:lnSpc>
                <a:spcPct val="116000"/>
              </a:lnSpc>
              <a:buNone/>
            </a:pPr>
            <a:r>
              <a:rPr lang="en-US" sz="950" dirty="0">
                <a:solidFill>
                  <a:srgbClr val="3B4E4E"/>
                </a:solidFill>
                <a:latin typeface="Overpass Light" pitchFamily="34" charset="0"/>
                <a:ea typeface="Overpass Light" pitchFamily="34" charset="-122"/>
                <a:cs typeface="Overpass Light" pitchFamily="34" charset="-120"/>
              </a:rPr>
              <a:t>Work in pairs. For each of the six cases below, answer three questions: </a:t>
            </a:r>
            <a:pPr algn="l" indent="0" marL="0">
              <a:lnSpc>
                <a:spcPct val="116000"/>
              </a:lnSpc>
              <a:buNone/>
            </a:pPr>
            <a:r>
              <a:rPr lang="en-US" sz="950" b="1" dirty="0">
                <a:solidFill>
                  <a:srgbClr val="3B4E4E"/>
                </a:solidFill>
                <a:latin typeface="Overpass Bold" pitchFamily="34" charset="0"/>
                <a:ea typeface="Overpass Bold" pitchFamily="34" charset="-122"/>
                <a:cs typeface="Overpass Bold" pitchFamily="34" charset="-120"/>
              </a:rPr>
              <a:t>(1) What is the problem type? (2) Which algorithm would you start with? (3) What output would you expect and how would you measure success?</a:t>
            </a:r>
            <a:pPr algn="l" indent="0" marL="0">
              <a:lnSpc>
                <a:spcPct val="116000"/>
              </a:lnSpc>
              <a:buNone/>
            </a:pPr>
            <a:r>
              <a:rPr lang="en-US" sz="950" dirty="0">
                <a:solidFill>
                  <a:srgbClr val="3B4E4E"/>
                </a:solidFill>
                <a:latin typeface="Overpass Light" pitchFamily="34" charset="0"/>
                <a:ea typeface="Overpass Light" pitchFamily="34" charset="-122"/>
                <a:cs typeface="Overpass Light" pitchFamily="34" charset="-120"/>
              </a:rPr>
              <a:t> Take 10 minutes, then share your answers with the group.</a:t>
            </a:r>
            <a:endParaRPr lang="en-US" sz="950" dirty="0"/>
          </a:p>
        </p:txBody>
      </p:sp>
      <p:pic>
        <p:nvPicPr>
          <p:cNvPr id="4"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61475" y="1517253"/>
            <a:ext cx="10868745" cy="728762"/>
          </a:xfrm>
          <a:prstGeom prst="rect">
            <a:avLst/>
          </a:prstGeom>
        </p:spPr>
      </p:pic>
      <p:sp>
        <p:nvSpPr>
          <p:cNvPr id="5" name="Text 2"/>
          <p:cNvSpPr/>
          <p:nvPr/>
        </p:nvSpPr>
        <p:spPr>
          <a:xfrm>
            <a:off x="822801" y="1767780"/>
            <a:ext cx="182161" cy="227707"/>
          </a:xfrm>
          <a:prstGeom prst="rect">
            <a:avLst/>
          </a:prstGeom>
          <a:noFill/>
          <a:ln/>
        </p:spPr>
        <p:txBody>
          <a:bodyPr wrap="none" lIns="0" tIns="0" rIns="0" bIns="0" rtlCol="0" anchor="ctr"/>
          <a:lstStyle/>
          <a:p>
            <a:pPr algn="ctr" indent="0" marL="0">
              <a:lnSpc>
                <a:spcPct val="100000"/>
              </a:lnSpc>
              <a:buNone/>
            </a:pPr>
            <a:r>
              <a:rPr lang="en-US" sz="1400" b="1" dirty="0">
                <a:solidFill>
                  <a:srgbClr val="3B4E4E"/>
                </a:solidFill>
                <a:latin typeface="Syne Bold" pitchFamily="34" charset="0"/>
                <a:ea typeface="Syne Bold" pitchFamily="34" charset="-122"/>
                <a:cs typeface="Syne Bold" pitchFamily="34" charset="-120"/>
              </a:rPr>
              <a:t>1</a:t>
            </a:r>
            <a:endParaRPr lang="en-US" sz="1400" dirty="0"/>
          </a:p>
        </p:txBody>
      </p:sp>
      <p:sp>
        <p:nvSpPr>
          <p:cNvPr id="6" name="Text 3"/>
          <p:cNvSpPr/>
          <p:nvPr/>
        </p:nvSpPr>
        <p:spPr>
          <a:xfrm>
            <a:off x="1249133" y="1651397"/>
            <a:ext cx="10146947" cy="189706"/>
          </a:xfrm>
          <a:prstGeom prst="rect">
            <a:avLst/>
          </a:prstGeom>
          <a:noFill/>
          <a:ln/>
        </p:spPr>
        <p:txBody>
          <a:bodyPr wrap="none" lIns="0" tIns="0" rIns="0" bIns="0" rtlCol="0" anchor="t"/>
          <a:lstStyle/>
          <a:p>
            <a:pPr algn="l" indent="0" marL="0">
              <a:lnSpc>
                <a:spcPct val="104000"/>
              </a:lnSpc>
              <a:buNone/>
            </a:pPr>
            <a:r>
              <a:rPr lang="en-US" sz="1150" b="1" dirty="0">
                <a:solidFill>
                  <a:srgbClr val="3B4E4E"/>
                </a:solidFill>
                <a:latin typeface="Syne Bold" pitchFamily="34" charset="0"/>
                <a:ea typeface="Syne Bold" pitchFamily="34" charset="-122"/>
                <a:cs typeface="Syne Bold" pitchFamily="34" charset="-120"/>
              </a:rPr>
              <a:t>Food Delivery App</a:t>
            </a:r>
            <a:endParaRPr lang="en-US" sz="1150" dirty="0"/>
          </a:p>
        </p:txBody>
      </p:sp>
      <p:sp>
        <p:nvSpPr>
          <p:cNvPr id="7" name="Text 4"/>
          <p:cNvSpPr/>
          <p:nvPr/>
        </p:nvSpPr>
        <p:spPr>
          <a:xfrm>
            <a:off x="1249133" y="1894582"/>
            <a:ext cx="10146947" cy="168473"/>
          </a:xfrm>
          <a:prstGeom prst="rect">
            <a:avLst/>
          </a:prstGeom>
          <a:noFill/>
          <a:ln/>
        </p:spPr>
        <p:txBody>
          <a:bodyPr wrap="none" lIns="0" tIns="0" rIns="0" bIns="0" rtlCol="0" anchor="t"/>
          <a:lstStyle/>
          <a:p>
            <a:pPr algn="l" indent="0" marL="0">
              <a:lnSpc>
                <a:spcPct val="116000"/>
              </a:lnSpc>
              <a:buNone/>
            </a:pPr>
            <a:r>
              <a:rPr lang="en-US" sz="950" dirty="0">
                <a:solidFill>
                  <a:srgbClr val="3B4E4E"/>
                </a:solidFill>
                <a:latin typeface="Overpass Light" pitchFamily="34" charset="0"/>
                <a:ea typeface="Overpass Light" pitchFamily="34" charset="-122"/>
                <a:cs typeface="Overpass Light" pitchFamily="34" charset="-120"/>
              </a:rPr>
              <a:t>The app wants to estimate delivery time in minutes for each order, based on distance, restaurant preparation time, driver availability, and traffic conditions.</a:t>
            </a:r>
            <a:endParaRPr lang="en-US" sz="950" dirty="0"/>
          </a:p>
        </p:txBody>
      </p:sp>
      <p:pic>
        <p:nvPicPr>
          <p:cNvPr id="8"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61475" y="2335213"/>
            <a:ext cx="10868745" cy="728762"/>
          </a:xfrm>
          <a:prstGeom prst="rect">
            <a:avLst/>
          </a:prstGeom>
        </p:spPr>
      </p:pic>
      <p:sp>
        <p:nvSpPr>
          <p:cNvPr id="9" name="Text 5"/>
          <p:cNvSpPr/>
          <p:nvPr/>
        </p:nvSpPr>
        <p:spPr>
          <a:xfrm>
            <a:off x="822801" y="2585740"/>
            <a:ext cx="182161" cy="227707"/>
          </a:xfrm>
          <a:prstGeom prst="rect">
            <a:avLst/>
          </a:prstGeom>
          <a:noFill/>
          <a:ln/>
        </p:spPr>
        <p:txBody>
          <a:bodyPr wrap="none" lIns="0" tIns="0" rIns="0" bIns="0" rtlCol="0" anchor="ctr"/>
          <a:lstStyle/>
          <a:p>
            <a:pPr algn="ctr" indent="0" marL="0">
              <a:lnSpc>
                <a:spcPct val="100000"/>
              </a:lnSpc>
              <a:buNone/>
            </a:pPr>
            <a:r>
              <a:rPr lang="en-US" sz="1400" b="1" dirty="0">
                <a:solidFill>
                  <a:srgbClr val="3B4E4E"/>
                </a:solidFill>
                <a:latin typeface="Syne Bold" pitchFamily="34" charset="0"/>
                <a:ea typeface="Syne Bold" pitchFamily="34" charset="-122"/>
                <a:cs typeface="Syne Bold" pitchFamily="34" charset="-120"/>
              </a:rPr>
              <a:t>2</a:t>
            </a:r>
            <a:endParaRPr lang="en-US" sz="1400" dirty="0"/>
          </a:p>
        </p:txBody>
      </p:sp>
      <p:sp>
        <p:nvSpPr>
          <p:cNvPr id="10" name="Text 6"/>
          <p:cNvSpPr/>
          <p:nvPr/>
        </p:nvSpPr>
        <p:spPr>
          <a:xfrm>
            <a:off x="1249133" y="2469356"/>
            <a:ext cx="10146947" cy="189706"/>
          </a:xfrm>
          <a:prstGeom prst="rect">
            <a:avLst/>
          </a:prstGeom>
          <a:noFill/>
          <a:ln/>
        </p:spPr>
        <p:txBody>
          <a:bodyPr wrap="none" lIns="0" tIns="0" rIns="0" bIns="0" rtlCol="0" anchor="t"/>
          <a:lstStyle/>
          <a:p>
            <a:pPr algn="l" indent="0" marL="0">
              <a:lnSpc>
                <a:spcPct val="104000"/>
              </a:lnSpc>
              <a:buNone/>
            </a:pPr>
            <a:r>
              <a:rPr lang="en-US" sz="1150" b="1" dirty="0">
                <a:solidFill>
                  <a:srgbClr val="3B4E4E"/>
                </a:solidFill>
                <a:latin typeface="Syne Bold" pitchFamily="34" charset="0"/>
                <a:ea typeface="Syne Bold" pitchFamily="34" charset="-122"/>
                <a:cs typeface="Syne Bold" pitchFamily="34" charset="-120"/>
              </a:rPr>
              <a:t>Insurance Fraud Flagging</a:t>
            </a:r>
            <a:endParaRPr lang="en-US" sz="1150" dirty="0"/>
          </a:p>
        </p:txBody>
      </p:sp>
      <p:sp>
        <p:nvSpPr>
          <p:cNvPr id="11" name="Text 7"/>
          <p:cNvSpPr/>
          <p:nvPr/>
        </p:nvSpPr>
        <p:spPr>
          <a:xfrm>
            <a:off x="1249133" y="2712541"/>
            <a:ext cx="10146947" cy="168473"/>
          </a:xfrm>
          <a:prstGeom prst="rect">
            <a:avLst/>
          </a:prstGeom>
          <a:noFill/>
          <a:ln/>
        </p:spPr>
        <p:txBody>
          <a:bodyPr wrap="none" lIns="0" tIns="0" rIns="0" bIns="0" rtlCol="0" anchor="t"/>
          <a:lstStyle/>
          <a:p>
            <a:pPr algn="l" indent="0" marL="0">
              <a:lnSpc>
                <a:spcPct val="116000"/>
              </a:lnSpc>
              <a:buNone/>
            </a:pPr>
            <a:r>
              <a:rPr lang="en-US" sz="950" dirty="0">
                <a:solidFill>
                  <a:srgbClr val="3B4E4E"/>
                </a:solidFill>
                <a:latin typeface="Overpass Light" pitchFamily="34" charset="0"/>
                <a:ea typeface="Overpass Light" pitchFamily="34" charset="-122"/>
                <a:cs typeface="Overpass Light" pitchFamily="34" charset="-120"/>
              </a:rPr>
              <a:t>An insurance company wants to flag suspicious claims — but has never systematically labelled past claims as fraudulent or legitimate. No labelled training data exists.</a:t>
            </a:r>
            <a:endParaRPr lang="en-US" sz="950" dirty="0"/>
          </a:p>
        </p:txBody>
      </p:sp>
      <p:pic>
        <p:nvPicPr>
          <p:cNvPr id="12"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61475" y="3153172"/>
            <a:ext cx="10868745" cy="728762"/>
          </a:xfrm>
          <a:prstGeom prst="rect">
            <a:avLst/>
          </a:prstGeom>
        </p:spPr>
      </p:pic>
      <p:sp>
        <p:nvSpPr>
          <p:cNvPr id="13" name="Text 8"/>
          <p:cNvSpPr/>
          <p:nvPr/>
        </p:nvSpPr>
        <p:spPr>
          <a:xfrm>
            <a:off x="822801" y="3403699"/>
            <a:ext cx="182161" cy="227707"/>
          </a:xfrm>
          <a:prstGeom prst="rect">
            <a:avLst/>
          </a:prstGeom>
          <a:noFill/>
          <a:ln/>
        </p:spPr>
        <p:txBody>
          <a:bodyPr wrap="none" lIns="0" tIns="0" rIns="0" bIns="0" rtlCol="0" anchor="ctr"/>
          <a:lstStyle/>
          <a:p>
            <a:pPr algn="ctr" indent="0" marL="0">
              <a:lnSpc>
                <a:spcPct val="100000"/>
              </a:lnSpc>
              <a:buNone/>
            </a:pPr>
            <a:r>
              <a:rPr lang="en-US" sz="1400" b="1" dirty="0">
                <a:solidFill>
                  <a:srgbClr val="3B4E4E"/>
                </a:solidFill>
                <a:latin typeface="Syne Bold" pitchFamily="34" charset="0"/>
                <a:ea typeface="Syne Bold" pitchFamily="34" charset="-122"/>
                <a:cs typeface="Syne Bold" pitchFamily="34" charset="-120"/>
              </a:rPr>
              <a:t>3</a:t>
            </a:r>
            <a:endParaRPr lang="en-US" sz="1400" dirty="0"/>
          </a:p>
        </p:txBody>
      </p:sp>
      <p:sp>
        <p:nvSpPr>
          <p:cNvPr id="14" name="Text 9"/>
          <p:cNvSpPr/>
          <p:nvPr/>
        </p:nvSpPr>
        <p:spPr>
          <a:xfrm>
            <a:off x="1249133" y="3287316"/>
            <a:ext cx="10146947" cy="189706"/>
          </a:xfrm>
          <a:prstGeom prst="rect">
            <a:avLst/>
          </a:prstGeom>
          <a:noFill/>
          <a:ln/>
        </p:spPr>
        <p:txBody>
          <a:bodyPr wrap="none" lIns="0" tIns="0" rIns="0" bIns="0" rtlCol="0" anchor="t"/>
          <a:lstStyle/>
          <a:p>
            <a:pPr algn="l" indent="0" marL="0">
              <a:lnSpc>
                <a:spcPct val="104000"/>
              </a:lnSpc>
              <a:buNone/>
            </a:pPr>
            <a:r>
              <a:rPr lang="en-US" sz="1150" b="1" dirty="0">
                <a:solidFill>
                  <a:srgbClr val="3B4E4E"/>
                </a:solidFill>
                <a:latin typeface="Syne Bold" pitchFamily="34" charset="0"/>
                <a:ea typeface="Syne Bold" pitchFamily="34" charset="-122"/>
                <a:cs typeface="Syne Bold" pitchFamily="34" charset="-120"/>
              </a:rPr>
              <a:t>University Enrolment Prediction</a:t>
            </a:r>
            <a:endParaRPr lang="en-US" sz="1150" dirty="0"/>
          </a:p>
        </p:txBody>
      </p:sp>
      <p:sp>
        <p:nvSpPr>
          <p:cNvPr id="15" name="Text 10"/>
          <p:cNvSpPr/>
          <p:nvPr/>
        </p:nvSpPr>
        <p:spPr>
          <a:xfrm>
            <a:off x="1249133" y="3530501"/>
            <a:ext cx="10146947" cy="168473"/>
          </a:xfrm>
          <a:prstGeom prst="rect">
            <a:avLst/>
          </a:prstGeom>
          <a:noFill/>
          <a:ln/>
        </p:spPr>
        <p:txBody>
          <a:bodyPr wrap="none" lIns="0" tIns="0" rIns="0" bIns="0" rtlCol="0" anchor="t"/>
          <a:lstStyle/>
          <a:p>
            <a:pPr algn="l" indent="0" marL="0">
              <a:lnSpc>
                <a:spcPct val="116000"/>
              </a:lnSpc>
              <a:buNone/>
            </a:pPr>
            <a:r>
              <a:rPr lang="en-US" sz="950" dirty="0">
                <a:solidFill>
                  <a:srgbClr val="3B4E4E"/>
                </a:solidFill>
                <a:latin typeface="Overpass Light" pitchFamily="34" charset="0"/>
                <a:ea typeface="Overpass Light" pitchFamily="34" charset="-122"/>
                <a:cs typeface="Overpass Light" pitchFamily="34" charset="-120"/>
              </a:rPr>
              <a:t>A college admits students each year but wants to predict which admitted students will actually enrol, so it can manage class sizes and scholarship offers more accurately.</a:t>
            </a:r>
            <a:endParaRPr lang="en-US" sz="950" dirty="0"/>
          </a:p>
        </p:txBody>
      </p:sp>
      <p:pic>
        <p:nvPicPr>
          <p:cNvPr id="16"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61475" y="3971131"/>
            <a:ext cx="10868745" cy="728762"/>
          </a:xfrm>
          <a:prstGeom prst="rect">
            <a:avLst/>
          </a:prstGeom>
        </p:spPr>
      </p:pic>
      <p:sp>
        <p:nvSpPr>
          <p:cNvPr id="17" name="Text 11"/>
          <p:cNvSpPr/>
          <p:nvPr/>
        </p:nvSpPr>
        <p:spPr>
          <a:xfrm>
            <a:off x="822801" y="4221659"/>
            <a:ext cx="182161" cy="227707"/>
          </a:xfrm>
          <a:prstGeom prst="rect">
            <a:avLst/>
          </a:prstGeom>
          <a:noFill/>
          <a:ln/>
        </p:spPr>
        <p:txBody>
          <a:bodyPr wrap="none" lIns="0" tIns="0" rIns="0" bIns="0" rtlCol="0" anchor="ctr"/>
          <a:lstStyle/>
          <a:p>
            <a:pPr algn="ctr" indent="0" marL="0">
              <a:lnSpc>
                <a:spcPct val="100000"/>
              </a:lnSpc>
              <a:buNone/>
            </a:pPr>
            <a:r>
              <a:rPr lang="en-US" sz="1400" b="1" dirty="0">
                <a:solidFill>
                  <a:srgbClr val="3B4E4E"/>
                </a:solidFill>
                <a:latin typeface="Syne Bold" pitchFamily="34" charset="0"/>
                <a:ea typeface="Syne Bold" pitchFamily="34" charset="-122"/>
                <a:cs typeface="Syne Bold" pitchFamily="34" charset="-120"/>
              </a:rPr>
              <a:t>4</a:t>
            </a:r>
            <a:endParaRPr lang="en-US" sz="1400" dirty="0"/>
          </a:p>
        </p:txBody>
      </p:sp>
      <p:sp>
        <p:nvSpPr>
          <p:cNvPr id="18" name="Text 12"/>
          <p:cNvSpPr/>
          <p:nvPr/>
        </p:nvSpPr>
        <p:spPr>
          <a:xfrm>
            <a:off x="1249133" y="4105275"/>
            <a:ext cx="10146947" cy="189706"/>
          </a:xfrm>
          <a:prstGeom prst="rect">
            <a:avLst/>
          </a:prstGeom>
          <a:noFill/>
          <a:ln/>
        </p:spPr>
        <p:txBody>
          <a:bodyPr wrap="none" lIns="0" tIns="0" rIns="0" bIns="0" rtlCol="0" anchor="t"/>
          <a:lstStyle/>
          <a:p>
            <a:pPr algn="l" indent="0" marL="0">
              <a:lnSpc>
                <a:spcPct val="104000"/>
              </a:lnSpc>
              <a:buNone/>
            </a:pPr>
            <a:r>
              <a:rPr lang="en-US" sz="1150" b="1" dirty="0">
                <a:solidFill>
                  <a:srgbClr val="3B4E4E"/>
                </a:solidFill>
                <a:latin typeface="Syne Bold" pitchFamily="34" charset="0"/>
                <a:ea typeface="Syne Bold" pitchFamily="34" charset="-122"/>
                <a:cs typeface="Syne Bold" pitchFamily="34" charset="-120"/>
              </a:rPr>
              <a:t>Fashion Retailer Customer Segmentation</a:t>
            </a:r>
            <a:endParaRPr lang="en-US" sz="1150" dirty="0"/>
          </a:p>
        </p:txBody>
      </p:sp>
      <p:sp>
        <p:nvSpPr>
          <p:cNvPr id="19" name="Text 13"/>
          <p:cNvSpPr/>
          <p:nvPr/>
        </p:nvSpPr>
        <p:spPr>
          <a:xfrm>
            <a:off x="1249133" y="4348460"/>
            <a:ext cx="10146947" cy="168473"/>
          </a:xfrm>
          <a:prstGeom prst="rect">
            <a:avLst/>
          </a:prstGeom>
          <a:noFill/>
          <a:ln/>
        </p:spPr>
        <p:txBody>
          <a:bodyPr wrap="none" lIns="0" tIns="0" rIns="0" bIns="0" rtlCol="0" anchor="t"/>
          <a:lstStyle/>
          <a:p>
            <a:pPr algn="l" indent="0" marL="0">
              <a:lnSpc>
                <a:spcPct val="116000"/>
              </a:lnSpc>
              <a:buNone/>
            </a:pPr>
            <a:r>
              <a:rPr lang="en-US" sz="950" dirty="0">
                <a:solidFill>
                  <a:srgbClr val="3B4E4E"/>
                </a:solidFill>
                <a:latin typeface="Overpass Light" pitchFamily="34" charset="0"/>
                <a:ea typeface="Overpass Light" pitchFamily="34" charset="-122"/>
                <a:cs typeface="Overpass Light" pitchFamily="34" charset="-120"/>
              </a:rPr>
              <a:t>A fashion e-commerce brand wants to divide its customer base into meaningful groups for targeted email campaigns. No predefined customer types exist.</a:t>
            </a:r>
            <a:endParaRPr lang="en-US" sz="950" dirty="0"/>
          </a:p>
        </p:txBody>
      </p:sp>
      <p:pic>
        <p:nvPicPr>
          <p:cNvPr id="20" name="Image 4" descr="preencoded.png">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661475" y="4789091"/>
            <a:ext cx="10868745" cy="728762"/>
          </a:xfrm>
          <a:prstGeom prst="rect">
            <a:avLst/>
          </a:prstGeom>
        </p:spPr>
      </p:pic>
      <p:sp>
        <p:nvSpPr>
          <p:cNvPr id="21" name="Text 14"/>
          <p:cNvSpPr/>
          <p:nvPr/>
        </p:nvSpPr>
        <p:spPr>
          <a:xfrm>
            <a:off x="822801" y="5039618"/>
            <a:ext cx="182161" cy="227707"/>
          </a:xfrm>
          <a:prstGeom prst="rect">
            <a:avLst/>
          </a:prstGeom>
          <a:noFill/>
          <a:ln/>
        </p:spPr>
        <p:txBody>
          <a:bodyPr wrap="none" lIns="0" tIns="0" rIns="0" bIns="0" rtlCol="0" anchor="ctr"/>
          <a:lstStyle/>
          <a:p>
            <a:pPr algn="ctr" indent="0" marL="0">
              <a:lnSpc>
                <a:spcPct val="100000"/>
              </a:lnSpc>
              <a:buNone/>
            </a:pPr>
            <a:r>
              <a:rPr lang="en-US" sz="1400" b="1" dirty="0">
                <a:solidFill>
                  <a:srgbClr val="3B4E4E"/>
                </a:solidFill>
                <a:latin typeface="Syne Bold" pitchFamily="34" charset="0"/>
                <a:ea typeface="Syne Bold" pitchFamily="34" charset="-122"/>
                <a:cs typeface="Syne Bold" pitchFamily="34" charset="-120"/>
              </a:rPr>
              <a:t>5</a:t>
            </a:r>
            <a:endParaRPr lang="en-US" sz="1400" dirty="0"/>
          </a:p>
        </p:txBody>
      </p:sp>
      <p:sp>
        <p:nvSpPr>
          <p:cNvPr id="22" name="Text 15"/>
          <p:cNvSpPr/>
          <p:nvPr/>
        </p:nvSpPr>
        <p:spPr>
          <a:xfrm>
            <a:off x="1249133" y="4923234"/>
            <a:ext cx="10146947" cy="189706"/>
          </a:xfrm>
          <a:prstGeom prst="rect">
            <a:avLst/>
          </a:prstGeom>
          <a:noFill/>
          <a:ln/>
        </p:spPr>
        <p:txBody>
          <a:bodyPr wrap="none" lIns="0" tIns="0" rIns="0" bIns="0" rtlCol="0" anchor="t"/>
          <a:lstStyle/>
          <a:p>
            <a:pPr algn="l" indent="0" marL="0">
              <a:lnSpc>
                <a:spcPct val="104000"/>
              </a:lnSpc>
              <a:buNone/>
            </a:pPr>
            <a:r>
              <a:rPr lang="en-US" sz="1150" b="1" dirty="0">
                <a:solidFill>
                  <a:srgbClr val="3B4E4E"/>
                </a:solidFill>
                <a:latin typeface="Syne Bold" pitchFamily="34" charset="0"/>
                <a:ea typeface="Syne Bold" pitchFamily="34" charset="-122"/>
                <a:cs typeface="Syne Bold" pitchFamily="34" charset="-120"/>
              </a:rPr>
              <a:t>Music App Song Suggestions</a:t>
            </a:r>
            <a:endParaRPr lang="en-US" sz="1150" dirty="0"/>
          </a:p>
        </p:txBody>
      </p:sp>
      <p:sp>
        <p:nvSpPr>
          <p:cNvPr id="23" name="Text 16"/>
          <p:cNvSpPr/>
          <p:nvPr/>
        </p:nvSpPr>
        <p:spPr>
          <a:xfrm>
            <a:off x="1249133" y="5166420"/>
            <a:ext cx="10146947" cy="168473"/>
          </a:xfrm>
          <a:prstGeom prst="rect">
            <a:avLst/>
          </a:prstGeom>
          <a:noFill/>
          <a:ln/>
        </p:spPr>
        <p:txBody>
          <a:bodyPr wrap="none" lIns="0" tIns="0" rIns="0" bIns="0" rtlCol="0" anchor="t"/>
          <a:lstStyle/>
          <a:p>
            <a:pPr algn="l" indent="0" marL="0">
              <a:lnSpc>
                <a:spcPct val="116000"/>
              </a:lnSpc>
              <a:buNone/>
            </a:pPr>
            <a:r>
              <a:rPr lang="en-US" sz="950" dirty="0">
                <a:solidFill>
                  <a:srgbClr val="3B4E4E"/>
                </a:solidFill>
                <a:latin typeface="Overpass Light" pitchFamily="34" charset="0"/>
                <a:ea typeface="Overpass Light" pitchFamily="34" charset="-122"/>
                <a:cs typeface="Overpass Light" pitchFamily="34" charset="-120"/>
              </a:rPr>
              <a:t>A music streaming app wants to suggest new songs each user is likely to enjoy, based on their listening history and the patterns of other users with similar tastes.</a:t>
            </a:r>
            <a:endParaRPr lang="en-US" sz="950" dirty="0"/>
          </a:p>
        </p:txBody>
      </p:sp>
      <p:pic>
        <p:nvPicPr>
          <p:cNvPr id="24" name="Image 5" descr="preencoded.png">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661475" y="5607050"/>
            <a:ext cx="10868745" cy="728762"/>
          </a:xfrm>
          <a:prstGeom prst="rect">
            <a:avLst/>
          </a:prstGeom>
        </p:spPr>
      </p:pic>
      <p:sp>
        <p:nvSpPr>
          <p:cNvPr id="25" name="Text 17"/>
          <p:cNvSpPr/>
          <p:nvPr/>
        </p:nvSpPr>
        <p:spPr>
          <a:xfrm>
            <a:off x="822801" y="5857577"/>
            <a:ext cx="182161" cy="227707"/>
          </a:xfrm>
          <a:prstGeom prst="rect">
            <a:avLst/>
          </a:prstGeom>
          <a:noFill/>
          <a:ln/>
        </p:spPr>
        <p:txBody>
          <a:bodyPr wrap="none" lIns="0" tIns="0" rIns="0" bIns="0" rtlCol="0" anchor="ctr"/>
          <a:lstStyle/>
          <a:p>
            <a:pPr algn="ctr" indent="0" marL="0">
              <a:lnSpc>
                <a:spcPct val="100000"/>
              </a:lnSpc>
              <a:buNone/>
            </a:pPr>
            <a:r>
              <a:rPr lang="en-US" sz="1400" b="1" dirty="0">
                <a:solidFill>
                  <a:srgbClr val="3B4E4E"/>
                </a:solidFill>
                <a:latin typeface="Syne Bold" pitchFamily="34" charset="0"/>
                <a:ea typeface="Syne Bold" pitchFamily="34" charset="-122"/>
                <a:cs typeface="Syne Bold" pitchFamily="34" charset="-120"/>
              </a:rPr>
              <a:t>6</a:t>
            </a:r>
            <a:endParaRPr lang="en-US" sz="1400" dirty="0"/>
          </a:p>
        </p:txBody>
      </p:sp>
      <p:sp>
        <p:nvSpPr>
          <p:cNvPr id="26" name="Text 18"/>
          <p:cNvSpPr/>
          <p:nvPr/>
        </p:nvSpPr>
        <p:spPr>
          <a:xfrm>
            <a:off x="1249133" y="5741194"/>
            <a:ext cx="10146947" cy="189706"/>
          </a:xfrm>
          <a:prstGeom prst="rect">
            <a:avLst/>
          </a:prstGeom>
          <a:noFill/>
          <a:ln/>
        </p:spPr>
        <p:txBody>
          <a:bodyPr wrap="none" lIns="0" tIns="0" rIns="0" bIns="0" rtlCol="0" anchor="t"/>
          <a:lstStyle/>
          <a:p>
            <a:pPr algn="l" indent="0" marL="0">
              <a:lnSpc>
                <a:spcPct val="104000"/>
              </a:lnSpc>
              <a:buNone/>
            </a:pPr>
            <a:r>
              <a:rPr lang="en-US" sz="1150" b="1" dirty="0">
                <a:solidFill>
                  <a:srgbClr val="3B4E4E"/>
                </a:solidFill>
                <a:latin typeface="Syne Bold" pitchFamily="34" charset="0"/>
                <a:ea typeface="Syne Bold" pitchFamily="34" charset="-122"/>
                <a:cs typeface="Syne Bold" pitchFamily="34" charset="-120"/>
              </a:rPr>
              <a:t>Hospital Staffing Forecast</a:t>
            </a:r>
            <a:endParaRPr lang="en-US" sz="1150" dirty="0"/>
          </a:p>
        </p:txBody>
      </p:sp>
      <p:sp>
        <p:nvSpPr>
          <p:cNvPr id="27" name="Text 19"/>
          <p:cNvSpPr/>
          <p:nvPr/>
        </p:nvSpPr>
        <p:spPr>
          <a:xfrm>
            <a:off x="1249133" y="5984379"/>
            <a:ext cx="10146947" cy="168473"/>
          </a:xfrm>
          <a:prstGeom prst="rect">
            <a:avLst/>
          </a:prstGeom>
          <a:noFill/>
          <a:ln/>
        </p:spPr>
        <p:txBody>
          <a:bodyPr wrap="none" lIns="0" tIns="0" rIns="0" bIns="0" rtlCol="0" anchor="t"/>
          <a:lstStyle/>
          <a:p>
            <a:pPr algn="l" indent="0" marL="0">
              <a:lnSpc>
                <a:spcPct val="116000"/>
              </a:lnSpc>
              <a:buNone/>
            </a:pPr>
            <a:r>
              <a:rPr lang="en-US" sz="950" dirty="0">
                <a:solidFill>
                  <a:srgbClr val="3B4E4E"/>
                </a:solidFill>
                <a:latin typeface="Overpass Light" pitchFamily="34" charset="0"/>
                <a:ea typeface="Overpass Light" pitchFamily="34" charset="-122"/>
                <a:cs typeface="Overpass Light" pitchFamily="34" charset="-120"/>
              </a:rPr>
              <a:t>A hospital's emergency department wants to forecast the number of patients arriving next week, to schedule nurses and doctors optimally without over- or under-staffing.</a:t>
            </a:r>
            <a:endParaRPr lang="en-US" sz="95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DE6"/>
        </a:solidFill>
      </p:bgPr>
    </p:bg>
    <p:spTree>
      <p:nvGrpSpPr>
        <p:cNvPr id="1" name=""/>
        <p:cNvGrpSpPr/>
        <p:nvPr/>
      </p:nvGrpSpPr>
      <p:grpSpPr>
        <a:xfrm>
          <a:off x="0" y="0"/>
          <a:ext cx="0" cy="0"/>
          <a:chOff x="0" y="0"/>
          <a:chExt cx="0" cy="0"/>
        </a:xfrm>
      </p:grpSpPr>
      <p:sp>
        <p:nvSpPr>
          <p:cNvPr id="2" name="Text 0"/>
          <p:cNvSpPr/>
          <p:nvPr/>
        </p:nvSpPr>
        <p:spPr>
          <a:xfrm>
            <a:off x="661475" y="555184"/>
            <a:ext cx="10868745" cy="403820"/>
          </a:xfrm>
          <a:prstGeom prst="rect">
            <a:avLst/>
          </a:prstGeom>
          <a:noFill/>
          <a:ln/>
        </p:spPr>
        <p:txBody>
          <a:bodyPr wrap="none" lIns="0" tIns="0" rIns="0" bIns="0" rtlCol="0" anchor="t"/>
          <a:lstStyle/>
          <a:p>
            <a:pPr algn="l" indent="0" marL="0">
              <a:lnSpc>
                <a:spcPct val="104000"/>
              </a:lnSpc>
              <a:buNone/>
            </a:pPr>
            <a:r>
              <a:rPr lang="en-US" sz="2500" b="1" dirty="0">
                <a:solidFill>
                  <a:srgbClr val="233939"/>
                </a:solidFill>
                <a:latin typeface="Syne Bold" pitchFamily="34" charset="0"/>
                <a:ea typeface="Syne Bold" pitchFamily="34" charset="-122"/>
                <a:cs typeface="Syne Bold" pitchFamily="34" charset="-120"/>
              </a:rPr>
              <a:t>Activity: Suggested Answers</a:t>
            </a:r>
            <a:endParaRPr lang="en-US" sz="2500" dirty="0"/>
          </a:p>
        </p:txBody>
      </p:sp>
      <p:sp>
        <p:nvSpPr>
          <p:cNvPr id="3" name="Text 1"/>
          <p:cNvSpPr/>
          <p:nvPr/>
        </p:nvSpPr>
        <p:spPr>
          <a:xfrm>
            <a:off x="661475" y="1156990"/>
            <a:ext cx="11478330" cy="184051"/>
          </a:xfrm>
          <a:prstGeom prst="rect">
            <a:avLst/>
          </a:prstGeom>
          <a:noFill/>
          <a:ln/>
        </p:spPr>
        <p:txBody>
          <a:bodyPr wrap="none" lIns="0" tIns="0" rIns="0" bIns="0" rtlCol="0" anchor="t"/>
          <a:lstStyle/>
          <a:p>
            <a:pPr algn="l" indent="0" marL="0">
              <a:lnSpc>
                <a:spcPct val="119000"/>
              </a:lnSpc>
              <a:buNone/>
            </a:pPr>
            <a:r>
              <a:rPr lang="en-US" sz="1000" dirty="0">
                <a:solidFill>
                  <a:srgbClr val="3B4E4E"/>
                </a:solidFill>
                <a:latin typeface="Overpass Light" pitchFamily="34" charset="0"/>
                <a:ea typeface="Overpass Light" pitchFamily="34" charset="-122"/>
                <a:cs typeface="Overpass Light" pitchFamily="34" charset="-120"/>
              </a:rPr>
              <a:t>Compare your pair's answers with these suggested approaches. There is rarely one "correct" answer — the justification matters more than the choice of algorithm.</a:t>
            </a:r>
            <a:endParaRPr lang="en-US" sz="1000" dirty="0"/>
          </a:p>
        </p:txBody>
      </p:sp>
      <p:graphicFrame>
        <p:nvGraphicFramePr>
          <p:cNvPr id="46" name="Table 0"/>
          <p:cNvGraphicFramePr>
            <a:graphicFrameLocks noGrp="1"/>
          </p:cNvGraphicFramePr>
          <p:nvPr>
            <p:extLst>
              <p:ext uri="{D42A27DB-BD31-4B8C-83A1-F6EECF244321}">
                <p14:modId xmlns:p14="http://schemas.microsoft.com/office/powerpoint/2010/main" val="1579011935"/>
              </p:ext>
            </p:extLst>
          </p:nvPr>
        </p:nvGraphicFramePr>
        <p:xfrm>
          <a:off x="661475" y="1454547"/>
          <a:ext cx="10868745" cy="914400"/>
        </p:xfrm>
        <a:graphic>
          <a:graphicData uri="http://schemas.openxmlformats.org/drawingml/2006/table">
            <a:tbl>
              <a:tblPr/>
              <a:tblGrid>
                <a:gridCol w="2717186"/>
                <a:gridCol w="2173729"/>
                <a:gridCol w="2717186"/>
                <a:gridCol w="3260644"/>
              </a:tblGrid>
              <a:tr h="320965">
                <a:tc>
                  <a:txBody>
                    <a:bodyPr/>
                    <a:lstStyle/>
                    <a:p>
                      <a:pPr algn="l" indent="0" marL="0">
                        <a:buNone/>
                      </a:pPr>
                      <a:r>
                        <a:rPr lang="en-US" sz="1000" b="1" dirty="0">
                          <a:solidFill>
                            <a:srgbClr val="FFFFFF"/>
                          </a:solidFill>
                          <a:latin typeface="Overpass" pitchFamily="34" charset="0"/>
                          <a:ea typeface="Overpass" pitchFamily="34" charset="-122"/>
                          <a:cs typeface="Overpass" pitchFamily="34" charset="-120"/>
                        </a:rPr>
                        <a:t>Case</a:t>
                      </a:r>
                      <a:endParaRPr lang="en-US" sz="1000" dirty="0">
                        <a:latin typeface="Overpass" charset="0"/>
                        <a:ea typeface="Overpass" charset="0"/>
                        <a:cs typeface="Overpass" charset="0"/>
                      </a:endParaRPr>
                    </a:p>
                  </a:txBody>
                  <a:tcPr marL="129212" marR="129212" marT="6350" marB="6350" anchor="ctr">
                    <a:lnL w="12700" cap="flat" cmpd="sng" algn="ctr">
                      <a:solidFill>
                        <a:srgbClr val="C3D4CC"/>
                      </a:solidFill>
                      <a:prstDash val="solid"/>
                      <a:round/>
                      <a:headEnd type="none" w="med" len="med"/>
                      <a:tailEnd type="none" w="med" len="med"/>
                    </a:lnL>
                    <a:lnR w="12700" cap="flat" cmpd="sng" algn="ctr">
                      <a:solidFill>
                        <a:srgbClr val="224435"/>
                      </a:solidFill>
                      <a:prstDash val="solid"/>
                      <a:round/>
                      <a:headEnd type="none" w="med" len="med"/>
                      <a:tailEnd type="none" w="med" len="med"/>
                    </a:lnR>
                    <a:lnT w="12700" cap="flat" cmpd="sng" algn="ctr">
                      <a:solidFill>
                        <a:srgbClr val="C3D4CC"/>
                      </a:solidFill>
                      <a:prstDash val="solid"/>
                      <a:round/>
                      <a:headEnd type="none" w="med" len="med"/>
                      <a:tailEnd type="none" w="med" len="med"/>
                    </a:lnT>
                    <a:lnB w="12700" cap="flat" cmpd="sng" algn="ctr">
                      <a:solidFill>
                        <a:srgbClr val="C3D4CC"/>
                      </a:solidFill>
                      <a:prstDash val="solid"/>
                      <a:round/>
                      <a:headEnd type="none" w="med" len="med"/>
                      <a:tailEnd type="none" w="med" len="med"/>
                    </a:lnB>
                    <a:solidFill>
                      <a:srgbClr val="224435"/>
                    </a:solidFill>
                  </a:tcPr>
                </a:tc>
                <a:tc>
                  <a:txBody>
                    <a:bodyPr/>
                    <a:lstStyle/>
                    <a:p>
                      <a:pPr algn="l" indent="0" marL="0">
                        <a:buNone/>
                      </a:pPr>
                      <a:r>
                        <a:rPr lang="en-US" sz="1000" b="1" dirty="0">
                          <a:solidFill>
                            <a:srgbClr val="FFFFFF"/>
                          </a:solidFill>
                          <a:latin typeface="Overpass" pitchFamily="34" charset="0"/>
                          <a:ea typeface="Overpass" pitchFamily="34" charset="-122"/>
                          <a:cs typeface="Overpass" pitchFamily="34" charset="-120"/>
                        </a:rPr>
                        <a:t>Problem Type</a:t>
                      </a:r>
                      <a:endParaRPr lang="en-US" sz="1000" dirty="0">
                        <a:latin typeface="Overpass" charset="0"/>
                        <a:ea typeface="Overpass" charset="0"/>
                        <a:cs typeface="Overpass" charset="0"/>
                      </a:endParaRPr>
                    </a:p>
                  </a:txBody>
                  <a:tcPr marL="129212" marR="129212" marT="6350" marB="6350" anchor="ctr">
                    <a:lnL w="12700" cap="flat" cmpd="sng" algn="ctr">
                      <a:solidFill>
                        <a:srgbClr val="224435"/>
                      </a:solidFill>
                      <a:prstDash val="solid"/>
                      <a:round/>
                      <a:headEnd type="none" w="med" len="med"/>
                      <a:tailEnd type="none" w="med" len="med"/>
                    </a:lnL>
                    <a:lnR w="12700" cap="flat" cmpd="sng" algn="ctr">
                      <a:solidFill>
                        <a:srgbClr val="224435"/>
                      </a:solidFill>
                      <a:prstDash val="solid"/>
                      <a:round/>
                      <a:headEnd type="none" w="med" len="med"/>
                      <a:tailEnd type="none" w="med" len="med"/>
                    </a:lnR>
                    <a:lnT w="12700" cap="flat" cmpd="sng" algn="ctr">
                      <a:solidFill>
                        <a:srgbClr val="C3D4CC"/>
                      </a:solidFill>
                      <a:prstDash val="solid"/>
                      <a:round/>
                      <a:headEnd type="none" w="med" len="med"/>
                      <a:tailEnd type="none" w="med" len="med"/>
                    </a:lnT>
                    <a:lnB w="12700" cap="flat" cmpd="sng" algn="ctr">
                      <a:solidFill>
                        <a:srgbClr val="C3D4CC"/>
                      </a:solidFill>
                      <a:prstDash val="solid"/>
                      <a:round/>
                      <a:headEnd type="none" w="med" len="med"/>
                      <a:tailEnd type="none" w="med" len="med"/>
                    </a:lnB>
                    <a:solidFill>
                      <a:srgbClr val="224435"/>
                    </a:solidFill>
                  </a:tcPr>
                </a:tc>
                <a:tc>
                  <a:txBody>
                    <a:bodyPr/>
                    <a:lstStyle/>
                    <a:p>
                      <a:pPr algn="l" indent="0" marL="0">
                        <a:buNone/>
                      </a:pPr>
                      <a:r>
                        <a:rPr lang="en-US" sz="1000" b="1" dirty="0">
                          <a:solidFill>
                            <a:srgbClr val="FFFFFF"/>
                          </a:solidFill>
                          <a:latin typeface="Overpass" pitchFamily="34" charset="0"/>
                          <a:ea typeface="Overpass" pitchFamily="34" charset="-122"/>
                          <a:cs typeface="Overpass" pitchFamily="34" charset="-120"/>
                        </a:rPr>
                        <a:t>Algorithm</a:t>
                      </a:r>
                      <a:endParaRPr lang="en-US" sz="1000" dirty="0">
                        <a:latin typeface="Overpass" charset="0"/>
                        <a:ea typeface="Overpass" charset="0"/>
                        <a:cs typeface="Overpass" charset="0"/>
                      </a:endParaRPr>
                    </a:p>
                  </a:txBody>
                  <a:tcPr marL="129212" marR="129212" marT="6350" marB="6350" anchor="ctr">
                    <a:lnL w="12700" cap="flat" cmpd="sng" algn="ctr">
                      <a:solidFill>
                        <a:srgbClr val="224435"/>
                      </a:solidFill>
                      <a:prstDash val="solid"/>
                      <a:round/>
                      <a:headEnd type="none" w="med" len="med"/>
                      <a:tailEnd type="none" w="med" len="med"/>
                    </a:lnL>
                    <a:lnR w="12700" cap="flat" cmpd="sng" algn="ctr">
                      <a:solidFill>
                        <a:srgbClr val="224435"/>
                      </a:solidFill>
                      <a:prstDash val="solid"/>
                      <a:round/>
                      <a:headEnd type="none" w="med" len="med"/>
                      <a:tailEnd type="none" w="med" len="med"/>
                    </a:lnR>
                    <a:lnT w="12700" cap="flat" cmpd="sng" algn="ctr">
                      <a:solidFill>
                        <a:srgbClr val="C3D4CC"/>
                      </a:solidFill>
                      <a:prstDash val="solid"/>
                      <a:round/>
                      <a:headEnd type="none" w="med" len="med"/>
                      <a:tailEnd type="none" w="med" len="med"/>
                    </a:lnT>
                    <a:lnB w="12700" cap="flat" cmpd="sng" algn="ctr">
                      <a:solidFill>
                        <a:srgbClr val="C3D4CC"/>
                      </a:solidFill>
                      <a:prstDash val="solid"/>
                      <a:round/>
                      <a:headEnd type="none" w="med" len="med"/>
                      <a:tailEnd type="none" w="med" len="med"/>
                    </a:lnB>
                    <a:solidFill>
                      <a:srgbClr val="224435"/>
                    </a:solidFill>
                  </a:tcPr>
                </a:tc>
                <a:tc>
                  <a:txBody>
                    <a:bodyPr/>
                    <a:lstStyle/>
                    <a:p>
                      <a:pPr algn="l" indent="0" marL="0">
                        <a:buNone/>
                      </a:pPr>
                      <a:r>
                        <a:rPr lang="en-US" sz="1000" b="1" dirty="0">
                          <a:solidFill>
                            <a:srgbClr val="FFFFFF"/>
                          </a:solidFill>
                          <a:latin typeface="Overpass" pitchFamily="34" charset="0"/>
                          <a:ea typeface="Overpass" pitchFamily="34" charset="-122"/>
                          <a:cs typeface="Overpass" pitchFamily="34" charset="-120"/>
                        </a:rPr>
                        <a:t>Key Reasoning</a:t>
                      </a:r>
                      <a:endParaRPr lang="en-US" sz="1000" dirty="0">
                        <a:latin typeface="Overpass" charset="0"/>
                        <a:ea typeface="Overpass" charset="0"/>
                        <a:cs typeface="Overpass" charset="0"/>
                      </a:endParaRPr>
                    </a:p>
                  </a:txBody>
                  <a:tcPr marL="129212" marR="129212" marT="6350" marB="6350" anchor="ctr">
                    <a:lnL w="12700" cap="flat" cmpd="sng" algn="ctr">
                      <a:solidFill>
                        <a:srgbClr val="224435"/>
                      </a:solidFill>
                      <a:prstDash val="solid"/>
                      <a:round/>
                      <a:headEnd type="none" w="med" len="med"/>
                      <a:tailEnd type="none" w="med" len="med"/>
                    </a:lnL>
                    <a:lnR w="12700" cap="flat" cmpd="sng" algn="ctr">
                      <a:solidFill>
                        <a:srgbClr val="C3D4CC"/>
                      </a:solidFill>
                      <a:prstDash val="solid"/>
                      <a:round/>
                      <a:headEnd type="none" w="med" len="med"/>
                      <a:tailEnd type="none" w="med" len="med"/>
                    </a:lnR>
                    <a:lnT w="12700" cap="flat" cmpd="sng" algn="ctr">
                      <a:solidFill>
                        <a:srgbClr val="C3D4CC"/>
                      </a:solidFill>
                      <a:prstDash val="solid"/>
                      <a:round/>
                      <a:headEnd type="none" w="med" len="med"/>
                      <a:tailEnd type="none" w="med" len="med"/>
                    </a:lnT>
                    <a:lnB w="12700" cap="flat" cmpd="sng" algn="ctr">
                      <a:solidFill>
                        <a:srgbClr val="C3D4CC"/>
                      </a:solidFill>
                      <a:prstDash val="solid"/>
                      <a:round/>
                      <a:headEnd type="none" w="med" len="med"/>
                      <a:tailEnd type="none" w="med" len="med"/>
                    </a:lnB>
                    <a:solidFill>
                      <a:srgbClr val="224435"/>
                    </a:solidFill>
                  </a:tcPr>
                </a:tc>
              </a:tr>
              <a:tr h="692232">
                <a:tc>
                  <a:txBody>
                    <a:bodyPr/>
                    <a:lstStyle/>
                    <a:p>
                      <a:pPr algn="l" indent="0" marL="0">
                        <a:buNone/>
                      </a:pPr>
                      <a:r>
                        <a:rPr lang="en-US" sz="1000" dirty="0">
                          <a:solidFill>
                            <a:srgbClr val="3B4E4E"/>
                          </a:solidFill>
                          <a:latin typeface="Overpass" pitchFamily="34" charset="0"/>
                          <a:ea typeface="Overpass" pitchFamily="34" charset="-122"/>
                          <a:cs typeface="Overpass" pitchFamily="34" charset="-120"/>
                        </a:rPr>
                        <a:t>Food delivery ETA</a:t>
                      </a:r>
                      <a:endParaRPr lang="en-US" sz="1000" dirty="0">
                        <a:latin typeface="Overpass" charset="0"/>
                        <a:ea typeface="Overpass" charset="0"/>
                        <a:cs typeface="Overpass" charset="0"/>
                      </a:endParaRPr>
                    </a:p>
                  </a:txBody>
                  <a:tcPr marL="129212" marR="129212" marT="6350" marB="6350" anchor="ctr">
                    <a:lnL w="12700" cap="flat" cmpd="sng" algn="ctr">
                      <a:solidFill>
                        <a:srgbClr val="C3D4CC"/>
                      </a:solidFill>
                      <a:prstDash val="solid"/>
                      <a:round/>
                      <a:headEnd type="none" w="med" len="med"/>
                      <a:tailEnd type="none" w="med" len="med"/>
                    </a:lnL>
                    <a:lnR w="12700" cap="flat" cmpd="sng" algn="ctr">
                      <a:solidFill>
                        <a:srgbClr val="FFFDE6"/>
                      </a:solidFill>
                      <a:prstDash val="solid"/>
                      <a:round/>
                      <a:headEnd type="none" w="med" len="med"/>
                      <a:tailEnd type="none" w="med" len="med"/>
                    </a:lnR>
                    <a:lnT w="12700" cap="flat" cmpd="sng" algn="ctr">
                      <a:solidFill>
                        <a:srgbClr val="C3D4CC"/>
                      </a:solidFill>
                      <a:prstDash val="solid"/>
                      <a:round/>
                      <a:headEnd type="none" w="med" len="med"/>
                      <a:tailEnd type="none" w="med" len="med"/>
                    </a:lnT>
                    <a:lnB w="12700" cap="flat" cmpd="sng" algn="ctr">
                      <a:solidFill>
                        <a:srgbClr val="C3D4CC"/>
                      </a:solidFill>
                      <a:prstDash val="solid"/>
                      <a:round/>
                      <a:headEnd type="none" w="med" len="med"/>
                      <a:tailEnd type="none" w="med" len="med"/>
                    </a:lnB>
                  </a:tcPr>
                </a:tc>
                <a:tc>
                  <a:txBody>
                    <a:bodyPr/>
                    <a:lstStyle/>
                    <a:p>
                      <a:pPr algn="l" indent="0" marL="0">
                        <a:buNone/>
                      </a:pPr>
                      <a:r>
                        <a:rPr lang="en-US" sz="1000" dirty="0">
                          <a:solidFill>
                            <a:srgbClr val="3B4E4E"/>
                          </a:solidFill>
                          <a:latin typeface="Overpass" pitchFamily="34" charset="0"/>
                          <a:ea typeface="Overpass" pitchFamily="34" charset="-122"/>
                          <a:cs typeface="Overpass" pitchFamily="34" charset="-120"/>
                        </a:rPr>
                        <a:t>Regression</a:t>
                      </a:r>
                      <a:endParaRPr lang="en-US" sz="1000" dirty="0">
                        <a:latin typeface="Overpass" charset="0"/>
                        <a:ea typeface="Overpass" charset="0"/>
                        <a:cs typeface="Overpass" charset="0"/>
                      </a:endParaRPr>
                    </a:p>
                  </a:txBody>
                  <a:tcPr marL="129212" marR="129212" marT="6350" marB="6350" anchor="ctr">
                    <a:lnL w="12700" cap="flat" cmpd="sng" algn="ctr">
                      <a:solidFill>
                        <a:srgbClr val="FFFDE6"/>
                      </a:solidFill>
                      <a:prstDash val="solid"/>
                      <a:round/>
                      <a:headEnd type="none" w="med" len="med"/>
                      <a:tailEnd type="none" w="med" len="med"/>
                    </a:lnL>
                    <a:lnR w="12700" cap="flat" cmpd="sng" algn="ctr">
                      <a:solidFill>
                        <a:srgbClr val="FFFDE6"/>
                      </a:solidFill>
                      <a:prstDash val="solid"/>
                      <a:round/>
                      <a:headEnd type="none" w="med" len="med"/>
                      <a:tailEnd type="none" w="med" len="med"/>
                    </a:lnR>
                    <a:lnT w="12700" cap="flat" cmpd="sng" algn="ctr">
                      <a:solidFill>
                        <a:srgbClr val="C3D4CC"/>
                      </a:solidFill>
                      <a:prstDash val="solid"/>
                      <a:round/>
                      <a:headEnd type="none" w="med" len="med"/>
                      <a:tailEnd type="none" w="med" len="med"/>
                    </a:lnT>
                    <a:lnB w="12700" cap="flat" cmpd="sng" algn="ctr">
                      <a:solidFill>
                        <a:srgbClr val="C3D4CC"/>
                      </a:solidFill>
                      <a:prstDash val="solid"/>
                      <a:round/>
                      <a:headEnd type="none" w="med" len="med"/>
                      <a:tailEnd type="none" w="med" len="med"/>
                    </a:lnB>
                  </a:tcPr>
                </a:tc>
                <a:tc>
                  <a:txBody>
                    <a:bodyPr/>
                    <a:lstStyle/>
                    <a:p>
                      <a:pPr algn="l" indent="0" marL="0">
                        <a:buNone/>
                      </a:pPr>
                      <a:r>
                        <a:rPr lang="en-US" sz="1000" dirty="0">
                          <a:solidFill>
                            <a:srgbClr val="3B4E4E"/>
                          </a:solidFill>
                          <a:latin typeface="Overpass" pitchFamily="34" charset="0"/>
                          <a:ea typeface="Overpass" pitchFamily="34" charset="-122"/>
                          <a:cs typeface="Overpass" pitchFamily="34" charset="-120"/>
                        </a:rPr>
                        <a:t>Linear Regression → Gradient Boosting</a:t>
                      </a:r>
                      <a:endParaRPr lang="en-US" sz="1000" dirty="0">
                        <a:latin typeface="Overpass" charset="0"/>
                        <a:ea typeface="Overpass" charset="0"/>
                        <a:cs typeface="Overpass" charset="0"/>
                      </a:endParaRPr>
                    </a:p>
                  </a:txBody>
                  <a:tcPr marL="129212" marR="129212" marT="6350" marB="6350" anchor="ctr">
                    <a:lnL w="12700" cap="flat" cmpd="sng" algn="ctr">
                      <a:solidFill>
                        <a:srgbClr val="FFFDE6"/>
                      </a:solidFill>
                      <a:prstDash val="solid"/>
                      <a:round/>
                      <a:headEnd type="none" w="med" len="med"/>
                      <a:tailEnd type="none" w="med" len="med"/>
                    </a:lnL>
                    <a:lnR w="12700" cap="flat" cmpd="sng" algn="ctr">
                      <a:solidFill>
                        <a:srgbClr val="FFFDE6"/>
                      </a:solidFill>
                      <a:prstDash val="solid"/>
                      <a:round/>
                      <a:headEnd type="none" w="med" len="med"/>
                      <a:tailEnd type="none" w="med" len="med"/>
                    </a:lnR>
                    <a:lnT w="12700" cap="flat" cmpd="sng" algn="ctr">
                      <a:solidFill>
                        <a:srgbClr val="C3D4CC"/>
                      </a:solidFill>
                      <a:prstDash val="solid"/>
                      <a:round/>
                      <a:headEnd type="none" w="med" len="med"/>
                      <a:tailEnd type="none" w="med" len="med"/>
                    </a:lnT>
                    <a:lnB w="12700" cap="flat" cmpd="sng" algn="ctr">
                      <a:solidFill>
                        <a:srgbClr val="C3D4CC"/>
                      </a:solidFill>
                      <a:prstDash val="solid"/>
                      <a:round/>
                      <a:headEnd type="none" w="med" len="med"/>
                      <a:tailEnd type="none" w="med" len="med"/>
                    </a:lnB>
                  </a:tcPr>
                </a:tc>
                <a:tc>
                  <a:txBody>
                    <a:bodyPr/>
                    <a:lstStyle/>
                    <a:p>
                      <a:pPr algn="l" indent="0" marL="0">
                        <a:buNone/>
                      </a:pPr>
                      <a:r>
                        <a:rPr lang="en-US" sz="1000" dirty="0">
                          <a:solidFill>
                            <a:srgbClr val="3B4E4E"/>
                          </a:solidFill>
                          <a:latin typeface="Overpass" pitchFamily="34" charset="0"/>
                          <a:ea typeface="Overpass" pitchFamily="34" charset="-122"/>
                          <a:cs typeface="Overpass" pitchFamily="34" charset="-120"/>
                        </a:rPr>
                        <a:t>Predicting minutes (a number). Start simple; upgrade when interactions between distance, time of day, and traffic are too complex for a linear model.</a:t>
                      </a:r>
                      <a:endParaRPr lang="en-US" sz="1000" dirty="0">
                        <a:latin typeface="Overpass" charset="0"/>
                        <a:ea typeface="Overpass" charset="0"/>
                        <a:cs typeface="Overpass" charset="0"/>
                      </a:endParaRPr>
                    </a:p>
                  </a:txBody>
                  <a:tcPr marL="129212" marR="129212" marT="6350" marB="6350" anchor="ctr">
                    <a:lnL w="12700" cap="flat" cmpd="sng" algn="ctr">
                      <a:solidFill>
                        <a:srgbClr val="FFFDE6"/>
                      </a:solidFill>
                      <a:prstDash val="solid"/>
                      <a:round/>
                      <a:headEnd type="none" w="med" len="med"/>
                      <a:tailEnd type="none" w="med" len="med"/>
                    </a:lnL>
                    <a:lnR w="12700" cap="flat" cmpd="sng" algn="ctr">
                      <a:solidFill>
                        <a:srgbClr val="C3D4CC"/>
                      </a:solidFill>
                      <a:prstDash val="solid"/>
                      <a:round/>
                      <a:headEnd type="none" w="med" len="med"/>
                      <a:tailEnd type="none" w="med" len="med"/>
                    </a:lnR>
                    <a:lnT w="12700" cap="flat" cmpd="sng" algn="ctr">
                      <a:solidFill>
                        <a:srgbClr val="C3D4CC"/>
                      </a:solidFill>
                      <a:prstDash val="solid"/>
                      <a:round/>
                      <a:headEnd type="none" w="med" len="med"/>
                      <a:tailEnd type="none" w="med" len="med"/>
                    </a:lnT>
                    <a:lnB w="12700" cap="flat" cmpd="sng" algn="ctr">
                      <a:solidFill>
                        <a:srgbClr val="C3D4CC"/>
                      </a:solidFill>
                      <a:prstDash val="solid"/>
                      <a:round/>
                      <a:headEnd type="none" w="med" len="med"/>
                      <a:tailEnd type="none" w="med" len="med"/>
                    </a:lnB>
                  </a:tcPr>
                </a:tc>
              </a:tr>
              <a:tr h="692232">
                <a:tc>
                  <a:txBody>
                    <a:bodyPr/>
                    <a:lstStyle/>
                    <a:p>
                      <a:pPr algn="l" indent="0" marL="0">
                        <a:buNone/>
                      </a:pPr>
                      <a:r>
                        <a:rPr lang="en-US" sz="1000" dirty="0">
                          <a:solidFill>
                            <a:srgbClr val="3B4E4E"/>
                          </a:solidFill>
                          <a:latin typeface="Overpass" pitchFamily="34" charset="0"/>
                          <a:ea typeface="Overpass" pitchFamily="34" charset="-122"/>
                          <a:cs typeface="Overpass" pitchFamily="34" charset="-120"/>
                        </a:rPr>
                        <a:t>Insurance fraud — no labels</a:t>
                      </a:r>
                      <a:endParaRPr lang="en-US" sz="1000" dirty="0">
                        <a:latin typeface="Overpass" charset="0"/>
                        <a:ea typeface="Overpass" charset="0"/>
                        <a:cs typeface="Overpass" charset="0"/>
                      </a:endParaRPr>
                    </a:p>
                  </a:txBody>
                  <a:tcPr marL="129212" marR="129212" marT="6350" marB="6350" anchor="ctr">
                    <a:lnL w="12700" cap="flat" cmpd="sng" algn="ctr">
                      <a:solidFill>
                        <a:srgbClr val="C3D4CC"/>
                      </a:solidFill>
                      <a:prstDash val="solid"/>
                      <a:round/>
                      <a:headEnd type="none" w="med" len="med"/>
                      <a:tailEnd type="none" w="med" len="med"/>
                    </a:lnL>
                    <a:lnR w="12700" cap="flat" cmpd="sng" algn="ctr">
                      <a:solidFill>
                        <a:srgbClr val="FFFDE6"/>
                      </a:solidFill>
                      <a:prstDash val="solid"/>
                      <a:round/>
                      <a:headEnd type="none" w="med" len="med"/>
                      <a:tailEnd type="none" w="med" len="med"/>
                    </a:lnR>
                    <a:lnT w="12700" cap="flat" cmpd="sng" algn="ctr">
                      <a:solidFill>
                        <a:srgbClr val="C3D4CC"/>
                      </a:solidFill>
                      <a:prstDash val="solid"/>
                      <a:round/>
                      <a:headEnd type="none" w="med" len="med"/>
                      <a:tailEnd type="none" w="med" len="med"/>
                    </a:lnT>
                    <a:lnB w="12700" cap="flat" cmpd="sng" algn="ctr">
                      <a:solidFill>
                        <a:srgbClr val="C3D4CC"/>
                      </a:solidFill>
                      <a:prstDash val="solid"/>
                      <a:round/>
                      <a:headEnd type="none" w="med" len="med"/>
                      <a:tailEnd type="none" w="med" len="med"/>
                    </a:lnB>
                  </a:tcPr>
                </a:tc>
                <a:tc>
                  <a:txBody>
                    <a:bodyPr/>
                    <a:lstStyle/>
                    <a:p>
                      <a:pPr algn="l" indent="0" marL="0">
                        <a:buNone/>
                      </a:pPr>
                      <a:r>
                        <a:rPr lang="en-US" sz="1000" dirty="0">
                          <a:solidFill>
                            <a:srgbClr val="3B4E4E"/>
                          </a:solidFill>
                          <a:latin typeface="Overpass" pitchFamily="34" charset="0"/>
                          <a:ea typeface="Overpass" pitchFamily="34" charset="-122"/>
                          <a:cs typeface="Overpass" pitchFamily="34" charset="-120"/>
                        </a:rPr>
                        <a:t>Anomaly detection</a:t>
                      </a:r>
                      <a:endParaRPr lang="en-US" sz="1000" dirty="0">
                        <a:latin typeface="Overpass" charset="0"/>
                        <a:ea typeface="Overpass" charset="0"/>
                        <a:cs typeface="Overpass" charset="0"/>
                      </a:endParaRPr>
                    </a:p>
                  </a:txBody>
                  <a:tcPr marL="129212" marR="129212" marT="6350" marB="6350" anchor="ctr">
                    <a:lnL w="12700" cap="flat" cmpd="sng" algn="ctr">
                      <a:solidFill>
                        <a:srgbClr val="FFFDE6"/>
                      </a:solidFill>
                      <a:prstDash val="solid"/>
                      <a:round/>
                      <a:headEnd type="none" w="med" len="med"/>
                      <a:tailEnd type="none" w="med" len="med"/>
                    </a:lnL>
                    <a:lnR w="12700" cap="flat" cmpd="sng" algn="ctr">
                      <a:solidFill>
                        <a:srgbClr val="FFFDE6"/>
                      </a:solidFill>
                      <a:prstDash val="solid"/>
                      <a:round/>
                      <a:headEnd type="none" w="med" len="med"/>
                      <a:tailEnd type="none" w="med" len="med"/>
                    </a:lnR>
                    <a:lnT w="12700" cap="flat" cmpd="sng" algn="ctr">
                      <a:solidFill>
                        <a:srgbClr val="C3D4CC"/>
                      </a:solidFill>
                      <a:prstDash val="solid"/>
                      <a:round/>
                      <a:headEnd type="none" w="med" len="med"/>
                      <a:tailEnd type="none" w="med" len="med"/>
                    </a:lnT>
                    <a:lnB w="12700" cap="flat" cmpd="sng" algn="ctr">
                      <a:solidFill>
                        <a:srgbClr val="C3D4CC"/>
                      </a:solidFill>
                      <a:prstDash val="solid"/>
                      <a:round/>
                      <a:headEnd type="none" w="med" len="med"/>
                      <a:tailEnd type="none" w="med" len="med"/>
                    </a:lnB>
                  </a:tcPr>
                </a:tc>
                <a:tc>
                  <a:txBody>
                    <a:bodyPr/>
                    <a:lstStyle/>
                    <a:p>
                      <a:pPr algn="l" indent="0" marL="0">
                        <a:buNone/>
                      </a:pPr>
                      <a:r>
                        <a:rPr lang="en-US" sz="1000" dirty="0">
                          <a:solidFill>
                            <a:srgbClr val="3B4E4E"/>
                          </a:solidFill>
                          <a:latin typeface="Overpass" pitchFamily="34" charset="0"/>
                          <a:ea typeface="Overpass" pitchFamily="34" charset="-122"/>
                          <a:cs typeface="Overpass" pitchFamily="34" charset="-120"/>
                        </a:rPr>
                        <a:t>Isolation Forest</a:t>
                      </a:r>
                      <a:endParaRPr lang="en-US" sz="1000" dirty="0">
                        <a:latin typeface="Overpass" charset="0"/>
                        <a:ea typeface="Overpass" charset="0"/>
                        <a:cs typeface="Overpass" charset="0"/>
                      </a:endParaRPr>
                    </a:p>
                  </a:txBody>
                  <a:tcPr marL="129212" marR="129212" marT="6350" marB="6350" anchor="ctr">
                    <a:lnL w="12700" cap="flat" cmpd="sng" algn="ctr">
                      <a:solidFill>
                        <a:srgbClr val="FFFDE6"/>
                      </a:solidFill>
                      <a:prstDash val="solid"/>
                      <a:round/>
                      <a:headEnd type="none" w="med" len="med"/>
                      <a:tailEnd type="none" w="med" len="med"/>
                    </a:lnL>
                    <a:lnR w="12700" cap="flat" cmpd="sng" algn="ctr">
                      <a:solidFill>
                        <a:srgbClr val="FFFDE6"/>
                      </a:solidFill>
                      <a:prstDash val="solid"/>
                      <a:round/>
                      <a:headEnd type="none" w="med" len="med"/>
                      <a:tailEnd type="none" w="med" len="med"/>
                    </a:lnR>
                    <a:lnT w="12700" cap="flat" cmpd="sng" algn="ctr">
                      <a:solidFill>
                        <a:srgbClr val="C3D4CC"/>
                      </a:solidFill>
                      <a:prstDash val="solid"/>
                      <a:round/>
                      <a:headEnd type="none" w="med" len="med"/>
                      <a:tailEnd type="none" w="med" len="med"/>
                    </a:lnT>
                    <a:lnB w="12700" cap="flat" cmpd="sng" algn="ctr">
                      <a:solidFill>
                        <a:srgbClr val="C3D4CC"/>
                      </a:solidFill>
                      <a:prstDash val="solid"/>
                      <a:round/>
                      <a:headEnd type="none" w="med" len="med"/>
                      <a:tailEnd type="none" w="med" len="med"/>
                    </a:lnB>
                  </a:tcPr>
                </a:tc>
                <a:tc>
                  <a:txBody>
                    <a:bodyPr/>
                    <a:lstStyle/>
                    <a:p>
                      <a:pPr algn="l" indent="0" marL="0">
                        <a:buNone/>
                      </a:pPr>
                      <a:r>
                        <a:rPr lang="en-US" sz="1000" dirty="0">
                          <a:solidFill>
                            <a:srgbClr val="3B4E4E"/>
                          </a:solidFill>
                          <a:latin typeface="Overpass" pitchFamily="34" charset="0"/>
                          <a:ea typeface="Overpass" pitchFamily="34" charset="-122"/>
                          <a:cs typeface="Overpass" pitchFamily="34" charset="-120"/>
                        </a:rPr>
                        <a:t>No labelled fraud cases → unsupervised. Isolation Forest finds claims that look different from the normal pattern without requiring fraud labels.</a:t>
                      </a:r>
                      <a:endParaRPr lang="en-US" sz="1000" dirty="0">
                        <a:latin typeface="Overpass" charset="0"/>
                        <a:ea typeface="Overpass" charset="0"/>
                        <a:cs typeface="Overpass" charset="0"/>
                      </a:endParaRPr>
                    </a:p>
                  </a:txBody>
                  <a:tcPr marL="129212" marR="129212" marT="6350" marB="6350" anchor="ctr">
                    <a:lnL w="12700" cap="flat" cmpd="sng" algn="ctr">
                      <a:solidFill>
                        <a:srgbClr val="FFFDE6"/>
                      </a:solidFill>
                      <a:prstDash val="solid"/>
                      <a:round/>
                      <a:headEnd type="none" w="med" len="med"/>
                      <a:tailEnd type="none" w="med" len="med"/>
                    </a:lnL>
                    <a:lnR w="12700" cap="flat" cmpd="sng" algn="ctr">
                      <a:solidFill>
                        <a:srgbClr val="C3D4CC"/>
                      </a:solidFill>
                      <a:prstDash val="solid"/>
                      <a:round/>
                      <a:headEnd type="none" w="med" len="med"/>
                      <a:tailEnd type="none" w="med" len="med"/>
                    </a:lnR>
                    <a:lnT w="12700" cap="flat" cmpd="sng" algn="ctr">
                      <a:solidFill>
                        <a:srgbClr val="C3D4CC"/>
                      </a:solidFill>
                      <a:prstDash val="solid"/>
                      <a:round/>
                      <a:headEnd type="none" w="med" len="med"/>
                      <a:tailEnd type="none" w="med" len="med"/>
                    </a:lnT>
                    <a:lnB w="12700" cap="flat" cmpd="sng" algn="ctr">
                      <a:solidFill>
                        <a:srgbClr val="C3D4CC"/>
                      </a:solidFill>
                      <a:prstDash val="solid"/>
                      <a:round/>
                      <a:headEnd type="none" w="med" len="med"/>
                      <a:tailEnd type="none" w="med" len="med"/>
                    </a:lnB>
                  </a:tcPr>
                </a:tc>
              </a:tr>
              <a:tr h="876278">
                <a:tc>
                  <a:txBody>
                    <a:bodyPr/>
                    <a:lstStyle/>
                    <a:p>
                      <a:pPr algn="l" indent="0" marL="0">
                        <a:buNone/>
                      </a:pPr>
                      <a:r>
                        <a:rPr lang="en-US" sz="1000" dirty="0">
                          <a:solidFill>
                            <a:srgbClr val="3B4E4E"/>
                          </a:solidFill>
                          <a:latin typeface="Overpass" pitchFamily="34" charset="0"/>
                          <a:ea typeface="Overpass" pitchFamily="34" charset="-122"/>
                          <a:cs typeface="Overpass" pitchFamily="34" charset="-120"/>
                        </a:rPr>
                        <a:t>Enrolment prediction</a:t>
                      </a:r>
                      <a:endParaRPr lang="en-US" sz="1000" dirty="0">
                        <a:latin typeface="Overpass" charset="0"/>
                        <a:ea typeface="Overpass" charset="0"/>
                        <a:cs typeface="Overpass" charset="0"/>
                      </a:endParaRPr>
                    </a:p>
                  </a:txBody>
                  <a:tcPr marL="129212" marR="129212" marT="6350" marB="6350" anchor="ctr">
                    <a:lnL w="12700" cap="flat" cmpd="sng" algn="ctr">
                      <a:solidFill>
                        <a:srgbClr val="C3D4CC"/>
                      </a:solidFill>
                      <a:prstDash val="solid"/>
                      <a:round/>
                      <a:headEnd type="none" w="med" len="med"/>
                      <a:tailEnd type="none" w="med" len="med"/>
                    </a:lnL>
                    <a:lnR w="12700" cap="flat" cmpd="sng" algn="ctr">
                      <a:solidFill>
                        <a:srgbClr val="FFFDE6"/>
                      </a:solidFill>
                      <a:prstDash val="solid"/>
                      <a:round/>
                      <a:headEnd type="none" w="med" len="med"/>
                      <a:tailEnd type="none" w="med" len="med"/>
                    </a:lnR>
                    <a:lnT w="12700" cap="flat" cmpd="sng" algn="ctr">
                      <a:solidFill>
                        <a:srgbClr val="C3D4CC"/>
                      </a:solidFill>
                      <a:prstDash val="solid"/>
                      <a:round/>
                      <a:headEnd type="none" w="med" len="med"/>
                      <a:tailEnd type="none" w="med" len="med"/>
                    </a:lnT>
                    <a:lnB w="12700" cap="flat" cmpd="sng" algn="ctr">
                      <a:solidFill>
                        <a:srgbClr val="C3D4CC"/>
                      </a:solidFill>
                      <a:prstDash val="solid"/>
                      <a:round/>
                      <a:headEnd type="none" w="med" len="med"/>
                      <a:tailEnd type="none" w="med" len="med"/>
                    </a:lnB>
                  </a:tcPr>
                </a:tc>
                <a:tc>
                  <a:txBody>
                    <a:bodyPr/>
                    <a:lstStyle/>
                    <a:p>
                      <a:pPr algn="l" indent="0" marL="0">
                        <a:buNone/>
                      </a:pPr>
                      <a:r>
                        <a:rPr lang="en-US" sz="1000" dirty="0">
                          <a:solidFill>
                            <a:srgbClr val="3B4E4E"/>
                          </a:solidFill>
                          <a:latin typeface="Overpass" pitchFamily="34" charset="0"/>
                          <a:ea typeface="Overpass" pitchFamily="34" charset="-122"/>
                          <a:cs typeface="Overpass" pitchFamily="34" charset="-120"/>
                        </a:rPr>
                        <a:t>Classification</a:t>
                      </a:r>
                      <a:endParaRPr lang="en-US" sz="1000" dirty="0">
                        <a:latin typeface="Overpass" charset="0"/>
                        <a:ea typeface="Overpass" charset="0"/>
                        <a:cs typeface="Overpass" charset="0"/>
                      </a:endParaRPr>
                    </a:p>
                  </a:txBody>
                  <a:tcPr marL="129212" marR="129212" marT="6350" marB="6350" anchor="ctr">
                    <a:lnL w="12700" cap="flat" cmpd="sng" algn="ctr">
                      <a:solidFill>
                        <a:srgbClr val="FFFDE6"/>
                      </a:solidFill>
                      <a:prstDash val="solid"/>
                      <a:round/>
                      <a:headEnd type="none" w="med" len="med"/>
                      <a:tailEnd type="none" w="med" len="med"/>
                    </a:lnL>
                    <a:lnR w="12700" cap="flat" cmpd="sng" algn="ctr">
                      <a:solidFill>
                        <a:srgbClr val="FFFDE6"/>
                      </a:solidFill>
                      <a:prstDash val="solid"/>
                      <a:round/>
                      <a:headEnd type="none" w="med" len="med"/>
                      <a:tailEnd type="none" w="med" len="med"/>
                    </a:lnR>
                    <a:lnT w="12700" cap="flat" cmpd="sng" algn="ctr">
                      <a:solidFill>
                        <a:srgbClr val="C3D4CC"/>
                      </a:solidFill>
                      <a:prstDash val="solid"/>
                      <a:round/>
                      <a:headEnd type="none" w="med" len="med"/>
                      <a:tailEnd type="none" w="med" len="med"/>
                    </a:lnT>
                    <a:lnB w="12700" cap="flat" cmpd="sng" algn="ctr">
                      <a:solidFill>
                        <a:srgbClr val="C3D4CC"/>
                      </a:solidFill>
                      <a:prstDash val="solid"/>
                      <a:round/>
                      <a:headEnd type="none" w="med" len="med"/>
                      <a:tailEnd type="none" w="med" len="med"/>
                    </a:lnB>
                  </a:tcPr>
                </a:tc>
                <a:tc>
                  <a:txBody>
                    <a:bodyPr/>
                    <a:lstStyle/>
                    <a:p>
                      <a:pPr algn="l" indent="0" marL="0">
                        <a:buNone/>
                      </a:pPr>
                      <a:r>
                        <a:rPr lang="en-US" sz="1000" dirty="0">
                          <a:solidFill>
                            <a:srgbClr val="3B4E4E"/>
                          </a:solidFill>
                          <a:latin typeface="Overpass" pitchFamily="34" charset="0"/>
                          <a:ea typeface="Overpass" pitchFamily="34" charset="-122"/>
                          <a:cs typeface="Overpass" pitchFamily="34" charset="-120"/>
                        </a:rPr>
                        <a:t>Logistic Regression</a:t>
                      </a:r>
                      <a:endParaRPr lang="en-US" sz="1000" dirty="0">
                        <a:latin typeface="Overpass" charset="0"/>
                        <a:ea typeface="Overpass" charset="0"/>
                        <a:cs typeface="Overpass" charset="0"/>
                      </a:endParaRPr>
                    </a:p>
                  </a:txBody>
                  <a:tcPr marL="129212" marR="129212" marT="6350" marB="6350" anchor="ctr">
                    <a:lnL w="12700" cap="flat" cmpd="sng" algn="ctr">
                      <a:solidFill>
                        <a:srgbClr val="FFFDE6"/>
                      </a:solidFill>
                      <a:prstDash val="solid"/>
                      <a:round/>
                      <a:headEnd type="none" w="med" len="med"/>
                      <a:tailEnd type="none" w="med" len="med"/>
                    </a:lnL>
                    <a:lnR w="12700" cap="flat" cmpd="sng" algn="ctr">
                      <a:solidFill>
                        <a:srgbClr val="FFFDE6"/>
                      </a:solidFill>
                      <a:prstDash val="solid"/>
                      <a:round/>
                      <a:headEnd type="none" w="med" len="med"/>
                      <a:tailEnd type="none" w="med" len="med"/>
                    </a:lnR>
                    <a:lnT w="12700" cap="flat" cmpd="sng" algn="ctr">
                      <a:solidFill>
                        <a:srgbClr val="C3D4CC"/>
                      </a:solidFill>
                      <a:prstDash val="solid"/>
                      <a:round/>
                      <a:headEnd type="none" w="med" len="med"/>
                      <a:tailEnd type="none" w="med" len="med"/>
                    </a:lnT>
                    <a:lnB w="12700" cap="flat" cmpd="sng" algn="ctr">
                      <a:solidFill>
                        <a:srgbClr val="C3D4CC"/>
                      </a:solidFill>
                      <a:prstDash val="solid"/>
                      <a:round/>
                      <a:headEnd type="none" w="med" len="med"/>
                      <a:tailEnd type="none" w="med" len="med"/>
                    </a:lnB>
                  </a:tcPr>
                </a:tc>
                <a:tc>
                  <a:txBody>
                    <a:bodyPr/>
                    <a:lstStyle/>
                    <a:p>
                      <a:pPr algn="l" indent="0" marL="0">
                        <a:buNone/>
                      </a:pPr>
                      <a:r>
                        <a:rPr lang="en-US" sz="1000" dirty="0">
                          <a:solidFill>
                            <a:srgbClr val="3B4E4E"/>
                          </a:solidFill>
                          <a:latin typeface="Overpass" pitchFamily="34" charset="0"/>
                          <a:ea typeface="Overpass" pitchFamily="34" charset="-122"/>
                          <a:cs typeface="Overpass" pitchFamily="34" charset="-120"/>
                        </a:rPr>
                        <a:t>Binary outcome (enrols / does not enrol). Past admission records provide labels. Logistic regression gives a probability per student, enabling the admissions office to plan offers accordingly.</a:t>
                      </a:r>
                      <a:endParaRPr lang="en-US" sz="1000" dirty="0">
                        <a:latin typeface="Overpass" charset="0"/>
                        <a:ea typeface="Overpass" charset="0"/>
                        <a:cs typeface="Overpass" charset="0"/>
                      </a:endParaRPr>
                    </a:p>
                  </a:txBody>
                  <a:tcPr marL="129212" marR="129212" marT="6350" marB="6350" anchor="ctr">
                    <a:lnL w="12700" cap="flat" cmpd="sng" algn="ctr">
                      <a:solidFill>
                        <a:srgbClr val="FFFDE6"/>
                      </a:solidFill>
                      <a:prstDash val="solid"/>
                      <a:round/>
                      <a:headEnd type="none" w="med" len="med"/>
                      <a:tailEnd type="none" w="med" len="med"/>
                    </a:lnL>
                    <a:lnR w="12700" cap="flat" cmpd="sng" algn="ctr">
                      <a:solidFill>
                        <a:srgbClr val="C3D4CC"/>
                      </a:solidFill>
                      <a:prstDash val="solid"/>
                      <a:round/>
                      <a:headEnd type="none" w="med" len="med"/>
                      <a:tailEnd type="none" w="med" len="med"/>
                    </a:lnR>
                    <a:lnT w="12700" cap="flat" cmpd="sng" algn="ctr">
                      <a:solidFill>
                        <a:srgbClr val="C3D4CC"/>
                      </a:solidFill>
                      <a:prstDash val="solid"/>
                      <a:round/>
                      <a:headEnd type="none" w="med" len="med"/>
                      <a:tailEnd type="none" w="med" len="med"/>
                    </a:lnT>
                    <a:lnB w="12700" cap="flat" cmpd="sng" algn="ctr">
                      <a:solidFill>
                        <a:srgbClr val="C3D4CC"/>
                      </a:solidFill>
                      <a:prstDash val="solid"/>
                      <a:round/>
                      <a:headEnd type="none" w="med" len="med"/>
                      <a:tailEnd type="none" w="med" len="med"/>
                    </a:lnB>
                  </a:tcPr>
                </a:tc>
              </a:tr>
              <a:tr h="692232">
                <a:tc>
                  <a:txBody>
                    <a:bodyPr/>
                    <a:lstStyle/>
                    <a:p>
                      <a:pPr algn="l" indent="0" marL="0">
                        <a:buNone/>
                      </a:pPr>
                      <a:r>
                        <a:rPr lang="en-US" sz="1000" dirty="0">
                          <a:solidFill>
                            <a:srgbClr val="3B4E4E"/>
                          </a:solidFill>
                          <a:latin typeface="Overpass" pitchFamily="34" charset="0"/>
                          <a:ea typeface="Overpass" pitchFamily="34" charset="-122"/>
                          <a:cs typeface="Overpass" pitchFamily="34" charset="-120"/>
                        </a:rPr>
                        <a:t>Fashion customer segments</a:t>
                      </a:r>
                      <a:endParaRPr lang="en-US" sz="1000" dirty="0">
                        <a:latin typeface="Overpass" charset="0"/>
                        <a:ea typeface="Overpass" charset="0"/>
                        <a:cs typeface="Overpass" charset="0"/>
                      </a:endParaRPr>
                    </a:p>
                  </a:txBody>
                  <a:tcPr marL="129212" marR="129212" marT="6350" marB="6350" anchor="ctr">
                    <a:lnL w="12700" cap="flat" cmpd="sng" algn="ctr">
                      <a:solidFill>
                        <a:srgbClr val="C3D4CC"/>
                      </a:solidFill>
                      <a:prstDash val="solid"/>
                      <a:round/>
                      <a:headEnd type="none" w="med" len="med"/>
                      <a:tailEnd type="none" w="med" len="med"/>
                    </a:lnL>
                    <a:lnR w="12700" cap="flat" cmpd="sng" algn="ctr">
                      <a:solidFill>
                        <a:srgbClr val="FFFDE6"/>
                      </a:solidFill>
                      <a:prstDash val="solid"/>
                      <a:round/>
                      <a:headEnd type="none" w="med" len="med"/>
                      <a:tailEnd type="none" w="med" len="med"/>
                    </a:lnR>
                    <a:lnT w="12700" cap="flat" cmpd="sng" algn="ctr">
                      <a:solidFill>
                        <a:srgbClr val="C3D4CC"/>
                      </a:solidFill>
                      <a:prstDash val="solid"/>
                      <a:round/>
                      <a:headEnd type="none" w="med" len="med"/>
                      <a:tailEnd type="none" w="med" len="med"/>
                    </a:lnT>
                    <a:lnB w="12700" cap="flat" cmpd="sng" algn="ctr">
                      <a:solidFill>
                        <a:srgbClr val="C3D4CC"/>
                      </a:solidFill>
                      <a:prstDash val="solid"/>
                      <a:round/>
                      <a:headEnd type="none" w="med" len="med"/>
                      <a:tailEnd type="none" w="med" len="med"/>
                    </a:lnB>
                  </a:tcPr>
                </a:tc>
                <a:tc>
                  <a:txBody>
                    <a:bodyPr/>
                    <a:lstStyle/>
                    <a:p>
                      <a:pPr algn="l" indent="0" marL="0">
                        <a:buNone/>
                      </a:pPr>
                      <a:r>
                        <a:rPr lang="en-US" sz="1000" dirty="0">
                          <a:solidFill>
                            <a:srgbClr val="3B4E4E"/>
                          </a:solidFill>
                          <a:latin typeface="Overpass" pitchFamily="34" charset="0"/>
                          <a:ea typeface="Overpass" pitchFamily="34" charset="-122"/>
                          <a:cs typeface="Overpass" pitchFamily="34" charset="-120"/>
                        </a:rPr>
                        <a:t>Clustering</a:t>
                      </a:r>
                      <a:endParaRPr lang="en-US" sz="1000" dirty="0">
                        <a:latin typeface="Overpass" charset="0"/>
                        <a:ea typeface="Overpass" charset="0"/>
                        <a:cs typeface="Overpass" charset="0"/>
                      </a:endParaRPr>
                    </a:p>
                  </a:txBody>
                  <a:tcPr marL="129212" marR="129212" marT="6350" marB="6350" anchor="ctr">
                    <a:lnL w="12700" cap="flat" cmpd="sng" algn="ctr">
                      <a:solidFill>
                        <a:srgbClr val="FFFDE6"/>
                      </a:solidFill>
                      <a:prstDash val="solid"/>
                      <a:round/>
                      <a:headEnd type="none" w="med" len="med"/>
                      <a:tailEnd type="none" w="med" len="med"/>
                    </a:lnL>
                    <a:lnR w="12700" cap="flat" cmpd="sng" algn="ctr">
                      <a:solidFill>
                        <a:srgbClr val="FFFDE6"/>
                      </a:solidFill>
                      <a:prstDash val="solid"/>
                      <a:round/>
                      <a:headEnd type="none" w="med" len="med"/>
                      <a:tailEnd type="none" w="med" len="med"/>
                    </a:lnR>
                    <a:lnT w="12700" cap="flat" cmpd="sng" algn="ctr">
                      <a:solidFill>
                        <a:srgbClr val="C3D4CC"/>
                      </a:solidFill>
                      <a:prstDash val="solid"/>
                      <a:round/>
                      <a:headEnd type="none" w="med" len="med"/>
                      <a:tailEnd type="none" w="med" len="med"/>
                    </a:lnT>
                    <a:lnB w="12700" cap="flat" cmpd="sng" algn="ctr">
                      <a:solidFill>
                        <a:srgbClr val="C3D4CC"/>
                      </a:solidFill>
                      <a:prstDash val="solid"/>
                      <a:round/>
                      <a:headEnd type="none" w="med" len="med"/>
                      <a:tailEnd type="none" w="med" len="med"/>
                    </a:lnB>
                  </a:tcPr>
                </a:tc>
                <a:tc>
                  <a:txBody>
                    <a:bodyPr/>
                    <a:lstStyle/>
                    <a:p>
                      <a:pPr algn="l" indent="0" marL="0">
                        <a:buNone/>
                      </a:pPr>
                      <a:r>
                        <a:rPr lang="en-US" sz="1000" dirty="0">
                          <a:solidFill>
                            <a:srgbClr val="3B4E4E"/>
                          </a:solidFill>
                          <a:latin typeface="Overpass" pitchFamily="34" charset="0"/>
                          <a:ea typeface="Overpass" pitchFamily="34" charset="-122"/>
                          <a:cs typeface="Overpass" pitchFamily="34" charset="-120"/>
                        </a:rPr>
                        <a:t>K-Means</a:t>
                      </a:r>
                      <a:endParaRPr lang="en-US" sz="1000" dirty="0">
                        <a:latin typeface="Overpass" charset="0"/>
                        <a:ea typeface="Overpass" charset="0"/>
                        <a:cs typeface="Overpass" charset="0"/>
                      </a:endParaRPr>
                    </a:p>
                  </a:txBody>
                  <a:tcPr marL="129212" marR="129212" marT="6350" marB="6350" anchor="ctr">
                    <a:lnL w="12700" cap="flat" cmpd="sng" algn="ctr">
                      <a:solidFill>
                        <a:srgbClr val="FFFDE6"/>
                      </a:solidFill>
                      <a:prstDash val="solid"/>
                      <a:round/>
                      <a:headEnd type="none" w="med" len="med"/>
                      <a:tailEnd type="none" w="med" len="med"/>
                    </a:lnL>
                    <a:lnR w="12700" cap="flat" cmpd="sng" algn="ctr">
                      <a:solidFill>
                        <a:srgbClr val="FFFDE6"/>
                      </a:solidFill>
                      <a:prstDash val="solid"/>
                      <a:round/>
                      <a:headEnd type="none" w="med" len="med"/>
                      <a:tailEnd type="none" w="med" len="med"/>
                    </a:lnR>
                    <a:lnT w="12700" cap="flat" cmpd="sng" algn="ctr">
                      <a:solidFill>
                        <a:srgbClr val="C3D4CC"/>
                      </a:solidFill>
                      <a:prstDash val="solid"/>
                      <a:round/>
                      <a:headEnd type="none" w="med" len="med"/>
                      <a:tailEnd type="none" w="med" len="med"/>
                    </a:lnT>
                    <a:lnB w="12700" cap="flat" cmpd="sng" algn="ctr">
                      <a:solidFill>
                        <a:srgbClr val="C3D4CC"/>
                      </a:solidFill>
                      <a:prstDash val="solid"/>
                      <a:round/>
                      <a:headEnd type="none" w="med" len="med"/>
                      <a:tailEnd type="none" w="med" len="med"/>
                    </a:lnB>
                  </a:tcPr>
                </a:tc>
                <a:tc>
                  <a:txBody>
                    <a:bodyPr/>
                    <a:lstStyle/>
                    <a:p>
                      <a:pPr algn="l" indent="0" marL="0">
                        <a:buNone/>
                      </a:pPr>
                      <a:r>
                        <a:rPr lang="en-US" sz="1000" dirty="0">
                          <a:solidFill>
                            <a:srgbClr val="3B4E4E"/>
                          </a:solidFill>
                          <a:latin typeface="Overpass" pitchFamily="34" charset="0"/>
                          <a:ea typeface="Overpass" pitchFamily="34" charset="-122"/>
                          <a:cs typeface="Overpass" pitchFamily="34" charset="-120"/>
                        </a:rPr>
                        <a:t>No predefined groups → unsupervised. K-Means on RFM features will surface distinct customer archetypes for targeted campaigns.</a:t>
                      </a:r>
                      <a:endParaRPr lang="en-US" sz="1000" dirty="0">
                        <a:latin typeface="Overpass" charset="0"/>
                        <a:ea typeface="Overpass" charset="0"/>
                        <a:cs typeface="Overpass" charset="0"/>
                      </a:endParaRPr>
                    </a:p>
                  </a:txBody>
                  <a:tcPr marL="129212" marR="129212" marT="6350" marB="6350" anchor="ctr">
                    <a:lnL w="12700" cap="flat" cmpd="sng" algn="ctr">
                      <a:solidFill>
                        <a:srgbClr val="FFFDE6"/>
                      </a:solidFill>
                      <a:prstDash val="solid"/>
                      <a:round/>
                      <a:headEnd type="none" w="med" len="med"/>
                      <a:tailEnd type="none" w="med" len="med"/>
                    </a:lnL>
                    <a:lnR w="12700" cap="flat" cmpd="sng" algn="ctr">
                      <a:solidFill>
                        <a:srgbClr val="C3D4CC"/>
                      </a:solidFill>
                      <a:prstDash val="solid"/>
                      <a:round/>
                      <a:headEnd type="none" w="med" len="med"/>
                      <a:tailEnd type="none" w="med" len="med"/>
                    </a:lnR>
                    <a:lnT w="12700" cap="flat" cmpd="sng" algn="ctr">
                      <a:solidFill>
                        <a:srgbClr val="C3D4CC"/>
                      </a:solidFill>
                      <a:prstDash val="solid"/>
                      <a:round/>
                      <a:headEnd type="none" w="med" len="med"/>
                      <a:tailEnd type="none" w="med" len="med"/>
                    </a:lnT>
                    <a:lnB w="12700" cap="flat" cmpd="sng" algn="ctr">
                      <a:solidFill>
                        <a:srgbClr val="C3D4CC"/>
                      </a:solidFill>
                      <a:prstDash val="solid"/>
                      <a:round/>
                      <a:headEnd type="none" w="med" len="med"/>
                      <a:tailEnd type="none" w="med" len="med"/>
                    </a:lnB>
                  </a:tcPr>
                </a:tc>
              </a:tr>
              <a:tr h="692232">
                <a:tc>
                  <a:txBody>
                    <a:bodyPr/>
                    <a:lstStyle/>
                    <a:p>
                      <a:pPr algn="l" indent="0" marL="0">
                        <a:buNone/>
                      </a:pPr>
                      <a:r>
                        <a:rPr lang="en-US" sz="1000" dirty="0">
                          <a:solidFill>
                            <a:srgbClr val="3B4E4E"/>
                          </a:solidFill>
                          <a:latin typeface="Overpass" pitchFamily="34" charset="0"/>
                          <a:ea typeface="Overpass" pitchFamily="34" charset="-122"/>
                          <a:cs typeface="Overpass" pitchFamily="34" charset="-120"/>
                        </a:rPr>
                        <a:t>Music song suggestions</a:t>
                      </a:r>
                      <a:endParaRPr lang="en-US" sz="1000" dirty="0">
                        <a:latin typeface="Overpass" charset="0"/>
                        <a:ea typeface="Overpass" charset="0"/>
                        <a:cs typeface="Overpass" charset="0"/>
                      </a:endParaRPr>
                    </a:p>
                  </a:txBody>
                  <a:tcPr marL="129212" marR="129212" marT="6350" marB="6350" anchor="ctr">
                    <a:lnL w="12700" cap="flat" cmpd="sng" algn="ctr">
                      <a:solidFill>
                        <a:srgbClr val="C3D4CC"/>
                      </a:solidFill>
                      <a:prstDash val="solid"/>
                      <a:round/>
                      <a:headEnd type="none" w="med" len="med"/>
                      <a:tailEnd type="none" w="med" len="med"/>
                    </a:lnL>
                    <a:lnR w="12700" cap="flat" cmpd="sng" algn="ctr">
                      <a:solidFill>
                        <a:srgbClr val="FFFDE6"/>
                      </a:solidFill>
                      <a:prstDash val="solid"/>
                      <a:round/>
                      <a:headEnd type="none" w="med" len="med"/>
                      <a:tailEnd type="none" w="med" len="med"/>
                    </a:lnR>
                    <a:lnT w="12700" cap="flat" cmpd="sng" algn="ctr">
                      <a:solidFill>
                        <a:srgbClr val="C3D4CC"/>
                      </a:solidFill>
                      <a:prstDash val="solid"/>
                      <a:round/>
                      <a:headEnd type="none" w="med" len="med"/>
                      <a:tailEnd type="none" w="med" len="med"/>
                    </a:lnT>
                    <a:lnB w="12700" cap="flat" cmpd="sng" algn="ctr">
                      <a:solidFill>
                        <a:srgbClr val="C3D4CC"/>
                      </a:solidFill>
                      <a:prstDash val="solid"/>
                      <a:round/>
                      <a:headEnd type="none" w="med" len="med"/>
                      <a:tailEnd type="none" w="med" len="med"/>
                    </a:lnB>
                  </a:tcPr>
                </a:tc>
                <a:tc>
                  <a:txBody>
                    <a:bodyPr/>
                    <a:lstStyle/>
                    <a:p>
                      <a:pPr algn="l" indent="0" marL="0">
                        <a:buNone/>
                      </a:pPr>
                      <a:r>
                        <a:rPr lang="en-US" sz="1000" dirty="0">
                          <a:solidFill>
                            <a:srgbClr val="3B4E4E"/>
                          </a:solidFill>
                          <a:latin typeface="Overpass" pitchFamily="34" charset="0"/>
                          <a:ea typeface="Overpass" pitchFamily="34" charset="-122"/>
                          <a:cs typeface="Overpass" pitchFamily="34" charset="-120"/>
                        </a:rPr>
                        <a:t>Recommendation</a:t>
                      </a:r>
                      <a:endParaRPr lang="en-US" sz="1000" dirty="0">
                        <a:latin typeface="Overpass" charset="0"/>
                        <a:ea typeface="Overpass" charset="0"/>
                        <a:cs typeface="Overpass" charset="0"/>
                      </a:endParaRPr>
                    </a:p>
                  </a:txBody>
                  <a:tcPr marL="129212" marR="129212" marT="6350" marB="6350" anchor="ctr">
                    <a:lnL w="12700" cap="flat" cmpd="sng" algn="ctr">
                      <a:solidFill>
                        <a:srgbClr val="FFFDE6"/>
                      </a:solidFill>
                      <a:prstDash val="solid"/>
                      <a:round/>
                      <a:headEnd type="none" w="med" len="med"/>
                      <a:tailEnd type="none" w="med" len="med"/>
                    </a:lnL>
                    <a:lnR w="12700" cap="flat" cmpd="sng" algn="ctr">
                      <a:solidFill>
                        <a:srgbClr val="FFFDE6"/>
                      </a:solidFill>
                      <a:prstDash val="solid"/>
                      <a:round/>
                      <a:headEnd type="none" w="med" len="med"/>
                      <a:tailEnd type="none" w="med" len="med"/>
                    </a:lnR>
                    <a:lnT w="12700" cap="flat" cmpd="sng" algn="ctr">
                      <a:solidFill>
                        <a:srgbClr val="C3D4CC"/>
                      </a:solidFill>
                      <a:prstDash val="solid"/>
                      <a:round/>
                      <a:headEnd type="none" w="med" len="med"/>
                      <a:tailEnd type="none" w="med" len="med"/>
                    </a:lnT>
                    <a:lnB w="12700" cap="flat" cmpd="sng" algn="ctr">
                      <a:solidFill>
                        <a:srgbClr val="C3D4CC"/>
                      </a:solidFill>
                      <a:prstDash val="solid"/>
                      <a:round/>
                      <a:headEnd type="none" w="med" len="med"/>
                      <a:tailEnd type="none" w="med" len="med"/>
                    </a:lnB>
                  </a:tcPr>
                </a:tc>
                <a:tc>
                  <a:txBody>
                    <a:bodyPr/>
                    <a:lstStyle/>
                    <a:p>
                      <a:pPr algn="l" indent="0" marL="0">
                        <a:buNone/>
                      </a:pPr>
                      <a:r>
                        <a:rPr lang="en-US" sz="1000" dirty="0">
                          <a:solidFill>
                            <a:srgbClr val="3B4E4E"/>
                          </a:solidFill>
                          <a:latin typeface="Overpass" pitchFamily="34" charset="0"/>
                          <a:ea typeface="Overpass" pitchFamily="34" charset="-122"/>
                          <a:cs typeface="Overpass" pitchFamily="34" charset="-120"/>
                        </a:rPr>
                        <a:t>Collaborative Filtering</a:t>
                      </a:r>
                      <a:endParaRPr lang="en-US" sz="1000" dirty="0">
                        <a:latin typeface="Overpass" charset="0"/>
                        <a:ea typeface="Overpass" charset="0"/>
                        <a:cs typeface="Overpass" charset="0"/>
                      </a:endParaRPr>
                    </a:p>
                  </a:txBody>
                  <a:tcPr marL="129212" marR="129212" marT="6350" marB="6350" anchor="ctr">
                    <a:lnL w="12700" cap="flat" cmpd="sng" algn="ctr">
                      <a:solidFill>
                        <a:srgbClr val="FFFDE6"/>
                      </a:solidFill>
                      <a:prstDash val="solid"/>
                      <a:round/>
                      <a:headEnd type="none" w="med" len="med"/>
                      <a:tailEnd type="none" w="med" len="med"/>
                    </a:lnL>
                    <a:lnR w="12700" cap="flat" cmpd="sng" algn="ctr">
                      <a:solidFill>
                        <a:srgbClr val="FFFDE6"/>
                      </a:solidFill>
                      <a:prstDash val="solid"/>
                      <a:round/>
                      <a:headEnd type="none" w="med" len="med"/>
                      <a:tailEnd type="none" w="med" len="med"/>
                    </a:lnR>
                    <a:lnT w="12700" cap="flat" cmpd="sng" algn="ctr">
                      <a:solidFill>
                        <a:srgbClr val="C3D4CC"/>
                      </a:solidFill>
                      <a:prstDash val="solid"/>
                      <a:round/>
                      <a:headEnd type="none" w="med" len="med"/>
                      <a:tailEnd type="none" w="med" len="med"/>
                    </a:lnT>
                    <a:lnB w="12700" cap="flat" cmpd="sng" algn="ctr">
                      <a:solidFill>
                        <a:srgbClr val="C3D4CC"/>
                      </a:solidFill>
                      <a:prstDash val="solid"/>
                      <a:round/>
                      <a:headEnd type="none" w="med" len="med"/>
                      <a:tailEnd type="none" w="med" len="med"/>
                    </a:lnB>
                  </a:tcPr>
                </a:tc>
                <a:tc>
                  <a:txBody>
                    <a:bodyPr/>
                    <a:lstStyle/>
                    <a:p>
                      <a:pPr algn="l" indent="0" marL="0">
                        <a:buNone/>
                      </a:pPr>
                      <a:r>
                        <a:rPr lang="en-US" sz="1000" dirty="0">
                          <a:solidFill>
                            <a:srgbClr val="3B4E4E"/>
                          </a:solidFill>
                          <a:latin typeface="Overpass" pitchFamily="34" charset="0"/>
                          <a:ea typeface="Overpass" pitchFamily="34" charset="-122"/>
                          <a:cs typeface="Overpass" pitchFamily="34" charset="-120"/>
                        </a:rPr>
                        <a:t>Behaviour-based recommendations. No need to know song genre or lyrics — patterns across users' listening histories are sufficient.</a:t>
                      </a:r>
                      <a:endParaRPr lang="en-US" sz="1000" dirty="0">
                        <a:latin typeface="Overpass" charset="0"/>
                        <a:ea typeface="Overpass" charset="0"/>
                        <a:cs typeface="Overpass" charset="0"/>
                      </a:endParaRPr>
                    </a:p>
                  </a:txBody>
                  <a:tcPr marL="129212" marR="129212" marT="6350" marB="6350" anchor="ctr">
                    <a:lnL w="12700" cap="flat" cmpd="sng" algn="ctr">
                      <a:solidFill>
                        <a:srgbClr val="FFFDE6"/>
                      </a:solidFill>
                      <a:prstDash val="solid"/>
                      <a:round/>
                      <a:headEnd type="none" w="med" len="med"/>
                      <a:tailEnd type="none" w="med" len="med"/>
                    </a:lnL>
                    <a:lnR w="12700" cap="flat" cmpd="sng" algn="ctr">
                      <a:solidFill>
                        <a:srgbClr val="C3D4CC"/>
                      </a:solidFill>
                      <a:prstDash val="solid"/>
                      <a:round/>
                      <a:headEnd type="none" w="med" len="med"/>
                      <a:tailEnd type="none" w="med" len="med"/>
                    </a:lnR>
                    <a:lnT w="12700" cap="flat" cmpd="sng" algn="ctr">
                      <a:solidFill>
                        <a:srgbClr val="C3D4CC"/>
                      </a:solidFill>
                      <a:prstDash val="solid"/>
                      <a:round/>
                      <a:headEnd type="none" w="med" len="med"/>
                      <a:tailEnd type="none" w="med" len="med"/>
                    </a:lnT>
                    <a:lnB w="12700" cap="flat" cmpd="sng" algn="ctr">
                      <a:solidFill>
                        <a:srgbClr val="C3D4CC"/>
                      </a:solidFill>
                      <a:prstDash val="solid"/>
                      <a:round/>
                      <a:headEnd type="none" w="med" len="med"/>
                      <a:tailEnd type="none" w="med" len="med"/>
                    </a:lnB>
                  </a:tcPr>
                </a:tc>
              </a:tr>
              <a:tr h="873103">
                <a:tc>
                  <a:txBody>
                    <a:bodyPr/>
                    <a:lstStyle/>
                    <a:p>
                      <a:pPr algn="l" indent="0" marL="0">
                        <a:buNone/>
                      </a:pPr>
                      <a:r>
                        <a:rPr lang="en-US" sz="1000" dirty="0">
                          <a:solidFill>
                            <a:srgbClr val="3B4E4E"/>
                          </a:solidFill>
                          <a:latin typeface="Overpass" pitchFamily="34" charset="0"/>
                          <a:ea typeface="Overpass" pitchFamily="34" charset="-122"/>
                          <a:cs typeface="Overpass" pitchFamily="34" charset="-120"/>
                        </a:rPr>
                        <a:t>Hospital staffing forecast</a:t>
                      </a:r>
                      <a:endParaRPr lang="en-US" sz="1000" dirty="0">
                        <a:latin typeface="Overpass" charset="0"/>
                        <a:ea typeface="Overpass" charset="0"/>
                        <a:cs typeface="Overpass" charset="0"/>
                      </a:endParaRPr>
                    </a:p>
                  </a:txBody>
                  <a:tcPr marL="129212" marR="129212" marT="6350" marB="6350" anchor="ctr">
                    <a:lnL w="12700" cap="flat" cmpd="sng" algn="ctr">
                      <a:solidFill>
                        <a:srgbClr val="C3D4CC"/>
                      </a:solidFill>
                      <a:prstDash val="solid"/>
                      <a:round/>
                      <a:headEnd type="none" w="med" len="med"/>
                      <a:tailEnd type="none" w="med" len="med"/>
                    </a:lnL>
                    <a:lnR w="12700" cap="flat" cmpd="sng" algn="ctr">
                      <a:solidFill>
                        <a:srgbClr val="FFFDE6"/>
                      </a:solidFill>
                      <a:prstDash val="solid"/>
                      <a:round/>
                      <a:headEnd type="none" w="med" len="med"/>
                      <a:tailEnd type="none" w="med" len="med"/>
                    </a:lnR>
                    <a:lnT w="12700" cap="flat" cmpd="sng" algn="ctr">
                      <a:solidFill>
                        <a:srgbClr val="C3D4CC"/>
                      </a:solidFill>
                      <a:prstDash val="solid"/>
                      <a:round/>
                      <a:headEnd type="none" w="med" len="med"/>
                      <a:tailEnd type="none" w="med" len="med"/>
                    </a:lnT>
                    <a:lnB w="12700" cap="flat" cmpd="sng" algn="ctr">
                      <a:solidFill>
                        <a:srgbClr val="C3D4CC"/>
                      </a:solidFill>
                      <a:prstDash val="solid"/>
                      <a:round/>
                      <a:headEnd type="none" w="med" len="med"/>
                      <a:tailEnd type="none" w="med" len="med"/>
                    </a:lnB>
                  </a:tcPr>
                </a:tc>
                <a:tc>
                  <a:txBody>
                    <a:bodyPr/>
                    <a:lstStyle/>
                    <a:p>
                      <a:pPr algn="l" indent="0" marL="0">
                        <a:buNone/>
                      </a:pPr>
                      <a:r>
                        <a:rPr lang="en-US" sz="1000" dirty="0">
                          <a:solidFill>
                            <a:srgbClr val="3B4E4E"/>
                          </a:solidFill>
                          <a:latin typeface="Overpass" pitchFamily="34" charset="0"/>
                          <a:ea typeface="Overpass" pitchFamily="34" charset="-122"/>
                          <a:cs typeface="Overpass" pitchFamily="34" charset="-120"/>
                        </a:rPr>
                        <a:t>Time series forecasting</a:t>
                      </a:r>
                      <a:endParaRPr lang="en-US" sz="1000" dirty="0">
                        <a:latin typeface="Overpass" charset="0"/>
                        <a:ea typeface="Overpass" charset="0"/>
                        <a:cs typeface="Overpass" charset="0"/>
                      </a:endParaRPr>
                    </a:p>
                  </a:txBody>
                  <a:tcPr marL="129212" marR="129212" marT="6350" marB="6350" anchor="ctr">
                    <a:lnL w="12700" cap="flat" cmpd="sng" algn="ctr">
                      <a:solidFill>
                        <a:srgbClr val="FFFDE6"/>
                      </a:solidFill>
                      <a:prstDash val="solid"/>
                      <a:round/>
                      <a:headEnd type="none" w="med" len="med"/>
                      <a:tailEnd type="none" w="med" len="med"/>
                    </a:lnL>
                    <a:lnR w="12700" cap="flat" cmpd="sng" algn="ctr">
                      <a:solidFill>
                        <a:srgbClr val="FFFDE6"/>
                      </a:solidFill>
                      <a:prstDash val="solid"/>
                      <a:round/>
                      <a:headEnd type="none" w="med" len="med"/>
                      <a:tailEnd type="none" w="med" len="med"/>
                    </a:lnR>
                    <a:lnT w="12700" cap="flat" cmpd="sng" algn="ctr">
                      <a:solidFill>
                        <a:srgbClr val="C3D4CC"/>
                      </a:solidFill>
                      <a:prstDash val="solid"/>
                      <a:round/>
                      <a:headEnd type="none" w="med" len="med"/>
                      <a:tailEnd type="none" w="med" len="med"/>
                    </a:lnT>
                    <a:lnB w="12700" cap="flat" cmpd="sng" algn="ctr">
                      <a:solidFill>
                        <a:srgbClr val="C3D4CC"/>
                      </a:solidFill>
                      <a:prstDash val="solid"/>
                      <a:round/>
                      <a:headEnd type="none" w="med" len="med"/>
                      <a:tailEnd type="none" w="med" len="med"/>
                    </a:lnB>
                  </a:tcPr>
                </a:tc>
                <a:tc>
                  <a:txBody>
                    <a:bodyPr/>
                    <a:lstStyle/>
                    <a:p>
                      <a:pPr algn="l" indent="0" marL="0">
                        <a:buNone/>
                      </a:pPr>
                      <a:r>
                        <a:rPr lang="en-US" sz="1000" dirty="0">
                          <a:solidFill>
                            <a:srgbClr val="3B4E4E"/>
                          </a:solidFill>
                          <a:latin typeface="Overpass" pitchFamily="34" charset="0"/>
                          <a:ea typeface="Overpass" pitchFamily="34" charset="-122"/>
                          <a:cs typeface="Overpass" pitchFamily="34" charset="-120"/>
                        </a:rPr>
                        <a:t>ARIMA / Prophet</a:t>
                      </a:r>
                      <a:endParaRPr lang="en-US" sz="1000" dirty="0">
                        <a:latin typeface="Overpass" charset="0"/>
                        <a:ea typeface="Overpass" charset="0"/>
                        <a:cs typeface="Overpass" charset="0"/>
                      </a:endParaRPr>
                    </a:p>
                  </a:txBody>
                  <a:tcPr marL="129212" marR="129212" marT="6350" marB="6350" anchor="ctr">
                    <a:lnL w="12700" cap="flat" cmpd="sng" algn="ctr">
                      <a:solidFill>
                        <a:srgbClr val="FFFDE6"/>
                      </a:solidFill>
                      <a:prstDash val="solid"/>
                      <a:round/>
                      <a:headEnd type="none" w="med" len="med"/>
                      <a:tailEnd type="none" w="med" len="med"/>
                    </a:lnL>
                    <a:lnR w="12700" cap="flat" cmpd="sng" algn="ctr">
                      <a:solidFill>
                        <a:srgbClr val="FFFDE6"/>
                      </a:solidFill>
                      <a:prstDash val="solid"/>
                      <a:round/>
                      <a:headEnd type="none" w="med" len="med"/>
                      <a:tailEnd type="none" w="med" len="med"/>
                    </a:lnR>
                    <a:lnT w="12700" cap="flat" cmpd="sng" algn="ctr">
                      <a:solidFill>
                        <a:srgbClr val="C3D4CC"/>
                      </a:solidFill>
                      <a:prstDash val="solid"/>
                      <a:round/>
                      <a:headEnd type="none" w="med" len="med"/>
                      <a:tailEnd type="none" w="med" len="med"/>
                    </a:lnT>
                    <a:lnB w="12700" cap="flat" cmpd="sng" algn="ctr">
                      <a:solidFill>
                        <a:srgbClr val="C3D4CC"/>
                      </a:solidFill>
                      <a:prstDash val="solid"/>
                      <a:round/>
                      <a:headEnd type="none" w="med" len="med"/>
                      <a:tailEnd type="none" w="med" len="med"/>
                    </a:lnB>
                  </a:tcPr>
                </a:tc>
                <a:tc>
                  <a:txBody>
                    <a:bodyPr/>
                    <a:lstStyle/>
                    <a:p>
                      <a:pPr algn="l" indent="0" marL="0">
                        <a:buNone/>
                      </a:pPr>
                      <a:r>
                        <a:rPr lang="en-US" sz="1000" dirty="0">
                          <a:solidFill>
                            <a:srgbClr val="3B4E4E"/>
                          </a:solidFill>
                          <a:latin typeface="Overpass" pitchFamily="34" charset="0"/>
                          <a:ea typeface="Overpass" pitchFamily="34" charset="-122"/>
                          <a:cs typeface="Overpass" pitchFamily="34" charset="-120"/>
                        </a:rPr>
                        <a:t>Demand is ordered by time and shows weekly and seasonal patterns. Prophet handles multiple seasonality levels and holiday effects with minimal configuration.</a:t>
                      </a:r>
                      <a:endParaRPr lang="en-US" sz="1000" dirty="0">
                        <a:latin typeface="Overpass" charset="0"/>
                        <a:ea typeface="Overpass" charset="0"/>
                        <a:cs typeface="Overpass" charset="0"/>
                      </a:endParaRPr>
                    </a:p>
                  </a:txBody>
                  <a:tcPr marL="129212" marR="129212" marT="6350" marB="6350" anchor="ctr">
                    <a:lnL w="12700" cap="flat" cmpd="sng" algn="ctr">
                      <a:solidFill>
                        <a:srgbClr val="FFFDE6"/>
                      </a:solidFill>
                      <a:prstDash val="solid"/>
                      <a:round/>
                      <a:headEnd type="none" w="med" len="med"/>
                      <a:tailEnd type="none" w="med" len="med"/>
                    </a:lnL>
                    <a:lnR w="12700" cap="flat" cmpd="sng" algn="ctr">
                      <a:solidFill>
                        <a:srgbClr val="C3D4CC"/>
                      </a:solidFill>
                      <a:prstDash val="solid"/>
                      <a:round/>
                      <a:headEnd type="none" w="med" len="med"/>
                      <a:tailEnd type="none" w="med" len="med"/>
                    </a:lnR>
                    <a:lnT w="12700" cap="flat" cmpd="sng" algn="ctr">
                      <a:solidFill>
                        <a:srgbClr val="C3D4CC"/>
                      </a:solidFill>
                      <a:prstDash val="solid"/>
                      <a:round/>
                      <a:headEnd type="none" w="med" len="med"/>
                      <a:tailEnd type="none" w="med" len="med"/>
                    </a:lnT>
                    <a:lnB w="12700" cap="flat" cmpd="sng" algn="ctr">
                      <a:solidFill>
                        <a:srgbClr val="C3D4CC"/>
                      </a:solidFill>
                      <a:prstDash val="solid"/>
                      <a:round/>
                      <a:headEnd type="none" w="med" len="med"/>
                      <a:tailEnd type="none" w="med" len="med"/>
                    </a:lnB>
                  </a:tcPr>
                </a:tc>
              </a:tr>
            </a:tbl>
          </a:graphicData>
        </a:graphic>
      </p:graphicFrame>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DE6"/>
        </a:solidFill>
      </p:bgPr>
    </p:bg>
    <p:spTree>
      <p:nvGrpSpPr>
        <p:cNvPr id="1" name=""/>
        <p:cNvGrpSpPr/>
        <p:nvPr/>
      </p:nvGrpSpPr>
      <p:grpSpPr>
        <a:xfrm>
          <a:off x="0" y="0"/>
          <a:ext cx="0" cy="0"/>
          <a:chOff x="0" y="0"/>
          <a:chExt cx="0" cy="0"/>
        </a:xfrm>
      </p:grpSpPr>
      <p:sp>
        <p:nvSpPr>
          <p:cNvPr id="2" name="Text 0"/>
          <p:cNvSpPr/>
          <p:nvPr/>
        </p:nvSpPr>
        <p:spPr>
          <a:xfrm>
            <a:off x="661475" y="530444"/>
            <a:ext cx="10868745" cy="411857"/>
          </a:xfrm>
          <a:prstGeom prst="rect">
            <a:avLst/>
          </a:prstGeom>
          <a:noFill/>
          <a:ln/>
        </p:spPr>
        <p:txBody>
          <a:bodyPr wrap="none" lIns="0" tIns="0" rIns="0" bIns="0" rtlCol="0" anchor="t"/>
          <a:lstStyle/>
          <a:p>
            <a:pPr algn="l" indent="0" marL="0">
              <a:lnSpc>
                <a:spcPct val="104000"/>
              </a:lnSpc>
              <a:buNone/>
            </a:pPr>
            <a:r>
              <a:rPr lang="en-US" sz="2550" b="1" dirty="0">
                <a:solidFill>
                  <a:srgbClr val="233939"/>
                </a:solidFill>
                <a:latin typeface="Syne Bold" pitchFamily="34" charset="0"/>
                <a:ea typeface="Syne Bold" pitchFamily="34" charset="-122"/>
                <a:cs typeface="Syne Bold" pitchFamily="34" charset="-120"/>
              </a:rPr>
              <a:t>Key Takeaways</a:t>
            </a:r>
            <a:endParaRPr lang="en-US" sz="2550" dirty="0"/>
          </a:p>
        </p:txBody>
      </p:sp>
      <p:sp>
        <p:nvSpPr>
          <p:cNvPr id="3" name="Text 1"/>
          <p:cNvSpPr/>
          <p:nvPr/>
        </p:nvSpPr>
        <p:spPr>
          <a:xfrm>
            <a:off x="661475" y="1147366"/>
            <a:ext cx="11478330" cy="189409"/>
          </a:xfrm>
          <a:prstGeom prst="rect">
            <a:avLst/>
          </a:prstGeom>
          <a:noFill/>
          <a:ln/>
        </p:spPr>
        <p:txBody>
          <a:bodyPr wrap="none" lIns="0" tIns="0" rIns="0" bIns="0" rtlCol="0" anchor="t"/>
          <a:lstStyle/>
          <a:p>
            <a:pPr algn="l" indent="0" marL="0">
              <a:lnSpc>
                <a:spcPct val="120000"/>
              </a:lnSpc>
              <a:buNone/>
            </a:pPr>
            <a:r>
              <a:rPr lang="en-US" sz="1000" dirty="0">
                <a:solidFill>
                  <a:srgbClr val="3B4E4E"/>
                </a:solidFill>
                <a:latin typeface="Overpass Light" pitchFamily="34" charset="0"/>
                <a:ea typeface="Overpass Light" pitchFamily="34" charset="-122"/>
                <a:cs typeface="Overpass Light" pitchFamily="34" charset="-120"/>
              </a:rPr>
              <a:t>These five principles will serve you well on every ML project — whether you are a student building your first model or a professional deploying your hundredth.</a:t>
            </a:r>
            <a:endParaRPr lang="en-US" sz="1000" dirty="0"/>
          </a:p>
        </p:txBody>
      </p:sp>
      <p:sp>
        <p:nvSpPr>
          <p:cNvPr id="4" name="Text 2"/>
          <p:cNvSpPr/>
          <p:nvPr/>
        </p:nvSpPr>
        <p:spPr>
          <a:xfrm>
            <a:off x="1062904" y="1500088"/>
            <a:ext cx="10467316" cy="205879"/>
          </a:xfrm>
          <a:prstGeom prst="rect">
            <a:avLst/>
          </a:prstGeom>
          <a:noFill/>
          <a:ln/>
        </p:spPr>
        <p:txBody>
          <a:bodyPr wrap="none" lIns="0" tIns="0" rIns="0" bIns="0" rtlCol="0" anchor="t"/>
          <a:lstStyle/>
          <a:p>
            <a:pPr algn="l" indent="0" marL="0">
              <a:lnSpc>
                <a:spcPct val="104000"/>
              </a:lnSpc>
              <a:buNone/>
            </a:pPr>
            <a:r>
              <a:rPr lang="en-US" sz="1250" b="1" dirty="0">
                <a:solidFill>
                  <a:srgbClr val="3B4E4E"/>
                </a:solidFill>
                <a:latin typeface="Syne Bold" pitchFamily="34" charset="0"/>
                <a:ea typeface="Syne Bold" pitchFamily="34" charset="-122"/>
                <a:cs typeface="Syne Bold" pitchFamily="34" charset="-120"/>
              </a:rPr>
              <a:t>Start with the Business Question</a:t>
            </a:r>
            <a:endParaRPr lang="en-US" sz="1250" dirty="0"/>
          </a:p>
        </p:txBody>
      </p:sp>
      <p:sp>
        <p:nvSpPr>
          <p:cNvPr id="5" name="Text 3"/>
          <p:cNvSpPr/>
          <p:nvPr/>
        </p:nvSpPr>
        <p:spPr>
          <a:xfrm>
            <a:off x="1062904" y="1768971"/>
            <a:ext cx="10467316" cy="378817"/>
          </a:xfrm>
          <a:prstGeom prst="rect">
            <a:avLst/>
          </a:prstGeom>
          <a:noFill/>
          <a:ln/>
        </p:spPr>
        <p:txBody>
          <a:bodyPr wrap="square" lIns="0" tIns="0" rIns="0" bIns="0" rtlCol="0" anchor="t">
            <a:normAutofit/>
          </a:bodyPr>
          <a:lstStyle/>
          <a:p>
            <a:pPr algn="l" indent="0" marL="0">
              <a:lnSpc>
                <a:spcPct val="120000"/>
              </a:lnSpc>
              <a:buNone/>
            </a:pPr>
            <a:r>
              <a:rPr lang="en-US" sz="1000" dirty="0">
                <a:solidFill>
                  <a:srgbClr val="3B4E4E"/>
                </a:solidFill>
                <a:latin typeface="Overpass Light" pitchFamily="34" charset="0"/>
                <a:ea typeface="Overpass Light" pitchFamily="34" charset="-122"/>
                <a:cs typeface="Overpass Light" pitchFamily="34" charset="-120"/>
              </a:rPr>
              <a:t>Resist the urge to reach for an interesting algorithm first. The problem type — not the technology — should drive every decision. Understand what the business needs to know or do before opening a notebook.</a:t>
            </a:r>
            <a:endParaRPr lang="en-US" sz="1000" dirty="0"/>
          </a:p>
        </p:txBody>
      </p:sp>
      <p:sp>
        <p:nvSpPr>
          <p:cNvPr id="6" name="Text 4"/>
          <p:cNvSpPr/>
          <p:nvPr/>
        </p:nvSpPr>
        <p:spPr>
          <a:xfrm>
            <a:off x="1062904" y="2403078"/>
            <a:ext cx="10467316" cy="205879"/>
          </a:xfrm>
          <a:prstGeom prst="rect">
            <a:avLst/>
          </a:prstGeom>
          <a:noFill/>
          <a:ln/>
        </p:spPr>
        <p:txBody>
          <a:bodyPr wrap="none" lIns="0" tIns="0" rIns="0" bIns="0" rtlCol="0" anchor="t"/>
          <a:lstStyle/>
          <a:p>
            <a:pPr algn="l" indent="0" marL="0">
              <a:lnSpc>
                <a:spcPct val="104000"/>
              </a:lnSpc>
              <a:buNone/>
            </a:pPr>
            <a:r>
              <a:rPr lang="en-US" sz="1250" b="1" dirty="0">
                <a:solidFill>
                  <a:srgbClr val="3B4E4E"/>
                </a:solidFill>
                <a:latin typeface="Syne Bold" pitchFamily="34" charset="0"/>
                <a:ea typeface="Syne Bold" pitchFamily="34" charset="-122"/>
                <a:cs typeface="Syne Bold" pitchFamily="34" charset="-120"/>
              </a:rPr>
              <a:t>Apply the Five Diagnostic Questions</a:t>
            </a:r>
            <a:endParaRPr lang="en-US" sz="1250" dirty="0"/>
          </a:p>
        </p:txBody>
      </p:sp>
      <p:sp>
        <p:nvSpPr>
          <p:cNvPr id="7" name="Text 5"/>
          <p:cNvSpPr/>
          <p:nvPr/>
        </p:nvSpPr>
        <p:spPr>
          <a:xfrm>
            <a:off x="1062904" y="2671961"/>
            <a:ext cx="10467316" cy="378817"/>
          </a:xfrm>
          <a:prstGeom prst="rect">
            <a:avLst/>
          </a:prstGeom>
          <a:noFill/>
          <a:ln/>
        </p:spPr>
        <p:txBody>
          <a:bodyPr wrap="square" lIns="0" tIns="0" rIns="0" bIns="0" rtlCol="0" anchor="t">
            <a:normAutofit/>
          </a:bodyPr>
          <a:lstStyle/>
          <a:p>
            <a:pPr algn="l" indent="0" marL="0">
              <a:lnSpc>
                <a:spcPct val="120000"/>
              </a:lnSpc>
              <a:buNone/>
            </a:pPr>
            <a:r>
              <a:rPr lang="en-US" sz="1000" dirty="0">
                <a:solidFill>
                  <a:srgbClr val="3B4E4E"/>
                </a:solidFill>
                <a:latin typeface="Overpass Light" pitchFamily="34" charset="0"/>
                <a:ea typeface="Overpass Light" pitchFamily="34" charset="-122"/>
                <a:cs typeface="Overpass Light" pitchFamily="34" charset="-120"/>
              </a:rPr>
              <a:t>Goal → labels → number or category → explainability → data size. Work through these every time. They will reliably guide you to the right family of algorithms and save you from expensive wrong turns.</a:t>
            </a:r>
            <a:endParaRPr lang="en-US" sz="1000" dirty="0"/>
          </a:p>
        </p:txBody>
      </p:sp>
      <p:sp>
        <p:nvSpPr>
          <p:cNvPr id="8" name="Text 6"/>
          <p:cNvSpPr/>
          <p:nvPr/>
        </p:nvSpPr>
        <p:spPr>
          <a:xfrm>
            <a:off x="1062904" y="3306068"/>
            <a:ext cx="10467316" cy="205879"/>
          </a:xfrm>
          <a:prstGeom prst="rect">
            <a:avLst/>
          </a:prstGeom>
          <a:noFill/>
          <a:ln/>
        </p:spPr>
        <p:txBody>
          <a:bodyPr wrap="none" lIns="0" tIns="0" rIns="0" bIns="0" rtlCol="0" anchor="t"/>
          <a:lstStyle/>
          <a:p>
            <a:pPr algn="l" indent="0" marL="0">
              <a:lnSpc>
                <a:spcPct val="104000"/>
              </a:lnSpc>
              <a:buNone/>
            </a:pPr>
            <a:r>
              <a:rPr lang="en-US" sz="1250" b="1" dirty="0">
                <a:solidFill>
                  <a:srgbClr val="3B4E4E"/>
                </a:solidFill>
                <a:latin typeface="Syne Bold" pitchFamily="34" charset="0"/>
                <a:ea typeface="Syne Bold" pitchFamily="34" charset="-122"/>
                <a:cs typeface="Syne Bold" pitchFamily="34" charset="-120"/>
              </a:rPr>
              <a:t>Begin Simple, Escalate Deliberately</a:t>
            </a:r>
            <a:endParaRPr lang="en-US" sz="1250" dirty="0"/>
          </a:p>
        </p:txBody>
      </p:sp>
      <p:sp>
        <p:nvSpPr>
          <p:cNvPr id="9" name="Text 7"/>
          <p:cNvSpPr/>
          <p:nvPr/>
        </p:nvSpPr>
        <p:spPr>
          <a:xfrm>
            <a:off x="1062904" y="3574951"/>
            <a:ext cx="10467316" cy="378817"/>
          </a:xfrm>
          <a:prstGeom prst="rect">
            <a:avLst/>
          </a:prstGeom>
          <a:noFill/>
          <a:ln/>
        </p:spPr>
        <p:txBody>
          <a:bodyPr wrap="square" lIns="0" tIns="0" rIns="0" bIns="0" rtlCol="0" anchor="t">
            <a:normAutofit/>
          </a:bodyPr>
          <a:lstStyle/>
          <a:p>
            <a:pPr algn="l" indent="0" marL="0">
              <a:lnSpc>
                <a:spcPct val="120000"/>
              </a:lnSpc>
              <a:buNone/>
            </a:pPr>
            <a:r>
              <a:rPr lang="en-US" sz="1000" dirty="0">
                <a:solidFill>
                  <a:srgbClr val="3B4E4E"/>
                </a:solidFill>
                <a:latin typeface="Overpass Light" pitchFamily="34" charset="0"/>
                <a:ea typeface="Overpass Light" pitchFamily="34" charset="-122"/>
                <a:cs typeface="Overpass Light" pitchFamily="34" charset="-120"/>
              </a:rPr>
              <a:t>Start with the simplest adequate model — linear regression before gradient boosting, logistic regression before a neural network. A simple model that works is better than a complex model that is hard to maintain, debug, and explain. Complexity should earn its place.</a:t>
            </a:r>
            <a:endParaRPr lang="en-US" sz="1000" dirty="0"/>
          </a:p>
        </p:txBody>
      </p:sp>
      <p:sp>
        <p:nvSpPr>
          <p:cNvPr id="10" name="Text 8"/>
          <p:cNvSpPr/>
          <p:nvPr/>
        </p:nvSpPr>
        <p:spPr>
          <a:xfrm>
            <a:off x="1062904" y="4209058"/>
            <a:ext cx="10467316" cy="205879"/>
          </a:xfrm>
          <a:prstGeom prst="rect">
            <a:avLst/>
          </a:prstGeom>
          <a:noFill/>
          <a:ln/>
        </p:spPr>
        <p:txBody>
          <a:bodyPr wrap="none" lIns="0" tIns="0" rIns="0" bIns="0" rtlCol="0" anchor="t"/>
          <a:lstStyle/>
          <a:p>
            <a:pPr algn="l" indent="0" marL="0">
              <a:lnSpc>
                <a:spcPct val="104000"/>
              </a:lnSpc>
              <a:buNone/>
            </a:pPr>
            <a:r>
              <a:rPr lang="en-US" sz="1250" b="1" dirty="0">
                <a:solidFill>
                  <a:srgbClr val="3B4E4E"/>
                </a:solidFill>
                <a:latin typeface="Syne Bold" pitchFamily="34" charset="0"/>
                <a:ea typeface="Syne Bold" pitchFamily="34" charset="-122"/>
                <a:cs typeface="Syne Bold" pitchFamily="34" charset="-120"/>
              </a:rPr>
              <a:t>Always Test on Unseen Data</a:t>
            </a:r>
            <a:endParaRPr lang="en-US" sz="1250" dirty="0"/>
          </a:p>
        </p:txBody>
      </p:sp>
      <p:sp>
        <p:nvSpPr>
          <p:cNvPr id="11" name="Text 9"/>
          <p:cNvSpPr/>
          <p:nvPr/>
        </p:nvSpPr>
        <p:spPr>
          <a:xfrm>
            <a:off x="1062904" y="4477941"/>
            <a:ext cx="10467316" cy="189409"/>
          </a:xfrm>
          <a:prstGeom prst="rect">
            <a:avLst/>
          </a:prstGeom>
          <a:noFill/>
          <a:ln/>
        </p:spPr>
        <p:txBody>
          <a:bodyPr wrap="none" lIns="0" tIns="0" rIns="0" bIns="0" rtlCol="0" anchor="t"/>
          <a:lstStyle/>
          <a:p>
            <a:pPr algn="l" indent="0" marL="0">
              <a:lnSpc>
                <a:spcPct val="120000"/>
              </a:lnSpc>
              <a:buNone/>
            </a:pPr>
            <a:r>
              <a:rPr lang="en-US" sz="1000" dirty="0">
                <a:solidFill>
                  <a:srgbClr val="3B4E4E"/>
                </a:solidFill>
                <a:latin typeface="Overpass Light" pitchFamily="34" charset="0"/>
                <a:ea typeface="Overpass Light" pitchFamily="34" charset="-122"/>
                <a:cs typeface="Overpass Light" pitchFamily="34" charset="-120"/>
              </a:rPr>
              <a:t>Split your data before you begin. A model's performance on the test set — data it has never touched during training — is the only honest measure of how it will behave in production.</a:t>
            </a:r>
            <a:endParaRPr lang="en-US" sz="1000" dirty="0"/>
          </a:p>
        </p:txBody>
      </p:sp>
      <p:sp>
        <p:nvSpPr>
          <p:cNvPr id="12" name="Text 10"/>
          <p:cNvSpPr/>
          <p:nvPr/>
        </p:nvSpPr>
        <p:spPr>
          <a:xfrm>
            <a:off x="1062904" y="4922639"/>
            <a:ext cx="10467316" cy="205879"/>
          </a:xfrm>
          <a:prstGeom prst="rect">
            <a:avLst/>
          </a:prstGeom>
          <a:noFill/>
          <a:ln/>
        </p:spPr>
        <p:txBody>
          <a:bodyPr wrap="none" lIns="0" tIns="0" rIns="0" bIns="0" rtlCol="0" anchor="t"/>
          <a:lstStyle/>
          <a:p>
            <a:pPr algn="l" indent="0" marL="0">
              <a:lnSpc>
                <a:spcPct val="104000"/>
              </a:lnSpc>
              <a:buNone/>
            </a:pPr>
            <a:r>
              <a:rPr lang="en-US" sz="1250" b="1" dirty="0">
                <a:solidFill>
                  <a:srgbClr val="3B4E4E"/>
                </a:solidFill>
                <a:latin typeface="Syne Bold" pitchFamily="34" charset="0"/>
                <a:ea typeface="Syne Bold" pitchFamily="34" charset="-122"/>
                <a:cs typeface="Syne Bold" pitchFamily="34" charset="-120"/>
              </a:rPr>
              <a:t>No Algorithm Is Universally Best</a:t>
            </a:r>
            <a:endParaRPr lang="en-US" sz="1250" dirty="0"/>
          </a:p>
        </p:txBody>
      </p:sp>
      <p:sp>
        <p:nvSpPr>
          <p:cNvPr id="13" name="Text 11"/>
          <p:cNvSpPr/>
          <p:nvPr/>
        </p:nvSpPr>
        <p:spPr>
          <a:xfrm>
            <a:off x="1062904" y="5191522"/>
            <a:ext cx="10467316" cy="378817"/>
          </a:xfrm>
          <a:prstGeom prst="rect">
            <a:avLst/>
          </a:prstGeom>
          <a:noFill/>
          <a:ln/>
        </p:spPr>
        <p:txBody>
          <a:bodyPr wrap="square" lIns="0" tIns="0" rIns="0" bIns="0" rtlCol="0" anchor="t">
            <a:normAutofit/>
          </a:bodyPr>
          <a:lstStyle/>
          <a:p>
            <a:pPr algn="l" indent="0" marL="0">
              <a:lnSpc>
                <a:spcPct val="120000"/>
              </a:lnSpc>
              <a:buNone/>
            </a:pPr>
            <a:r>
              <a:rPr lang="en-US" sz="1000" dirty="0">
                <a:solidFill>
                  <a:srgbClr val="3B4E4E"/>
                </a:solidFill>
                <a:latin typeface="Overpass Light" pitchFamily="34" charset="0"/>
                <a:ea typeface="Overpass Light" pitchFamily="34" charset="-122"/>
                <a:cs typeface="Overpass Light" pitchFamily="34" charset="-120"/>
              </a:rPr>
              <a:t>The No Free Lunch theorem formalises this: no single algorithm outperforms all others across all problems. The problem type, data characteristics, and business constraints decide the choice. Build your judgment by practising across many different cases.</a:t>
            </a:r>
            <a:endParaRPr lang="en-US" sz="1000" dirty="0"/>
          </a:p>
        </p:txBody>
      </p:sp>
      <p:sp>
        <p:nvSpPr>
          <p:cNvPr id="14" name="Shape 12"/>
          <p:cNvSpPr/>
          <p:nvPr/>
        </p:nvSpPr>
        <p:spPr>
          <a:xfrm>
            <a:off x="661475" y="5688409"/>
            <a:ext cx="10868745" cy="644128"/>
          </a:xfrm>
          <a:prstGeom prst="roundRect">
            <a:avLst>
              <a:gd name="adj" fmla="val 8594"/>
            </a:avLst>
          </a:prstGeom>
          <a:solidFill>
            <a:srgbClr val="B6FCB8"/>
          </a:solidFill>
          <a:ln/>
        </p:spPr>
      </p:sp>
      <p:pic>
        <p:nvPicPr>
          <p:cNvPr id="15" name="Image 0" descr="preencoded.png">    </p:cNvPr>
          <p:cNvPicPr>
            <a:picLocks noChangeAspect="1"/>
          </p:cNvPicPr>
          <p:nvPr/>
        </p:nvPicPr>
        <p:blipFill>
          <a:blip r:embed="rId1"/>
          <a:stretch>
            <a:fillRect/>
          </a:stretch>
        </p:blipFill>
        <p:spPr>
          <a:xfrm>
            <a:off x="793234" y="5838031"/>
            <a:ext cx="164699" cy="131763"/>
          </a:xfrm>
          <a:prstGeom prst="rect">
            <a:avLst/>
          </a:prstGeom>
        </p:spPr>
      </p:pic>
      <p:sp>
        <p:nvSpPr>
          <p:cNvPr id="16" name="Text 13"/>
          <p:cNvSpPr/>
          <p:nvPr/>
        </p:nvSpPr>
        <p:spPr>
          <a:xfrm>
            <a:off x="1089692" y="5826323"/>
            <a:ext cx="10308769" cy="378817"/>
          </a:xfrm>
          <a:prstGeom prst="rect">
            <a:avLst/>
          </a:prstGeom>
          <a:noFill/>
          <a:ln/>
        </p:spPr>
        <p:txBody>
          <a:bodyPr wrap="square" lIns="0" tIns="0" rIns="0" bIns="0" rtlCol="0" anchor="t">
            <a:normAutofit/>
          </a:bodyPr>
          <a:lstStyle/>
          <a:p>
            <a:pPr algn="l" indent="0" marL="0">
              <a:lnSpc>
                <a:spcPct val="120000"/>
              </a:lnSpc>
              <a:buNone/>
            </a:pPr>
            <a:r>
              <a:rPr lang="en-US" sz="1000" b="1" dirty="0">
                <a:solidFill>
                  <a:srgbClr val="000000"/>
                </a:solidFill>
                <a:latin typeface="Overpass Bold" pitchFamily="34" charset="0"/>
                <a:ea typeface="Overpass Bold" pitchFamily="34" charset="-122"/>
                <a:cs typeface="Overpass Bold" pitchFamily="34" charset="-120"/>
              </a:rPr>
              <a:t>Your next step:</a:t>
            </a:r>
            <a:pPr algn="l" indent="0" marL="0">
              <a:lnSpc>
                <a:spcPct val="120000"/>
              </a:lnSpc>
              <a:buNone/>
            </a:pPr>
            <a:r>
              <a:rPr lang="en-US" sz="1000" dirty="0">
                <a:solidFill>
                  <a:srgbClr val="000000"/>
                </a:solidFill>
                <a:latin typeface="Overpass Light" pitchFamily="34" charset="0"/>
                <a:ea typeface="Overpass Light" pitchFamily="34" charset="-122"/>
                <a:cs typeface="Overpass Light" pitchFamily="34" charset="-120"/>
              </a:rPr>
              <a:t> Pick one business case from this deck, find a public dataset for it on Kaggle or the UCI ML Repository, and build your first model. Learning by doing is irreplaceable.</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46</Slides>
  <Notes>46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46</vt:i4>
      </vt:variant>
    </vt:vector>
  </HeadingPairs>
  <TitlesOfParts>
    <vt:vector size="4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2026-10-07T11:34:07Z</dcterms:created>
  <dcterms:modified xsi:type="dcterms:W3CDTF">2026-10-07T11:34:07Z</dcterms:modified>
</cp:coreProperties>
</file>